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s/slide17.xml" ContentType="application/vnd.openxmlformats-officedocument.presentationml.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11.xml" ContentType="application/vnd.openxmlformats-officedocument.presentationml.slide+xml"/>
  <Override PartName="/ppt/slides/slide2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3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8.xml" ContentType="application/vnd.openxmlformats-officedocument.presentationml.slide+xml"/>
  <Override PartName="/ppt/slides/slide14.xml" ContentType="application/vnd.openxmlformats-officedocument.presentationml.slide+xml"/>
  <Override PartName="/ppt/slides/slide7.xml" ContentType="application/vnd.openxmlformats-officedocument.presentationml.slide+xml"/>
  <Override PartName="/ppt/slides/slide2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914400" y="2945160"/>
            <a:ext cx="1665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Máster en IA — AIC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914400" y="3231000"/>
            <a:ext cx="3505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Módulo: IA Aplicada al Vehículo Autónomo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4425840" y="323676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4481280" y="3231000"/>
            <a:ext cx="540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2026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914400" y="975240"/>
            <a:ext cx="930888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VLM + DASHCAM: IA QUE RAZONA SOBRE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914400" y="1594440"/>
            <a:ext cx="307692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CONDUCCIÓN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914400" y="2354400"/>
            <a:ext cx="17236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Caso Práctico 3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2632320" y="236196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2701080" y="2354400"/>
            <a:ext cx="19198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Dosier del alumno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6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 txBox="1"/>
          <p:nvPr/>
        </p:nvSpPr>
        <p:spPr>
          <a:xfrm>
            <a:off x="685800" y="1325880"/>
            <a:ext cx="10735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este tercer caso práctico usará 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VLM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(modelo de visión-lenguaje): una IA que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mira una imagen y la describe con palabras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y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 txBox="1"/>
          <p:nvPr/>
        </p:nvSpPr>
        <p:spPr>
          <a:xfrm>
            <a:off x="685800" y="1611720"/>
            <a:ext cx="10690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que puede razonar sobre la escena. Aplicará uno pequeño y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local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(Moondream2) a 17 imágenes de dashcam y descubrirá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dónde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685800" y="1897200"/>
            <a:ext cx="2005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acierta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dónde alucina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685800" y="2345040"/>
            <a:ext cx="10558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Está pensado para realizarse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sin conocimientos previos de programación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El ordenador ya se preparó en CP1; aquí se reutiliza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/>
          <p:nvPr/>
        </p:nvSpPr>
        <p:spPr>
          <a:xfrm>
            <a:off x="685440" y="3257280"/>
            <a:ext cx="10820880" cy="914760"/>
          </a:xfrm>
          <a:custGeom>
            <a:avLst/>
            <a:gdLst/>
            <a:ahLst/>
            <a:rect l="0" t="0" r="r" b="b"/>
            <a:pathLst>
              <a:path w="30058" h="2541">
                <a:moveTo>
                  <a:pt x="0" y="0"/>
                </a:moveTo>
                <a:lnTo>
                  <a:pt x="30058" y="0"/>
                </a:lnTo>
                <a:lnTo>
                  <a:pt x="30058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685440" y="3257280"/>
            <a:ext cx="29160" cy="914760"/>
          </a:xfrm>
          <a:custGeom>
            <a:avLst/>
            <a:gdLst/>
            <a:ahLst/>
            <a:rect l="0" t="0" r="r" b="b"/>
            <a:pathLst>
              <a:path w="81" h="2541">
                <a:moveTo>
                  <a:pt x="0" y="0"/>
                </a:moveTo>
                <a:lnTo>
                  <a:pt x="81" y="0"/>
                </a:lnTo>
                <a:lnTo>
                  <a:pt x="81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/>
          <p:nvPr/>
        </p:nvSpPr>
        <p:spPr>
          <a:xfrm>
            <a:off x="1009440" y="3323880"/>
            <a:ext cx="200520" cy="200520"/>
          </a:xfrm>
          <a:custGeom>
            <a:avLst/>
            <a:gdLst/>
            <a:ahLst/>
            <a:rect l="0" t="0" r="r" b="b"/>
            <a:pathLst>
              <a:path w="557" h="557">
                <a:moveTo>
                  <a:pt x="557" y="278"/>
                </a:moveTo>
                <a:cubicBezTo>
                  <a:pt x="557" y="297"/>
                  <a:pt x="555" y="315"/>
                  <a:pt x="551" y="332"/>
                </a:cubicBezTo>
                <a:cubicBezTo>
                  <a:pt x="548" y="350"/>
                  <a:pt x="543" y="368"/>
                  <a:pt x="536" y="385"/>
                </a:cubicBezTo>
                <a:cubicBezTo>
                  <a:pt x="529" y="401"/>
                  <a:pt x="520" y="417"/>
                  <a:pt x="510" y="433"/>
                </a:cubicBezTo>
                <a:cubicBezTo>
                  <a:pt x="500" y="448"/>
                  <a:pt x="488" y="462"/>
                  <a:pt x="475" y="475"/>
                </a:cubicBezTo>
                <a:cubicBezTo>
                  <a:pt x="462" y="489"/>
                  <a:pt x="448" y="500"/>
                  <a:pt x="433" y="510"/>
                </a:cubicBezTo>
                <a:cubicBezTo>
                  <a:pt x="418" y="520"/>
                  <a:pt x="402" y="529"/>
                  <a:pt x="385" y="536"/>
                </a:cubicBezTo>
                <a:cubicBezTo>
                  <a:pt x="368" y="543"/>
                  <a:pt x="351" y="548"/>
                  <a:pt x="333" y="552"/>
                </a:cubicBezTo>
                <a:cubicBezTo>
                  <a:pt x="315" y="555"/>
                  <a:pt x="297" y="557"/>
                  <a:pt x="279" y="557"/>
                </a:cubicBezTo>
                <a:cubicBezTo>
                  <a:pt x="261" y="557"/>
                  <a:pt x="242" y="555"/>
                  <a:pt x="224" y="552"/>
                </a:cubicBezTo>
                <a:cubicBezTo>
                  <a:pt x="206" y="548"/>
                  <a:pt x="188" y="543"/>
                  <a:pt x="172" y="536"/>
                </a:cubicBezTo>
                <a:cubicBezTo>
                  <a:pt x="155" y="529"/>
                  <a:pt x="139" y="520"/>
                  <a:pt x="124" y="510"/>
                </a:cubicBezTo>
                <a:cubicBezTo>
                  <a:pt x="108" y="500"/>
                  <a:pt x="94" y="489"/>
                  <a:pt x="81" y="475"/>
                </a:cubicBezTo>
                <a:cubicBezTo>
                  <a:pt x="69" y="462"/>
                  <a:pt x="57" y="448"/>
                  <a:pt x="47" y="433"/>
                </a:cubicBezTo>
                <a:cubicBezTo>
                  <a:pt x="37" y="417"/>
                  <a:pt x="28" y="401"/>
                  <a:pt x="21" y="385"/>
                </a:cubicBezTo>
                <a:cubicBezTo>
                  <a:pt x="14" y="368"/>
                  <a:pt x="9" y="350"/>
                  <a:pt x="5" y="332"/>
                </a:cubicBezTo>
                <a:cubicBezTo>
                  <a:pt x="2" y="315"/>
                  <a:pt x="0" y="297"/>
                  <a:pt x="0" y="278"/>
                </a:cubicBezTo>
                <a:cubicBezTo>
                  <a:pt x="0" y="260"/>
                  <a:pt x="2" y="242"/>
                  <a:pt x="5" y="224"/>
                </a:cubicBezTo>
                <a:cubicBezTo>
                  <a:pt x="9" y="206"/>
                  <a:pt x="14" y="189"/>
                  <a:pt x="21" y="172"/>
                </a:cubicBezTo>
                <a:cubicBezTo>
                  <a:pt x="28" y="155"/>
                  <a:pt x="37" y="139"/>
                  <a:pt x="47" y="124"/>
                </a:cubicBezTo>
                <a:cubicBezTo>
                  <a:pt x="57" y="109"/>
                  <a:pt x="69" y="95"/>
                  <a:pt x="81" y="82"/>
                </a:cubicBezTo>
                <a:cubicBezTo>
                  <a:pt x="94" y="69"/>
                  <a:pt x="108" y="57"/>
                  <a:pt x="124" y="47"/>
                </a:cubicBezTo>
                <a:cubicBezTo>
                  <a:pt x="139" y="37"/>
                  <a:pt x="155" y="29"/>
                  <a:pt x="172" y="22"/>
                </a:cubicBezTo>
                <a:cubicBezTo>
                  <a:pt x="188" y="15"/>
                  <a:pt x="206" y="9"/>
                  <a:pt x="224" y="6"/>
                </a:cubicBezTo>
                <a:cubicBezTo>
                  <a:pt x="242" y="2"/>
                  <a:pt x="261" y="0"/>
                  <a:pt x="279" y="0"/>
                </a:cubicBezTo>
                <a:cubicBezTo>
                  <a:pt x="297" y="0"/>
                  <a:pt x="315" y="2"/>
                  <a:pt x="333" y="6"/>
                </a:cubicBezTo>
                <a:cubicBezTo>
                  <a:pt x="351" y="9"/>
                  <a:pt x="368" y="15"/>
                  <a:pt x="385" y="22"/>
                </a:cubicBezTo>
                <a:cubicBezTo>
                  <a:pt x="402" y="29"/>
                  <a:pt x="418" y="37"/>
                  <a:pt x="433" y="47"/>
                </a:cubicBezTo>
                <a:cubicBezTo>
                  <a:pt x="448" y="57"/>
                  <a:pt x="462" y="69"/>
                  <a:pt x="475" y="82"/>
                </a:cubicBezTo>
                <a:cubicBezTo>
                  <a:pt x="488" y="95"/>
                  <a:pt x="500" y="109"/>
                  <a:pt x="510" y="124"/>
                </a:cubicBezTo>
                <a:cubicBezTo>
                  <a:pt x="520" y="139"/>
                  <a:pt x="529" y="155"/>
                  <a:pt x="536" y="172"/>
                </a:cubicBezTo>
                <a:cubicBezTo>
                  <a:pt x="543" y="189"/>
                  <a:pt x="548" y="206"/>
                  <a:pt x="551" y="224"/>
                </a:cubicBezTo>
                <a:cubicBezTo>
                  <a:pt x="555" y="242"/>
                  <a:pt x="557" y="260"/>
                  <a:pt x="557" y="278"/>
                </a:cubicBez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/>
          <p:nvPr/>
        </p:nvSpPr>
        <p:spPr>
          <a:xfrm>
            <a:off x="1031760" y="3346200"/>
            <a:ext cx="155880" cy="155880"/>
          </a:xfrm>
          <a:custGeom>
            <a:avLst/>
            <a:gdLst/>
            <a:ahLst/>
            <a:rect l="0" t="0" r="r" b="b"/>
            <a:pathLst>
              <a:path w="433" h="433">
                <a:moveTo>
                  <a:pt x="433" y="216"/>
                </a:moveTo>
                <a:cubicBezTo>
                  <a:pt x="433" y="230"/>
                  <a:pt x="432" y="245"/>
                  <a:pt x="429" y="258"/>
                </a:cubicBezTo>
                <a:cubicBezTo>
                  <a:pt x="426" y="272"/>
                  <a:pt x="422" y="286"/>
                  <a:pt x="417" y="299"/>
                </a:cubicBezTo>
                <a:cubicBezTo>
                  <a:pt x="411" y="312"/>
                  <a:pt x="404" y="325"/>
                  <a:pt x="397" y="336"/>
                </a:cubicBezTo>
                <a:cubicBezTo>
                  <a:pt x="389" y="348"/>
                  <a:pt x="380" y="359"/>
                  <a:pt x="369" y="369"/>
                </a:cubicBezTo>
                <a:cubicBezTo>
                  <a:pt x="359" y="379"/>
                  <a:pt x="348" y="388"/>
                  <a:pt x="336" y="396"/>
                </a:cubicBezTo>
                <a:cubicBezTo>
                  <a:pt x="324" y="404"/>
                  <a:pt x="312" y="410"/>
                  <a:pt x="299" y="416"/>
                </a:cubicBezTo>
                <a:cubicBezTo>
                  <a:pt x="285" y="421"/>
                  <a:pt x="272" y="426"/>
                  <a:pt x="258" y="429"/>
                </a:cubicBezTo>
                <a:cubicBezTo>
                  <a:pt x="244" y="432"/>
                  <a:pt x="230" y="433"/>
                  <a:pt x="216" y="433"/>
                </a:cubicBezTo>
                <a:cubicBezTo>
                  <a:pt x="202" y="433"/>
                  <a:pt x="188" y="432"/>
                  <a:pt x="174" y="429"/>
                </a:cubicBezTo>
                <a:cubicBezTo>
                  <a:pt x="160" y="426"/>
                  <a:pt x="146" y="421"/>
                  <a:pt x="133" y="416"/>
                </a:cubicBezTo>
                <a:cubicBezTo>
                  <a:pt x="120" y="410"/>
                  <a:pt x="108" y="404"/>
                  <a:pt x="96" y="396"/>
                </a:cubicBezTo>
                <a:cubicBezTo>
                  <a:pt x="84" y="388"/>
                  <a:pt x="73" y="379"/>
                  <a:pt x="63" y="369"/>
                </a:cubicBezTo>
                <a:cubicBezTo>
                  <a:pt x="53" y="359"/>
                  <a:pt x="44" y="348"/>
                  <a:pt x="36" y="336"/>
                </a:cubicBezTo>
                <a:cubicBezTo>
                  <a:pt x="28" y="325"/>
                  <a:pt x="22" y="312"/>
                  <a:pt x="16" y="299"/>
                </a:cubicBezTo>
                <a:cubicBezTo>
                  <a:pt x="11" y="286"/>
                  <a:pt x="7" y="272"/>
                  <a:pt x="4" y="258"/>
                </a:cubicBezTo>
                <a:cubicBezTo>
                  <a:pt x="1" y="245"/>
                  <a:pt x="0" y="230"/>
                  <a:pt x="0" y="216"/>
                </a:cubicBezTo>
                <a:cubicBezTo>
                  <a:pt x="0" y="202"/>
                  <a:pt x="1" y="188"/>
                  <a:pt x="4" y="174"/>
                </a:cubicBezTo>
                <a:cubicBezTo>
                  <a:pt x="7" y="160"/>
                  <a:pt x="11" y="147"/>
                  <a:pt x="16" y="134"/>
                </a:cubicBezTo>
                <a:cubicBezTo>
                  <a:pt x="22" y="120"/>
                  <a:pt x="28" y="108"/>
                  <a:pt x="36" y="96"/>
                </a:cubicBezTo>
                <a:cubicBezTo>
                  <a:pt x="44" y="84"/>
                  <a:pt x="53" y="74"/>
                  <a:pt x="63" y="63"/>
                </a:cubicBezTo>
                <a:cubicBezTo>
                  <a:pt x="73" y="53"/>
                  <a:pt x="84" y="44"/>
                  <a:pt x="96" y="37"/>
                </a:cubicBezTo>
                <a:cubicBezTo>
                  <a:pt x="108" y="29"/>
                  <a:pt x="120" y="22"/>
                  <a:pt x="133" y="17"/>
                </a:cubicBezTo>
                <a:cubicBezTo>
                  <a:pt x="146" y="11"/>
                  <a:pt x="160" y="7"/>
                  <a:pt x="174" y="4"/>
                </a:cubicBezTo>
                <a:cubicBezTo>
                  <a:pt x="188" y="2"/>
                  <a:pt x="202" y="0"/>
                  <a:pt x="216" y="0"/>
                </a:cubicBezTo>
                <a:cubicBezTo>
                  <a:pt x="230" y="0"/>
                  <a:pt x="244" y="2"/>
                  <a:pt x="258" y="4"/>
                </a:cubicBezTo>
                <a:cubicBezTo>
                  <a:pt x="272" y="7"/>
                  <a:pt x="285" y="11"/>
                  <a:pt x="299" y="17"/>
                </a:cubicBezTo>
                <a:cubicBezTo>
                  <a:pt x="312" y="22"/>
                  <a:pt x="324" y="29"/>
                  <a:pt x="336" y="37"/>
                </a:cubicBezTo>
                <a:cubicBezTo>
                  <a:pt x="348" y="44"/>
                  <a:pt x="359" y="53"/>
                  <a:pt x="369" y="63"/>
                </a:cubicBezTo>
                <a:cubicBezTo>
                  <a:pt x="380" y="74"/>
                  <a:pt x="389" y="84"/>
                  <a:pt x="397" y="96"/>
                </a:cubicBezTo>
                <a:cubicBezTo>
                  <a:pt x="404" y="108"/>
                  <a:pt x="411" y="120"/>
                  <a:pt x="417" y="134"/>
                </a:cubicBezTo>
                <a:cubicBezTo>
                  <a:pt x="422" y="147"/>
                  <a:pt x="426" y="160"/>
                  <a:pt x="429" y="174"/>
                </a:cubicBezTo>
                <a:cubicBezTo>
                  <a:pt x="432" y="188"/>
                  <a:pt x="433" y="202"/>
                  <a:pt x="433" y="216"/>
                </a:cubicBezTo>
                <a:close/>
              </a:path>
            </a:pathLst>
          </a:custGeom>
          <a:solidFill>
            <a:srgbClr val="E1E8E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/>
          <p:nvPr/>
        </p:nvSpPr>
        <p:spPr>
          <a:xfrm>
            <a:off x="1103760" y="3357360"/>
            <a:ext cx="11520" cy="72720"/>
          </a:xfrm>
          <a:custGeom>
            <a:avLst/>
            <a:gdLst/>
            <a:ahLst/>
            <a:rect l="0" t="0" r="r" b="b"/>
            <a:pathLst>
              <a:path w="32" h="202">
                <a:moveTo>
                  <a:pt x="32" y="186"/>
                </a:moveTo>
                <a:cubicBezTo>
                  <a:pt x="32" y="195"/>
                  <a:pt x="25" y="202"/>
                  <a:pt x="17" y="202"/>
                </a:cubicBezTo>
                <a:cubicBezTo>
                  <a:pt x="7" y="202"/>
                  <a:pt x="0" y="195"/>
                  <a:pt x="0" y="186"/>
                </a:cubicBezTo>
                <a:lnTo>
                  <a:pt x="0" y="15"/>
                </a:lnTo>
                <a:cubicBezTo>
                  <a:pt x="0" y="7"/>
                  <a:pt x="7" y="0"/>
                  <a:pt x="17" y="0"/>
                </a:cubicBezTo>
                <a:cubicBezTo>
                  <a:pt x="25" y="0"/>
                  <a:pt x="32" y="7"/>
                  <a:pt x="32" y="15"/>
                </a:cubicBezTo>
                <a:lnTo>
                  <a:pt x="32" y="186"/>
                </a:ln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/>
          <p:nvPr/>
        </p:nvSpPr>
        <p:spPr>
          <a:xfrm>
            <a:off x="1105200" y="3374640"/>
            <a:ext cx="36720" cy="54720"/>
          </a:xfrm>
          <a:custGeom>
            <a:avLst/>
            <a:gdLst/>
            <a:ahLst/>
            <a:rect l="0" t="0" r="r" b="b"/>
            <a:pathLst>
              <a:path w="102" h="152">
                <a:moveTo>
                  <a:pt x="94" y="2"/>
                </a:moveTo>
                <a:cubicBezTo>
                  <a:pt x="101" y="6"/>
                  <a:pt x="104" y="16"/>
                  <a:pt x="100" y="23"/>
                </a:cubicBezTo>
                <a:lnTo>
                  <a:pt x="29" y="144"/>
                </a:lnTo>
                <a:cubicBezTo>
                  <a:pt x="25" y="152"/>
                  <a:pt x="15" y="154"/>
                  <a:pt x="8" y="150"/>
                </a:cubicBezTo>
                <a:cubicBezTo>
                  <a:pt x="1" y="146"/>
                  <a:pt x="-2" y="136"/>
                  <a:pt x="2" y="129"/>
                </a:cubicBezTo>
                <a:lnTo>
                  <a:pt x="72" y="8"/>
                </a:lnTo>
                <a:cubicBezTo>
                  <a:pt x="76" y="0"/>
                  <a:pt x="87" y="-2"/>
                  <a:pt x="94" y="2"/>
                </a:cubicBezTo>
                <a:close/>
              </a:path>
            </a:pathLst>
          </a:custGeom>
          <a:solidFill>
            <a:srgbClr val="66757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 txBox="1"/>
          <p:nvPr/>
        </p:nvSpPr>
        <p:spPr>
          <a:xfrm>
            <a:off x="685800" y="2630880"/>
            <a:ext cx="2642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(con un entorno propio de CP3).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990720" y="3564360"/>
            <a:ext cx="9943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Duración estimada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~45 min. Sin GPU. 8 GB de RAM. Internet la primera vez (el modelo son ~3.7 GB — descárguelo con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990720" y="3859560"/>
            <a:ext cx="942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antelación).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685800" y="632520"/>
            <a:ext cx="23990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Alcance y requisitos previos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5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685800" y="1325880"/>
            <a:ext cx="9726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 el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caso diferenciador del módulo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ningún curso de IA general te hace tocar este paradigma aplicado a conducción.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 txBox="1"/>
          <p:nvPr/>
        </p:nvSpPr>
        <p:spPr>
          <a:xfrm>
            <a:off x="685800" y="1764000"/>
            <a:ext cx="10294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Aplicará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Moondream2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(un VLM de ~1.9 B parámetros, que corre en su portátil) a 17 imágenes clasificadas en 6 categorías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/>
          <p:nvPr/>
        </p:nvSpPr>
        <p:spPr>
          <a:xfrm>
            <a:off x="685440" y="267624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/>
          <p:nvPr/>
        </p:nvSpPr>
        <p:spPr>
          <a:xfrm>
            <a:off x="685440" y="267624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685800" y="2049840"/>
            <a:ext cx="9025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(trivial, urbano, edge case visual, edge case semántico, trampa, ambigua), y responderá a la pregunta central: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990720" y="2783160"/>
            <a:ext cx="8439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¿Dónde encaja realmente un VLM en el stack de un coche autónomo?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¿Y cuándo NO se debe usar?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685800" y="3364200"/>
            <a:ext cx="10557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Trabajará con un modelo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local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(sin API, sin coste, reproducible), y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discutirá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contraste con los modelos "frontier" (Claude, GPT)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685800" y="3659400"/>
            <a:ext cx="1441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el ensayo final.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685800" y="632520"/>
            <a:ext cx="17791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Objeto de la práctica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9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685800" y="1325880"/>
            <a:ext cx="3898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Al finalizar la práctica, el alumno será capaz de: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 txBox="1"/>
          <p:nvPr/>
        </p:nvSpPr>
        <p:spPr>
          <a:xfrm>
            <a:off x="860400" y="1811520"/>
            <a:ext cx="4775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Cargar y usar 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VLM local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CPU, sin entrenar nada.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860760" y="2144880"/>
            <a:ext cx="7524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Pedirle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descripciones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tareas estructuradas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(objetos, nivel de riesgo, acción sugerida).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860760" y="2487960"/>
            <a:ext cx="6517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Medir su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latencia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su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consistencia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(respuestas deterministas vs variables).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 txBox="1"/>
          <p:nvPr/>
        </p:nvSpPr>
        <p:spPr>
          <a:xfrm>
            <a:off x="860760" y="2830680"/>
            <a:ext cx="5978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4. Detectar y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categorizar sus alucinaciones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y razonar por qué ocurren.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 txBox="1"/>
          <p:nvPr/>
        </p:nvSpPr>
        <p:spPr>
          <a:xfrm>
            <a:off x="860760" y="3164040"/>
            <a:ext cx="7101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5. Argumentar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dónde sí y dónde no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encaja un VLM en un sistema de conducción real.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685800" y="632520"/>
            <a:ext cx="20797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Objetivos de aprendizaje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101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2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695160" y="1371240"/>
            <a:ext cx="2276640" cy="362520"/>
          </a:xfrm>
          <a:custGeom>
            <a:avLst/>
            <a:gdLst/>
            <a:ahLst/>
            <a:rect l="0" t="0" r="r" b="b"/>
            <a:pathLst>
              <a:path w="6324" h="1007">
                <a:moveTo>
                  <a:pt x="0" y="0"/>
                </a:moveTo>
                <a:lnTo>
                  <a:pt x="6324" y="0"/>
                </a:lnTo>
                <a:lnTo>
                  <a:pt x="632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2971440" y="1371240"/>
            <a:ext cx="2838960" cy="362520"/>
          </a:xfrm>
          <a:custGeom>
            <a:avLst/>
            <a:gdLst/>
            <a:ahLst/>
            <a:rect l="0" t="0" r="r" b="b"/>
            <a:pathLst>
              <a:path w="7886" h="1007">
                <a:moveTo>
                  <a:pt x="0" y="0"/>
                </a:moveTo>
                <a:lnTo>
                  <a:pt x="7886" y="0"/>
                </a:lnTo>
                <a:lnTo>
                  <a:pt x="788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/>
          <p:nvPr/>
        </p:nvSpPr>
        <p:spPr>
          <a:xfrm>
            <a:off x="5810040" y="1371240"/>
            <a:ext cx="2115000" cy="362520"/>
          </a:xfrm>
          <a:custGeom>
            <a:avLst/>
            <a:gdLst/>
            <a:ahLst/>
            <a:rect l="0" t="0" r="r" b="b"/>
            <a:pathLst>
              <a:path w="5875" h="1007">
                <a:moveTo>
                  <a:pt x="0" y="0"/>
                </a:moveTo>
                <a:lnTo>
                  <a:pt x="5875" y="0"/>
                </a:lnTo>
                <a:lnTo>
                  <a:pt x="5875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/>
          <p:nvPr/>
        </p:nvSpPr>
        <p:spPr>
          <a:xfrm>
            <a:off x="695160" y="1371240"/>
            <a:ext cx="2276640" cy="362520"/>
          </a:xfrm>
          <a:custGeom>
            <a:avLst/>
            <a:gdLst/>
            <a:ahLst/>
            <a:rect l="0" t="0" r="r" b="b"/>
            <a:pathLst>
              <a:path w="6324" h="1007">
                <a:moveTo>
                  <a:pt x="0" y="0"/>
                </a:moveTo>
                <a:lnTo>
                  <a:pt x="6324" y="0"/>
                </a:lnTo>
                <a:lnTo>
                  <a:pt x="632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/>
          <p:nvPr/>
        </p:nvSpPr>
        <p:spPr>
          <a:xfrm>
            <a:off x="2971440" y="1371240"/>
            <a:ext cx="2838960" cy="362520"/>
          </a:xfrm>
          <a:custGeom>
            <a:avLst/>
            <a:gdLst/>
            <a:ahLst/>
            <a:rect l="0" t="0" r="r" b="b"/>
            <a:pathLst>
              <a:path w="7886" h="1007">
                <a:moveTo>
                  <a:pt x="0" y="0"/>
                </a:moveTo>
                <a:lnTo>
                  <a:pt x="7886" y="0"/>
                </a:lnTo>
                <a:lnTo>
                  <a:pt x="788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/>
          <p:nvPr/>
        </p:nvSpPr>
        <p:spPr>
          <a:xfrm>
            <a:off x="5810040" y="1371240"/>
            <a:ext cx="2115000" cy="362520"/>
          </a:xfrm>
          <a:custGeom>
            <a:avLst/>
            <a:gdLst/>
            <a:ahLst/>
            <a:rect l="0" t="0" r="r" b="b"/>
            <a:pathLst>
              <a:path w="5875" h="1007">
                <a:moveTo>
                  <a:pt x="0" y="0"/>
                </a:moveTo>
                <a:lnTo>
                  <a:pt x="5875" y="0"/>
                </a:lnTo>
                <a:lnTo>
                  <a:pt x="5875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/>
          <p:nvPr/>
        </p:nvSpPr>
        <p:spPr>
          <a:xfrm>
            <a:off x="695160" y="1733400"/>
            <a:ext cx="2276640" cy="371880"/>
          </a:xfrm>
          <a:custGeom>
            <a:avLst/>
            <a:gdLst/>
            <a:ahLst/>
            <a:rect l="0" t="0" r="r" b="b"/>
            <a:pathLst>
              <a:path w="6324" h="1033">
                <a:moveTo>
                  <a:pt x="0" y="0"/>
                </a:moveTo>
                <a:lnTo>
                  <a:pt x="6324" y="0"/>
                </a:lnTo>
                <a:lnTo>
                  <a:pt x="632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/>
          <p:nvPr/>
        </p:nvSpPr>
        <p:spPr>
          <a:xfrm>
            <a:off x="2971440" y="1733400"/>
            <a:ext cx="2838960" cy="371880"/>
          </a:xfrm>
          <a:custGeom>
            <a:avLst/>
            <a:gdLst/>
            <a:ahLst/>
            <a:rect l="0" t="0" r="r" b="b"/>
            <a:pathLst>
              <a:path w="7886" h="1033">
                <a:moveTo>
                  <a:pt x="0" y="0"/>
                </a:moveTo>
                <a:lnTo>
                  <a:pt x="7886" y="0"/>
                </a:lnTo>
                <a:lnTo>
                  <a:pt x="788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4" name=""/>
          <p:cNvSpPr/>
          <p:nvPr/>
        </p:nvSpPr>
        <p:spPr>
          <a:xfrm>
            <a:off x="5810040" y="1733400"/>
            <a:ext cx="2115000" cy="371880"/>
          </a:xfrm>
          <a:custGeom>
            <a:avLst/>
            <a:gdLst/>
            <a:ahLst/>
            <a:rect l="0" t="0" r="r" b="b"/>
            <a:pathLst>
              <a:path w="5875" h="1033">
                <a:moveTo>
                  <a:pt x="0" y="0"/>
                </a:moveTo>
                <a:lnTo>
                  <a:pt x="5875" y="0"/>
                </a:lnTo>
                <a:lnTo>
                  <a:pt x="587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695160" y="2104920"/>
            <a:ext cx="2276640" cy="362160"/>
          </a:xfrm>
          <a:custGeom>
            <a:avLst/>
            <a:gdLst/>
            <a:ahLst/>
            <a:rect l="0" t="0" r="r" b="b"/>
            <a:pathLst>
              <a:path w="6324" h="1006">
                <a:moveTo>
                  <a:pt x="0" y="0"/>
                </a:moveTo>
                <a:lnTo>
                  <a:pt x="6324" y="0"/>
                </a:lnTo>
                <a:lnTo>
                  <a:pt x="632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2971440" y="2104920"/>
            <a:ext cx="2838960" cy="362160"/>
          </a:xfrm>
          <a:custGeom>
            <a:avLst/>
            <a:gdLst/>
            <a:ahLst/>
            <a:rect l="0" t="0" r="r" b="b"/>
            <a:pathLst>
              <a:path w="7886" h="1006">
                <a:moveTo>
                  <a:pt x="0" y="0"/>
                </a:moveTo>
                <a:lnTo>
                  <a:pt x="7886" y="0"/>
                </a:lnTo>
                <a:lnTo>
                  <a:pt x="788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/>
          <p:nvPr/>
        </p:nvSpPr>
        <p:spPr>
          <a:xfrm>
            <a:off x="5810040" y="2104920"/>
            <a:ext cx="2115000" cy="362160"/>
          </a:xfrm>
          <a:custGeom>
            <a:avLst/>
            <a:gdLst/>
            <a:ahLst/>
            <a:rect l="0" t="0" r="r" b="b"/>
            <a:pathLst>
              <a:path w="5875" h="1006">
                <a:moveTo>
                  <a:pt x="0" y="0"/>
                </a:moveTo>
                <a:lnTo>
                  <a:pt x="5875" y="0"/>
                </a:lnTo>
                <a:lnTo>
                  <a:pt x="5875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/>
          <p:nvPr/>
        </p:nvSpPr>
        <p:spPr>
          <a:xfrm>
            <a:off x="695160" y="2466720"/>
            <a:ext cx="2276640" cy="371880"/>
          </a:xfrm>
          <a:custGeom>
            <a:avLst/>
            <a:gdLst/>
            <a:ahLst/>
            <a:rect l="0" t="0" r="r" b="b"/>
            <a:pathLst>
              <a:path w="6324" h="1033">
                <a:moveTo>
                  <a:pt x="0" y="0"/>
                </a:moveTo>
                <a:lnTo>
                  <a:pt x="6324" y="0"/>
                </a:lnTo>
                <a:lnTo>
                  <a:pt x="632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2971440" y="2466720"/>
            <a:ext cx="2838960" cy="371880"/>
          </a:xfrm>
          <a:custGeom>
            <a:avLst/>
            <a:gdLst/>
            <a:ahLst/>
            <a:rect l="0" t="0" r="r" b="b"/>
            <a:pathLst>
              <a:path w="7886" h="1033">
                <a:moveTo>
                  <a:pt x="0" y="0"/>
                </a:moveTo>
                <a:lnTo>
                  <a:pt x="7886" y="0"/>
                </a:lnTo>
                <a:lnTo>
                  <a:pt x="788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5810040" y="2466720"/>
            <a:ext cx="2115000" cy="371880"/>
          </a:xfrm>
          <a:custGeom>
            <a:avLst/>
            <a:gdLst/>
            <a:ahLst/>
            <a:rect l="0" t="0" r="r" b="b"/>
            <a:pathLst>
              <a:path w="5875" h="1033">
                <a:moveTo>
                  <a:pt x="0" y="0"/>
                </a:moveTo>
                <a:lnTo>
                  <a:pt x="5875" y="0"/>
                </a:lnTo>
                <a:lnTo>
                  <a:pt x="587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695160" y="2838240"/>
            <a:ext cx="2276640" cy="362160"/>
          </a:xfrm>
          <a:custGeom>
            <a:avLst/>
            <a:gdLst/>
            <a:ahLst/>
            <a:rect l="0" t="0" r="r" b="b"/>
            <a:pathLst>
              <a:path w="6324" h="1006">
                <a:moveTo>
                  <a:pt x="0" y="0"/>
                </a:moveTo>
                <a:lnTo>
                  <a:pt x="6324" y="0"/>
                </a:lnTo>
                <a:lnTo>
                  <a:pt x="6324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2971440" y="2838240"/>
            <a:ext cx="2838960" cy="362160"/>
          </a:xfrm>
          <a:custGeom>
            <a:avLst/>
            <a:gdLst/>
            <a:ahLst/>
            <a:rect l="0" t="0" r="r" b="b"/>
            <a:pathLst>
              <a:path w="7886" h="1006">
                <a:moveTo>
                  <a:pt x="0" y="0"/>
                </a:moveTo>
                <a:lnTo>
                  <a:pt x="7886" y="0"/>
                </a:lnTo>
                <a:lnTo>
                  <a:pt x="788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5810040" y="2838240"/>
            <a:ext cx="2115000" cy="362160"/>
          </a:xfrm>
          <a:custGeom>
            <a:avLst/>
            <a:gdLst/>
            <a:ahLst/>
            <a:rect l="0" t="0" r="r" b="b"/>
            <a:pathLst>
              <a:path w="5875" h="1006">
                <a:moveTo>
                  <a:pt x="0" y="0"/>
                </a:moveTo>
                <a:lnTo>
                  <a:pt x="5875" y="0"/>
                </a:lnTo>
                <a:lnTo>
                  <a:pt x="5875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695160" y="3200040"/>
            <a:ext cx="2276640" cy="371880"/>
          </a:xfrm>
          <a:custGeom>
            <a:avLst/>
            <a:gdLst/>
            <a:ahLst/>
            <a:rect l="0" t="0" r="r" b="b"/>
            <a:pathLst>
              <a:path w="6324" h="1033">
                <a:moveTo>
                  <a:pt x="0" y="0"/>
                </a:moveTo>
                <a:lnTo>
                  <a:pt x="6324" y="0"/>
                </a:lnTo>
                <a:lnTo>
                  <a:pt x="6324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/>
          <p:nvPr/>
        </p:nvSpPr>
        <p:spPr>
          <a:xfrm>
            <a:off x="2971440" y="3200040"/>
            <a:ext cx="2838960" cy="371880"/>
          </a:xfrm>
          <a:custGeom>
            <a:avLst/>
            <a:gdLst/>
            <a:ahLst/>
            <a:rect l="0" t="0" r="r" b="b"/>
            <a:pathLst>
              <a:path w="7886" h="1033">
                <a:moveTo>
                  <a:pt x="0" y="0"/>
                </a:moveTo>
                <a:lnTo>
                  <a:pt x="7886" y="0"/>
                </a:lnTo>
                <a:lnTo>
                  <a:pt x="788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/>
          <p:nvPr/>
        </p:nvSpPr>
        <p:spPr>
          <a:xfrm>
            <a:off x="5810040" y="3200040"/>
            <a:ext cx="2115000" cy="371880"/>
          </a:xfrm>
          <a:custGeom>
            <a:avLst/>
            <a:gdLst/>
            <a:ahLst/>
            <a:rect l="0" t="0" r="r" b="b"/>
            <a:pathLst>
              <a:path w="5875" h="1033">
                <a:moveTo>
                  <a:pt x="0" y="0"/>
                </a:moveTo>
                <a:lnTo>
                  <a:pt x="5875" y="0"/>
                </a:lnTo>
                <a:lnTo>
                  <a:pt x="5875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/>
          <p:nvPr/>
        </p:nvSpPr>
        <p:spPr>
          <a:xfrm>
            <a:off x="695160" y="3571560"/>
            <a:ext cx="2276640" cy="362520"/>
          </a:xfrm>
          <a:custGeom>
            <a:avLst/>
            <a:gdLst/>
            <a:ahLst/>
            <a:rect l="0" t="0" r="r" b="b"/>
            <a:pathLst>
              <a:path w="6324" h="1007">
                <a:moveTo>
                  <a:pt x="0" y="0"/>
                </a:moveTo>
                <a:lnTo>
                  <a:pt x="6324" y="0"/>
                </a:lnTo>
                <a:lnTo>
                  <a:pt x="6324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/>
          <p:nvPr/>
        </p:nvSpPr>
        <p:spPr>
          <a:xfrm>
            <a:off x="2971440" y="3571560"/>
            <a:ext cx="2838960" cy="362520"/>
          </a:xfrm>
          <a:custGeom>
            <a:avLst/>
            <a:gdLst/>
            <a:ahLst/>
            <a:rect l="0" t="0" r="r" b="b"/>
            <a:pathLst>
              <a:path w="7886" h="1007">
                <a:moveTo>
                  <a:pt x="0" y="0"/>
                </a:moveTo>
                <a:lnTo>
                  <a:pt x="7886" y="0"/>
                </a:lnTo>
                <a:lnTo>
                  <a:pt x="788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/>
          <p:nvPr/>
        </p:nvSpPr>
        <p:spPr>
          <a:xfrm>
            <a:off x="5810040" y="3571560"/>
            <a:ext cx="2115000" cy="362520"/>
          </a:xfrm>
          <a:custGeom>
            <a:avLst/>
            <a:gdLst/>
            <a:ahLst/>
            <a:rect l="0" t="0" r="r" b="b"/>
            <a:pathLst>
              <a:path w="5875" h="1007">
                <a:moveTo>
                  <a:pt x="0" y="0"/>
                </a:moveTo>
                <a:lnTo>
                  <a:pt x="5875" y="0"/>
                </a:lnTo>
                <a:lnTo>
                  <a:pt x="5875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/>
          <p:nvPr/>
        </p:nvSpPr>
        <p:spPr>
          <a:xfrm>
            <a:off x="685440" y="1361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1" name=""/>
          <p:cNvSpPr/>
          <p:nvPr/>
        </p:nvSpPr>
        <p:spPr>
          <a:xfrm>
            <a:off x="685440" y="1361880"/>
            <a:ext cx="2286360" cy="9720"/>
          </a:xfrm>
          <a:custGeom>
            <a:avLst/>
            <a:gdLst/>
            <a:ahLst/>
            <a:rect l="0" t="0" r="r" b="b"/>
            <a:pathLst>
              <a:path w="6351" h="27">
                <a:moveTo>
                  <a:pt x="0" y="0"/>
                </a:moveTo>
                <a:lnTo>
                  <a:pt x="6351" y="0"/>
                </a:lnTo>
                <a:lnTo>
                  <a:pt x="63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2962080" y="13618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2971440" y="1361880"/>
            <a:ext cx="2838960" cy="9720"/>
          </a:xfrm>
          <a:custGeom>
            <a:avLst/>
            <a:gdLst/>
            <a:ahLst/>
            <a:rect l="0" t="0" r="r" b="b"/>
            <a:pathLst>
              <a:path w="7886" h="27">
                <a:moveTo>
                  <a:pt x="0" y="0"/>
                </a:moveTo>
                <a:lnTo>
                  <a:pt x="7886" y="0"/>
                </a:lnTo>
                <a:lnTo>
                  <a:pt x="7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/>
          <p:nvPr/>
        </p:nvSpPr>
        <p:spPr>
          <a:xfrm>
            <a:off x="5800680" y="13618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/>
          <p:nvPr/>
        </p:nvSpPr>
        <p:spPr>
          <a:xfrm>
            <a:off x="5810040" y="1361880"/>
            <a:ext cx="2124360" cy="9720"/>
          </a:xfrm>
          <a:custGeom>
            <a:avLst/>
            <a:gdLst/>
            <a:ahLst/>
            <a:rect l="0" t="0" r="r" b="b"/>
            <a:pathLst>
              <a:path w="5901" h="27">
                <a:moveTo>
                  <a:pt x="0" y="0"/>
                </a:moveTo>
                <a:lnTo>
                  <a:pt x="5901" y="0"/>
                </a:lnTo>
                <a:lnTo>
                  <a:pt x="59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/>
          <p:nvPr/>
        </p:nvSpPr>
        <p:spPr>
          <a:xfrm>
            <a:off x="7924680" y="1361880"/>
            <a:ext cx="9720" cy="381240"/>
          </a:xfrm>
          <a:custGeom>
            <a:avLst/>
            <a:gdLst/>
            <a:ahLst/>
            <a:rect l="0" t="0" r="r" b="b"/>
            <a:pathLst>
              <a:path w="27" h="1059">
                <a:moveTo>
                  <a:pt x="0" y="0"/>
                </a:moveTo>
                <a:lnTo>
                  <a:pt x="27" y="0"/>
                </a:lnTo>
                <a:lnTo>
                  <a:pt x="27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/>
          <p:nvPr/>
        </p:nvSpPr>
        <p:spPr>
          <a:xfrm>
            <a:off x="685440" y="1733400"/>
            <a:ext cx="2286360" cy="9720"/>
          </a:xfrm>
          <a:custGeom>
            <a:avLst/>
            <a:gdLst/>
            <a:ahLst/>
            <a:rect l="0" t="0" r="r" b="b"/>
            <a:pathLst>
              <a:path w="6351" h="27">
                <a:moveTo>
                  <a:pt x="0" y="0"/>
                </a:moveTo>
                <a:lnTo>
                  <a:pt x="6351" y="0"/>
                </a:lnTo>
                <a:lnTo>
                  <a:pt x="63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/>
          <p:nvPr/>
        </p:nvSpPr>
        <p:spPr>
          <a:xfrm>
            <a:off x="2971440" y="1733400"/>
            <a:ext cx="2838960" cy="9720"/>
          </a:xfrm>
          <a:custGeom>
            <a:avLst/>
            <a:gdLst/>
            <a:ahLst/>
            <a:rect l="0" t="0" r="r" b="b"/>
            <a:pathLst>
              <a:path w="7886" h="27">
                <a:moveTo>
                  <a:pt x="0" y="0"/>
                </a:moveTo>
                <a:lnTo>
                  <a:pt x="7886" y="0"/>
                </a:lnTo>
                <a:lnTo>
                  <a:pt x="7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/>
          <p:nvPr/>
        </p:nvSpPr>
        <p:spPr>
          <a:xfrm>
            <a:off x="5810040" y="1733400"/>
            <a:ext cx="2124360" cy="9720"/>
          </a:xfrm>
          <a:custGeom>
            <a:avLst/>
            <a:gdLst/>
            <a:ahLst/>
            <a:rect l="0" t="0" r="r" b="b"/>
            <a:pathLst>
              <a:path w="5901" h="27">
                <a:moveTo>
                  <a:pt x="0" y="0"/>
                </a:moveTo>
                <a:lnTo>
                  <a:pt x="5901" y="0"/>
                </a:lnTo>
                <a:lnTo>
                  <a:pt x="59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0" name=""/>
          <p:cNvSpPr/>
          <p:nvPr/>
        </p:nvSpPr>
        <p:spPr>
          <a:xfrm>
            <a:off x="685440" y="174276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1" name=""/>
          <p:cNvSpPr/>
          <p:nvPr/>
        </p:nvSpPr>
        <p:spPr>
          <a:xfrm>
            <a:off x="2962080" y="174276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2" name=""/>
          <p:cNvSpPr/>
          <p:nvPr/>
        </p:nvSpPr>
        <p:spPr>
          <a:xfrm>
            <a:off x="5800680" y="174276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3" name=""/>
          <p:cNvSpPr/>
          <p:nvPr/>
        </p:nvSpPr>
        <p:spPr>
          <a:xfrm>
            <a:off x="7924680" y="1742760"/>
            <a:ext cx="9720" cy="362520"/>
          </a:xfrm>
          <a:custGeom>
            <a:avLst/>
            <a:gdLst/>
            <a:ahLst/>
            <a:rect l="0" t="0" r="r" b="b"/>
            <a:pathLst>
              <a:path w="27" h="1007">
                <a:moveTo>
                  <a:pt x="0" y="0"/>
                </a:moveTo>
                <a:lnTo>
                  <a:pt x="27" y="0"/>
                </a:lnTo>
                <a:lnTo>
                  <a:pt x="27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4" name=""/>
          <p:cNvSpPr/>
          <p:nvPr/>
        </p:nvSpPr>
        <p:spPr>
          <a:xfrm>
            <a:off x="685440" y="21049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5" name=""/>
          <p:cNvSpPr/>
          <p:nvPr/>
        </p:nvSpPr>
        <p:spPr>
          <a:xfrm>
            <a:off x="685440" y="2095200"/>
            <a:ext cx="2286360" cy="10080"/>
          </a:xfrm>
          <a:custGeom>
            <a:avLst/>
            <a:gdLst/>
            <a:ahLst/>
            <a:rect l="0" t="0" r="r" b="b"/>
            <a:pathLst>
              <a:path w="6351" h="28">
                <a:moveTo>
                  <a:pt x="0" y="0"/>
                </a:moveTo>
                <a:lnTo>
                  <a:pt x="6351" y="0"/>
                </a:lnTo>
                <a:lnTo>
                  <a:pt x="63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6" name=""/>
          <p:cNvSpPr/>
          <p:nvPr/>
        </p:nvSpPr>
        <p:spPr>
          <a:xfrm>
            <a:off x="2962080" y="21049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7" name=""/>
          <p:cNvSpPr/>
          <p:nvPr/>
        </p:nvSpPr>
        <p:spPr>
          <a:xfrm>
            <a:off x="2971440" y="2095200"/>
            <a:ext cx="2838960" cy="10080"/>
          </a:xfrm>
          <a:custGeom>
            <a:avLst/>
            <a:gdLst/>
            <a:ahLst/>
            <a:rect l="0" t="0" r="r" b="b"/>
            <a:pathLst>
              <a:path w="7886" h="28">
                <a:moveTo>
                  <a:pt x="0" y="0"/>
                </a:moveTo>
                <a:lnTo>
                  <a:pt x="7886" y="0"/>
                </a:lnTo>
                <a:lnTo>
                  <a:pt x="78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8" name=""/>
          <p:cNvSpPr/>
          <p:nvPr/>
        </p:nvSpPr>
        <p:spPr>
          <a:xfrm>
            <a:off x="5800680" y="21049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9" name=""/>
          <p:cNvSpPr/>
          <p:nvPr/>
        </p:nvSpPr>
        <p:spPr>
          <a:xfrm>
            <a:off x="5810040" y="2095200"/>
            <a:ext cx="2124360" cy="10080"/>
          </a:xfrm>
          <a:custGeom>
            <a:avLst/>
            <a:gdLst/>
            <a:ahLst/>
            <a:rect l="0" t="0" r="r" b="b"/>
            <a:pathLst>
              <a:path w="5901" h="28">
                <a:moveTo>
                  <a:pt x="0" y="0"/>
                </a:moveTo>
                <a:lnTo>
                  <a:pt x="5901" y="0"/>
                </a:lnTo>
                <a:lnTo>
                  <a:pt x="59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0" name=""/>
          <p:cNvSpPr/>
          <p:nvPr/>
        </p:nvSpPr>
        <p:spPr>
          <a:xfrm>
            <a:off x="7924680" y="210492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1" name=""/>
          <p:cNvSpPr/>
          <p:nvPr/>
        </p:nvSpPr>
        <p:spPr>
          <a:xfrm>
            <a:off x="685440" y="247644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2" name=""/>
          <p:cNvSpPr/>
          <p:nvPr/>
        </p:nvSpPr>
        <p:spPr>
          <a:xfrm>
            <a:off x="685440" y="2466720"/>
            <a:ext cx="2286360" cy="10080"/>
          </a:xfrm>
          <a:custGeom>
            <a:avLst/>
            <a:gdLst/>
            <a:ahLst/>
            <a:rect l="0" t="0" r="r" b="b"/>
            <a:pathLst>
              <a:path w="6351" h="28">
                <a:moveTo>
                  <a:pt x="0" y="0"/>
                </a:moveTo>
                <a:lnTo>
                  <a:pt x="6351" y="0"/>
                </a:lnTo>
                <a:lnTo>
                  <a:pt x="63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3" name=""/>
          <p:cNvSpPr/>
          <p:nvPr/>
        </p:nvSpPr>
        <p:spPr>
          <a:xfrm>
            <a:off x="2962080" y="247644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4" name=""/>
          <p:cNvSpPr/>
          <p:nvPr/>
        </p:nvSpPr>
        <p:spPr>
          <a:xfrm>
            <a:off x="2971440" y="2466720"/>
            <a:ext cx="2838960" cy="10080"/>
          </a:xfrm>
          <a:custGeom>
            <a:avLst/>
            <a:gdLst/>
            <a:ahLst/>
            <a:rect l="0" t="0" r="r" b="b"/>
            <a:pathLst>
              <a:path w="7886" h="28">
                <a:moveTo>
                  <a:pt x="0" y="0"/>
                </a:moveTo>
                <a:lnTo>
                  <a:pt x="7886" y="0"/>
                </a:lnTo>
                <a:lnTo>
                  <a:pt x="78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5" name=""/>
          <p:cNvSpPr/>
          <p:nvPr/>
        </p:nvSpPr>
        <p:spPr>
          <a:xfrm>
            <a:off x="5800680" y="247644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6" name=""/>
          <p:cNvSpPr/>
          <p:nvPr/>
        </p:nvSpPr>
        <p:spPr>
          <a:xfrm>
            <a:off x="5810040" y="2466720"/>
            <a:ext cx="2124360" cy="10080"/>
          </a:xfrm>
          <a:custGeom>
            <a:avLst/>
            <a:gdLst/>
            <a:ahLst/>
            <a:rect l="0" t="0" r="r" b="b"/>
            <a:pathLst>
              <a:path w="5901" h="28">
                <a:moveTo>
                  <a:pt x="0" y="0"/>
                </a:moveTo>
                <a:lnTo>
                  <a:pt x="5901" y="0"/>
                </a:lnTo>
                <a:lnTo>
                  <a:pt x="59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7" name=""/>
          <p:cNvSpPr/>
          <p:nvPr/>
        </p:nvSpPr>
        <p:spPr>
          <a:xfrm>
            <a:off x="7924680" y="247644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8" name=""/>
          <p:cNvSpPr/>
          <p:nvPr/>
        </p:nvSpPr>
        <p:spPr>
          <a:xfrm>
            <a:off x="685440" y="28382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9" name=""/>
          <p:cNvSpPr/>
          <p:nvPr/>
        </p:nvSpPr>
        <p:spPr>
          <a:xfrm>
            <a:off x="685440" y="2828880"/>
            <a:ext cx="2286360" cy="9720"/>
          </a:xfrm>
          <a:custGeom>
            <a:avLst/>
            <a:gdLst/>
            <a:ahLst/>
            <a:rect l="0" t="0" r="r" b="b"/>
            <a:pathLst>
              <a:path w="6351" h="27">
                <a:moveTo>
                  <a:pt x="0" y="0"/>
                </a:moveTo>
                <a:lnTo>
                  <a:pt x="6351" y="0"/>
                </a:lnTo>
                <a:lnTo>
                  <a:pt x="63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0" name=""/>
          <p:cNvSpPr/>
          <p:nvPr/>
        </p:nvSpPr>
        <p:spPr>
          <a:xfrm>
            <a:off x="2962080" y="28382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1" name=""/>
          <p:cNvSpPr/>
          <p:nvPr/>
        </p:nvSpPr>
        <p:spPr>
          <a:xfrm>
            <a:off x="2971440" y="2828880"/>
            <a:ext cx="2838960" cy="9720"/>
          </a:xfrm>
          <a:custGeom>
            <a:avLst/>
            <a:gdLst/>
            <a:ahLst/>
            <a:rect l="0" t="0" r="r" b="b"/>
            <a:pathLst>
              <a:path w="7886" h="27">
                <a:moveTo>
                  <a:pt x="0" y="0"/>
                </a:moveTo>
                <a:lnTo>
                  <a:pt x="7886" y="0"/>
                </a:lnTo>
                <a:lnTo>
                  <a:pt x="7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2" name=""/>
          <p:cNvSpPr/>
          <p:nvPr/>
        </p:nvSpPr>
        <p:spPr>
          <a:xfrm>
            <a:off x="5800680" y="28382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3" name=""/>
          <p:cNvSpPr/>
          <p:nvPr/>
        </p:nvSpPr>
        <p:spPr>
          <a:xfrm>
            <a:off x="5810040" y="2828880"/>
            <a:ext cx="2124360" cy="9720"/>
          </a:xfrm>
          <a:custGeom>
            <a:avLst/>
            <a:gdLst/>
            <a:ahLst/>
            <a:rect l="0" t="0" r="r" b="b"/>
            <a:pathLst>
              <a:path w="5901" h="27">
                <a:moveTo>
                  <a:pt x="0" y="0"/>
                </a:moveTo>
                <a:lnTo>
                  <a:pt x="5901" y="0"/>
                </a:lnTo>
                <a:lnTo>
                  <a:pt x="59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4" name=""/>
          <p:cNvSpPr/>
          <p:nvPr/>
        </p:nvSpPr>
        <p:spPr>
          <a:xfrm>
            <a:off x="7924680" y="283824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5" name=""/>
          <p:cNvSpPr/>
          <p:nvPr/>
        </p:nvSpPr>
        <p:spPr>
          <a:xfrm>
            <a:off x="685440" y="320976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6" name=""/>
          <p:cNvSpPr/>
          <p:nvPr/>
        </p:nvSpPr>
        <p:spPr>
          <a:xfrm>
            <a:off x="685440" y="3200040"/>
            <a:ext cx="2286360" cy="10080"/>
          </a:xfrm>
          <a:custGeom>
            <a:avLst/>
            <a:gdLst/>
            <a:ahLst/>
            <a:rect l="0" t="0" r="r" b="b"/>
            <a:pathLst>
              <a:path w="6351" h="28">
                <a:moveTo>
                  <a:pt x="0" y="0"/>
                </a:moveTo>
                <a:lnTo>
                  <a:pt x="6351" y="0"/>
                </a:lnTo>
                <a:lnTo>
                  <a:pt x="635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"/>
          <p:cNvSpPr/>
          <p:nvPr/>
        </p:nvSpPr>
        <p:spPr>
          <a:xfrm>
            <a:off x="2962080" y="320976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"/>
          <p:cNvSpPr/>
          <p:nvPr/>
        </p:nvSpPr>
        <p:spPr>
          <a:xfrm>
            <a:off x="2971440" y="3200040"/>
            <a:ext cx="2838960" cy="10080"/>
          </a:xfrm>
          <a:custGeom>
            <a:avLst/>
            <a:gdLst/>
            <a:ahLst/>
            <a:rect l="0" t="0" r="r" b="b"/>
            <a:pathLst>
              <a:path w="7886" h="28">
                <a:moveTo>
                  <a:pt x="0" y="0"/>
                </a:moveTo>
                <a:lnTo>
                  <a:pt x="7886" y="0"/>
                </a:lnTo>
                <a:lnTo>
                  <a:pt x="788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9" name=""/>
          <p:cNvSpPr/>
          <p:nvPr/>
        </p:nvSpPr>
        <p:spPr>
          <a:xfrm>
            <a:off x="5800680" y="320976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0" name=""/>
          <p:cNvSpPr/>
          <p:nvPr/>
        </p:nvSpPr>
        <p:spPr>
          <a:xfrm>
            <a:off x="5810040" y="3200040"/>
            <a:ext cx="2124360" cy="10080"/>
          </a:xfrm>
          <a:custGeom>
            <a:avLst/>
            <a:gdLst/>
            <a:ahLst/>
            <a:rect l="0" t="0" r="r" b="b"/>
            <a:pathLst>
              <a:path w="5901" h="28">
                <a:moveTo>
                  <a:pt x="0" y="0"/>
                </a:moveTo>
                <a:lnTo>
                  <a:pt x="5901" y="0"/>
                </a:lnTo>
                <a:lnTo>
                  <a:pt x="5901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1" name=""/>
          <p:cNvSpPr/>
          <p:nvPr/>
        </p:nvSpPr>
        <p:spPr>
          <a:xfrm>
            <a:off x="7924680" y="3209760"/>
            <a:ext cx="9720" cy="362160"/>
          </a:xfrm>
          <a:custGeom>
            <a:avLst/>
            <a:gdLst/>
            <a:ahLst/>
            <a:rect l="0" t="0" r="r" b="b"/>
            <a:pathLst>
              <a:path w="27" h="1006">
                <a:moveTo>
                  <a:pt x="0" y="0"/>
                </a:moveTo>
                <a:lnTo>
                  <a:pt x="27" y="0"/>
                </a:lnTo>
                <a:lnTo>
                  <a:pt x="27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2" name=""/>
          <p:cNvSpPr/>
          <p:nvPr/>
        </p:nvSpPr>
        <p:spPr>
          <a:xfrm>
            <a:off x="685440" y="357156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3" name=""/>
          <p:cNvSpPr/>
          <p:nvPr/>
        </p:nvSpPr>
        <p:spPr>
          <a:xfrm>
            <a:off x="685440" y="3562200"/>
            <a:ext cx="2286360" cy="9720"/>
          </a:xfrm>
          <a:custGeom>
            <a:avLst/>
            <a:gdLst/>
            <a:ahLst/>
            <a:rect l="0" t="0" r="r" b="b"/>
            <a:pathLst>
              <a:path w="6351" h="27">
                <a:moveTo>
                  <a:pt x="0" y="0"/>
                </a:moveTo>
                <a:lnTo>
                  <a:pt x="6351" y="0"/>
                </a:lnTo>
                <a:lnTo>
                  <a:pt x="63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4" name=""/>
          <p:cNvSpPr/>
          <p:nvPr/>
        </p:nvSpPr>
        <p:spPr>
          <a:xfrm>
            <a:off x="296208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5" name=""/>
          <p:cNvSpPr/>
          <p:nvPr/>
        </p:nvSpPr>
        <p:spPr>
          <a:xfrm>
            <a:off x="2971440" y="3562200"/>
            <a:ext cx="2838960" cy="9720"/>
          </a:xfrm>
          <a:custGeom>
            <a:avLst/>
            <a:gdLst/>
            <a:ahLst/>
            <a:rect l="0" t="0" r="r" b="b"/>
            <a:pathLst>
              <a:path w="7886" h="27">
                <a:moveTo>
                  <a:pt x="0" y="0"/>
                </a:moveTo>
                <a:lnTo>
                  <a:pt x="7886" y="0"/>
                </a:lnTo>
                <a:lnTo>
                  <a:pt x="7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6" name=""/>
          <p:cNvSpPr/>
          <p:nvPr/>
        </p:nvSpPr>
        <p:spPr>
          <a:xfrm>
            <a:off x="580068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7" name=""/>
          <p:cNvSpPr/>
          <p:nvPr/>
        </p:nvSpPr>
        <p:spPr>
          <a:xfrm>
            <a:off x="5810040" y="3562200"/>
            <a:ext cx="2124360" cy="9720"/>
          </a:xfrm>
          <a:custGeom>
            <a:avLst/>
            <a:gdLst/>
            <a:ahLst/>
            <a:rect l="0" t="0" r="r" b="b"/>
            <a:pathLst>
              <a:path w="5901" h="27">
                <a:moveTo>
                  <a:pt x="0" y="0"/>
                </a:moveTo>
                <a:lnTo>
                  <a:pt x="5901" y="0"/>
                </a:lnTo>
                <a:lnTo>
                  <a:pt x="59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8" name=""/>
          <p:cNvSpPr/>
          <p:nvPr/>
        </p:nvSpPr>
        <p:spPr>
          <a:xfrm>
            <a:off x="7924680" y="3571560"/>
            <a:ext cx="9720" cy="371880"/>
          </a:xfrm>
          <a:custGeom>
            <a:avLst/>
            <a:gdLst/>
            <a:ahLst/>
            <a:rect l="0" t="0" r="r" b="b"/>
            <a:pathLst>
              <a:path w="27" h="1033">
                <a:moveTo>
                  <a:pt x="0" y="0"/>
                </a:moveTo>
                <a:lnTo>
                  <a:pt x="27" y="0"/>
                </a:lnTo>
                <a:lnTo>
                  <a:pt x="27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9" name=""/>
          <p:cNvSpPr/>
          <p:nvPr/>
        </p:nvSpPr>
        <p:spPr>
          <a:xfrm>
            <a:off x="685440" y="3933720"/>
            <a:ext cx="2286360" cy="9720"/>
          </a:xfrm>
          <a:custGeom>
            <a:avLst/>
            <a:gdLst/>
            <a:ahLst/>
            <a:rect l="0" t="0" r="r" b="b"/>
            <a:pathLst>
              <a:path w="6351" h="27">
                <a:moveTo>
                  <a:pt x="0" y="0"/>
                </a:moveTo>
                <a:lnTo>
                  <a:pt x="6351" y="0"/>
                </a:lnTo>
                <a:lnTo>
                  <a:pt x="635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0" name=""/>
          <p:cNvSpPr/>
          <p:nvPr/>
        </p:nvSpPr>
        <p:spPr>
          <a:xfrm>
            <a:off x="2971440" y="3933720"/>
            <a:ext cx="2838960" cy="9720"/>
          </a:xfrm>
          <a:custGeom>
            <a:avLst/>
            <a:gdLst/>
            <a:ahLst/>
            <a:rect l="0" t="0" r="r" b="b"/>
            <a:pathLst>
              <a:path w="7886" h="27">
                <a:moveTo>
                  <a:pt x="0" y="0"/>
                </a:moveTo>
                <a:lnTo>
                  <a:pt x="7886" y="0"/>
                </a:lnTo>
                <a:lnTo>
                  <a:pt x="788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1" name=""/>
          <p:cNvSpPr/>
          <p:nvPr/>
        </p:nvSpPr>
        <p:spPr>
          <a:xfrm>
            <a:off x="5810040" y="3933720"/>
            <a:ext cx="2124360" cy="9720"/>
          </a:xfrm>
          <a:custGeom>
            <a:avLst/>
            <a:gdLst/>
            <a:ahLst/>
            <a:rect l="0" t="0" r="r" b="b"/>
            <a:pathLst>
              <a:path w="5901" h="27">
                <a:moveTo>
                  <a:pt x="0" y="0"/>
                </a:moveTo>
                <a:lnTo>
                  <a:pt x="5901" y="0"/>
                </a:lnTo>
                <a:lnTo>
                  <a:pt x="5901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2" name=""/>
          <p:cNvSpPr txBox="1"/>
          <p:nvPr/>
        </p:nvSpPr>
        <p:spPr>
          <a:xfrm>
            <a:off x="819000" y="1470600"/>
            <a:ext cx="5266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Archivo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3" name=""/>
          <p:cNvSpPr txBox="1"/>
          <p:nvPr/>
        </p:nvSpPr>
        <p:spPr>
          <a:xfrm>
            <a:off x="3096360" y="1470600"/>
            <a:ext cx="5396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Función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4" name=""/>
          <p:cNvSpPr/>
          <p:nvPr/>
        </p:nvSpPr>
        <p:spPr>
          <a:xfrm>
            <a:off x="819000" y="1838160"/>
            <a:ext cx="781200" cy="171720"/>
          </a:xfrm>
          <a:custGeom>
            <a:avLst/>
            <a:gdLst/>
            <a:ahLst/>
            <a:rect l="0" t="0" r="r" b="b"/>
            <a:pathLst>
              <a:path w="2170" h="477">
                <a:moveTo>
                  <a:pt x="0" y="398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2091" y="0"/>
                </a:lnTo>
                <a:cubicBezTo>
                  <a:pt x="2102" y="0"/>
                  <a:pt x="2112" y="2"/>
                  <a:pt x="2121" y="6"/>
                </a:cubicBezTo>
                <a:cubicBezTo>
                  <a:pt x="2131" y="10"/>
                  <a:pt x="2140" y="16"/>
                  <a:pt x="2147" y="23"/>
                </a:cubicBezTo>
                <a:cubicBezTo>
                  <a:pt x="2155" y="31"/>
                  <a:pt x="2160" y="39"/>
                  <a:pt x="2164" y="49"/>
                </a:cubicBezTo>
                <a:cubicBezTo>
                  <a:pt x="2168" y="59"/>
                  <a:pt x="2170" y="69"/>
                  <a:pt x="2170" y="79"/>
                </a:cubicBezTo>
                <a:lnTo>
                  <a:pt x="2170" y="398"/>
                </a:lnTo>
                <a:cubicBezTo>
                  <a:pt x="2170" y="408"/>
                  <a:pt x="2168" y="418"/>
                  <a:pt x="2164" y="428"/>
                </a:cubicBezTo>
                <a:cubicBezTo>
                  <a:pt x="2160" y="438"/>
                  <a:pt x="2155" y="447"/>
                  <a:pt x="2147" y="454"/>
                </a:cubicBezTo>
                <a:cubicBezTo>
                  <a:pt x="2140" y="461"/>
                  <a:pt x="2131" y="467"/>
                  <a:pt x="2121" y="471"/>
                </a:cubicBezTo>
                <a:cubicBezTo>
                  <a:pt x="2112" y="475"/>
                  <a:pt x="2102" y="477"/>
                  <a:pt x="2091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7"/>
                  <a:pt x="10" y="438"/>
                  <a:pt x="6" y="428"/>
                </a:cubicBezTo>
                <a:cubicBezTo>
                  <a:pt x="2" y="418"/>
                  <a:pt x="0" y="408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5" name=""/>
          <p:cNvSpPr txBox="1"/>
          <p:nvPr/>
        </p:nvSpPr>
        <p:spPr>
          <a:xfrm>
            <a:off x="5936760" y="1470600"/>
            <a:ext cx="6310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Duración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6" name=""/>
          <p:cNvSpPr txBox="1"/>
          <p:nvPr/>
        </p:nvSpPr>
        <p:spPr>
          <a:xfrm>
            <a:off x="876240" y="1843920"/>
            <a:ext cx="66132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02_setup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7" name=""/>
          <p:cNvSpPr txBox="1"/>
          <p:nvPr/>
        </p:nvSpPr>
        <p:spPr>
          <a:xfrm>
            <a:off x="3096360" y="1842120"/>
            <a:ext cx="18198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Carga Moondream2 + test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8" name=""/>
          <p:cNvSpPr/>
          <p:nvPr/>
        </p:nvSpPr>
        <p:spPr>
          <a:xfrm>
            <a:off x="819000" y="2199960"/>
            <a:ext cx="1857600" cy="172080"/>
          </a:xfrm>
          <a:custGeom>
            <a:avLst/>
            <a:gdLst/>
            <a:ahLst/>
            <a:rect l="0" t="0" r="r" b="b"/>
            <a:pathLst>
              <a:path w="5160" h="478">
                <a:moveTo>
                  <a:pt x="0" y="398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5081" y="0"/>
                </a:lnTo>
                <a:cubicBezTo>
                  <a:pt x="5091" y="0"/>
                  <a:pt x="5102" y="2"/>
                  <a:pt x="5111" y="6"/>
                </a:cubicBezTo>
                <a:cubicBezTo>
                  <a:pt x="5121" y="10"/>
                  <a:pt x="5130" y="16"/>
                  <a:pt x="5137" y="24"/>
                </a:cubicBezTo>
                <a:cubicBezTo>
                  <a:pt x="5144" y="31"/>
                  <a:pt x="5150" y="40"/>
                  <a:pt x="5154" y="49"/>
                </a:cubicBezTo>
                <a:cubicBezTo>
                  <a:pt x="5158" y="59"/>
                  <a:pt x="5160" y="69"/>
                  <a:pt x="5160" y="80"/>
                </a:cubicBezTo>
                <a:lnTo>
                  <a:pt x="5160" y="398"/>
                </a:lnTo>
                <a:cubicBezTo>
                  <a:pt x="5160" y="409"/>
                  <a:pt x="5158" y="419"/>
                  <a:pt x="5154" y="429"/>
                </a:cubicBezTo>
                <a:cubicBezTo>
                  <a:pt x="5150" y="438"/>
                  <a:pt x="5144" y="447"/>
                  <a:pt x="5137" y="454"/>
                </a:cubicBezTo>
                <a:cubicBezTo>
                  <a:pt x="5130" y="462"/>
                  <a:pt x="5121" y="468"/>
                  <a:pt x="5111" y="472"/>
                </a:cubicBezTo>
                <a:cubicBezTo>
                  <a:pt x="5102" y="476"/>
                  <a:pt x="5091" y="478"/>
                  <a:pt x="5081" y="478"/>
                </a:cubicBezTo>
                <a:lnTo>
                  <a:pt x="79" y="478"/>
                </a:lnTo>
                <a:cubicBezTo>
                  <a:pt x="69" y="478"/>
                  <a:pt x="59" y="476"/>
                  <a:pt x="49" y="472"/>
                </a:cubicBezTo>
                <a:cubicBezTo>
                  <a:pt x="39" y="468"/>
                  <a:pt x="31" y="462"/>
                  <a:pt x="23" y="454"/>
                </a:cubicBezTo>
                <a:cubicBezTo>
                  <a:pt x="16" y="447"/>
                  <a:pt x="10" y="438"/>
                  <a:pt x="6" y="429"/>
                </a:cubicBezTo>
                <a:cubicBezTo>
                  <a:pt x="2" y="419"/>
                  <a:pt x="0" y="409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89" name=""/>
          <p:cNvSpPr txBox="1"/>
          <p:nvPr/>
        </p:nvSpPr>
        <p:spPr>
          <a:xfrm>
            <a:off x="5936760" y="1842120"/>
            <a:ext cx="18565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 min (+descarga la 1ª vez)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0" name=""/>
          <p:cNvSpPr txBox="1"/>
          <p:nvPr/>
        </p:nvSpPr>
        <p:spPr>
          <a:xfrm>
            <a:off x="876240" y="2205720"/>
            <a:ext cx="173484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03_descripcion_basica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1" name=""/>
          <p:cNvSpPr txBox="1"/>
          <p:nvPr/>
        </p:nvSpPr>
        <p:spPr>
          <a:xfrm>
            <a:off x="3096360" y="2203920"/>
            <a:ext cx="17600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Describe las 17 imágenes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2" name=""/>
          <p:cNvSpPr/>
          <p:nvPr/>
        </p:nvSpPr>
        <p:spPr>
          <a:xfrm>
            <a:off x="819000" y="2571480"/>
            <a:ext cx="2019600" cy="171720"/>
          </a:xfrm>
          <a:custGeom>
            <a:avLst/>
            <a:gdLst/>
            <a:ahLst/>
            <a:rect l="0" t="0" r="r" b="b"/>
            <a:pathLst>
              <a:path w="5610" h="477">
                <a:moveTo>
                  <a:pt x="0" y="398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5531" y="0"/>
                </a:lnTo>
                <a:cubicBezTo>
                  <a:pt x="5541" y="0"/>
                  <a:pt x="5551" y="2"/>
                  <a:pt x="5561" y="6"/>
                </a:cubicBezTo>
                <a:cubicBezTo>
                  <a:pt x="5571" y="10"/>
                  <a:pt x="5579" y="16"/>
                  <a:pt x="5587" y="23"/>
                </a:cubicBezTo>
                <a:cubicBezTo>
                  <a:pt x="5594" y="31"/>
                  <a:pt x="5600" y="40"/>
                  <a:pt x="5604" y="49"/>
                </a:cubicBezTo>
                <a:cubicBezTo>
                  <a:pt x="5608" y="59"/>
                  <a:pt x="5610" y="69"/>
                  <a:pt x="5610" y="80"/>
                </a:cubicBezTo>
                <a:lnTo>
                  <a:pt x="5610" y="398"/>
                </a:lnTo>
                <a:cubicBezTo>
                  <a:pt x="5610" y="409"/>
                  <a:pt x="5608" y="419"/>
                  <a:pt x="5604" y="428"/>
                </a:cubicBezTo>
                <a:cubicBezTo>
                  <a:pt x="5600" y="438"/>
                  <a:pt x="5594" y="447"/>
                  <a:pt x="5587" y="454"/>
                </a:cubicBezTo>
                <a:cubicBezTo>
                  <a:pt x="5579" y="462"/>
                  <a:pt x="5571" y="467"/>
                  <a:pt x="5561" y="471"/>
                </a:cubicBezTo>
                <a:cubicBezTo>
                  <a:pt x="5551" y="475"/>
                  <a:pt x="5541" y="477"/>
                  <a:pt x="5531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2"/>
                  <a:pt x="23" y="454"/>
                </a:cubicBezTo>
                <a:cubicBezTo>
                  <a:pt x="16" y="447"/>
                  <a:pt x="10" y="438"/>
                  <a:pt x="6" y="428"/>
                </a:cubicBezTo>
                <a:cubicBezTo>
                  <a:pt x="2" y="419"/>
                  <a:pt x="0" y="409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3" name=""/>
          <p:cNvSpPr txBox="1"/>
          <p:nvPr/>
        </p:nvSpPr>
        <p:spPr>
          <a:xfrm>
            <a:off x="5936760" y="2203920"/>
            <a:ext cx="387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8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4" name=""/>
          <p:cNvSpPr txBox="1"/>
          <p:nvPr/>
        </p:nvSpPr>
        <p:spPr>
          <a:xfrm>
            <a:off x="876240" y="2577240"/>
            <a:ext cx="19000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04_tareas_estructuradas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5" name=""/>
          <p:cNvSpPr txBox="1"/>
          <p:nvPr/>
        </p:nvSpPr>
        <p:spPr>
          <a:xfrm>
            <a:off x="3096360" y="2575440"/>
            <a:ext cx="17150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Objetos + riesgo + acción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6" name=""/>
          <p:cNvSpPr/>
          <p:nvPr/>
        </p:nvSpPr>
        <p:spPr>
          <a:xfrm>
            <a:off x="819000" y="2933640"/>
            <a:ext cx="1362240" cy="171720"/>
          </a:xfrm>
          <a:custGeom>
            <a:avLst/>
            <a:gdLst/>
            <a:ahLst/>
            <a:rect l="0" t="0" r="r" b="b"/>
            <a:pathLst>
              <a:path w="3784" h="477">
                <a:moveTo>
                  <a:pt x="0" y="398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3705" y="0"/>
                </a:lnTo>
                <a:cubicBezTo>
                  <a:pt x="3716" y="0"/>
                  <a:pt x="3726" y="2"/>
                  <a:pt x="3735" y="6"/>
                </a:cubicBezTo>
                <a:cubicBezTo>
                  <a:pt x="3745" y="10"/>
                  <a:pt x="3754" y="15"/>
                  <a:pt x="3761" y="23"/>
                </a:cubicBezTo>
                <a:cubicBezTo>
                  <a:pt x="3769" y="30"/>
                  <a:pt x="3774" y="39"/>
                  <a:pt x="3778" y="49"/>
                </a:cubicBezTo>
                <a:cubicBezTo>
                  <a:pt x="3782" y="58"/>
                  <a:pt x="3784" y="69"/>
                  <a:pt x="3784" y="79"/>
                </a:cubicBezTo>
                <a:lnTo>
                  <a:pt x="3784" y="398"/>
                </a:lnTo>
                <a:cubicBezTo>
                  <a:pt x="3784" y="408"/>
                  <a:pt x="3782" y="418"/>
                  <a:pt x="3778" y="428"/>
                </a:cubicBezTo>
                <a:cubicBezTo>
                  <a:pt x="3774" y="438"/>
                  <a:pt x="3769" y="446"/>
                  <a:pt x="3761" y="454"/>
                </a:cubicBezTo>
                <a:cubicBezTo>
                  <a:pt x="3754" y="461"/>
                  <a:pt x="3745" y="467"/>
                  <a:pt x="3735" y="471"/>
                </a:cubicBezTo>
                <a:cubicBezTo>
                  <a:pt x="3726" y="475"/>
                  <a:pt x="3716" y="477"/>
                  <a:pt x="3705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6"/>
                  <a:pt x="10" y="438"/>
                  <a:pt x="6" y="428"/>
                </a:cubicBezTo>
                <a:cubicBezTo>
                  <a:pt x="2" y="418"/>
                  <a:pt x="0" y="408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97" name=""/>
          <p:cNvSpPr txBox="1"/>
          <p:nvPr/>
        </p:nvSpPr>
        <p:spPr>
          <a:xfrm>
            <a:off x="5936760" y="2575440"/>
            <a:ext cx="387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8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"/>
          <p:cNvSpPr txBox="1"/>
          <p:nvPr/>
        </p:nvSpPr>
        <p:spPr>
          <a:xfrm>
            <a:off x="876240" y="2939400"/>
            <a:ext cx="123948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05_consistencia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"/>
          <p:cNvSpPr txBox="1"/>
          <p:nvPr/>
        </p:nvSpPr>
        <p:spPr>
          <a:xfrm>
            <a:off x="3096360" y="2937600"/>
            <a:ext cx="25776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Respuestas deterministas vs variables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0" name=""/>
          <p:cNvSpPr/>
          <p:nvPr/>
        </p:nvSpPr>
        <p:spPr>
          <a:xfrm>
            <a:off x="819000" y="3305160"/>
            <a:ext cx="1686240" cy="171720"/>
          </a:xfrm>
          <a:custGeom>
            <a:avLst/>
            <a:gdLst/>
            <a:ahLst/>
            <a:rect l="0" t="0" r="r" b="b"/>
            <a:pathLst>
              <a:path w="4684" h="477">
                <a:moveTo>
                  <a:pt x="0" y="397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70" y="0"/>
                  <a:pt x="80" y="0"/>
                </a:cubicBezTo>
                <a:lnTo>
                  <a:pt x="4605" y="0"/>
                </a:lnTo>
                <a:cubicBezTo>
                  <a:pt x="4615" y="0"/>
                  <a:pt x="4625" y="2"/>
                  <a:pt x="4635" y="6"/>
                </a:cubicBezTo>
                <a:cubicBezTo>
                  <a:pt x="4645" y="10"/>
                  <a:pt x="4653" y="15"/>
                  <a:pt x="4661" y="23"/>
                </a:cubicBezTo>
                <a:cubicBezTo>
                  <a:pt x="4668" y="30"/>
                  <a:pt x="4674" y="39"/>
                  <a:pt x="4678" y="49"/>
                </a:cubicBezTo>
                <a:cubicBezTo>
                  <a:pt x="4682" y="58"/>
                  <a:pt x="4684" y="68"/>
                  <a:pt x="4684" y="79"/>
                </a:cubicBezTo>
                <a:lnTo>
                  <a:pt x="4684" y="397"/>
                </a:lnTo>
                <a:cubicBezTo>
                  <a:pt x="4684" y="408"/>
                  <a:pt x="4682" y="418"/>
                  <a:pt x="4678" y="428"/>
                </a:cubicBezTo>
                <a:cubicBezTo>
                  <a:pt x="4674" y="438"/>
                  <a:pt x="4668" y="446"/>
                  <a:pt x="4661" y="454"/>
                </a:cubicBezTo>
                <a:cubicBezTo>
                  <a:pt x="4653" y="461"/>
                  <a:pt x="4645" y="467"/>
                  <a:pt x="4635" y="471"/>
                </a:cubicBezTo>
                <a:cubicBezTo>
                  <a:pt x="4625" y="475"/>
                  <a:pt x="4615" y="477"/>
                  <a:pt x="4605" y="477"/>
                </a:cubicBezTo>
                <a:lnTo>
                  <a:pt x="80" y="477"/>
                </a:lnTo>
                <a:cubicBezTo>
                  <a:pt x="70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6"/>
                  <a:pt x="10" y="438"/>
                  <a:pt x="6" y="428"/>
                </a:cubicBezTo>
                <a:cubicBezTo>
                  <a:pt x="2" y="418"/>
                  <a:pt x="0" y="408"/>
                  <a:pt x="0" y="397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1" name=""/>
          <p:cNvSpPr txBox="1"/>
          <p:nvPr/>
        </p:nvSpPr>
        <p:spPr>
          <a:xfrm>
            <a:off x="5936760" y="2937600"/>
            <a:ext cx="387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8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2" name=""/>
          <p:cNvSpPr txBox="1"/>
          <p:nvPr/>
        </p:nvSpPr>
        <p:spPr>
          <a:xfrm>
            <a:off x="876240" y="3310920"/>
            <a:ext cx="15696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06_failure_analysis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3" name=""/>
          <p:cNvSpPr txBox="1"/>
          <p:nvPr/>
        </p:nvSpPr>
        <p:spPr>
          <a:xfrm>
            <a:off x="3096360" y="3309120"/>
            <a:ext cx="12052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Cataloga los fallos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4" name=""/>
          <p:cNvSpPr/>
          <p:nvPr/>
        </p:nvSpPr>
        <p:spPr>
          <a:xfrm>
            <a:off x="819000" y="3666960"/>
            <a:ext cx="1771920" cy="171720"/>
          </a:xfrm>
          <a:custGeom>
            <a:avLst/>
            <a:gdLst/>
            <a:ahLst/>
            <a:rect l="0" t="0" r="r" b="b"/>
            <a:pathLst>
              <a:path w="4922" h="477">
                <a:moveTo>
                  <a:pt x="0" y="398"/>
                </a:moveTo>
                <a:lnTo>
                  <a:pt x="0" y="80"/>
                </a:lnTo>
                <a:cubicBezTo>
                  <a:pt x="0" y="70"/>
                  <a:pt x="2" y="60"/>
                  <a:pt x="6" y="50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843" y="0"/>
                </a:lnTo>
                <a:cubicBezTo>
                  <a:pt x="4853" y="0"/>
                  <a:pt x="4863" y="2"/>
                  <a:pt x="4873" y="6"/>
                </a:cubicBezTo>
                <a:cubicBezTo>
                  <a:pt x="4883" y="10"/>
                  <a:pt x="4891" y="16"/>
                  <a:pt x="4899" y="23"/>
                </a:cubicBezTo>
                <a:cubicBezTo>
                  <a:pt x="4906" y="31"/>
                  <a:pt x="4912" y="39"/>
                  <a:pt x="4916" y="50"/>
                </a:cubicBezTo>
                <a:cubicBezTo>
                  <a:pt x="4920" y="60"/>
                  <a:pt x="4922" y="70"/>
                  <a:pt x="4922" y="80"/>
                </a:cubicBezTo>
                <a:lnTo>
                  <a:pt x="4922" y="398"/>
                </a:lnTo>
                <a:cubicBezTo>
                  <a:pt x="4922" y="408"/>
                  <a:pt x="4920" y="418"/>
                  <a:pt x="4916" y="428"/>
                </a:cubicBezTo>
                <a:cubicBezTo>
                  <a:pt x="4912" y="438"/>
                  <a:pt x="4906" y="447"/>
                  <a:pt x="4899" y="454"/>
                </a:cubicBezTo>
                <a:cubicBezTo>
                  <a:pt x="4891" y="461"/>
                  <a:pt x="4883" y="467"/>
                  <a:pt x="4873" y="471"/>
                </a:cubicBezTo>
                <a:cubicBezTo>
                  <a:pt x="4863" y="475"/>
                  <a:pt x="4853" y="477"/>
                  <a:pt x="4843" y="477"/>
                </a:cubicBezTo>
                <a:lnTo>
                  <a:pt x="79" y="477"/>
                </a:lnTo>
                <a:cubicBezTo>
                  <a:pt x="69" y="477"/>
                  <a:pt x="59" y="475"/>
                  <a:pt x="49" y="471"/>
                </a:cubicBezTo>
                <a:cubicBezTo>
                  <a:pt x="39" y="467"/>
                  <a:pt x="31" y="461"/>
                  <a:pt x="23" y="454"/>
                </a:cubicBezTo>
                <a:cubicBezTo>
                  <a:pt x="16" y="447"/>
                  <a:pt x="10" y="438"/>
                  <a:pt x="6" y="428"/>
                </a:cubicBezTo>
                <a:cubicBezTo>
                  <a:pt x="2" y="418"/>
                  <a:pt x="0" y="408"/>
                  <a:pt x="0" y="398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5" name=""/>
          <p:cNvSpPr txBox="1"/>
          <p:nvPr/>
        </p:nvSpPr>
        <p:spPr>
          <a:xfrm>
            <a:off x="5936760" y="3309120"/>
            <a:ext cx="486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10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6" name=""/>
          <p:cNvSpPr txBox="1"/>
          <p:nvPr/>
        </p:nvSpPr>
        <p:spPr>
          <a:xfrm>
            <a:off x="876240" y="3672720"/>
            <a:ext cx="1652400" cy="160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9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07_local_vs_frontier</a:t>
            </a:r>
            <a:endParaRPr lang="en-US" sz="109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7" name=""/>
          <p:cNvSpPr txBox="1"/>
          <p:nvPr/>
        </p:nvSpPr>
        <p:spPr>
          <a:xfrm>
            <a:off x="3096360" y="3670920"/>
            <a:ext cx="16362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Mini-ensayo (entregable)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8" name=""/>
          <p:cNvSpPr/>
          <p:nvPr/>
        </p:nvSpPr>
        <p:spPr>
          <a:xfrm>
            <a:off x="685440" y="4238280"/>
            <a:ext cx="10820880" cy="924480"/>
          </a:xfrm>
          <a:custGeom>
            <a:avLst/>
            <a:gdLst/>
            <a:ahLst/>
            <a:rect l="0" t="0" r="r" b="b"/>
            <a:pathLst>
              <a:path w="30058" h="2568">
                <a:moveTo>
                  <a:pt x="0" y="0"/>
                </a:moveTo>
                <a:lnTo>
                  <a:pt x="30058" y="0"/>
                </a:lnTo>
                <a:lnTo>
                  <a:pt x="30058" y="2568"/>
                </a:lnTo>
                <a:lnTo>
                  <a:pt x="0" y="2568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09" name=""/>
          <p:cNvSpPr/>
          <p:nvPr/>
        </p:nvSpPr>
        <p:spPr>
          <a:xfrm>
            <a:off x="685440" y="4238280"/>
            <a:ext cx="29160" cy="924480"/>
          </a:xfrm>
          <a:custGeom>
            <a:avLst/>
            <a:gdLst/>
            <a:ahLst/>
            <a:rect l="0" t="0" r="r" b="b"/>
            <a:pathLst>
              <a:path w="81" h="2568">
                <a:moveTo>
                  <a:pt x="0" y="0"/>
                </a:moveTo>
                <a:lnTo>
                  <a:pt x="81" y="0"/>
                </a:lnTo>
                <a:lnTo>
                  <a:pt x="81" y="2568"/>
                </a:lnTo>
                <a:lnTo>
                  <a:pt x="0" y="256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0" name=""/>
          <p:cNvSpPr/>
          <p:nvPr/>
        </p:nvSpPr>
        <p:spPr>
          <a:xfrm>
            <a:off x="1054080" y="4316400"/>
            <a:ext cx="111240" cy="177840"/>
          </a:xfrm>
          <a:custGeom>
            <a:avLst/>
            <a:gdLst/>
            <a:ahLst/>
            <a:rect l="0" t="0" r="r" b="b"/>
            <a:pathLst>
              <a:path w="309" h="494">
                <a:moveTo>
                  <a:pt x="200" y="247"/>
                </a:moveTo>
                <a:cubicBezTo>
                  <a:pt x="200" y="217"/>
                  <a:pt x="250" y="195"/>
                  <a:pt x="277" y="155"/>
                </a:cubicBezTo>
                <a:cubicBezTo>
                  <a:pt x="309" y="109"/>
                  <a:pt x="309" y="0"/>
                  <a:pt x="309" y="0"/>
                </a:cubicBezTo>
                <a:lnTo>
                  <a:pt x="0" y="0"/>
                </a:lnTo>
                <a:cubicBezTo>
                  <a:pt x="0" y="0"/>
                  <a:pt x="0" y="109"/>
                  <a:pt x="30" y="155"/>
                </a:cubicBezTo>
                <a:cubicBezTo>
                  <a:pt x="57" y="195"/>
                  <a:pt x="108" y="217"/>
                  <a:pt x="108" y="247"/>
                </a:cubicBezTo>
                <a:cubicBezTo>
                  <a:pt x="108" y="278"/>
                  <a:pt x="57" y="299"/>
                  <a:pt x="30" y="340"/>
                </a:cubicBezTo>
                <a:cubicBezTo>
                  <a:pt x="0" y="386"/>
                  <a:pt x="0" y="494"/>
                  <a:pt x="0" y="494"/>
                </a:cubicBezTo>
                <a:lnTo>
                  <a:pt x="309" y="494"/>
                </a:lnTo>
                <a:cubicBezTo>
                  <a:pt x="309" y="494"/>
                  <a:pt x="309" y="386"/>
                  <a:pt x="277" y="340"/>
                </a:cubicBezTo>
                <a:cubicBezTo>
                  <a:pt x="250" y="299"/>
                  <a:pt x="200" y="278"/>
                  <a:pt x="200" y="247"/>
                </a:cubicBezTo>
                <a:close/>
              </a:path>
            </a:pathLst>
          </a:custGeom>
          <a:solidFill>
            <a:srgbClr val="FFE8B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1" name=""/>
          <p:cNvSpPr/>
          <p:nvPr/>
        </p:nvSpPr>
        <p:spPr>
          <a:xfrm>
            <a:off x="1064880" y="4316400"/>
            <a:ext cx="89280" cy="161280"/>
          </a:xfrm>
          <a:custGeom>
            <a:avLst/>
            <a:gdLst/>
            <a:ahLst/>
            <a:rect l="0" t="0" r="r" b="b"/>
            <a:pathLst>
              <a:path w="248" h="448">
                <a:moveTo>
                  <a:pt x="125" y="0"/>
                </a:moveTo>
                <a:lnTo>
                  <a:pt x="0" y="0"/>
                </a:lnTo>
                <a:cubicBezTo>
                  <a:pt x="0" y="0"/>
                  <a:pt x="0" y="61"/>
                  <a:pt x="16" y="108"/>
                </a:cubicBezTo>
                <a:cubicBezTo>
                  <a:pt x="36" y="168"/>
                  <a:pt x="108" y="185"/>
                  <a:pt x="108" y="246"/>
                </a:cubicBezTo>
                <a:cubicBezTo>
                  <a:pt x="108" y="309"/>
                  <a:pt x="108" y="448"/>
                  <a:pt x="125" y="448"/>
                </a:cubicBezTo>
                <a:cubicBezTo>
                  <a:pt x="140" y="448"/>
                  <a:pt x="140" y="309"/>
                  <a:pt x="140" y="246"/>
                </a:cubicBezTo>
                <a:cubicBezTo>
                  <a:pt x="140" y="185"/>
                  <a:pt x="213" y="168"/>
                  <a:pt x="233" y="108"/>
                </a:cubicBezTo>
                <a:cubicBezTo>
                  <a:pt x="248" y="61"/>
                  <a:pt x="248" y="0"/>
                  <a:pt x="248" y="0"/>
                </a:cubicBezTo>
                <a:lnTo>
                  <a:pt x="125" y="0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2" name=""/>
          <p:cNvSpPr/>
          <p:nvPr/>
        </p:nvSpPr>
        <p:spPr>
          <a:xfrm>
            <a:off x="1042920" y="4305240"/>
            <a:ext cx="133560" cy="200160"/>
          </a:xfrm>
          <a:custGeom>
            <a:avLst/>
            <a:gdLst/>
            <a:ahLst/>
            <a:rect l="0" t="0" r="r" b="b"/>
            <a:pathLst>
              <a:path w="371" h="556">
                <a:moveTo>
                  <a:pt x="371" y="524"/>
                </a:moveTo>
                <a:cubicBezTo>
                  <a:pt x="371" y="542"/>
                  <a:pt x="357" y="556"/>
                  <a:pt x="340" y="556"/>
                </a:cubicBezTo>
                <a:lnTo>
                  <a:pt x="31" y="556"/>
                </a:lnTo>
                <a:cubicBezTo>
                  <a:pt x="14" y="556"/>
                  <a:pt x="0" y="542"/>
                  <a:pt x="0" y="524"/>
                </a:cubicBezTo>
                <a:cubicBezTo>
                  <a:pt x="0" y="507"/>
                  <a:pt x="14" y="494"/>
                  <a:pt x="31" y="494"/>
                </a:cubicBezTo>
                <a:lnTo>
                  <a:pt x="340" y="494"/>
                </a:lnTo>
                <a:cubicBezTo>
                  <a:pt x="357" y="494"/>
                  <a:pt x="371" y="507"/>
                  <a:pt x="371" y="524"/>
                </a:cubicBezTo>
                <a:moveTo>
                  <a:pt x="371" y="31"/>
                </a:moveTo>
                <a:cubicBezTo>
                  <a:pt x="371" y="48"/>
                  <a:pt x="357" y="61"/>
                  <a:pt x="340" y="61"/>
                </a:cubicBezTo>
                <a:lnTo>
                  <a:pt x="31" y="61"/>
                </a:lnTo>
                <a:cubicBezTo>
                  <a:pt x="14" y="61"/>
                  <a:pt x="0" y="48"/>
                  <a:pt x="0" y="31"/>
                </a:cubicBezTo>
                <a:cubicBezTo>
                  <a:pt x="0" y="13"/>
                  <a:pt x="14" y="0"/>
                  <a:pt x="31" y="0"/>
                </a:cubicBezTo>
                <a:lnTo>
                  <a:pt x="340" y="0"/>
                </a:lnTo>
                <a:cubicBezTo>
                  <a:pt x="357" y="0"/>
                  <a:pt x="371" y="13"/>
                  <a:pt x="371" y="31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3" name=""/>
          <p:cNvSpPr txBox="1"/>
          <p:nvPr/>
        </p:nvSpPr>
        <p:spPr>
          <a:xfrm>
            <a:off x="5936760" y="3670920"/>
            <a:ext cx="4863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15 min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4" name=""/>
          <p:cNvSpPr txBox="1"/>
          <p:nvPr/>
        </p:nvSpPr>
        <p:spPr>
          <a:xfrm>
            <a:off x="990720" y="4545360"/>
            <a:ext cx="10008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Ojo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el VLM es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lento en CPU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(varios segundos por imagen). Procesar las 17 puede tardar unos minutos por notebook. Es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5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6" name=""/>
          <p:cNvSpPr txBox="1"/>
          <p:nvPr/>
        </p:nvSpPr>
        <p:spPr>
          <a:xfrm>
            <a:off x="990720" y="4840560"/>
            <a:ext cx="1691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normal — no lo pare.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7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8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19" name=""/>
          <p:cNvSpPr txBox="1"/>
          <p:nvPr/>
        </p:nvSpPr>
        <p:spPr>
          <a:xfrm>
            <a:off x="685800" y="632520"/>
            <a:ext cx="18957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Estructura del trabajo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0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1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2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3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4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5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6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27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8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"/>
          <p:cNvSpPr txBox="1"/>
          <p:nvPr/>
        </p:nvSpPr>
        <p:spPr>
          <a:xfrm>
            <a:off x="914400" y="975240"/>
            <a:ext cx="190152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0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4" name=""/>
          <p:cNvSpPr txBox="1"/>
          <p:nvPr/>
        </p:nvSpPr>
        <p:spPr>
          <a:xfrm>
            <a:off x="914400" y="1735560"/>
            <a:ext cx="127080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Preparación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5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6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7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8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9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0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1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42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3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7" name=""/>
          <p:cNvSpPr txBox="1"/>
          <p:nvPr/>
        </p:nvSpPr>
        <p:spPr>
          <a:xfrm>
            <a:off x="685800" y="1325880"/>
            <a:ext cx="4362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ordenador ya quedó preparado en CP1. Para CP3: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8" name=""/>
          <p:cNvSpPr/>
          <p:nvPr/>
        </p:nvSpPr>
        <p:spPr>
          <a:xfrm>
            <a:off x="2543040" y="1800000"/>
            <a:ext cx="1648080" cy="219600"/>
          </a:xfrm>
          <a:custGeom>
            <a:avLst/>
            <a:gdLst/>
            <a:ahLst/>
            <a:rect l="0" t="0" r="r" b="b"/>
            <a:pathLst>
              <a:path w="4578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4499" y="0"/>
                </a:lnTo>
                <a:cubicBezTo>
                  <a:pt x="4509" y="0"/>
                  <a:pt x="4519" y="2"/>
                  <a:pt x="4529" y="6"/>
                </a:cubicBezTo>
                <a:cubicBezTo>
                  <a:pt x="4539" y="10"/>
                  <a:pt x="4547" y="16"/>
                  <a:pt x="4555" y="23"/>
                </a:cubicBezTo>
                <a:cubicBezTo>
                  <a:pt x="4562" y="31"/>
                  <a:pt x="4568" y="39"/>
                  <a:pt x="4572" y="49"/>
                </a:cubicBezTo>
                <a:cubicBezTo>
                  <a:pt x="4576" y="59"/>
                  <a:pt x="4578" y="69"/>
                  <a:pt x="4578" y="79"/>
                </a:cubicBezTo>
                <a:lnTo>
                  <a:pt x="4578" y="530"/>
                </a:lnTo>
                <a:cubicBezTo>
                  <a:pt x="4578" y="541"/>
                  <a:pt x="4576" y="551"/>
                  <a:pt x="4572" y="561"/>
                </a:cubicBezTo>
                <a:cubicBezTo>
                  <a:pt x="4568" y="570"/>
                  <a:pt x="4562" y="579"/>
                  <a:pt x="4555" y="586"/>
                </a:cubicBezTo>
                <a:cubicBezTo>
                  <a:pt x="4547" y="594"/>
                  <a:pt x="4539" y="600"/>
                  <a:pt x="4529" y="604"/>
                </a:cubicBezTo>
                <a:cubicBezTo>
                  <a:pt x="4519" y="608"/>
                  <a:pt x="4509" y="610"/>
                  <a:pt x="4499" y="610"/>
                </a:cubicBezTo>
                <a:lnTo>
                  <a:pt x="79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39" y="600"/>
                  <a:pt x="31" y="594"/>
                  <a:pt x="23" y="586"/>
                </a:cubicBezTo>
                <a:cubicBezTo>
                  <a:pt x="16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49" name=""/>
          <p:cNvSpPr txBox="1"/>
          <p:nvPr/>
        </p:nvSpPr>
        <p:spPr>
          <a:xfrm>
            <a:off x="860400" y="1811520"/>
            <a:ext cx="1682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Tener la 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0" name=""/>
          <p:cNvSpPr txBox="1"/>
          <p:nvPr/>
        </p:nvSpPr>
        <p:spPr>
          <a:xfrm>
            <a:off x="2603160" y="1814040"/>
            <a:ext cx="15422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CP3-vlm-dashcam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1" name=""/>
          <p:cNvSpPr txBox="1"/>
          <p:nvPr/>
        </p:nvSpPr>
        <p:spPr>
          <a:xfrm>
            <a:off x="4195440" y="1811520"/>
            <a:ext cx="3440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(mismo repositorio que CP1/CP2: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Code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2" name=""/>
          <p:cNvSpPr txBox="1"/>
          <p:nvPr/>
        </p:nvSpPr>
        <p:spPr>
          <a:xfrm>
            <a:off x="7641720" y="177840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3" name=""/>
          <p:cNvSpPr txBox="1"/>
          <p:nvPr/>
        </p:nvSpPr>
        <p:spPr>
          <a:xfrm>
            <a:off x="7841520" y="1811520"/>
            <a:ext cx="2404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Download ZIP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 no la tiene).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4" name=""/>
          <p:cNvSpPr txBox="1"/>
          <p:nvPr/>
        </p:nvSpPr>
        <p:spPr>
          <a:xfrm>
            <a:off x="860760" y="2144880"/>
            <a:ext cx="5559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Crear 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entorno virtual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propio de CP3 e instalar dependencias.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5" name=""/>
          <p:cNvSpPr txBox="1"/>
          <p:nvPr/>
        </p:nvSpPr>
        <p:spPr>
          <a:xfrm>
            <a:off x="860760" y="2487960"/>
            <a:ext cx="683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Las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17 imágenes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dashcam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ya vienen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 el material (no hay que descargarlas).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6" name=""/>
          <p:cNvSpPr/>
          <p:nvPr/>
        </p:nvSpPr>
        <p:spPr>
          <a:xfrm>
            <a:off x="685440" y="3495600"/>
            <a:ext cx="10820880" cy="428760"/>
          </a:xfrm>
          <a:custGeom>
            <a:avLst/>
            <a:gdLst/>
            <a:ahLst/>
            <a:rect l="0" t="0" r="r" b="b"/>
            <a:pathLst>
              <a:path w="30058" h="1191">
                <a:moveTo>
                  <a:pt x="0" y="0"/>
                </a:moveTo>
                <a:lnTo>
                  <a:pt x="30058" y="0"/>
                </a:lnTo>
                <a:lnTo>
                  <a:pt x="30058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7" name=""/>
          <p:cNvSpPr/>
          <p:nvPr/>
        </p:nvSpPr>
        <p:spPr>
          <a:xfrm>
            <a:off x="685440" y="3495600"/>
            <a:ext cx="29160" cy="428760"/>
          </a:xfrm>
          <a:custGeom>
            <a:avLst/>
            <a:gdLst/>
            <a:ahLst/>
            <a:rect l="0" t="0" r="r" b="b"/>
            <a:pathLst>
              <a:path w="81" h="1191">
                <a:moveTo>
                  <a:pt x="0" y="0"/>
                </a:moveTo>
                <a:lnTo>
                  <a:pt x="81" y="0"/>
                </a:lnTo>
                <a:lnTo>
                  <a:pt x="81" y="1191"/>
                </a:lnTo>
                <a:lnTo>
                  <a:pt x="0" y="1191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58" name=""/>
          <p:cNvSpPr txBox="1"/>
          <p:nvPr/>
        </p:nvSpPr>
        <p:spPr>
          <a:xfrm>
            <a:off x="860760" y="2830680"/>
            <a:ext cx="6323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4. El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modelo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se descarga solo la primera vez (~3.7 GB — hágalo con tiempo).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9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0" name=""/>
          <p:cNvSpPr txBox="1"/>
          <p:nvPr/>
        </p:nvSpPr>
        <p:spPr>
          <a:xfrm>
            <a:off x="990720" y="3602520"/>
            <a:ext cx="5617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Repositorio: </a:t>
            </a:r>
            <a:r>
              <a:rPr lang="en-US" sz="1580" b="1" u="none" strike="noStrike">
                <a:solidFill>
                  <a:srgbClr val="0969DA"/>
                </a:solidFill>
                <a:effectLst/>
                <a:uFillTx/>
                <a:latin typeface="Eurostile"/>
                <a:ea typeface="Eurostile"/>
              </a:rPr>
              <a:t>https://github.com/codx-digital/master-ia-practicas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1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2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63" name=""/>
          <p:cNvSpPr txBox="1"/>
          <p:nvPr/>
        </p:nvSpPr>
        <p:spPr>
          <a:xfrm>
            <a:off x="685800" y="632520"/>
            <a:ext cx="30934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Lo que hace falta antes de empezar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4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9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0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271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72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6" name=""/>
          <p:cNvSpPr/>
          <p:nvPr/>
        </p:nvSpPr>
        <p:spPr>
          <a:xfrm>
            <a:off x="2323800" y="1314360"/>
            <a:ext cx="1648440" cy="219240"/>
          </a:xfrm>
          <a:custGeom>
            <a:avLst/>
            <a:gdLst/>
            <a:ahLst/>
            <a:rect l="0" t="0" r="r" b="b"/>
            <a:pathLst>
              <a:path w="4579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4499" y="0"/>
                </a:lnTo>
                <a:cubicBezTo>
                  <a:pt x="4510" y="0"/>
                  <a:pt x="4520" y="2"/>
                  <a:pt x="4530" y="6"/>
                </a:cubicBezTo>
                <a:cubicBezTo>
                  <a:pt x="4539" y="10"/>
                  <a:pt x="4548" y="16"/>
                  <a:pt x="4555" y="23"/>
                </a:cubicBezTo>
                <a:cubicBezTo>
                  <a:pt x="4563" y="30"/>
                  <a:pt x="4569" y="39"/>
                  <a:pt x="4573" y="49"/>
                </a:cubicBezTo>
                <a:cubicBezTo>
                  <a:pt x="4577" y="58"/>
                  <a:pt x="4579" y="69"/>
                  <a:pt x="4579" y="79"/>
                </a:cubicBezTo>
                <a:lnTo>
                  <a:pt x="4579" y="530"/>
                </a:lnTo>
                <a:cubicBezTo>
                  <a:pt x="4579" y="540"/>
                  <a:pt x="4577" y="551"/>
                  <a:pt x="4573" y="560"/>
                </a:cubicBezTo>
                <a:cubicBezTo>
                  <a:pt x="4569" y="570"/>
                  <a:pt x="4563" y="579"/>
                  <a:pt x="4555" y="586"/>
                </a:cubicBezTo>
                <a:cubicBezTo>
                  <a:pt x="4548" y="593"/>
                  <a:pt x="4539" y="599"/>
                  <a:pt x="4530" y="603"/>
                </a:cubicBezTo>
                <a:cubicBezTo>
                  <a:pt x="4520" y="607"/>
                  <a:pt x="4510" y="609"/>
                  <a:pt x="4499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3"/>
                  <a:pt x="24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77" name=""/>
          <p:cNvSpPr txBox="1"/>
          <p:nvPr/>
        </p:nvSpPr>
        <p:spPr>
          <a:xfrm>
            <a:off x="685800" y="1325880"/>
            <a:ext cx="1637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Entre en la 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8" name=""/>
          <p:cNvSpPr txBox="1"/>
          <p:nvPr/>
        </p:nvSpPr>
        <p:spPr>
          <a:xfrm>
            <a:off x="2382840" y="1328040"/>
            <a:ext cx="15422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CP3-vlm-dashcam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9" name=""/>
          <p:cNvSpPr/>
          <p:nvPr/>
        </p:nvSpPr>
        <p:spPr>
          <a:xfrm>
            <a:off x="690480" y="172872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1"/>
                  <a:pt x="29995" y="18"/>
                  <a:pt x="30004" y="27"/>
                </a:cubicBezTo>
                <a:cubicBezTo>
                  <a:pt x="30012" y="35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0"/>
                  <a:pt x="30029" y="1202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2"/>
                  <a:pt x="29985" y="1259"/>
                  <a:pt x="29974" y="1264"/>
                </a:cubicBezTo>
                <a:cubicBezTo>
                  <a:pt x="29962" y="1268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8"/>
                  <a:pt x="57" y="1264"/>
                </a:cubicBezTo>
                <a:cubicBezTo>
                  <a:pt x="46" y="1259"/>
                  <a:pt x="36" y="1252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2"/>
                  <a:pt x="0" y="1190"/>
                  <a:pt x="0" y="1178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0" name=""/>
          <p:cNvSpPr/>
          <p:nvPr/>
        </p:nvSpPr>
        <p:spPr>
          <a:xfrm>
            <a:off x="690480" y="172872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8"/>
                </a:moveTo>
                <a:lnTo>
                  <a:pt x="0" y="92"/>
                </a:lnTo>
                <a:cubicBezTo>
                  <a:pt x="0" y="80"/>
                  <a:pt x="2" y="68"/>
                  <a:pt x="7" y="57"/>
                </a:cubicBezTo>
                <a:cubicBezTo>
                  <a:pt x="11" y="46"/>
                  <a:pt x="18" y="35"/>
                  <a:pt x="27" y="27"/>
                </a:cubicBezTo>
                <a:cubicBezTo>
                  <a:pt x="36" y="18"/>
                  <a:pt x="46" y="11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1"/>
                  <a:pt x="29995" y="18"/>
                  <a:pt x="30004" y="27"/>
                </a:cubicBezTo>
                <a:cubicBezTo>
                  <a:pt x="30012" y="35"/>
                  <a:pt x="30019" y="46"/>
                  <a:pt x="30024" y="57"/>
                </a:cubicBezTo>
                <a:cubicBezTo>
                  <a:pt x="30029" y="68"/>
                  <a:pt x="30031" y="80"/>
                  <a:pt x="30031" y="92"/>
                </a:cubicBezTo>
                <a:lnTo>
                  <a:pt x="30031" y="1178"/>
                </a:lnTo>
                <a:cubicBezTo>
                  <a:pt x="30031" y="1190"/>
                  <a:pt x="30029" y="1202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2"/>
                  <a:pt x="29985" y="1259"/>
                  <a:pt x="29974" y="1264"/>
                </a:cubicBezTo>
                <a:cubicBezTo>
                  <a:pt x="29962" y="1268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8"/>
                  <a:pt x="57" y="1264"/>
                </a:cubicBezTo>
                <a:cubicBezTo>
                  <a:pt x="46" y="1259"/>
                  <a:pt x="36" y="1252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2"/>
                  <a:pt x="0" y="1190"/>
                  <a:pt x="0" y="1178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1" name=""/>
          <p:cNvSpPr txBox="1"/>
          <p:nvPr/>
        </p:nvSpPr>
        <p:spPr>
          <a:xfrm>
            <a:off x="3975480" y="132588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y: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2" name=""/>
          <p:cNvSpPr/>
          <p:nvPr/>
        </p:nvSpPr>
        <p:spPr>
          <a:xfrm>
            <a:off x="690480" y="2347560"/>
            <a:ext cx="10811160" cy="638640"/>
          </a:xfrm>
          <a:custGeom>
            <a:avLst/>
            <a:gdLst/>
            <a:ahLst/>
            <a:rect l="0" t="0" r="r" b="b"/>
            <a:pathLst>
              <a:path w="30031" h="1774">
                <a:moveTo>
                  <a:pt x="0" y="1682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8"/>
                </a:cubicBezTo>
                <a:cubicBezTo>
                  <a:pt x="29985" y="12"/>
                  <a:pt x="29995" y="19"/>
                  <a:pt x="30004" y="28"/>
                </a:cubicBezTo>
                <a:cubicBezTo>
                  <a:pt x="30012" y="36"/>
                  <a:pt x="30019" y="46"/>
                  <a:pt x="30024" y="58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682"/>
                </a:lnTo>
                <a:cubicBezTo>
                  <a:pt x="30031" y="1694"/>
                  <a:pt x="30029" y="1706"/>
                  <a:pt x="30024" y="1717"/>
                </a:cubicBezTo>
                <a:cubicBezTo>
                  <a:pt x="30019" y="1728"/>
                  <a:pt x="30012" y="1738"/>
                  <a:pt x="30004" y="1747"/>
                </a:cubicBezTo>
                <a:cubicBezTo>
                  <a:pt x="29995" y="1756"/>
                  <a:pt x="29985" y="1762"/>
                  <a:pt x="29974" y="1767"/>
                </a:cubicBezTo>
                <a:cubicBezTo>
                  <a:pt x="29962" y="1772"/>
                  <a:pt x="29951" y="1774"/>
                  <a:pt x="29938" y="1774"/>
                </a:cubicBezTo>
                <a:lnTo>
                  <a:pt x="92" y="1774"/>
                </a:lnTo>
                <a:cubicBezTo>
                  <a:pt x="80" y="1774"/>
                  <a:pt x="68" y="1772"/>
                  <a:pt x="57" y="1767"/>
                </a:cubicBezTo>
                <a:cubicBezTo>
                  <a:pt x="46" y="1762"/>
                  <a:pt x="36" y="1756"/>
                  <a:pt x="27" y="1747"/>
                </a:cubicBezTo>
                <a:cubicBezTo>
                  <a:pt x="18" y="1738"/>
                  <a:pt x="11" y="1728"/>
                  <a:pt x="7" y="1717"/>
                </a:cubicBezTo>
                <a:cubicBezTo>
                  <a:pt x="2" y="1706"/>
                  <a:pt x="0" y="1694"/>
                  <a:pt x="0" y="1682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3" name=""/>
          <p:cNvSpPr/>
          <p:nvPr/>
        </p:nvSpPr>
        <p:spPr>
          <a:xfrm>
            <a:off x="690480" y="2347560"/>
            <a:ext cx="10811160" cy="638640"/>
          </a:xfrm>
          <a:custGeom>
            <a:avLst/>
            <a:gdLst/>
            <a:ahLst/>
            <a:rect l="0" t="0" r="r" b="b"/>
            <a:pathLst>
              <a:path w="30031" h="1774">
                <a:moveTo>
                  <a:pt x="0" y="1682"/>
                </a:moveTo>
                <a:lnTo>
                  <a:pt x="0" y="93"/>
                </a:lnTo>
                <a:cubicBezTo>
                  <a:pt x="0" y="81"/>
                  <a:pt x="2" y="69"/>
                  <a:pt x="7" y="58"/>
                </a:cubicBezTo>
                <a:cubicBezTo>
                  <a:pt x="11" y="46"/>
                  <a:pt x="18" y="36"/>
                  <a:pt x="27" y="28"/>
                </a:cubicBezTo>
                <a:cubicBezTo>
                  <a:pt x="36" y="19"/>
                  <a:pt x="46" y="12"/>
                  <a:pt x="57" y="8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8"/>
                </a:cubicBezTo>
                <a:cubicBezTo>
                  <a:pt x="29985" y="12"/>
                  <a:pt x="29995" y="19"/>
                  <a:pt x="30004" y="28"/>
                </a:cubicBezTo>
                <a:cubicBezTo>
                  <a:pt x="30012" y="36"/>
                  <a:pt x="30019" y="46"/>
                  <a:pt x="30024" y="58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682"/>
                </a:lnTo>
                <a:cubicBezTo>
                  <a:pt x="30031" y="1694"/>
                  <a:pt x="30029" y="1706"/>
                  <a:pt x="30024" y="1717"/>
                </a:cubicBezTo>
                <a:cubicBezTo>
                  <a:pt x="30019" y="1728"/>
                  <a:pt x="30012" y="1738"/>
                  <a:pt x="30004" y="1747"/>
                </a:cubicBezTo>
                <a:cubicBezTo>
                  <a:pt x="29995" y="1756"/>
                  <a:pt x="29985" y="1762"/>
                  <a:pt x="29974" y="1767"/>
                </a:cubicBezTo>
                <a:cubicBezTo>
                  <a:pt x="29962" y="1772"/>
                  <a:pt x="29951" y="1774"/>
                  <a:pt x="29938" y="1774"/>
                </a:cubicBezTo>
                <a:lnTo>
                  <a:pt x="92" y="1774"/>
                </a:lnTo>
                <a:cubicBezTo>
                  <a:pt x="80" y="1774"/>
                  <a:pt x="68" y="1772"/>
                  <a:pt x="57" y="1767"/>
                </a:cubicBezTo>
                <a:cubicBezTo>
                  <a:pt x="46" y="1762"/>
                  <a:pt x="36" y="1756"/>
                  <a:pt x="27" y="1747"/>
                </a:cubicBezTo>
                <a:cubicBezTo>
                  <a:pt x="18" y="1738"/>
                  <a:pt x="11" y="1728"/>
                  <a:pt x="7" y="1717"/>
                </a:cubicBezTo>
                <a:cubicBezTo>
                  <a:pt x="2" y="1706"/>
                  <a:pt x="0" y="1694"/>
                  <a:pt x="0" y="1682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4" name=""/>
          <p:cNvSpPr txBox="1"/>
          <p:nvPr/>
        </p:nvSpPr>
        <p:spPr>
          <a:xfrm>
            <a:off x="866880" y="1881000"/>
            <a:ext cx="156060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python -m venv .venv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5" name=""/>
          <p:cNvSpPr txBox="1"/>
          <p:nvPr/>
        </p:nvSpPr>
        <p:spPr>
          <a:xfrm>
            <a:off x="866880" y="2500200"/>
            <a:ext cx="2886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.venv\Scripts\activate      ← Windows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6" name=""/>
          <p:cNvSpPr/>
          <p:nvPr/>
        </p:nvSpPr>
        <p:spPr>
          <a:xfrm>
            <a:off x="685440" y="3362040"/>
            <a:ext cx="10820880" cy="629280"/>
          </a:xfrm>
          <a:custGeom>
            <a:avLst/>
            <a:gdLst/>
            <a:ahLst/>
            <a:rect l="0" t="0" r="r" b="b"/>
            <a:pathLst>
              <a:path w="30058" h="1748">
                <a:moveTo>
                  <a:pt x="0" y="0"/>
                </a:moveTo>
                <a:lnTo>
                  <a:pt x="30058" y="0"/>
                </a:lnTo>
                <a:lnTo>
                  <a:pt x="30058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7" name=""/>
          <p:cNvSpPr/>
          <p:nvPr/>
        </p:nvSpPr>
        <p:spPr>
          <a:xfrm>
            <a:off x="685440" y="3362040"/>
            <a:ext cx="29160" cy="629280"/>
          </a:xfrm>
          <a:custGeom>
            <a:avLst/>
            <a:gdLst/>
            <a:ahLst/>
            <a:rect l="0" t="0" r="r" b="b"/>
            <a:pathLst>
              <a:path w="81" h="1748">
                <a:moveTo>
                  <a:pt x="0" y="0"/>
                </a:moveTo>
                <a:lnTo>
                  <a:pt x="81" y="0"/>
                </a:lnTo>
                <a:lnTo>
                  <a:pt x="81" y="1748"/>
                </a:lnTo>
                <a:lnTo>
                  <a:pt x="0" y="174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88" name=""/>
          <p:cNvSpPr/>
          <p:nvPr/>
        </p:nvSpPr>
        <p:spPr>
          <a:xfrm>
            <a:off x="1009440" y="3428640"/>
            <a:ext cx="200520" cy="200520"/>
          </a:xfrm>
          <a:custGeom>
            <a:avLst/>
            <a:gdLst/>
            <a:ahLst/>
            <a:rect l="0" t="0" r="r" b="b"/>
            <a:pathLst>
              <a:path w="557" h="557">
                <a:moveTo>
                  <a:pt x="557" y="495"/>
                </a:moveTo>
                <a:cubicBezTo>
                  <a:pt x="557" y="529"/>
                  <a:pt x="529" y="557"/>
                  <a:pt x="495" y="557"/>
                </a:cubicBezTo>
                <a:lnTo>
                  <a:pt x="62" y="557"/>
                </a:lnTo>
                <a:cubicBezTo>
                  <a:pt x="28" y="557"/>
                  <a:pt x="0" y="529"/>
                  <a:pt x="0" y="495"/>
                </a:cubicBezTo>
                <a:lnTo>
                  <a:pt x="0" y="62"/>
                </a:lnTo>
                <a:cubicBezTo>
                  <a:pt x="0" y="28"/>
                  <a:pt x="28" y="0"/>
                  <a:pt x="62" y="0"/>
                </a:cubicBezTo>
                <a:lnTo>
                  <a:pt x="495" y="0"/>
                </a:lnTo>
                <a:cubicBezTo>
                  <a:pt x="529" y="0"/>
                  <a:pt x="557" y="28"/>
                  <a:pt x="557" y="62"/>
                </a:cubicBezTo>
                <a:lnTo>
                  <a:pt x="557" y="495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9" name=""/>
          <p:cNvSpPr/>
          <p:nvPr/>
        </p:nvSpPr>
        <p:spPr>
          <a:xfrm>
            <a:off x="1041120" y="3461760"/>
            <a:ext cx="137520" cy="135360"/>
          </a:xfrm>
          <a:custGeom>
            <a:avLst/>
            <a:gdLst/>
            <a:ahLst/>
            <a:rect l="0" t="0" r="r" b="b"/>
            <a:pathLst>
              <a:path w="382" h="376">
                <a:moveTo>
                  <a:pt x="365" y="7"/>
                </a:moveTo>
                <a:cubicBezTo>
                  <a:pt x="346" y="-5"/>
                  <a:pt x="322" y="0"/>
                  <a:pt x="311" y="18"/>
                </a:cubicBezTo>
                <a:lnTo>
                  <a:pt x="143" y="277"/>
                </a:lnTo>
                <a:lnTo>
                  <a:pt x="65" y="205"/>
                </a:lnTo>
                <a:cubicBezTo>
                  <a:pt x="49" y="191"/>
                  <a:pt x="25" y="192"/>
                  <a:pt x="10" y="207"/>
                </a:cubicBezTo>
                <a:cubicBezTo>
                  <a:pt x="-4" y="223"/>
                  <a:pt x="-3" y="247"/>
                  <a:pt x="13" y="262"/>
                </a:cubicBezTo>
                <a:lnTo>
                  <a:pt x="124" y="366"/>
                </a:lnTo>
                <a:cubicBezTo>
                  <a:pt x="131" y="373"/>
                  <a:pt x="141" y="376"/>
                  <a:pt x="150" y="376"/>
                </a:cubicBezTo>
                <a:cubicBezTo>
                  <a:pt x="160" y="376"/>
                  <a:pt x="174" y="372"/>
                  <a:pt x="182" y="358"/>
                </a:cubicBezTo>
                <a:cubicBezTo>
                  <a:pt x="188" y="351"/>
                  <a:pt x="376" y="60"/>
                  <a:pt x="376" y="60"/>
                </a:cubicBezTo>
                <a:cubicBezTo>
                  <a:pt x="388" y="42"/>
                  <a:pt x="383" y="18"/>
                  <a:pt x="365" y="7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0" name=""/>
          <p:cNvSpPr txBox="1"/>
          <p:nvPr/>
        </p:nvSpPr>
        <p:spPr>
          <a:xfrm>
            <a:off x="866880" y="2680920"/>
            <a:ext cx="257436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source .venv/bin/activate   ← Mac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1" name=""/>
          <p:cNvSpPr/>
          <p:nvPr/>
        </p:nvSpPr>
        <p:spPr>
          <a:xfrm>
            <a:off x="2285640" y="3657240"/>
            <a:ext cx="829080" cy="219600"/>
          </a:xfrm>
          <a:custGeom>
            <a:avLst/>
            <a:gdLst/>
            <a:ahLst/>
            <a:rect l="0" t="0" r="r" b="b"/>
            <a:pathLst>
              <a:path w="2303" h="610">
                <a:moveTo>
                  <a:pt x="0" y="531"/>
                </a:moveTo>
                <a:lnTo>
                  <a:pt x="0" y="80"/>
                </a:lnTo>
                <a:cubicBezTo>
                  <a:pt x="0" y="69"/>
                  <a:pt x="3" y="59"/>
                  <a:pt x="7" y="49"/>
                </a:cubicBezTo>
                <a:cubicBezTo>
                  <a:pt x="11" y="40"/>
                  <a:pt x="16" y="31"/>
                  <a:pt x="24" y="24"/>
                </a:cubicBezTo>
                <a:cubicBezTo>
                  <a:pt x="31" y="16"/>
                  <a:pt x="40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lnTo>
                  <a:pt x="2224" y="0"/>
                </a:lnTo>
                <a:cubicBezTo>
                  <a:pt x="2235" y="0"/>
                  <a:pt x="2245" y="3"/>
                  <a:pt x="2254" y="7"/>
                </a:cubicBezTo>
                <a:cubicBezTo>
                  <a:pt x="2264" y="11"/>
                  <a:pt x="2273" y="16"/>
                  <a:pt x="2280" y="24"/>
                </a:cubicBezTo>
                <a:cubicBezTo>
                  <a:pt x="2288" y="31"/>
                  <a:pt x="2293" y="40"/>
                  <a:pt x="2297" y="49"/>
                </a:cubicBezTo>
                <a:cubicBezTo>
                  <a:pt x="2301" y="59"/>
                  <a:pt x="2303" y="69"/>
                  <a:pt x="2303" y="80"/>
                </a:cubicBezTo>
                <a:lnTo>
                  <a:pt x="2303" y="531"/>
                </a:lnTo>
                <a:cubicBezTo>
                  <a:pt x="2303" y="541"/>
                  <a:pt x="2301" y="551"/>
                  <a:pt x="2297" y="561"/>
                </a:cubicBezTo>
                <a:cubicBezTo>
                  <a:pt x="2293" y="571"/>
                  <a:pt x="2288" y="579"/>
                  <a:pt x="2280" y="587"/>
                </a:cubicBezTo>
                <a:cubicBezTo>
                  <a:pt x="2273" y="594"/>
                  <a:pt x="2264" y="600"/>
                  <a:pt x="2254" y="604"/>
                </a:cubicBezTo>
                <a:cubicBezTo>
                  <a:pt x="2245" y="608"/>
                  <a:pt x="2235" y="610"/>
                  <a:pt x="2224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7"/>
                </a:cubicBezTo>
                <a:cubicBezTo>
                  <a:pt x="16" y="579"/>
                  <a:pt x="11" y="571"/>
                  <a:pt x="7" y="561"/>
                </a:cubicBezTo>
                <a:cubicBezTo>
                  <a:pt x="3" y="551"/>
                  <a:pt x="0" y="541"/>
                  <a:pt x="0" y="531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2" name=""/>
          <p:cNvSpPr txBox="1"/>
          <p:nvPr/>
        </p:nvSpPr>
        <p:spPr>
          <a:xfrm>
            <a:off x="990720" y="3669120"/>
            <a:ext cx="1295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Debe aparecer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3" name=""/>
          <p:cNvSpPr txBox="1"/>
          <p:nvPr/>
        </p:nvSpPr>
        <p:spPr>
          <a:xfrm>
            <a:off x="2345040" y="3671280"/>
            <a:ext cx="7200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(.venv)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4" name=""/>
          <p:cNvSpPr/>
          <p:nvPr/>
        </p:nvSpPr>
        <p:spPr>
          <a:xfrm>
            <a:off x="690480" y="4214520"/>
            <a:ext cx="10811160" cy="638640"/>
          </a:xfrm>
          <a:custGeom>
            <a:avLst/>
            <a:gdLst/>
            <a:ahLst/>
            <a:rect l="0" t="0" r="r" b="b"/>
            <a:pathLst>
              <a:path w="30031" h="1774">
                <a:moveTo>
                  <a:pt x="0" y="1681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681"/>
                </a:lnTo>
                <a:cubicBezTo>
                  <a:pt x="30031" y="1694"/>
                  <a:pt x="30029" y="1706"/>
                  <a:pt x="30024" y="1717"/>
                </a:cubicBezTo>
                <a:cubicBezTo>
                  <a:pt x="30019" y="1728"/>
                  <a:pt x="30012" y="1738"/>
                  <a:pt x="30004" y="1747"/>
                </a:cubicBezTo>
                <a:cubicBezTo>
                  <a:pt x="29995" y="1756"/>
                  <a:pt x="29985" y="1762"/>
                  <a:pt x="29974" y="1767"/>
                </a:cubicBezTo>
                <a:cubicBezTo>
                  <a:pt x="29962" y="1772"/>
                  <a:pt x="29951" y="1774"/>
                  <a:pt x="29938" y="1774"/>
                </a:cubicBezTo>
                <a:lnTo>
                  <a:pt x="92" y="1774"/>
                </a:lnTo>
                <a:cubicBezTo>
                  <a:pt x="80" y="1774"/>
                  <a:pt x="68" y="1772"/>
                  <a:pt x="57" y="1767"/>
                </a:cubicBezTo>
                <a:cubicBezTo>
                  <a:pt x="46" y="1762"/>
                  <a:pt x="36" y="1756"/>
                  <a:pt x="27" y="1747"/>
                </a:cubicBezTo>
                <a:cubicBezTo>
                  <a:pt x="18" y="1738"/>
                  <a:pt x="11" y="1728"/>
                  <a:pt x="7" y="1717"/>
                </a:cubicBezTo>
                <a:cubicBezTo>
                  <a:pt x="2" y="1706"/>
                  <a:pt x="0" y="1694"/>
                  <a:pt x="0" y="1681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5" name=""/>
          <p:cNvSpPr/>
          <p:nvPr/>
        </p:nvSpPr>
        <p:spPr>
          <a:xfrm>
            <a:off x="690480" y="4214520"/>
            <a:ext cx="10811160" cy="638640"/>
          </a:xfrm>
          <a:custGeom>
            <a:avLst/>
            <a:gdLst/>
            <a:ahLst/>
            <a:rect l="0" t="0" r="r" b="b"/>
            <a:pathLst>
              <a:path w="30031" h="1774">
                <a:moveTo>
                  <a:pt x="0" y="1681"/>
                </a:moveTo>
                <a:lnTo>
                  <a:pt x="0" y="93"/>
                </a:lnTo>
                <a:cubicBezTo>
                  <a:pt x="0" y="81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3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3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1"/>
                  <a:pt x="30031" y="93"/>
                </a:cubicBezTo>
                <a:lnTo>
                  <a:pt x="30031" y="1681"/>
                </a:lnTo>
                <a:cubicBezTo>
                  <a:pt x="30031" y="1694"/>
                  <a:pt x="30029" y="1706"/>
                  <a:pt x="30024" y="1717"/>
                </a:cubicBezTo>
                <a:cubicBezTo>
                  <a:pt x="30019" y="1728"/>
                  <a:pt x="30012" y="1738"/>
                  <a:pt x="30004" y="1747"/>
                </a:cubicBezTo>
                <a:cubicBezTo>
                  <a:pt x="29995" y="1756"/>
                  <a:pt x="29985" y="1762"/>
                  <a:pt x="29974" y="1767"/>
                </a:cubicBezTo>
                <a:cubicBezTo>
                  <a:pt x="29962" y="1772"/>
                  <a:pt x="29951" y="1774"/>
                  <a:pt x="29938" y="1774"/>
                </a:cubicBezTo>
                <a:lnTo>
                  <a:pt x="92" y="1774"/>
                </a:lnTo>
                <a:cubicBezTo>
                  <a:pt x="80" y="1774"/>
                  <a:pt x="68" y="1772"/>
                  <a:pt x="57" y="1767"/>
                </a:cubicBezTo>
                <a:cubicBezTo>
                  <a:pt x="46" y="1762"/>
                  <a:pt x="36" y="1756"/>
                  <a:pt x="27" y="1747"/>
                </a:cubicBezTo>
                <a:cubicBezTo>
                  <a:pt x="18" y="1738"/>
                  <a:pt x="11" y="1728"/>
                  <a:pt x="7" y="1717"/>
                </a:cubicBezTo>
                <a:cubicBezTo>
                  <a:pt x="2" y="1706"/>
                  <a:pt x="0" y="1694"/>
                  <a:pt x="0" y="1681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6" name=""/>
          <p:cNvSpPr txBox="1"/>
          <p:nvPr/>
        </p:nvSpPr>
        <p:spPr>
          <a:xfrm>
            <a:off x="3118680" y="36691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7" name=""/>
          <p:cNvSpPr txBox="1"/>
          <p:nvPr/>
        </p:nvSpPr>
        <p:spPr>
          <a:xfrm>
            <a:off x="866880" y="4366800"/>
            <a:ext cx="1950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pip install --upgrade pip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"/>
          <p:cNvSpPr/>
          <p:nvPr/>
        </p:nvSpPr>
        <p:spPr>
          <a:xfrm>
            <a:off x="685440" y="522900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"/>
          <p:cNvSpPr/>
          <p:nvPr/>
        </p:nvSpPr>
        <p:spPr>
          <a:xfrm>
            <a:off x="685440" y="522900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0" name=""/>
          <p:cNvSpPr txBox="1"/>
          <p:nvPr/>
        </p:nvSpPr>
        <p:spPr>
          <a:xfrm>
            <a:off x="866880" y="4547880"/>
            <a:ext cx="2418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pip install -r requirements.txt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2" name=""/>
          <p:cNvSpPr txBox="1"/>
          <p:nvPr/>
        </p:nvSpPr>
        <p:spPr>
          <a:xfrm>
            <a:off x="990720" y="5345280"/>
            <a:ext cx="1694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Tarda unos minutos.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3" name=""/>
          <p:cNvSpPr txBox="1"/>
          <p:nvPr/>
        </p:nvSpPr>
        <p:spPr>
          <a:xfrm>
            <a:off x="685800" y="632520"/>
            <a:ext cx="6674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1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4" name=""/>
          <p:cNvSpPr txBox="1"/>
          <p:nvPr/>
        </p:nvSpPr>
        <p:spPr>
          <a:xfrm>
            <a:off x="1355040" y="63864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5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6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07" name=""/>
          <p:cNvSpPr txBox="1"/>
          <p:nvPr/>
        </p:nvSpPr>
        <p:spPr>
          <a:xfrm>
            <a:off x="1413000" y="632520"/>
            <a:ext cx="2854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Entorno de CP3 + dependencias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8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9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0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1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2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3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4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15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6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0" name=""/>
          <p:cNvSpPr/>
          <p:nvPr/>
        </p:nvSpPr>
        <p:spPr>
          <a:xfrm>
            <a:off x="4457520" y="1314360"/>
            <a:ext cx="2667240" cy="219240"/>
          </a:xfrm>
          <a:custGeom>
            <a:avLst/>
            <a:gdLst/>
            <a:ahLst/>
            <a:rect l="0" t="0" r="r" b="b"/>
            <a:pathLst>
              <a:path w="7409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330" y="0"/>
                </a:lnTo>
                <a:cubicBezTo>
                  <a:pt x="7340" y="0"/>
                  <a:pt x="7351" y="2"/>
                  <a:pt x="7360" y="6"/>
                </a:cubicBezTo>
                <a:cubicBezTo>
                  <a:pt x="7370" y="10"/>
                  <a:pt x="7379" y="16"/>
                  <a:pt x="7386" y="23"/>
                </a:cubicBezTo>
                <a:cubicBezTo>
                  <a:pt x="7394" y="30"/>
                  <a:pt x="7399" y="39"/>
                  <a:pt x="7403" y="49"/>
                </a:cubicBezTo>
                <a:cubicBezTo>
                  <a:pt x="7407" y="58"/>
                  <a:pt x="7409" y="69"/>
                  <a:pt x="7409" y="79"/>
                </a:cubicBezTo>
                <a:lnTo>
                  <a:pt x="7409" y="530"/>
                </a:lnTo>
                <a:cubicBezTo>
                  <a:pt x="7409" y="540"/>
                  <a:pt x="7407" y="551"/>
                  <a:pt x="7403" y="560"/>
                </a:cubicBezTo>
                <a:cubicBezTo>
                  <a:pt x="7399" y="570"/>
                  <a:pt x="7394" y="579"/>
                  <a:pt x="7386" y="586"/>
                </a:cubicBezTo>
                <a:cubicBezTo>
                  <a:pt x="7379" y="593"/>
                  <a:pt x="7370" y="599"/>
                  <a:pt x="7360" y="603"/>
                </a:cubicBezTo>
                <a:cubicBezTo>
                  <a:pt x="7351" y="607"/>
                  <a:pt x="7340" y="609"/>
                  <a:pt x="7330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3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1" name=""/>
          <p:cNvSpPr txBox="1"/>
          <p:nvPr/>
        </p:nvSpPr>
        <p:spPr>
          <a:xfrm>
            <a:off x="685800" y="1325880"/>
            <a:ext cx="3760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17 imágenes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(6 categorías)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ya están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2" name=""/>
          <p:cNvSpPr txBox="1"/>
          <p:nvPr/>
        </p:nvSpPr>
        <p:spPr>
          <a:xfrm>
            <a:off x="4510800" y="1328040"/>
            <a:ext cx="25696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datasets/dashcam-curated/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3" name=""/>
          <p:cNvSpPr txBox="1"/>
          <p:nvPr/>
        </p:nvSpPr>
        <p:spPr>
          <a:xfrm>
            <a:off x="7126920" y="1325880"/>
            <a:ext cx="4029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dentro del material que descargó.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tiene que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4" name=""/>
          <p:cNvSpPr/>
          <p:nvPr/>
        </p:nvSpPr>
        <p:spPr>
          <a:xfrm>
            <a:off x="685440" y="2238120"/>
            <a:ext cx="10820880" cy="914760"/>
          </a:xfrm>
          <a:custGeom>
            <a:avLst/>
            <a:gdLst/>
            <a:ahLst/>
            <a:rect l="0" t="0" r="r" b="b"/>
            <a:pathLst>
              <a:path w="30058" h="2541">
                <a:moveTo>
                  <a:pt x="0" y="0"/>
                </a:moveTo>
                <a:lnTo>
                  <a:pt x="30058" y="0"/>
                </a:lnTo>
                <a:lnTo>
                  <a:pt x="30058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5" name=""/>
          <p:cNvSpPr/>
          <p:nvPr/>
        </p:nvSpPr>
        <p:spPr>
          <a:xfrm>
            <a:off x="685440" y="2238120"/>
            <a:ext cx="29160" cy="914760"/>
          </a:xfrm>
          <a:custGeom>
            <a:avLst/>
            <a:gdLst/>
            <a:ahLst/>
            <a:rect l="0" t="0" r="r" b="b"/>
            <a:pathLst>
              <a:path w="81" h="2541">
                <a:moveTo>
                  <a:pt x="0" y="0"/>
                </a:moveTo>
                <a:lnTo>
                  <a:pt x="81" y="0"/>
                </a:lnTo>
                <a:lnTo>
                  <a:pt x="81" y="2541"/>
                </a:lnTo>
                <a:lnTo>
                  <a:pt x="0" y="2541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26" name=""/>
          <p:cNvSpPr/>
          <p:nvPr/>
        </p:nvSpPr>
        <p:spPr>
          <a:xfrm>
            <a:off x="1048320" y="2305800"/>
            <a:ext cx="122760" cy="154080"/>
          </a:xfrm>
          <a:custGeom>
            <a:avLst/>
            <a:gdLst/>
            <a:ahLst/>
            <a:rect l="0" t="0" r="r" b="b"/>
            <a:pathLst>
              <a:path w="341" h="428">
                <a:moveTo>
                  <a:pt x="341" y="168"/>
                </a:moveTo>
                <a:cubicBezTo>
                  <a:pt x="341" y="268"/>
                  <a:pt x="262" y="284"/>
                  <a:pt x="262" y="377"/>
                </a:cubicBezTo>
                <a:cubicBezTo>
                  <a:pt x="262" y="424"/>
                  <a:pt x="214" y="428"/>
                  <a:pt x="178" y="428"/>
                </a:cubicBezTo>
                <a:cubicBezTo>
                  <a:pt x="146" y="428"/>
                  <a:pt x="76" y="416"/>
                  <a:pt x="76" y="377"/>
                </a:cubicBezTo>
                <a:cubicBezTo>
                  <a:pt x="76" y="284"/>
                  <a:pt x="0" y="269"/>
                  <a:pt x="0" y="168"/>
                </a:cubicBezTo>
                <a:cubicBezTo>
                  <a:pt x="0" y="75"/>
                  <a:pt x="82" y="0"/>
                  <a:pt x="171" y="0"/>
                </a:cubicBezTo>
                <a:cubicBezTo>
                  <a:pt x="261" y="0"/>
                  <a:pt x="341" y="75"/>
                  <a:pt x="341" y="168"/>
                </a:cubicBezTo>
                <a:close/>
              </a:path>
            </a:pathLst>
          </a:custGeom>
          <a:solidFill>
            <a:srgbClr val="FFD9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7" name=""/>
          <p:cNvSpPr/>
          <p:nvPr/>
        </p:nvSpPr>
        <p:spPr>
          <a:xfrm>
            <a:off x="1086480" y="2482200"/>
            <a:ext cx="46440" cy="17640"/>
          </a:xfrm>
          <a:custGeom>
            <a:avLst/>
            <a:gdLst/>
            <a:ahLst/>
            <a:rect l="0" t="0" r="r" b="b"/>
            <a:pathLst>
              <a:path w="129" h="49">
                <a:moveTo>
                  <a:pt x="129" y="9"/>
                </a:moveTo>
                <a:cubicBezTo>
                  <a:pt x="129" y="22"/>
                  <a:pt x="94" y="49"/>
                  <a:pt x="64" y="49"/>
                </a:cubicBezTo>
                <a:cubicBezTo>
                  <a:pt x="34" y="49"/>
                  <a:pt x="0" y="22"/>
                  <a:pt x="0" y="9"/>
                </a:cubicBezTo>
                <a:cubicBezTo>
                  <a:pt x="0" y="-4"/>
                  <a:pt x="34" y="1"/>
                  <a:pt x="64" y="1"/>
                </a:cubicBezTo>
                <a:cubicBezTo>
                  <a:pt x="94" y="1"/>
                  <a:pt x="129" y="-4"/>
                  <a:pt x="129" y="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8" name=""/>
          <p:cNvSpPr/>
          <p:nvPr/>
        </p:nvSpPr>
        <p:spPr>
          <a:xfrm>
            <a:off x="1081800" y="2360520"/>
            <a:ext cx="56160" cy="95040"/>
          </a:xfrm>
          <a:custGeom>
            <a:avLst/>
            <a:gdLst/>
            <a:ahLst/>
            <a:rect l="0" t="0" r="r" b="b"/>
            <a:pathLst>
              <a:path w="156" h="264">
                <a:moveTo>
                  <a:pt x="151" y="5"/>
                </a:moveTo>
                <a:cubicBezTo>
                  <a:pt x="145" y="-1"/>
                  <a:pt x="135" y="-1"/>
                  <a:pt x="129" y="5"/>
                </a:cubicBezTo>
                <a:lnTo>
                  <a:pt x="78" y="56"/>
                </a:lnTo>
                <a:lnTo>
                  <a:pt x="27" y="5"/>
                </a:lnTo>
                <a:cubicBezTo>
                  <a:pt x="21" y="-1"/>
                  <a:pt x="11" y="-1"/>
                  <a:pt x="5" y="5"/>
                </a:cubicBezTo>
                <a:cubicBezTo>
                  <a:pt x="-1" y="11"/>
                  <a:pt x="-1" y="21"/>
                  <a:pt x="5" y="27"/>
                </a:cubicBezTo>
                <a:lnTo>
                  <a:pt x="62" y="84"/>
                </a:lnTo>
                <a:lnTo>
                  <a:pt x="62" y="249"/>
                </a:lnTo>
                <a:cubicBezTo>
                  <a:pt x="62" y="257"/>
                  <a:pt x="69" y="264"/>
                  <a:pt x="78" y="264"/>
                </a:cubicBezTo>
                <a:cubicBezTo>
                  <a:pt x="86" y="264"/>
                  <a:pt x="93" y="257"/>
                  <a:pt x="93" y="249"/>
                </a:cubicBezTo>
                <a:lnTo>
                  <a:pt x="93" y="84"/>
                </a:lnTo>
                <a:lnTo>
                  <a:pt x="151" y="27"/>
                </a:lnTo>
                <a:cubicBezTo>
                  <a:pt x="158" y="21"/>
                  <a:pt x="158" y="11"/>
                  <a:pt x="151" y="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9" name=""/>
          <p:cNvSpPr/>
          <p:nvPr/>
        </p:nvSpPr>
        <p:spPr>
          <a:xfrm>
            <a:off x="1076040" y="2443680"/>
            <a:ext cx="66960" cy="45000"/>
          </a:xfrm>
          <a:custGeom>
            <a:avLst/>
            <a:gdLst/>
            <a:ahLst/>
            <a:rect l="0" t="0" r="r" b="b"/>
            <a:pathLst>
              <a:path w="186" h="125">
                <a:moveTo>
                  <a:pt x="186" y="94"/>
                </a:moveTo>
                <a:cubicBezTo>
                  <a:pt x="186" y="111"/>
                  <a:pt x="173" y="125"/>
                  <a:pt x="156" y="125"/>
                </a:cubicBezTo>
                <a:lnTo>
                  <a:pt x="31" y="125"/>
                </a:lnTo>
                <a:cubicBezTo>
                  <a:pt x="14" y="125"/>
                  <a:pt x="0" y="111"/>
                  <a:pt x="0" y="94"/>
                </a:cubicBezTo>
                <a:lnTo>
                  <a:pt x="0" y="0"/>
                </a:lnTo>
                <a:lnTo>
                  <a:pt x="186" y="0"/>
                </a:lnTo>
                <a:lnTo>
                  <a:pt x="186" y="94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0" name=""/>
          <p:cNvSpPr/>
          <p:nvPr/>
        </p:nvSpPr>
        <p:spPr>
          <a:xfrm>
            <a:off x="1070640" y="2438280"/>
            <a:ext cx="78120" cy="44640"/>
          </a:xfrm>
          <a:custGeom>
            <a:avLst/>
            <a:gdLst/>
            <a:ahLst/>
            <a:rect l="0" t="0" r="r" b="b"/>
            <a:pathLst>
              <a:path w="217" h="124">
                <a:moveTo>
                  <a:pt x="0" y="111"/>
                </a:moveTo>
                <a:cubicBezTo>
                  <a:pt x="-1" y="103"/>
                  <a:pt x="4" y="95"/>
                  <a:pt x="13" y="94"/>
                </a:cubicBezTo>
                <a:lnTo>
                  <a:pt x="199" y="63"/>
                </a:lnTo>
                <a:cubicBezTo>
                  <a:pt x="207" y="61"/>
                  <a:pt x="215" y="67"/>
                  <a:pt x="217" y="75"/>
                </a:cubicBezTo>
                <a:cubicBezTo>
                  <a:pt x="218" y="84"/>
                  <a:pt x="212" y="92"/>
                  <a:pt x="204" y="93"/>
                </a:cubicBezTo>
                <a:lnTo>
                  <a:pt x="18" y="124"/>
                </a:lnTo>
                <a:cubicBezTo>
                  <a:pt x="17" y="124"/>
                  <a:pt x="16" y="124"/>
                  <a:pt x="15" y="124"/>
                </a:cubicBezTo>
                <a:cubicBezTo>
                  <a:pt x="8" y="124"/>
                  <a:pt x="1" y="119"/>
                  <a:pt x="0" y="111"/>
                </a:cubicBezTo>
                <a:moveTo>
                  <a:pt x="0" y="49"/>
                </a:moveTo>
                <a:cubicBezTo>
                  <a:pt x="-1" y="40"/>
                  <a:pt x="4" y="32"/>
                  <a:pt x="13" y="31"/>
                </a:cubicBezTo>
                <a:lnTo>
                  <a:pt x="199" y="0"/>
                </a:lnTo>
                <a:cubicBezTo>
                  <a:pt x="207" y="-1"/>
                  <a:pt x="215" y="4"/>
                  <a:pt x="217" y="13"/>
                </a:cubicBezTo>
                <a:cubicBezTo>
                  <a:pt x="218" y="21"/>
                  <a:pt x="212" y="29"/>
                  <a:pt x="204" y="30"/>
                </a:cubicBezTo>
                <a:lnTo>
                  <a:pt x="18" y="62"/>
                </a:lnTo>
                <a:cubicBezTo>
                  <a:pt x="17" y="63"/>
                  <a:pt x="16" y="63"/>
                  <a:pt x="15" y="63"/>
                </a:cubicBezTo>
                <a:cubicBezTo>
                  <a:pt x="8" y="63"/>
                  <a:pt x="1" y="57"/>
                  <a:pt x="0" y="4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1" name=""/>
          <p:cNvSpPr txBox="1"/>
          <p:nvPr/>
        </p:nvSpPr>
        <p:spPr>
          <a:xfrm>
            <a:off x="685800" y="1611720"/>
            <a:ext cx="1396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descargar nada.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"/>
          <p:cNvSpPr/>
          <p:nvPr/>
        </p:nvSpPr>
        <p:spPr>
          <a:xfrm>
            <a:off x="4657680" y="2533320"/>
            <a:ext cx="3591000" cy="219600"/>
          </a:xfrm>
          <a:custGeom>
            <a:avLst/>
            <a:gdLst/>
            <a:ahLst/>
            <a:rect l="0" t="0" r="r" b="b"/>
            <a:pathLst>
              <a:path w="9975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5" y="31"/>
                  <a:pt x="23" y="24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9896" y="0"/>
                </a:lnTo>
                <a:cubicBezTo>
                  <a:pt x="9907" y="0"/>
                  <a:pt x="9917" y="2"/>
                  <a:pt x="9926" y="6"/>
                </a:cubicBezTo>
                <a:cubicBezTo>
                  <a:pt x="9936" y="10"/>
                  <a:pt x="9945" y="16"/>
                  <a:pt x="9952" y="24"/>
                </a:cubicBezTo>
                <a:cubicBezTo>
                  <a:pt x="9960" y="31"/>
                  <a:pt x="9965" y="40"/>
                  <a:pt x="9969" y="49"/>
                </a:cubicBezTo>
                <a:cubicBezTo>
                  <a:pt x="9973" y="59"/>
                  <a:pt x="9975" y="69"/>
                  <a:pt x="9975" y="80"/>
                </a:cubicBezTo>
                <a:lnTo>
                  <a:pt x="9975" y="530"/>
                </a:lnTo>
                <a:cubicBezTo>
                  <a:pt x="9975" y="540"/>
                  <a:pt x="9973" y="550"/>
                  <a:pt x="9969" y="560"/>
                </a:cubicBezTo>
                <a:cubicBezTo>
                  <a:pt x="9965" y="571"/>
                  <a:pt x="9960" y="579"/>
                  <a:pt x="9952" y="587"/>
                </a:cubicBezTo>
                <a:cubicBezTo>
                  <a:pt x="9945" y="594"/>
                  <a:pt x="9936" y="600"/>
                  <a:pt x="9926" y="604"/>
                </a:cubicBezTo>
                <a:cubicBezTo>
                  <a:pt x="9917" y="608"/>
                  <a:pt x="9907" y="610"/>
                  <a:pt x="9896" y="610"/>
                </a:cubicBezTo>
                <a:lnTo>
                  <a:pt x="79" y="610"/>
                </a:lnTo>
                <a:cubicBezTo>
                  <a:pt x="68" y="610"/>
                  <a:pt x="58" y="608"/>
                  <a:pt x="49" y="604"/>
                </a:cubicBezTo>
                <a:cubicBezTo>
                  <a:pt x="39" y="600"/>
                  <a:pt x="30" y="594"/>
                  <a:pt x="23" y="587"/>
                </a:cubicBezTo>
                <a:cubicBezTo>
                  <a:pt x="15" y="579"/>
                  <a:pt x="10" y="571"/>
                  <a:pt x="6" y="560"/>
                </a:cubicBezTo>
                <a:cubicBezTo>
                  <a:pt x="2" y="550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"/>
          <p:cNvSpPr txBox="1"/>
          <p:nvPr/>
        </p:nvSpPr>
        <p:spPr>
          <a:xfrm>
            <a:off x="990720" y="2545200"/>
            <a:ext cx="3661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 quisiera regenerarlas o ampliarlas, existe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4" name=""/>
          <p:cNvSpPr txBox="1"/>
          <p:nvPr/>
        </p:nvSpPr>
        <p:spPr>
          <a:xfrm>
            <a:off x="4715640" y="2547360"/>
            <a:ext cx="34945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python scripts/download_dataset.py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5" name=""/>
          <p:cNvSpPr txBox="1"/>
          <p:nvPr/>
        </p:nvSpPr>
        <p:spPr>
          <a:xfrm>
            <a:off x="8253360" y="2545200"/>
            <a:ext cx="2937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(las baja de Wikimedia), pero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es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6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7" name=""/>
          <p:cNvSpPr txBox="1"/>
          <p:nvPr/>
        </p:nvSpPr>
        <p:spPr>
          <a:xfrm>
            <a:off x="990720" y="2830680"/>
            <a:ext cx="24782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necesario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para hacer el caso.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8" name=""/>
          <p:cNvSpPr txBox="1"/>
          <p:nvPr/>
        </p:nvSpPr>
        <p:spPr>
          <a:xfrm>
            <a:off x="685800" y="632520"/>
            <a:ext cx="667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2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9" name=""/>
          <p:cNvSpPr txBox="1"/>
          <p:nvPr/>
        </p:nvSpPr>
        <p:spPr>
          <a:xfrm>
            <a:off x="1354680" y="63864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0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1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42" name=""/>
          <p:cNvSpPr txBox="1"/>
          <p:nvPr/>
        </p:nvSpPr>
        <p:spPr>
          <a:xfrm>
            <a:off x="1413000" y="632520"/>
            <a:ext cx="28897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Las imágenes ya vienen incluidas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3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4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5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6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7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8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9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50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1" name=""/>
          <p:cNvSpPr txBox="1"/>
          <p:nvPr/>
        </p:nvSpPr>
        <p:spPr>
          <a:xfrm>
            <a:off x="11841480" y="6513120"/>
            <a:ext cx="1328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5" name=""/>
          <p:cNvSpPr/>
          <p:nvPr/>
        </p:nvSpPr>
        <p:spPr>
          <a:xfrm>
            <a:off x="2600280" y="1323720"/>
            <a:ext cx="1543320" cy="219600"/>
          </a:xfrm>
          <a:custGeom>
            <a:avLst/>
            <a:gdLst/>
            <a:ahLst/>
            <a:rect l="0" t="0" r="r" b="b"/>
            <a:pathLst>
              <a:path w="4287" h="610">
                <a:moveTo>
                  <a:pt x="0" y="530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4207" y="0"/>
                </a:lnTo>
                <a:cubicBezTo>
                  <a:pt x="4218" y="0"/>
                  <a:pt x="4228" y="2"/>
                  <a:pt x="4238" y="6"/>
                </a:cubicBezTo>
                <a:cubicBezTo>
                  <a:pt x="4248" y="10"/>
                  <a:pt x="4256" y="16"/>
                  <a:pt x="4264" y="23"/>
                </a:cubicBezTo>
                <a:cubicBezTo>
                  <a:pt x="4271" y="31"/>
                  <a:pt x="4277" y="39"/>
                  <a:pt x="4281" y="49"/>
                </a:cubicBezTo>
                <a:cubicBezTo>
                  <a:pt x="4285" y="59"/>
                  <a:pt x="4287" y="69"/>
                  <a:pt x="4287" y="80"/>
                </a:cubicBezTo>
                <a:lnTo>
                  <a:pt x="4287" y="530"/>
                </a:lnTo>
                <a:cubicBezTo>
                  <a:pt x="4287" y="541"/>
                  <a:pt x="4285" y="551"/>
                  <a:pt x="4281" y="561"/>
                </a:cubicBezTo>
                <a:cubicBezTo>
                  <a:pt x="4277" y="570"/>
                  <a:pt x="4271" y="579"/>
                  <a:pt x="4264" y="587"/>
                </a:cubicBezTo>
                <a:cubicBezTo>
                  <a:pt x="4256" y="594"/>
                  <a:pt x="4248" y="600"/>
                  <a:pt x="4238" y="604"/>
                </a:cubicBezTo>
                <a:cubicBezTo>
                  <a:pt x="4228" y="608"/>
                  <a:pt x="4218" y="610"/>
                  <a:pt x="4207" y="610"/>
                </a:cubicBezTo>
                <a:lnTo>
                  <a:pt x="79" y="610"/>
                </a:lnTo>
                <a:cubicBezTo>
                  <a:pt x="68" y="610"/>
                  <a:pt x="58" y="608"/>
                  <a:pt x="49" y="604"/>
                </a:cubicBezTo>
                <a:cubicBezTo>
                  <a:pt x="39" y="600"/>
                  <a:pt x="30" y="594"/>
                  <a:pt x="23" y="587"/>
                </a:cubicBezTo>
                <a:cubicBezTo>
                  <a:pt x="15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6" name=""/>
          <p:cNvSpPr txBox="1"/>
          <p:nvPr/>
        </p:nvSpPr>
        <p:spPr>
          <a:xfrm>
            <a:off x="685800" y="1335240"/>
            <a:ext cx="190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Abra Jupyter y ejecute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7" name=""/>
          <p:cNvSpPr txBox="1"/>
          <p:nvPr/>
        </p:nvSpPr>
        <p:spPr>
          <a:xfrm>
            <a:off x="2655720" y="1337760"/>
            <a:ext cx="1439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02_setup.ipynb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8" name=""/>
          <p:cNvSpPr/>
          <p:nvPr/>
        </p:nvSpPr>
        <p:spPr>
          <a:xfrm>
            <a:off x="690480" y="173808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9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0"/>
                  <a:pt x="30031" y="93"/>
                </a:cubicBezTo>
                <a:lnTo>
                  <a:pt x="30031" y="1179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3"/>
                  <a:pt x="29985" y="1259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59"/>
                  <a:pt x="36" y="1253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3"/>
                  <a:pt x="0" y="1191"/>
                  <a:pt x="0" y="1179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59" name=""/>
          <p:cNvSpPr/>
          <p:nvPr/>
        </p:nvSpPr>
        <p:spPr>
          <a:xfrm>
            <a:off x="690480" y="1738080"/>
            <a:ext cx="10811160" cy="457560"/>
          </a:xfrm>
          <a:custGeom>
            <a:avLst/>
            <a:gdLst/>
            <a:ahLst/>
            <a:rect l="0" t="0" r="r" b="b"/>
            <a:pathLst>
              <a:path w="30031" h="1271">
                <a:moveTo>
                  <a:pt x="0" y="1179"/>
                </a:moveTo>
                <a:lnTo>
                  <a:pt x="0" y="93"/>
                </a:lnTo>
                <a:cubicBezTo>
                  <a:pt x="0" y="80"/>
                  <a:pt x="2" y="69"/>
                  <a:pt x="7" y="57"/>
                </a:cubicBezTo>
                <a:cubicBezTo>
                  <a:pt x="11" y="46"/>
                  <a:pt x="18" y="36"/>
                  <a:pt x="27" y="27"/>
                </a:cubicBezTo>
                <a:cubicBezTo>
                  <a:pt x="36" y="19"/>
                  <a:pt x="46" y="12"/>
                  <a:pt x="57" y="7"/>
                </a:cubicBezTo>
                <a:cubicBezTo>
                  <a:pt x="68" y="2"/>
                  <a:pt x="80" y="0"/>
                  <a:pt x="92" y="0"/>
                </a:cubicBezTo>
                <a:lnTo>
                  <a:pt x="29938" y="0"/>
                </a:lnTo>
                <a:cubicBezTo>
                  <a:pt x="29951" y="0"/>
                  <a:pt x="29962" y="2"/>
                  <a:pt x="29974" y="7"/>
                </a:cubicBezTo>
                <a:cubicBezTo>
                  <a:pt x="29985" y="12"/>
                  <a:pt x="29995" y="19"/>
                  <a:pt x="30004" y="27"/>
                </a:cubicBezTo>
                <a:cubicBezTo>
                  <a:pt x="30012" y="36"/>
                  <a:pt x="30019" y="46"/>
                  <a:pt x="30024" y="57"/>
                </a:cubicBezTo>
                <a:cubicBezTo>
                  <a:pt x="30029" y="69"/>
                  <a:pt x="30031" y="80"/>
                  <a:pt x="30031" y="93"/>
                </a:cubicBezTo>
                <a:lnTo>
                  <a:pt x="30031" y="1179"/>
                </a:lnTo>
                <a:cubicBezTo>
                  <a:pt x="30031" y="1191"/>
                  <a:pt x="30029" y="1203"/>
                  <a:pt x="30024" y="1214"/>
                </a:cubicBezTo>
                <a:cubicBezTo>
                  <a:pt x="30019" y="1225"/>
                  <a:pt x="30012" y="1235"/>
                  <a:pt x="30004" y="1244"/>
                </a:cubicBezTo>
                <a:cubicBezTo>
                  <a:pt x="29995" y="1253"/>
                  <a:pt x="29985" y="1259"/>
                  <a:pt x="29974" y="1264"/>
                </a:cubicBezTo>
                <a:cubicBezTo>
                  <a:pt x="29962" y="1269"/>
                  <a:pt x="29951" y="1271"/>
                  <a:pt x="29938" y="1271"/>
                </a:cubicBezTo>
                <a:lnTo>
                  <a:pt x="92" y="1271"/>
                </a:lnTo>
                <a:cubicBezTo>
                  <a:pt x="80" y="1271"/>
                  <a:pt x="68" y="1269"/>
                  <a:pt x="57" y="1264"/>
                </a:cubicBezTo>
                <a:cubicBezTo>
                  <a:pt x="46" y="1259"/>
                  <a:pt x="36" y="1253"/>
                  <a:pt x="27" y="1244"/>
                </a:cubicBezTo>
                <a:cubicBezTo>
                  <a:pt x="18" y="1235"/>
                  <a:pt x="11" y="1225"/>
                  <a:pt x="7" y="1214"/>
                </a:cubicBezTo>
                <a:cubicBezTo>
                  <a:pt x="2" y="1203"/>
                  <a:pt x="0" y="1191"/>
                  <a:pt x="0" y="1179"/>
                </a:cubicBezTo>
                <a:close/>
              </a:path>
            </a:pathLst>
          </a:custGeom>
          <a:noFill/>
          <a:ln w="9360">
            <a:solidFill>
              <a:srgbClr val="D1D9E0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0" name=""/>
          <p:cNvSpPr txBox="1"/>
          <p:nvPr/>
        </p:nvSpPr>
        <p:spPr>
          <a:xfrm>
            <a:off x="4145760" y="1335240"/>
            <a:ext cx="638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entero: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1" name=""/>
          <p:cNvSpPr/>
          <p:nvPr/>
        </p:nvSpPr>
        <p:spPr>
          <a:xfrm>
            <a:off x="685440" y="2571480"/>
            <a:ext cx="10820880" cy="924480"/>
          </a:xfrm>
          <a:custGeom>
            <a:avLst/>
            <a:gdLst/>
            <a:ahLst/>
            <a:rect l="0" t="0" r="r" b="b"/>
            <a:pathLst>
              <a:path w="30058" h="2568">
                <a:moveTo>
                  <a:pt x="0" y="0"/>
                </a:moveTo>
                <a:lnTo>
                  <a:pt x="30058" y="0"/>
                </a:lnTo>
                <a:lnTo>
                  <a:pt x="30058" y="2568"/>
                </a:lnTo>
                <a:lnTo>
                  <a:pt x="0" y="2568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2" name=""/>
          <p:cNvSpPr/>
          <p:nvPr/>
        </p:nvSpPr>
        <p:spPr>
          <a:xfrm>
            <a:off x="685440" y="2571480"/>
            <a:ext cx="29160" cy="924480"/>
          </a:xfrm>
          <a:custGeom>
            <a:avLst/>
            <a:gdLst/>
            <a:ahLst/>
            <a:rect l="0" t="0" r="r" b="b"/>
            <a:pathLst>
              <a:path w="81" h="2568">
                <a:moveTo>
                  <a:pt x="0" y="0"/>
                </a:moveTo>
                <a:lnTo>
                  <a:pt x="81" y="0"/>
                </a:lnTo>
                <a:lnTo>
                  <a:pt x="81" y="2568"/>
                </a:lnTo>
                <a:lnTo>
                  <a:pt x="0" y="256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3" name=""/>
          <p:cNvSpPr/>
          <p:nvPr/>
        </p:nvSpPr>
        <p:spPr>
          <a:xfrm>
            <a:off x="1054080" y="2649240"/>
            <a:ext cx="111240" cy="178200"/>
          </a:xfrm>
          <a:custGeom>
            <a:avLst/>
            <a:gdLst/>
            <a:ahLst/>
            <a:rect l="0" t="0" r="r" b="b"/>
            <a:pathLst>
              <a:path w="309" h="495">
                <a:moveTo>
                  <a:pt x="200" y="247"/>
                </a:moveTo>
                <a:cubicBezTo>
                  <a:pt x="200" y="216"/>
                  <a:pt x="250" y="195"/>
                  <a:pt x="277" y="155"/>
                </a:cubicBezTo>
                <a:cubicBezTo>
                  <a:pt x="309" y="108"/>
                  <a:pt x="309" y="0"/>
                  <a:pt x="309" y="0"/>
                </a:cubicBezTo>
                <a:lnTo>
                  <a:pt x="0" y="0"/>
                </a:lnTo>
                <a:cubicBezTo>
                  <a:pt x="0" y="0"/>
                  <a:pt x="0" y="108"/>
                  <a:pt x="30" y="155"/>
                </a:cubicBezTo>
                <a:cubicBezTo>
                  <a:pt x="57" y="195"/>
                  <a:pt x="108" y="216"/>
                  <a:pt x="108" y="247"/>
                </a:cubicBezTo>
                <a:cubicBezTo>
                  <a:pt x="108" y="278"/>
                  <a:pt x="57" y="300"/>
                  <a:pt x="30" y="341"/>
                </a:cubicBezTo>
                <a:cubicBezTo>
                  <a:pt x="0" y="387"/>
                  <a:pt x="0" y="495"/>
                  <a:pt x="0" y="495"/>
                </a:cubicBezTo>
                <a:lnTo>
                  <a:pt x="309" y="495"/>
                </a:lnTo>
                <a:cubicBezTo>
                  <a:pt x="309" y="495"/>
                  <a:pt x="309" y="387"/>
                  <a:pt x="277" y="341"/>
                </a:cubicBezTo>
                <a:cubicBezTo>
                  <a:pt x="250" y="300"/>
                  <a:pt x="200" y="278"/>
                  <a:pt x="200" y="247"/>
                </a:cubicBezTo>
                <a:close/>
              </a:path>
            </a:pathLst>
          </a:custGeom>
          <a:solidFill>
            <a:srgbClr val="FFE8B6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4" name=""/>
          <p:cNvSpPr/>
          <p:nvPr/>
        </p:nvSpPr>
        <p:spPr>
          <a:xfrm>
            <a:off x="1064880" y="2649240"/>
            <a:ext cx="89280" cy="161640"/>
          </a:xfrm>
          <a:custGeom>
            <a:avLst/>
            <a:gdLst/>
            <a:ahLst/>
            <a:rect l="0" t="0" r="r" b="b"/>
            <a:pathLst>
              <a:path w="248" h="449">
                <a:moveTo>
                  <a:pt x="125" y="0"/>
                </a:moveTo>
                <a:lnTo>
                  <a:pt x="0" y="0"/>
                </a:lnTo>
                <a:cubicBezTo>
                  <a:pt x="0" y="0"/>
                  <a:pt x="0" y="63"/>
                  <a:pt x="16" y="109"/>
                </a:cubicBezTo>
                <a:cubicBezTo>
                  <a:pt x="36" y="170"/>
                  <a:pt x="108" y="187"/>
                  <a:pt x="108" y="248"/>
                </a:cubicBezTo>
                <a:cubicBezTo>
                  <a:pt x="108" y="310"/>
                  <a:pt x="108" y="449"/>
                  <a:pt x="125" y="449"/>
                </a:cubicBezTo>
                <a:cubicBezTo>
                  <a:pt x="140" y="449"/>
                  <a:pt x="140" y="310"/>
                  <a:pt x="140" y="248"/>
                </a:cubicBezTo>
                <a:cubicBezTo>
                  <a:pt x="140" y="187"/>
                  <a:pt x="213" y="170"/>
                  <a:pt x="233" y="109"/>
                </a:cubicBezTo>
                <a:cubicBezTo>
                  <a:pt x="248" y="63"/>
                  <a:pt x="248" y="0"/>
                  <a:pt x="248" y="0"/>
                </a:cubicBezTo>
                <a:lnTo>
                  <a:pt x="125" y="0"/>
                </a:lnTo>
                <a:close/>
              </a:path>
            </a:pathLst>
          </a:custGeom>
          <a:solidFill>
            <a:srgbClr val="FFAC3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5" name=""/>
          <p:cNvSpPr/>
          <p:nvPr/>
        </p:nvSpPr>
        <p:spPr>
          <a:xfrm>
            <a:off x="1042920" y="2638080"/>
            <a:ext cx="133560" cy="200520"/>
          </a:xfrm>
          <a:custGeom>
            <a:avLst/>
            <a:gdLst/>
            <a:ahLst/>
            <a:rect l="0" t="0" r="r" b="b"/>
            <a:pathLst>
              <a:path w="371" h="557">
                <a:moveTo>
                  <a:pt x="371" y="526"/>
                </a:moveTo>
                <a:cubicBezTo>
                  <a:pt x="371" y="543"/>
                  <a:pt x="357" y="557"/>
                  <a:pt x="340" y="557"/>
                </a:cubicBezTo>
                <a:lnTo>
                  <a:pt x="31" y="557"/>
                </a:lnTo>
                <a:cubicBezTo>
                  <a:pt x="14" y="557"/>
                  <a:pt x="0" y="543"/>
                  <a:pt x="0" y="526"/>
                </a:cubicBezTo>
                <a:cubicBezTo>
                  <a:pt x="0" y="509"/>
                  <a:pt x="14" y="495"/>
                  <a:pt x="31" y="495"/>
                </a:cubicBezTo>
                <a:lnTo>
                  <a:pt x="340" y="495"/>
                </a:lnTo>
                <a:cubicBezTo>
                  <a:pt x="357" y="495"/>
                  <a:pt x="371" y="509"/>
                  <a:pt x="371" y="526"/>
                </a:cubicBezTo>
                <a:moveTo>
                  <a:pt x="371" y="31"/>
                </a:moveTo>
                <a:cubicBezTo>
                  <a:pt x="371" y="48"/>
                  <a:pt x="357" y="62"/>
                  <a:pt x="340" y="62"/>
                </a:cubicBezTo>
                <a:lnTo>
                  <a:pt x="31" y="62"/>
                </a:lnTo>
                <a:cubicBezTo>
                  <a:pt x="14" y="62"/>
                  <a:pt x="0" y="48"/>
                  <a:pt x="0" y="31"/>
                </a:cubicBezTo>
                <a:cubicBezTo>
                  <a:pt x="0" y="14"/>
                  <a:pt x="14" y="0"/>
                  <a:pt x="31" y="0"/>
                </a:cubicBezTo>
                <a:lnTo>
                  <a:pt x="340" y="0"/>
                </a:lnTo>
                <a:cubicBezTo>
                  <a:pt x="357" y="0"/>
                  <a:pt x="371" y="14"/>
                  <a:pt x="371" y="31"/>
                </a:cubicBezTo>
                <a:close/>
              </a:path>
            </a:pathLst>
          </a:custGeom>
          <a:solidFill>
            <a:srgbClr val="3B88C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"/>
          <p:cNvSpPr txBox="1"/>
          <p:nvPr/>
        </p:nvSpPr>
        <p:spPr>
          <a:xfrm>
            <a:off x="866880" y="1890360"/>
            <a:ext cx="1248480" cy="15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10" b="0" u="none" strike="noStrike">
                <a:solidFill>
                  <a:srgbClr val="F5F2EE"/>
                </a:solidFill>
                <a:effectLst/>
                <a:uFillTx/>
                <a:latin typeface="Menlo"/>
                <a:ea typeface="Menlo"/>
              </a:rPr>
              <a:t>jupyter notebook</a:t>
            </a:r>
            <a:endParaRPr lang="en-US" sz="101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"/>
          <p:cNvSpPr txBox="1"/>
          <p:nvPr/>
        </p:nvSpPr>
        <p:spPr>
          <a:xfrm>
            <a:off x="990720" y="2878560"/>
            <a:ext cx="10410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primera vez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descarga el modelo (~3.7 GB): puede tardar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5–10 min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Hágalo antes de la sesión. Después queda cacheado y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8" name=""/>
          <p:cNvSpPr txBox="1"/>
          <p:nvPr/>
        </p:nvSpPr>
        <p:spPr>
          <a:xfrm>
            <a:off x="990720" y="3173760"/>
            <a:ext cx="1590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ya no toca internet.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"/>
          <p:cNvSpPr/>
          <p:nvPr/>
        </p:nvSpPr>
        <p:spPr>
          <a:xfrm>
            <a:off x="2304720" y="3743280"/>
            <a:ext cx="2867400" cy="219240"/>
          </a:xfrm>
          <a:custGeom>
            <a:avLst/>
            <a:gdLst/>
            <a:ahLst/>
            <a:rect l="0" t="0" r="r" b="b"/>
            <a:pathLst>
              <a:path w="7965" h="609">
                <a:moveTo>
                  <a:pt x="0" y="530"/>
                </a:moveTo>
                <a:lnTo>
                  <a:pt x="0" y="79"/>
                </a:ln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4" y="23"/>
                </a:cubicBezTo>
                <a:cubicBezTo>
                  <a:pt x="31" y="15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7886" y="0"/>
                </a:lnTo>
                <a:cubicBezTo>
                  <a:pt x="7897" y="0"/>
                  <a:pt x="7907" y="2"/>
                  <a:pt x="7916" y="6"/>
                </a:cubicBezTo>
                <a:cubicBezTo>
                  <a:pt x="7926" y="10"/>
                  <a:pt x="7935" y="15"/>
                  <a:pt x="7942" y="23"/>
                </a:cubicBezTo>
                <a:cubicBezTo>
                  <a:pt x="7950" y="30"/>
                  <a:pt x="7955" y="39"/>
                  <a:pt x="7959" y="49"/>
                </a:cubicBezTo>
                <a:cubicBezTo>
                  <a:pt x="7963" y="58"/>
                  <a:pt x="7965" y="68"/>
                  <a:pt x="7965" y="79"/>
                </a:cubicBezTo>
                <a:lnTo>
                  <a:pt x="7965" y="530"/>
                </a:lnTo>
                <a:cubicBezTo>
                  <a:pt x="7965" y="540"/>
                  <a:pt x="7963" y="550"/>
                  <a:pt x="7959" y="560"/>
                </a:cubicBezTo>
                <a:cubicBezTo>
                  <a:pt x="7955" y="570"/>
                  <a:pt x="7950" y="578"/>
                  <a:pt x="7942" y="586"/>
                </a:cubicBezTo>
                <a:cubicBezTo>
                  <a:pt x="7935" y="593"/>
                  <a:pt x="7926" y="599"/>
                  <a:pt x="7916" y="603"/>
                </a:cubicBezTo>
                <a:cubicBezTo>
                  <a:pt x="7907" y="607"/>
                  <a:pt x="7897" y="609"/>
                  <a:pt x="7886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3"/>
                  <a:pt x="24" y="586"/>
                </a:cubicBezTo>
                <a:cubicBezTo>
                  <a:pt x="16" y="578"/>
                  <a:pt x="10" y="570"/>
                  <a:pt x="6" y="560"/>
                </a:cubicBezTo>
                <a:cubicBezTo>
                  <a:pt x="2" y="550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0" name=""/>
          <p:cNvSpPr/>
          <p:nvPr/>
        </p:nvSpPr>
        <p:spPr>
          <a:xfrm>
            <a:off x="2381040" y="3762360"/>
            <a:ext cx="171720" cy="162000"/>
          </a:xfrm>
          <a:custGeom>
            <a:avLst/>
            <a:gdLst/>
            <a:ahLst/>
            <a:rect l="0" t="0" r="r" b="b"/>
            <a:pathLst>
              <a:path w="477" h="450">
                <a:moveTo>
                  <a:pt x="477" y="400"/>
                </a:moveTo>
                <a:cubicBezTo>
                  <a:pt x="477" y="428"/>
                  <a:pt x="454" y="450"/>
                  <a:pt x="424" y="450"/>
                </a:cubicBezTo>
                <a:lnTo>
                  <a:pt x="53" y="450"/>
                </a:lnTo>
                <a:cubicBezTo>
                  <a:pt x="24" y="450"/>
                  <a:pt x="0" y="428"/>
                  <a:pt x="0" y="400"/>
                </a:cubicBezTo>
                <a:lnTo>
                  <a:pt x="0" y="50"/>
                </a:lnTo>
                <a:cubicBezTo>
                  <a:pt x="0" y="22"/>
                  <a:pt x="24" y="0"/>
                  <a:pt x="53" y="0"/>
                </a:cubicBezTo>
                <a:lnTo>
                  <a:pt x="424" y="0"/>
                </a:lnTo>
                <a:cubicBezTo>
                  <a:pt x="454" y="0"/>
                  <a:pt x="477" y="22"/>
                  <a:pt x="477" y="50"/>
                </a:cubicBezTo>
                <a:lnTo>
                  <a:pt x="477" y="400"/>
                </a:lnTo>
                <a:close/>
              </a:path>
            </a:pathLst>
          </a:custGeom>
          <a:solidFill>
            <a:srgbClr val="77B25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1" name=""/>
          <p:cNvSpPr/>
          <p:nvPr/>
        </p:nvSpPr>
        <p:spPr>
          <a:xfrm>
            <a:off x="2408400" y="3789000"/>
            <a:ext cx="118080" cy="109440"/>
          </a:xfrm>
          <a:custGeom>
            <a:avLst/>
            <a:gdLst/>
            <a:ahLst/>
            <a:rect l="0" t="0" r="r" b="b"/>
            <a:pathLst>
              <a:path w="328" h="304">
                <a:moveTo>
                  <a:pt x="311" y="5"/>
                </a:moveTo>
                <a:cubicBezTo>
                  <a:pt x="296" y="-4"/>
                  <a:pt x="276" y="0"/>
                  <a:pt x="266" y="14"/>
                </a:cubicBezTo>
                <a:lnTo>
                  <a:pt x="122" y="224"/>
                </a:lnTo>
                <a:lnTo>
                  <a:pt x="55" y="166"/>
                </a:lnTo>
                <a:cubicBezTo>
                  <a:pt x="42" y="154"/>
                  <a:pt x="21" y="155"/>
                  <a:pt x="8" y="167"/>
                </a:cubicBezTo>
                <a:cubicBezTo>
                  <a:pt x="-4" y="180"/>
                  <a:pt x="-3" y="200"/>
                  <a:pt x="10" y="212"/>
                </a:cubicBezTo>
                <a:lnTo>
                  <a:pt x="106" y="296"/>
                </a:lnTo>
                <a:cubicBezTo>
                  <a:pt x="112" y="301"/>
                  <a:pt x="120" y="304"/>
                  <a:pt x="128" y="304"/>
                </a:cubicBezTo>
                <a:cubicBezTo>
                  <a:pt x="137" y="304"/>
                  <a:pt x="148" y="301"/>
                  <a:pt x="156" y="290"/>
                </a:cubicBezTo>
                <a:cubicBezTo>
                  <a:pt x="160" y="284"/>
                  <a:pt x="322" y="48"/>
                  <a:pt x="322" y="48"/>
                </a:cubicBezTo>
                <a:cubicBezTo>
                  <a:pt x="332" y="34"/>
                  <a:pt x="328" y="14"/>
                  <a:pt x="311" y="5"/>
                </a:cubicBez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2" name=""/>
          <p:cNvSpPr txBox="1"/>
          <p:nvPr/>
        </p:nvSpPr>
        <p:spPr>
          <a:xfrm>
            <a:off x="685800" y="3754800"/>
            <a:ext cx="1615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Debe terminar con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3" name=""/>
          <p:cNvSpPr txBox="1"/>
          <p:nvPr/>
        </p:nvSpPr>
        <p:spPr>
          <a:xfrm>
            <a:off x="2556720" y="3756960"/>
            <a:ext cx="25696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 Setup OK — listo para 03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4" name=""/>
          <p:cNvSpPr/>
          <p:nvPr/>
        </p:nvSpPr>
        <p:spPr>
          <a:xfrm>
            <a:off x="685440" y="1019160"/>
            <a:ext cx="10820880" cy="9720"/>
          </a:xfrm>
          <a:custGeom>
            <a:avLst/>
            <a:gdLst/>
            <a:ahLst/>
            <a:rect l="0" t="0" r="r" b="b"/>
            <a:pathLst>
              <a:path w="30058" h="27">
                <a:moveTo>
                  <a:pt x="0" y="0"/>
                </a:moveTo>
                <a:lnTo>
                  <a:pt x="30058" y="0"/>
                </a:lnTo>
                <a:lnTo>
                  <a:pt x="30058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5" name=""/>
          <p:cNvSpPr txBox="1"/>
          <p:nvPr/>
        </p:nvSpPr>
        <p:spPr>
          <a:xfrm>
            <a:off x="5172840" y="375480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6" name=""/>
          <p:cNvSpPr txBox="1"/>
          <p:nvPr/>
        </p:nvSpPr>
        <p:spPr>
          <a:xfrm>
            <a:off x="685800" y="641880"/>
            <a:ext cx="66708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Paso 3 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7" name=""/>
          <p:cNvSpPr txBox="1"/>
          <p:nvPr/>
        </p:nvSpPr>
        <p:spPr>
          <a:xfrm>
            <a:off x="1354680" y="64836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8" name=""/>
          <p:cNvSpPr/>
          <p:nvPr/>
        </p:nvSpPr>
        <p:spPr>
          <a:xfrm>
            <a:off x="3962160" y="618840"/>
            <a:ext cx="1095840" cy="238680"/>
          </a:xfrm>
          <a:custGeom>
            <a:avLst/>
            <a:gdLst/>
            <a:ahLst/>
            <a:rect l="0" t="0" r="r" b="b"/>
            <a:pathLst>
              <a:path w="3044" h="663">
                <a:moveTo>
                  <a:pt x="0" y="582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2964" y="0"/>
                </a:lnTo>
                <a:cubicBezTo>
                  <a:pt x="2975" y="0"/>
                  <a:pt x="2985" y="2"/>
                  <a:pt x="2995" y="6"/>
                </a:cubicBezTo>
                <a:cubicBezTo>
                  <a:pt x="3005" y="10"/>
                  <a:pt x="3013" y="16"/>
                  <a:pt x="3021" y="24"/>
                </a:cubicBezTo>
                <a:cubicBezTo>
                  <a:pt x="3028" y="31"/>
                  <a:pt x="3034" y="40"/>
                  <a:pt x="3038" y="49"/>
                </a:cubicBezTo>
                <a:cubicBezTo>
                  <a:pt x="3042" y="59"/>
                  <a:pt x="3044" y="69"/>
                  <a:pt x="3044" y="80"/>
                </a:cubicBezTo>
                <a:lnTo>
                  <a:pt x="3044" y="582"/>
                </a:lnTo>
                <a:cubicBezTo>
                  <a:pt x="3044" y="593"/>
                  <a:pt x="3042" y="604"/>
                  <a:pt x="3038" y="614"/>
                </a:cubicBezTo>
                <a:cubicBezTo>
                  <a:pt x="3034" y="623"/>
                  <a:pt x="3028" y="632"/>
                  <a:pt x="3021" y="640"/>
                </a:cubicBezTo>
                <a:cubicBezTo>
                  <a:pt x="3013" y="647"/>
                  <a:pt x="3005" y="653"/>
                  <a:pt x="2995" y="657"/>
                </a:cubicBezTo>
                <a:cubicBezTo>
                  <a:pt x="2985" y="661"/>
                  <a:pt x="2975" y="663"/>
                  <a:pt x="2964" y="663"/>
                </a:cubicBezTo>
                <a:lnTo>
                  <a:pt x="80" y="663"/>
                </a:lnTo>
                <a:cubicBezTo>
                  <a:pt x="69" y="663"/>
                  <a:pt x="59" y="661"/>
                  <a:pt x="49" y="657"/>
                </a:cubicBezTo>
                <a:cubicBezTo>
                  <a:pt x="39" y="653"/>
                  <a:pt x="31" y="647"/>
                  <a:pt x="23" y="640"/>
                </a:cubicBezTo>
                <a:cubicBezTo>
                  <a:pt x="16" y="632"/>
                  <a:pt x="10" y="623"/>
                  <a:pt x="6" y="614"/>
                </a:cubicBezTo>
                <a:cubicBezTo>
                  <a:pt x="2" y="604"/>
                  <a:pt x="0" y="593"/>
                  <a:pt x="0" y="582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9" name=""/>
          <p:cNvSpPr txBox="1"/>
          <p:nvPr/>
        </p:nvSpPr>
        <p:spPr>
          <a:xfrm>
            <a:off x="1413000" y="641880"/>
            <a:ext cx="25387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Cargar el modelo y verificar (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0" name=""/>
          <p:cNvSpPr txBox="1"/>
          <p:nvPr/>
        </p:nvSpPr>
        <p:spPr>
          <a:xfrm>
            <a:off x="4002120" y="615240"/>
            <a:ext cx="1006200" cy="24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02_setup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1" name=""/>
          <p:cNvSpPr/>
          <p:nvPr/>
        </p:nvSpPr>
        <p:spPr>
          <a:xfrm>
            <a:off x="7181640" y="99036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19"/>
                </a:moveTo>
                <a:cubicBezTo>
                  <a:pt x="239" y="135"/>
                  <a:pt x="236" y="150"/>
                  <a:pt x="230" y="165"/>
                </a:cubicBezTo>
                <a:cubicBezTo>
                  <a:pt x="224" y="179"/>
                  <a:pt x="215" y="192"/>
                  <a:pt x="204" y="203"/>
                </a:cubicBezTo>
                <a:cubicBezTo>
                  <a:pt x="193" y="215"/>
                  <a:pt x="180" y="223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3"/>
                  <a:pt x="46" y="215"/>
                  <a:pt x="35" y="203"/>
                </a:cubicBezTo>
                <a:cubicBezTo>
                  <a:pt x="24" y="192"/>
                  <a:pt x="15" y="179"/>
                  <a:pt x="9" y="165"/>
                </a:cubicBezTo>
                <a:cubicBezTo>
                  <a:pt x="3" y="150"/>
                  <a:pt x="0" y="135"/>
                  <a:pt x="0" y="119"/>
                </a:cubicBezTo>
                <a:cubicBezTo>
                  <a:pt x="0" y="103"/>
                  <a:pt x="3" y="88"/>
                  <a:pt x="9" y="74"/>
                </a:cubicBezTo>
                <a:cubicBezTo>
                  <a:pt x="15" y="59"/>
                  <a:pt x="24" y="46"/>
                  <a:pt x="35" y="35"/>
                </a:cubicBezTo>
                <a:cubicBezTo>
                  <a:pt x="46" y="24"/>
                  <a:pt x="59" y="15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5"/>
                  <a:pt x="193" y="24"/>
                  <a:pt x="204" y="35"/>
                </a:cubicBezTo>
                <a:cubicBezTo>
                  <a:pt x="215" y="46"/>
                  <a:pt x="224" y="59"/>
                  <a:pt x="230" y="74"/>
                </a:cubicBezTo>
                <a:cubicBezTo>
                  <a:pt x="236" y="88"/>
                  <a:pt x="239" y="103"/>
                  <a:pt x="239" y="119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2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83" name=""/>
          <p:cNvSpPr txBox="1"/>
          <p:nvPr/>
        </p:nvSpPr>
        <p:spPr>
          <a:xfrm>
            <a:off x="5053320" y="641880"/>
            <a:ext cx="2091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4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5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6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7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8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9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0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391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2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96" name=""/>
          <p:cNvSpPr txBox="1"/>
          <p:nvPr/>
        </p:nvSpPr>
        <p:spPr>
          <a:xfrm>
            <a:off x="914400" y="97524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1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7" name=""/>
          <p:cNvSpPr txBox="1"/>
          <p:nvPr/>
        </p:nvSpPr>
        <p:spPr>
          <a:xfrm>
            <a:off x="3015360" y="99036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8" name=""/>
          <p:cNvSpPr txBox="1"/>
          <p:nvPr/>
        </p:nvSpPr>
        <p:spPr>
          <a:xfrm>
            <a:off x="3162600" y="975240"/>
            <a:ext cx="37476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DESCRIPCIONES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9" name=""/>
          <p:cNvSpPr/>
          <p:nvPr/>
        </p:nvSpPr>
        <p:spPr>
          <a:xfrm>
            <a:off x="1962000" y="1714320"/>
            <a:ext cx="3229200" cy="286200"/>
          </a:xfrm>
          <a:custGeom>
            <a:avLst/>
            <a:gdLst/>
            <a:ahLst/>
            <a:rect l="0" t="0" r="r" b="b"/>
            <a:pathLst>
              <a:path w="8970" h="795">
                <a:moveTo>
                  <a:pt x="0" y="715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8891" y="0"/>
                </a:lnTo>
                <a:cubicBezTo>
                  <a:pt x="8901" y="0"/>
                  <a:pt x="8912" y="2"/>
                  <a:pt x="8921" y="6"/>
                </a:cubicBezTo>
                <a:cubicBezTo>
                  <a:pt x="8931" y="10"/>
                  <a:pt x="8940" y="16"/>
                  <a:pt x="8947" y="23"/>
                </a:cubicBezTo>
                <a:cubicBezTo>
                  <a:pt x="8954" y="31"/>
                  <a:pt x="8960" y="39"/>
                  <a:pt x="8964" y="49"/>
                </a:cubicBezTo>
                <a:cubicBezTo>
                  <a:pt x="8968" y="59"/>
                  <a:pt x="8970" y="69"/>
                  <a:pt x="8970" y="79"/>
                </a:cubicBezTo>
                <a:lnTo>
                  <a:pt x="8970" y="715"/>
                </a:lnTo>
                <a:cubicBezTo>
                  <a:pt x="8970" y="726"/>
                  <a:pt x="8968" y="736"/>
                  <a:pt x="8964" y="746"/>
                </a:cubicBezTo>
                <a:cubicBezTo>
                  <a:pt x="8960" y="755"/>
                  <a:pt x="8954" y="764"/>
                  <a:pt x="8947" y="772"/>
                </a:cubicBezTo>
                <a:cubicBezTo>
                  <a:pt x="8940" y="779"/>
                  <a:pt x="8931" y="785"/>
                  <a:pt x="8921" y="789"/>
                </a:cubicBezTo>
                <a:cubicBezTo>
                  <a:pt x="8912" y="793"/>
                  <a:pt x="8901" y="795"/>
                  <a:pt x="8891" y="795"/>
                </a:cubicBezTo>
                <a:lnTo>
                  <a:pt x="79" y="795"/>
                </a:lnTo>
                <a:cubicBezTo>
                  <a:pt x="69" y="795"/>
                  <a:pt x="59" y="793"/>
                  <a:pt x="49" y="789"/>
                </a:cubicBezTo>
                <a:cubicBezTo>
                  <a:pt x="39" y="785"/>
                  <a:pt x="31" y="779"/>
                  <a:pt x="23" y="772"/>
                </a:cubicBezTo>
                <a:cubicBezTo>
                  <a:pt x="16" y="764"/>
                  <a:pt x="10" y="755"/>
                  <a:pt x="6" y="746"/>
                </a:cubicBezTo>
                <a:cubicBezTo>
                  <a:pt x="2" y="736"/>
                  <a:pt x="0" y="726"/>
                  <a:pt x="0" y="715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0" name=""/>
          <p:cNvSpPr txBox="1"/>
          <p:nvPr/>
        </p:nvSpPr>
        <p:spPr>
          <a:xfrm>
            <a:off x="914400" y="1744920"/>
            <a:ext cx="10522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Notebook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"/>
          <p:cNvSpPr txBox="1"/>
          <p:nvPr/>
        </p:nvSpPr>
        <p:spPr>
          <a:xfrm>
            <a:off x="2012400" y="1713240"/>
            <a:ext cx="314136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03_descripcion_basica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"/>
          <p:cNvSpPr txBox="1"/>
          <p:nvPr/>
        </p:nvSpPr>
        <p:spPr>
          <a:xfrm>
            <a:off x="5193000" y="174492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3" name=""/>
          <p:cNvSpPr txBox="1"/>
          <p:nvPr/>
        </p:nvSpPr>
        <p:spPr>
          <a:xfrm>
            <a:off x="5254920" y="175248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4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05" name=""/>
          <p:cNvSpPr txBox="1"/>
          <p:nvPr/>
        </p:nvSpPr>
        <p:spPr>
          <a:xfrm>
            <a:off x="5323680" y="1744920"/>
            <a:ext cx="7765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~8 min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6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7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8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9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0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1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2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13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14" name=""/>
          <p:cNvSpPr txBox="1"/>
          <p:nvPr/>
        </p:nvSpPr>
        <p:spPr>
          <a:xfrm>
            <a:off x="11757600" y="6513120"/>
            <a:ext cx="167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8" name=""/>
          <p:cNvSpPr txBox="1"/>
          <p:nvPr/>
        </p:nvSpPr>
        <p:spPr>
          <a:xfrm>
            <a:off x="685800" y="1325880"/>
            <a:ext cx="10573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Le pide al VLM que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describa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cada una de las 17 imágenes (peatones, vehículos, señales, clima, peligros). El alumno ejecuta y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lee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9" name=""/>
          <p:cNvSpPr txBox="1"/>
          <p:nvPr/>
        </p:nvSpPr>
        <p:spPr>
          <a:xfrm>
            <a:off x="685800" y="1611720"/>
            <a:ext cx="2977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las respuestas junto a cada imagen.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0" name=""/>
          <p:cNvSpPr/>
          <p:nvPr/>
        </p:nvSpPr>
        <p:spPr>
          <a:xfrm>
            <a:off x="904680" y="26193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0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3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3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0"/>
                  <a:pt x="0" y="80"/>
                </a:cubicBezTo>
                <a:cubicBezTo>
                  <a:pt x="0" y="68"/>
                  <a:pt x="2" y="58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5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5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8"/>
                  <a:pt x="160" y="68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1" name=""/>
          <p:cNvSpPr txBox="1"/>
          <p:nvPr/>
        </p:nvSpPr>
        <p:spPr>
          <a:xfrm>
            <a:off x="685800" y="2049840"/>
            <a:ext cx="17146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Fíjese, por categoría: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2" name=""/>
          <p:cNvSpPr/>
          <p:nvPr/>
        </p:nvSpPr>
        <p:spPr>
          <a:xfrm>
            <a:off x="904680" y="29620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0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39"/>
                  <a:pt x="154" y="49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3" name=""/>
          <p:cNvSpPr txBox="1"/>
          <p:nvPr/>
        </p:nvSpPr>
        <p:spPr>
          <a:xfrm>
            <a:off x="1072440" y="2535480"/>
            <a:ext cx="40039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trivial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urbano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¿la descripción es acertada?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4" name=""/>
          <p:cNvSpPr/>
          <p:nvPr/>
        </p:nvSpPr>
        <p:spPr>
          <a:xfrm>
            <a:off x="685440" y="354312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5" name=""/>
          <p:cNvSpPr/>
          <p:nvPr/>
        </p:nvSpPr>
        <p:spPr>
          <a:xfrm>
            <a:off x="685440" y="354312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6" name=""/>
          <p:cNvSpPr txBox="1"/>
          <p:nvPr/>
        </p:nvSpPr>
        <p:spPr>
          <a:xfrm>
            <a:off x="1072440" y="2878560"/>
            <a:ext cx="63097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edge case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trampa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ambigua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¿empieza 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inventar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cosas que no están?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7" name=""/>
          <p:cNvSpPr txBox="1"/>
          <p:nvPr/>
        </p:nvSpPr>
        <p:spPr>
          <a:xfrm>
            <a:off x="990720" y="3619440"/>
            <a:ext cx="200520" cy="262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AppleColorEmoji"/>
                <a:ea typeface="AppleColorEmoji"/>
              </a:rPr>
              <a:t>✍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8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9" name=""/>
          <p:cNvSpPr txBox="1"/>
          <p:nvPr/>
        </p:nvSpPr>
        <p:spPr>
          <a:xfrm>
            <a:off x="1209600" y="3659400"/>
            <a:ext cx="7326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Anote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latencia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(segundos por imagen) que reporta el notebook: la usará en el ensayo.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0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1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32" name=""/>
          <p:cNvSpPr txBox="1"/>
          <p:nvPr/>
        </p:nvSpPr>
        <p:spPr>
          <a:xfrm>
            <a:off x="685800" y="632520"/>
            <a:ext cx="2095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Qué hace este notebook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3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4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7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9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40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1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5" name=""/>
          <p:cNvSpPr txBox="1"/>
          <p:nvPr/>
        </p:nvSpPr>
        <p:spPr>
          <a:xfrm>
            <a:off x="914400" y="97524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2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6" name=""/>
          <p:cNvSpPr txBox="1"/>
          <p:nvPr/>
        </p:nvSpPr>
        <p:spPr>
          <a:xfrm>
            <a:off x="3015000" y="99036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7" name=""/>
          <p:cNvSpPr txBox="1"/>
          <p:nvPr/>
        </p:nvSpPr>
        <p:spPr>
          <a:xfrm>
            <a:off x="3162240" y="975240"/>
            <a:ext cx="59781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TAREAS ESTRUCTURADAS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8" name=""/>
          <p:cNvSpPr/>
          <p:nvPr/>
        </p:nvSpPr>
        <p:spPr>
          <a:xfrm>
            <a:off x="1962000" y="1714320"/>
            <a:ext cx="3524400" cy="286200"/>
          </a:xfrm>
          <a:custGeom>
            <a:avLst/>
            <a:gdLst/>
            <a:ahLst/>
            <a:rect l="0" t="0" r="r" b="b"/>
            <a:pathLst>
              <a:path w="9790" h="795">
                <a:moveTo>
                  <a:pt x="0" y="715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9711" y="0"/>
                </a:lnTo>
                <a:cubicBezTo>
                  <a:pt x="9722" y="0"/>
                  <a:pt x="9732" y="2"/>
                  <a:pt x="9741" y="6"/>
                </a:cubicBezTo>
                <a:cubicBezTo>
                  <a:pt x="9751" y="10"/>
                  <a:pt x="9760" y="16"/>
                  <a:pt x="9767" y="23"/>
                </a:cubicBezTo>
                <a:cubicBezTo>
                  <a:pt x="9775" y="31"/>
                  <a:pt x="9780" y="39"/>
                  <a:pt x="9784" y="49"/>
                </a:cubicBezTo>
                <a:cubicBezTo>
                  <a:pt x="9788" y="59"/>
                  <a:pt x="9790" y="69"/>
                  <a:pt x="9790" y="79"/>
                </a:cubicBezTo>
                <a:lnTo>
                  <a:pt x="9790" y="715"/>
                </a:lnTo>
                <a:cubicBezTo>
                  <a:pt x="9790" y="726"/>
                  <a:pt x="9788" y="736"/>
                  <a:pt x="9784" y="746"/>
                </a:cubicBezTo>
                <a:cubicBezTo>
                  <a:pt x="9780" y="755"/>
                  <a:pt x="9775" y="764"/>
                  <a:pt x="9767" y="772"/>
                </a:cubicBezTo>
                <a:cubicBezTo>
                  <a:pt x="9760" y="779"/>
                  <a:pt x="9751" y="785"/>
                  <a:pt x="9741" y="789"/>
                </a:cubicBezTo>
                <a:cubicBezTo>
                  <a:pt x="9732" y="793"/>
                  <a:pt x="9722" y="795"/>
                  <a:pt x="9711" y="795"/>
                </a:cubicBezTo>
                <a:lnTo>
                  <a:pt x="79" y="795"/>
                </a:lnTo>
                <a:cubicBezTo>
                  <a:pt x="69" y="795"/>
                  <a:pt x="59" y="793"/>
                  <a:pt x="49" y="789"/>
                </a:cubicBezTo>
                <a:cubicBezTo>
                  <a:pt x="39" y="785"/>
                  <a:pt x="31" y="779"/>
                  <a:pt x="23" y="772"/>
                </a:cubicBezTo>
                <a:cubicBezTo>
                  <a:pt x="16" y="764"/>
                  <a:pt x="10" y="755"/>
                  <a:pt x="6" y="746"/>
                </a:cubicBezTo>
                <a:cubicBezTo>
                  <a:pt x="2" y="736"/>
                  <a:pt x="0" y="726"/>
                  <a:pt x="0" y="715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49" name=""/>
          <p:cNvSpPr txBox="1"/>
          <p:nvPr/>
        </p:nvSpPr>
        <p:spPr>
          <a:xfrm>
            <a:off x="914400" y="1744920"/>
            <a:ext cx="10522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Notebook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0" name=""/>
          <p:cNvSpPr txBox="1"/>
          <p:nvPr/>
        </p:nvSpPr>
        <p:spPr>
          <a:xfrm>
            <a:off x="2012400" y="1713240"/>
            <a:ext cx="344052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04_tareas_estructuradas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1" name=""/>
          <p:cNvSpPr txBox="1"/>
          <p:nvPr/>
        </p:nvSpPr>
        <p:spPr>
          <a:xfrm>
            <a:off x="5491080" y="174492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2" name=""/>
          <p:cNvSpPr txBox="1"/>
          <p:nvPr/>
        </p:nvSpPr>
        <p:spPr>
          <a:xfrm>
            <a:off x="5553000" y="175248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3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54" name=""/>
          <p:cNvSpPr txBox="1"/>
          <p:nvPr/>
        </p:nvSpPr>
        <p:spPr>
          <a:xfrm>
            <a:off x="5621760" y="1744920"/>
            <a:ext cx="7765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~8 min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5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6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7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8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9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0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1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62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3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7" name=""/>
          <p:cNvSpPr/>
          <p:nvPr/>
        </p:nvSpPr>
        <p:spPr>
          <a:xfrm>
            <a:off x="904680" y="18954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68" name=""/>
          <p:cNvSpPr txBox="1"/>
          <p:nvPr/>
        </p:nvSpPr>
        <p:spPr>
          <a:xfrm>
            <a:off x="685800" y="1325880"/>
            <a:ext cx="8873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vez de una descripción libre, le pide al VLM tareas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concretas y accionables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como haría un sistema real: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9" name=""/>
          <p:cNvSpPr/>
          <p:nvPr/>
        </p:nvSpPr>
        <p:spPr>
          <a:xfrm>
            <a:off x="904680" y="22287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0" name=""/>
          <p:cNvSpPr txBox="1"/>
          <p:nvPr/>
        </p:nvSpPr>
        <p:spPr>
          <a:xfrm>
            <a:off x="1072440" y="1811520"/>
            <a:ext cx="4616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Objetos críticos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presentes (peatones, coches, señales).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"/>
          <p:cNvSpPr/>
          <p:nvPr/>
        </p:nvSpPr>
        <p:spPr>
          <a:xfrm>
            <a:off x="904680" y="25714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"/>
          <p:cNvSpPr txBox="1"/>
          <p:nvPr/>
        </p:nvSpPr>
        <p:spPr>
          <a:xfrm>
            <a:off x="1072440" y="2144880"/>
            <a:ext cx="2637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nivel de riesgo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la escena.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3" name=""/>
          <p:cNvSpPr txBox="1"/>
          <p:nvPr/>
        </p:nvSpPr>
        <p:spPr>
          <a:xfrm>
            <a:off x="1072440" y="2487960"/>
            <a:ext cx="43707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acción sugerida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(frenar, mantener, precaución).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4" name=""/>
          <p:cNvSpPr txBox="1"/>
          <p:nvPr/>
        </p:nvSpPr>
        <p:spPr>
          <a:xfrm>
            <a:off x="685800" y="2973600"/>
            <a:ext cx="10328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Observe si el VLM es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fiable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estas tareas o si su respuesta cambia de forma o inventa. Un sistema de conducción necesita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5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6" name=""/>
          <p:cNvSpPr txBox="1"/>
          <p:nvPr/>
        </p:nvSpPr>
        <p:spPr>
          <a:xfrm>
            <a:off x="685800" y="3259440"/>
            <a:ext cx="4393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respuestas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estructuradas y fiables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, no prosa bonita.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7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8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79" name=""/>
          <p:cNvSpPr txBox="1"/>
          <p:nvPr/>
        </p:nvSpPr>
        <p:spPr>
          <a:xfrm>
            <a:off x="685800" y="632520"/>
            <a:ext cx="2095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Qué hace este notebook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0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1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2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3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4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5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6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487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88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14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2" name=""/>
          <p:cNvSpPr txBox="1"/>
          <p:nvPr/>
        </p:nvSpPr>
        <p:spPr>
          <a:xfrm>
            <a:off x="914400" y="97524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3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3" name=""/>
          <p:cNvSpPr txBox="1"/>
          <p:nvPr/>
        </p:nvSpPr>
        <p:spPr>
          <a:xfrm>
            <a:off x="3015000" y="99036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4" name=""/>
          <p:cNvSpPr txBox="1"/>
          <p:nvPr/>
        </p:nvSpPr>
        <p:spPr>
          <a:xfrm>
            <a:off x="3162240" y="975240"/>
            <a:ext cx="346608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CONSISTENCIA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5" name=""/>
          <p:cNvSpPr/>
          <p:nvPr/>
        </p:nvSpPr>
        <p:spPr>
          <a:xfrm>
            <a:off x="1962000" y="1714320"/>
            <a:ext cx="2333880" cy="286200"/>
          </a:xfrm>
          <a:custGeom>
            <a:avLst/>
            <a:gdLst/>
            <a:ahLst/>
            <a:rect l="0" t="0" r="r" b="b"/>
            <a:pathLst>
              <a:path w="6483" h="795">
                <a:moveTo>
                  <a:pt x="0" y="715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6404" y="0"/>
                </a:lnTo>
                <a:cubicBezTo>
                  <a:pt x="6414" y="0"/>
                  <a:pt x="6424" y="2"/>
                  <a:pt x="6434" y="6"/>
                </a:cubicBezTo>
                <a:cubicBezTo>
                  <a:pt x="6444" y="10"/>
                  <a:pt x="6453" y="16"/>
                  <a:pt x="6460" y="23"/>
                </a:cubicBezTo>
                <a:cubicBezTo>
                  <a:pt x="6467" y="31"/>
                  <a:pt x="6473" y="39"/>
                  <a:pt x="6477" y="49"/>
                </a:cubicBezTo>
                <a:cubicBezTo>
                  <a:pt x="6481" y="59"/>
                  <a:pt x="6483" y="69"/>
                  <a:pt x="6483" y="79"/>
                </a:cubicBezTo>
                <a:lnTo>
                  <a:pt x="6483" y="715"/>
                </a:lnTo>
                <a:cubicBezTo>
                  <a:pt x="6483" y="726"/>
                  <a:pt x="6481" y="736"/>
                  <a:pt x="6477" y="746"/>
                </a:cubicBezTo>
                <a:cubicBezTo>
                  <a:pt x="6473" y="755"/>
                  <a:pt x="6467" y="764"/>
                  <a:pt x="6460" y="772"/>
                </a:cubicBezTo>
                <a:cubicBezTo>
                  <a:pt x="6453" y="779"/>
                  <a:pt x="6444" y="785"/>
                  <a:pt x="6434" y="789"/>
                </a:cubicBezTo>
                <a:cubicBezTo>
                  <a:pt x="6424" y="793"/>
                  <a:pt x="6414" y="795"/>
                  <a:pt x="6404" y="795"/>
                </a:cubicBezTo>
                <a:lnTo>
                  <a:pt x="79" y="795"/>
                </a:lnTo>
                <a:cubicBezTo>
                  <a:pt x="69" y="795"/>
                  <a:pt x="59" y="793"/>
                  <a:pt x="49" y="789"/>
                </a:cubicBezTo>
                <a:cubicBezTo>
                  <a:pt x="39" y="785"/>
                  <a:pt x="31" y="779"/>
                  <a:pt x="23" y="772"/>
                </a:cubicBezTo>
                <a:cubicBezTo>
                  <a:pt x="16" y="764"/>
                  <a:pt x="10" y="755"/>
                  <a:pt x="6" y="746"/>
                </a:cubicBezTo>
                <a:cubicBezTo>
                  <a:pt x="2" y="736"/>
                  <a:pt x="0" y="726"/>
                  <a:pt x="0" y="715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96" name=""/>
          <p:cNvSpPr txBox="1"/>
          <p:nvPr/>
        </p:nvSpPr>
        <p:spPr>
          <a:xfrm>
            <a:off x="914400" y="1744920"/>
            <a:ext cx="10522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Notebook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7" name=""/>
          <p:cNvSpPr txBox="1"/>
          <p:nvPr/>
        </p:nvSpPr>
        <p:spPr>
          <a:xfrm>
            <a:off x="2012400" y="1713240"/>
            <a:ext cx="224424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05_consistencia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8" name=""/>
          <p:cNvSpPr txBox="1"/>
          <p:nvPr/>
        </p:nvSpPr>
        <p:spPr>
          <a:xfrm>
            <a:off x="4298400" y="174492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9" name=""/>
          <p:cNvSpPr txBox="1"/>
          <p:nvPr/>
        </p:nvSpPr>
        <p:spPr>
          <a:xfrm>
            <a:off x="4360320" y="175248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0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01" name=""/>
          <p:cNvSpPr txBox="1"/>
          <p:nvPr/>
        </p:nvSpPr>
        <p:spPr>
          <a:xfrm>
            <a:off x="4429080" y="1744920"/>
            <a:ext cx="7765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~8 min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2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3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6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7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8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09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0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15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4" name=""/>
          <p:cNvSpPr/>
          <p:nvPr/>
        </p:nvSpPr>
        <p:spPr>
          <a:xfrm>
            <a:off x="904680" y="18954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5" name=""/>
          <p:cNvSpPr txBox="1"/>
          <p:nvPr/>
        </p:nvSpPr>
        <p:spPr>
          <a:xfrm>
            <a:off x="685800" y="1325880"/>
            <a:ext cx="6568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notebook pregunta lo mismo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varias veces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 la misma imagen, en dos modos: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6" name=""/>
          <p:cNvSpPr/>
          <p:nvPr/>
        </p:nvSpPr>
        <p:spPr>
          <a:xfrm>
            <a:off x="904680" y="22287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7" name=""/>
          <p:cNvSpPr txBox="1"/>
          <p:nvPr/>
        </p:nvSpPr>
        <p:spPr>
          <a:xfrm>
            <a:off x="1072440" y="1811520"/>
            <a:ext cx="5381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Determinista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(greedy): debería dar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siempre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 misma respuesta.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8" name=""/>
          <p:cNvSpPr/>
          <p:nvPr/>
        </p:nvSpPr>
        <p:spPr>
          <a:xfrm>
            <a:off x="685440" y="2809800"/>
            <a:ext cx="10820880" cy="724320"/>
          </a:xfrm>
          <a:custGeom>
            <a:avLst/>
            <a:gdLst/>
            <a:ahLst/>
            <a:rect l="0" t="0" r="r" b="b"/>
            <a:pathLst>
              <a:path w="30058" h="2012">
                <a:moveTo>
                  <a:pt x="0" y="0"/>
                </a:moveTo>
                <a:lnTo>
                  <a:pt x="30058" y="0"/>
                </a:lnTo>
                <a:lnTo>
                  <a:pt x="30058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19" name=""/>
          <p:cNvSpPr/>
          <p:nvPr/>
        </p:nvSpPr>
        <p:spPr>
          <a:xfrm>
            <a:off x="685440" y="2809800"/>
            <a:ext cx="29160" cy="724320"/>
          </a:xfrm>
          <a:custGeom>
            <a:avLst/>
            <a:gdLst/>
            <a:ahLst/>
            <a:rect l="0" t="0" r="r" b="b"/>
            <a:pathLst>
              <a:path w="81" h="2012">
                <a:moveTo>
                  <a:pt x="0" y="0"/>
                </a:moveTo>
                <a:lnTo>
                  <a:pt x="81" y="0"/>
                </a:lnTo>
                <a:lnTo>
                  <a:pt x="81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0" name=""/>
          <p:cNvSpPr txBox="1"/>
          <p:nvPr/>
        </p:nvSpPr>
        <p:spPr>
          <a:xfrm>
            <a:off x="1072440" y="2144880"/>
            <a:ext cx="44546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 azar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(sampling): cada vez puede dar una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distinta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1" name=""/>
          <p:cNvSpPr txBox="1"/>
          <p:nvPr/>
        </p:nvSpPr>
        <p:spPr>
          <a:xfrm>
            <a:off x="990720" y="2926080"/>
            <a:ext cx="10311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Para un sistema de seguridad, la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consistencia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importa tanto como el acierto: un módulo que responde algo distinto cada vez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2" name=""/>
          <p:cNvSpPr txBox="1"/>
          <p:nvPr/>
        </p:nvSpPr>
        <p:spPr>
          <a:xfrm>
            <a:off x="990720" y="3211920"/>
            <a:ext cx="970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es fiable.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3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24" name=""/>
          <p:cNvSpPr/>
          <p:nvPr/>
        </p:nvSpPr>
        <p:spPr>
          <a:xfrm>
            <a:off x="745560" y="610200"/>
            <a:ext cx="128160" cy="161640"/>
          </a:xfrm>
          <a:custGeom>
            <a:avLst/>
            <a:gdLst/>
            <a:ahLst/>
            <a:rect l="0" t="0" r="r" b="b"/>
            <a:pathLst>
              <a:path w="356" h="449">
                <a:moveTo>
                  <a:pt x="356" y="177"/>
                </a:moveTo>
                <a:cubicBezTo>
                  <a:pt x="356" y="281"/>
                  <a:pt x="275" y="297"/>
                  <a:pt x="275" y="395"/>
                </a:cubicBezTo>
                <a:cubicBezTo>
                  <a:pt x="275" y="445"/>
                  <a:pt x="224" y="449"/>
                  <a:pt x="186" y="449"/>
                </a:cubicBezTo>
                <a:cubicBezTo>
                  <a:pt x="152" y="449"/>
                  <a:pt x="79" y="437"/>
                  <a:pt x="79" y="395"/>
                </a:cubicBezTo>
                <a:cubicBezTo>
                  <a:pt x="79" y="297"/>
                  <a:pt x="0" y="281"/>
                  <a:pt x="0" y="177"/>
                </a:cubicBezTo>
                <a:cubicBezTo>
                  <a:pt x="0" y="79"/>
                  <a:pt x="85" y="0"/>
                  <a:pt x="179" y="0"/>
                </a:cubicBezTo>
                <a:cubicBezTo>
                  <a:pt x="274" y="0"/>
                  <a:pt x="356" y="79"/>
                  <a:pt x="356" y="177"/>
                </a:cubicBezTo>
                <a:close/>
              </a:path>
            </a:pathLst>
          </a:custGeom>
          <a:solidFill>
            <a:srgbClr val="FFD983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5" name=""/>
          <p:cNvSpPr/>
          <p:nvPr/>
        </p:nvSpPr>
        <p:spPr>
          <a:xfrm>
            <a:off x="785160" y="795240"/>
            <a:ext cx="48960" cy="18360"/>
          </a:xfrm>
          <a:custGeom>
            <a:avLst/>
            <a:gdLst/>
            <a:ahLst/>
            <a:rect l="0" t="0" r="r" b="b"/>
            <a:pathLst>
              <a:path w="136" h="51">
                <a:moveTo>
                  <a:pt x="136" y="9"/>
                </a:moveTo>
                <a:cubicBezTo>
                  <a:pt x="136" y="24"/>
                  <a:pt x="100" y="51"/>
                  <a:pt x="68" y="51"/>
                </a:cubicBezTo>
                <a:cubicBezTo>
                  <a:pt x="37" y="51"/>
                  <a:pt x="0" y="24"/>
                  <a:pt x="0" y="9"/>
                </a:cubicBezTo>
                <a:cubicBezTo>
                  <a:pt x="0" y="-4"/>
                  <a:pt x="37" y="1"/>
                  <a:pt x="68" y="1"/>
                </a:cubicBezTo>
                <a:cubicBezTo>
                  <a:pt x="100" y="1"/>
                  <a:pt x="136" y="-4"/>
                  <a:pt x="136" y="9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6" name=""/>
          <p:cNvSpPr/>
          <p:nvPr/>
        </p:nvSpPr>
        <p:spPr>
          <a:xfrm>
            <a:off x="780480" y="667800"/>
            <a:ext cx="58680" cy="99360"/>
          </a:xfrm>
          <a:custGeom>
            <a:avLst/>
            <a:gdLst/>
            <a:ahLst/>
            <a:rect l="0" t="0" r="r" b="b"/>
            <a:pathLst>
              <a:path w="163" h="276">
                <a:moveTo>
                  <a:pt x="159" y="5"/>
                </a:moveTo>
                <a:cubicBezTo>
                  <a:pt x="152" y="-1"/>
                  <a:pt x="142" y="-1"/>
                  <a:pt x="136" y="5"/>
                </a:cubicBezTo>
                <a:lnTo>
                  <a:pt x="82" y="59"/>
                </a:lnTo>
                <a:lnTo>
                  <a:pt x="29" y="5"/>
                </a:lnTo>
                <a:cubicBezTo>
                  <a:pt x="23" y="-1"/>
                  <a:pt x="13" y="-1"/>
                  <a:pt x="5" y="5"/>
                </a:cubicBezTo>
                <a:cubicBezTo>
                  <a:pt x="-1" y="12"/>
                  <a:pt x="-1" y="22"/>
                  <a:pt x="5" y="28"/>
                </a:cubicBezTo>
                <a:lnTo>
                  <a:pt x="66" y="88"/>
                </a:lnTo>
                <a:lnTo>
                  <a:pt x="66" y="260"/>
                </a:lnTo>
                <a:cubicBezTo>
                  <a:pt x="66" y="269"/>
                  <a:pt x="74" y="276"/>
                  <a:pt x="82" y="276"/>
                </a:cubicBezTo>
                <a:cubicBezTo>
                  <a:pt x="91" y="276"/>
                  <a:pt x="99" y="269"/>
                  <a:pt x="99" y="260"/>
                </a:cubicBezTo>
                <a:lnTo>
                  <a:pt x="99" y="88"/>
                </a:lnTo>
                <a:lnTo>
                  <a:pt x="159" y="28"/>
                </a:lnTo>
                <a:cubicBezTo>
                  <a:pt x="165" y="22"/>
                  <a:pt x="165" y="12"/>
                  <a:pt x="159" y="5"/>
                </a:cubicBezTo>
                <a:close/>
              </a:path>
            </a:pathLst>
          </a:custGeom>
          <a:solidFill>
            <a:srgbClr val="FFCC4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7" name=""/>
          <p:cNvSpPr/>
          <p:nvPr/>
        </p:nvSpPr>
        <p:spPr>
          <a:xfrm>
            <a:off x="774360" y="754920"/>
            <a:ext cx="70200" cy="46800"/>
          </a:xfrm>
          <a:custGeom>
            <a:avLst/>
            <a:gdLst/>
            <a:ahLst/>
            <a:rect l="0" t="0" r="r" b="b"/>
            <a:pathLst>
              <a:path w="195" h="130">
                <a:moveTo>
                  <a:pt x="195" y="98"/>
                </a:moveTo>
                <a:cubicBezTo>
                  <a:pt x="195" y="116"/>
                  <a:pt x="181" y="130"/>
                  <a:pt x="163" y="130"/>
                </a:cubicBezTo>
                <a:lnTo>
                  <a:pt x="33" y="130"/>
                </a:lnTo>
                <a:cubicBezTo>
                  <a:pt x="15" y="130"/>
                  <a:pt x="0" y="116"/>
                  <a:pt x="0" y="98"/>
                </a:cubicBezTo>
                <a:lnTo>
                  <a:pt x="0" y="0"/>
                </a:lnTo>
                <a:lnTo>
                  <a:pt x="195" y="0"/>
                </a:lnTo>
                <a:lnTo>
                  <a:pt x="195" y="98"/>
                </a:lnTo>
                <a:close/>
              </a:path>
            </a:pathLst>
          </a:custGeom>
          <a:solidFill>
            <a:srgbClr val="99AAB5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8" name=""/>
          <p:cNvSpPr/>
          <p:nvPr/>
        </p:nvSpPr>
        <p:spPr>
          <a:xfrm>
            <a:off x="768600" y="749160"/>
            <a:ext cx="81720" cy="46800"/>
          </a:xfrm>
          <a:custGeom>
            <a:avLst/>
            <a:gdLst/>
            <a:ahLst/>
            <a:rect l="0" t="0" r="r" b="b"/>
            <a:pathLst>
              <a:path w="227" h="130">
                <a:moveTo>
                  <a:pt x="0" y="117"/>
                </a:moveTo>
                <a:cubicBezTo>
                  <a:pt x="-2" y="108"/>
                  <a:pt x="4" y="100"/>
                  <a:pt x="14" y="98"/>
                </a:cubicBezTo>
                <a:lnTo>
                  <a:pt x="208" y="66"/>
                </a:lnTo>
                <a:cubicBezTo>
                  <a:pt x="217" y="64"/>
                  <a:pt x="225" y="70"/>
                  <a:pt x="226" y="79"/>
                </a:cubicBezTo>
                <a:cubicBezTo>
                  <a:pt x="228" y="88"/>
                  <a:pt x="222" y="96"/>
                  <a:pt x="213" y="98"/>
                </a:cubicBezTo>
                <a:lnTo>
                  <a:pt x="19" y="130"/>
                </a:lnTo>
                <a:cubicBezTo>
                  <a:pt x="18" y="130"/>
                  <a:pt x="17" y="130"/>
                  <a:pt x="16" y="130"/>
                </a:cubicBezTo>
                <a:cubicBezTo>
                  <a:pt x="8" y="130"/>
                  <a:pt x="1" y="125"/>
                  <a:pt x="0" y="117"/>
                </a:cubicBezTo>
                <a:moveTo>
                  <a:pt x="0" y="52"/>
                </a:moveTo>
                <a:cubicBezTo>
                  <a:pt x="-2" y="42"/>
                  <a:pt x="4" y="34"/>
                  <a:pt x="14" y="32"/>
                </a:cubicBezTo>
                <a:lnTo>
                  <a:pt x="208" y="0"/>
                </a:lnTo>
                <a:cubicBezTo>
                  <a:pt x="217" y="-1"/>
                  <a:pt x="225" y="5"/>
                  <a:pt x="226" y="13"/>
                </a:cubicBezTo>
                <a:cubicBezTo>
                  <a:pt x="228" y="22"/>
                  <a:pt x="222" y="31"/>
                  <a:pt x="213" y="32"/>
                </a:cubicBezTo>
                <a:lnTo>
                  <a:pt x="19" y="65"/>
                </a:lnTo>
                <a:cubicBezTo>
                  <a:pt x="18" y="66"/>
                  <a:pt x="17" y="66"/>
                  <a:pt x="16" y="66"/>
                </a:cubicBezTo>
                <a:cubicBezTo>
                  <a:pt x="8" y="66"/>
                  <a:pt x="1" y="60"/>
                  <a:pt x="0" y="52"/>
                </a:cubicBezTo>
                <a:close/>
              </a:path>
            </a:pathLst>
          </a:custGeom>
          <a:solidFill>
            <a:srgbClr val="CCD6DD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9" name=""/>
          <p:cNvSpPr txBox="1"/>
          <p:nvPr/>
        </p:nvSpPr>
        <p:spPr>
          <a:xfrm>
            <a:off x="685800" y="3792960"/>
            <a:ext cx="92768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Observe cuánto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varían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las respuestas con sampling. ¿Confiaría en este modelo para una decisión de seguridad?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0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1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2" name=""/>
          <p:cNvSpPr txBox="1"/>
          <p:nvPr/>
        </p:nvSpPr>
        <p:spPr>
          <a:xfrm>
            <a:off x="926640" y="632520"/>
            <a:ext cx="4156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 La pregunta: ¿da siempre la misma respuesta?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3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4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5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6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9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40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41" name=""/>
          <p:cNvSpPr txBox="1"/>
          <p:nvPr/>
        </p:nvSpPr>
        <p:spPr>
          <a:xfrm>
            <a:off x="11757600" y="6513120"/>
            <a:ext cx="167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16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"/>
          <p:cNvSpPr txBox="1"/>
          <p:nvPr/>
        </p:nvSpPr>
        <p:spPr>
          <a:xfrm>
            <a:off x="914400" y="97524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4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6" name=""/>
          <p:cNvSpPr txBox="1"/>
          <p:nvPr/>
        </p:nvSpPr>
        <p:spPr>
          <a:xfrm>
            <a:off x="3015000" y="99036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7" name=""/>
          <p:cNvSpPr txBox="1"/>
          <p:nvPr/>
        </p:nvSpPr>
        <p:spPr>
          <a:xfrm>
            <a:off x="3162240" y="975240"/>
            <a:ext cx="473688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ANÁLISIS DE FALLOS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8" name=""/>
          <p:cNvSpPr/>
          <p:nvPr/>
        </p:nvSpPr>
        <p:spPr>
          <a:xfrm>
            <a:off x="1962000" y="1714320"/>
            <a:ext cx="2934000" cy="286200"/>
          </a:xfrm>
          <a:custGeom>
            <a:avLst/>
            <a:gdLst/>
            <a:ahLst/>
            <a:rect l="0" t="0" r="r" b="b"/>
            <a:pathLst>
              <a:path w="8150" h="795">
                <a:moveTo>
                  <a:pt x="0" y="715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8071" y="0"/>
                </a:lnTo>
                <a:cubicBezTo>
                  <a:pt x="8081" y="0"/>
                  <a:pt x="8091" y="2"/>
                  <a:pt x="8101" y="6"/>
                </a:cubicBezTo>
                <a:cubicBezTo>
                  <a:pt x="8111" y="10"/>
                  <a:pt x="8119" y="16"/>
                  <a:pt x="8127" y="23"/>
                </a:cubicBezTo>
                <a:cubicBezTo>
                  <a:pt x="8134" y="31"/>
                  <a:pt x="8140" y="39"/>
                  <a:pt x="8144" y="49"/>
                </a:cubicBezTo>
                <a:cubicBezTo>
                  <a:pt x="8148" y="59"/>
                  <a:pt x="8150" y="69"/>
                  <a:pt x="8150" y="79"/>
                </a:cubicBezTo>
                <a:lnTo>
                  <a:pt x="8150" y="715"/>
                </a:lnTo>
                <a:cubicBezTo>
                  <a:pt x="8150" y="726"/>
                  <a:pt x="8148" y="736"/>
                  <a:pt x="8144" y="746"/>
                </a:cubicBezTo>
                <a:cubicBezTo>
                  <a:pt x="8140" y="755"/>
                  <a:pt x="8134" y="764"/>
                  <a:pt x="8127" y="772"/>
                </a:cubicBezTo>
                <a:cubicBezTo>
                  <a:pt x="8119" y="779"/>
                  <a:pt x="8111" y="785"/>
                  <a:pt x="8101" y="789"/>
                </a:cubicBezTo>
                <a:cubicBezTo>
                  <a:pt x="8091" y="793"/>
                  <a:pt x="8081" y="795"/>
                  <a:pt x="8071" y="795"/>
                </a:cubicBezTo>
                <a:lnTo>
                  <a:pt x="79" y="795"/>
                </a:lnTo>
                <a:cubicBezTo>
                  <a:pt x="69" y="795"/>
                  <a:pt x="59" y="793"/>
                  <a:pt x="49" y="789"/>
                </a:cubicBezTo>
                <a:cubicBezTo>
                  <a:pt x="39" y="785"/>
                  <a:pt x="31" y="779"/>
                  <a:pt x="23" y="772"/>
                </a:cubicBezTo>
                <a:cubicBezTo>
                  <a:pt x="16" y="764"/>
                  <a:pt x="10" y="755"/>
                  <a:pt x="6" y="746"/>
                </a:cubicBezTo>
                <a:cubicBezTo>
                  <a:pt x="2" y="736"/>
                  <a:pt x="0" y="726"/>
                  <a:pt x="0" y="715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49" name=""/>
          <p:cNvSpPr txBox="1"/>
          <p:nvPr/>
        </p:nvSpPr>
        <p:spPr>
          <a:xfrm>
            <a:off x="914400" y="1744920"/>
            <a:ext cx="10522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Notebook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0" name=""/>
          <p:cNvSpPr txBox="1"/>
          <p:nvPr/>
        </p:nvSpPr>
        <p:spPr>
          <a:xfrm>
            <a:off x="2012400" y="1713240"/>
            <a:ext cx="284220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06_failure_analysis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1" name=""/>
          <p:cNvSpPr txBox="1"/>
          <p:nvPr/>
        </p:nvSpPr>
        <p:spPr>
          <a:xfrm>
            <a:off x="4894560" y="174492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2" name=""/>
          <p:cNvSpPr txBox="1"/>
          <p:nvPr/>
        </p:nvSpPr>
        <p:spPr>
          <a:xfrm>
            <a:off x="4956480" y="1752480"/>
            <a:ext cx="24732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3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54" name=""/>
          <p:cNvSpPr txBox="1"/>
          <p:nvPr/>
        </p:nvSpPr>
        <p:spPr>
          <a:xfrm>
            <a:off x="5025240" y="1744920"/>
            <a:ext cx="92916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~10 min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5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6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7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8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9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0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1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62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3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17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7" name=""/>
          <p:cNvSpPr/>
          <p:nvPr/>
        </p:nvSpPr>
        <p:spPr>
          <a:xfrm>
            <a:off x="904680" y="18954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68" name=""/>
          <p:cNvSpPr txBox="1"/>
          <p:nvPr/>
        </p:nvSpPr>
        <p:spPr>
          <a:xfrm>
            <a:off x="685800" y="1325880"/>
            <a:ext cx="4009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Le ayuda 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catalogar los fallos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del VLM por tipo: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9" name=""/>
          <p:cNvSpPr/>
          <p:nvPr/>
        </p:nvSpPr>
        <p:spPr>
          <a:xfrm>
            <a:off x="904680" y="22287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49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0"/>
                  <a:pt x="150" y="39"/>
                  <a:pt x="154" y="49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0" name=""/>
          <p:cNvSpPr txBox="1"/>
          <p:nvPr/>
        </p:nvSpPr>
        <p:spPr>
          <a:xfrm>
            <a:off x="1072440" y="1811520"/>
            <a:ext cx="2765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Omisión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se deja algo importante.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1" name=""/>
          <p:cNvSpPr/>
          <p:nvPr/>
        </p:nvSpPr>
        <p:spPr>
          <a:xfrm>
            <a:off x="904680" y="257148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2" name=""/>
          <p:cNvSpPr txBox="1"/>
          <p:nvPr/>
        </p:nvSpPr>
        <p:spPr>
          <a:xfrm>
            <a:off x="1072440" y="2144880"/>
            <a:ext cx="32562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Alucinación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describe algo que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está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3" name=""/>
          <p:cNvSpPr/>
          <p:nvPr/>
        </p:nvSpPr>
        <p:spPr>
          <a:xfrm>
            <a:off x="904680" y="291456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39"/>
                  <a:pt x="16" y="30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0"/>
                  <a:pt x="150" y="39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4" name=""/>
          <p:cNvSpPr txBox="1"/>
          <p:nvPr/>
        </p:nvSpPr>
        <p:spPr>
          <a:xfrm>
            <a:off x="1072440" y="2487960"/>
            <a:ext cx="2739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Localización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sitúa mal las cosas.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5" name=""/>
          <p:cNvSpPr txBox="1"/>
          <p:nvPr/>
        </p:nvSpPr>
        <p:spPr>
          <a:xfrm>
            <a:off x="1072440" y="2830680"/>
            <a:ext cx="4375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Semántica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malinterpreta el significado de la escena.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6" name=""/>
          <p:cNvSpPr txBox="1"/>
          <p:nvPr/>
        </p:nvSpPr>
        <p:spPr>
          <a:xfrm>
            <a:off x="685800" y="3316680"/>
            <a:ext cx="106779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Su trabajo es identificar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≥2 ejemplos de cada tipo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razonar la causa (dominio fuera de su entrenamiento, ambigüedad, sesgo del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7" name=""/>
          <p:cNvSpPr/>
          <p:nvPr/>
        </p:nvSpPr>
        <p:spPr>
          <a:xfrm>
            <a:off x="685440" y="4228920"/>
            <a:ext cx="10820880" cy="429120"/>
          </a:xfrm>
          <a:custGeom>
            <a:avLst/>
            <a:gdLst/>
            <a:ahLst/>
            <a:rect l="0" t="0" r="r" b="b"/>
            <a:pathLst>
              <a:path w="30058" h="1192">
                <a:moveTo>
                  <a:pt x="0" y="0"/>
                </a:moveTo>
                <a:lnTo>
                  <a:pt x="30058" y="0"/>
                </a:lnTo>
                <a:lnTo>
                  <a:pt x="30058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8" name=""/>
          <p:cNvSpPr/>
          <p:nvPr/>
        </p:nvSpPr>
        <p:spPr>
          <a:xfrm>
            <a:off x="685440" y="4228920"/>
            <a:ext cx="29160" cy="429120"/>
          </a:xfrm>
          <a:custGeom>
            <a:avLst/>
            <a:gdLst/>
            <a:ahLst/>
            <a:rect l="0" t="0" r="r" b="b"/>
            <a:pathLst>
              <a:path w="81" h="1192">
                <a:moveTo>
                  <a:pt x="0" y="0"/>
                </a:moveTo>
                <a:lnTo>
                  <a:pt x="81" y="0"/>
                </a:lnTo>
                <a:lnTo>
                  <a:pt x="81" y="1192"/>
                </a:lnTo>
                <a:lnTo>
                  <a:pt x="0" y="119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79" name=""/>
          <p:cNvSpPr txBox="1"/>
          <p:nvPr/>
        </p:nvSpPr>
        <p:spPr>
          <a:xfrm>
            <a:off x="685800" y="3602520"/>
            <a:ext cx="820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modelo…).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0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1" name=""/>
          <p:cNvSpPr txBox="1"/>
          <p:nvPr/>
        </p:nvSpPr>
        <p:spPr>
          <a:xfrm>
            <a:off x="990720" y="4335840"/>
            <a:ext cx="79095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Para nota alta: proponga una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mitigación concreta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por tipo de fallo (no "mejor prompt" a secas).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2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3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84" name=""/>
          <p:cNvSpPr txBox="1"/>
          <p:nvPr/>
        </p:nvSpPr>
        <p:spPr>
          <a:xfrm>
            <a:off x="685800" y="632520"/>
            <a:ext cx="20955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Qué hace este notebook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5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6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7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8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9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0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1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592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3" name=""/>
          <p:cNvSpPr txBox="1"/>
          <p:nvPr/>
        </p:nvSpPr>
        <p:spPr>
          <a:xfrm>
            <a:off x="11757600" y="6513120"/>
            <a:ext cx="167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18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97" name=""/>
          <p:cNvSpPr txBox="1"/>
          <p:nvPr/>
        </p:nvSpPr>
        <p:spPr>
          <a:xfrm>
            <a:off x="914400" y="975240"/>
            <a:ext cx="20253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PARTE 5 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8" name=""/>
          <p:cNvSpPr txBox="1"/>
          <p:nvPr/>
        </p:nvSpPr>
        <p:spPr>
          <a:xfrm>
            <a:off x="3015000" y="990360"/>
            <a:ext cx="49500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9" name=""/>
          <p:cNvSpPr txBox="1"/>
          <p:nvPr/>
        </p:nvSpPr>
        <p:spPr>
          <a:xfrm>
            <a:off x="3162240" y="975240"/>
            <a:ext cx="371088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EL ENTREGABLE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0" name=""/>
          <p:cNvSpPr/>
          <p:nvPr/>
        </p:nvSpPr>
        <p:spPr>
          <a:xfrm>
            <a:off x="2180880" y="1714320"/>
            <a:ext cx="3076920" cy="286200"/>
          </a:xfrm>
          <a:custGeom>
            <a:avLst/>
            <a:gdLst/>
            <a:ahLst/>
            <a:rect l="0" t="0" r="r" b="b"/>
            <a:pathLst>
              <a:path w="8547" h="795">
                <a:moveTo>
                  <a:pt x="0" y="715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8468" y="0"/>
                </a:lnTo>
                <a:cubicBezTo>
                  <a:pt x="8479" y="0"/>
                  <a:pt x="8489" y="2"/>
                  <a:pt x="8498" y="6"/>
                </a:cubicBezTo>
                <a:cubicBezTo>
                  <a:pt x="8508" y="10"/>
                  <a:pt x="8517" y="16"/>
                  <a:pt x="8524" y="23"/>
                </a:cubicBezTo>
                <a:cubicBezTo>
                  <a:pt x="8532" y="31"/>
                  <a:pt x="8537" y="39"/>
                  <a:pt x="8541" y="49"/>
                </a:cubicBezTo>
                <a:cubicBezTo>
                  <a:pt x="8545" y="59"/>
                  <a:pt x="8547" y="69"/>
                  <a:pt x="8547" y="79"/>
                </a:cubicBezTo>
                <a:lnTo>
                  <a:pt x="8547" y="715"/>
                </a:lnTo>
                <a:cubicBezTo>
                  <a:pt x="8547" y="726"/>
                  <a:pt x="8545" y="736"/>
                  <a:pt x="8541" y="746"/>
                </a:cubicBezTo>
                <a:cubicBezTo>
                  <a:pt x="8537" y="755"/>
                  <a:pt x="8532" y="764"/>
                  <a:pt x="8524" y="772"/>
                </a:cubicBezTo>
                <a:cubicBezTo>
                  <a:pt x="8517" y="779"/>
                  <a:pt x="8508" y="785"/>
                  <a:pt x="8498" y="789"/>
                </a:cubicBezTo>
                <a:cubicBezTo>
                  <a:pt x="8489" y="793"/>
                  <a:pt x="8479" y="795"/>
                  <a:pt x="8468" y="795"/>
                </a:cubicBezTo>
                <a:lnTo>
                  <a:pt x="80" y="795"/>
                </a:lnTo>
                <a:cubicBezTo>
                  <a:pt x="69" y="795"/>
                  <a:pt x="59" y="793"/>
                  <a:pt x="49" y="789"/>
                </a:cubicBezTo>
                <a:cubicBezTo>
                  <a:pt x="40" y="785"/>
                  <a:pt x="31" y="779"/>
                  <a:pt x="24" y="772"/>
                </a:cubicBezTo>
                <a:cubicBezTo>
                  <a:pt x="16" y="764"/>
                  <a:pt x="11" y="755"/>
                  <a:pt x="6" y="746"/>
                </a:cubicBezTo>
                <a:cubicBezTo>
                  <a:pt x="2" y="736"/>
                  <a:pt x="0" y="726"/>
                  <a:pt x="0" y="715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1" name=""/>
          <p:cNvSpPr txBox="1"/>
          <p:nvPr/>
        </p:nvSpPr>
        <p:spPr>
          <a:xfrm>
            <a:off x="914400" y="1744920"/>
            <a:ext cx="1268280" cy="2487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Mini-ensayo 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2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03" name=""/>
          <p:cNvSpPr txBox="1"/>
          <p:nvPr/>
        </p:nvSpPr>
        <p:spPr>
          <a:xfrm>
            <a:off x="2227680" y="1713240"/>
            <a:ext cx="2991960" cy="28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95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07_local_vs_frontier</a:t>
            </a:r>
            <a:endParaRPr lang="en-US" sz="19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4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5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6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7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8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9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0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11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12" name=""/>
          <p:cNvSpPr txBox="1"/>
          <p:nvPr/>
        </p:nvSpPr>
        <p:spPr>
          <a:xfrm>
            <a:off x="11757600" y="6513120"/>
            <a:ext cx="16740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19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6" name=""/>
          <p:cNvSpPr/>
          <p:nvPr/>
        </p:nvSpPr>
        <p:spPr>
          <a:xfrm>
            <a:off x="4095720" y="1314360"/>
            <a:ext cx="2876760" cy="219240"/>
          </a:xfrm>
          <a:custGeom>
            <a:avLst/>
            <a:gdLst/>
            <a:ahLst/>
            <a:rect l="0" t="0" r="r" b="b"/>
            <a:pathLst>
              <a:path w="7991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8"/>
                  <a:pt x="6" y="49"/>
                </a:cubicBezTo>
                <a:cubicBezTo>
                  <a:pt x="10" y="39"/>
                  <a:pt x="15" y="30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8" y="0"/>
                  <a:pt x="79" y="0"/>
                </a:cubicBezTo>
                <a:lnTo>
                  <a:pt x="7912" y="0"/>
                </a:lnTo>
                <a:cubicBezTo>
                  <a:pt x="7922" y="0"/>
                  <a:pt x="7932" y="2"/>
                  <a:pt x="7942" y="6"/>
                </a:cubicBezTo>
                <a:cubicBezTo>
                  <a:pt x="7952" y="10"/>
                  <a:pt x="7960" y="16"/>
                  <a:pt x="7968" y="23"/>
                </a:cubicBezTo>
                <a:cubicBezTo>
                  <a:pt x="7975" y="30"/>
                  <a:pt x="7981" y="39"/>
                  <a:pt x="7985" y="49"/>
                </a:cubicBezTo>
                <a:cubicBezTo>
                  <a:pt x="7989" y="58"/>
                  <a:pt x="7991" y="69"/>
                  <a:pt x="7991" y="79"/>
                </a:cubicBezTo>
                <a:lnTo>
                  <a:pt x="7991" y="530"/>
                </a:lnTo>
                <a:cubicBezTo>
                  <a:pt x="7991" y="540"/>
                  <a:pt x="7989" y="551"/>
                  <a:pt x="7985" y="560"/>
                </a:cubicBezTo>
                <a:cubicBezTo>
                  <a:pt x="7981" y="570"/>
                  <a:pt x="7975" y="579"/>
                  <a:pt x="7968" y="586"/>
                </a:cubicBezTo>
                <a:cubicBezTo>
                  <a:pt x="7960" y="593"/>
                  <a:pt x="7952" y="599"/>
                  <a:pt x="7942" y="603"/>
                </a:cubicBezTo>
                <a:cubicBezTo>
                  <a:pt x="7932" y="607"/>
                  <a:pt x="7922" y="609"/>
                  <a:pt x="7912" y="609"/>
                </a:cubicBezTo>
                <a:lnTo>
                  <a:pt x="79" y="609"/>
                </a:lnTo>
                <a:cubicBezTo>
                  <a:pt x="68" y="609"/>
                  <a:pt x="58" y="607"/>
                  <a:pt x="49" y="603"/>
                </a:cubicBezTo>
                <a:cubicBezTo>
                  <a:pt x="39" y="599"/>
                  <a:pt x="30" y="593"/>
                  <a:pt x="23" y="586"/>
                </a:cubicBezTo>
                <a:cubicBezTo>
                  <a:pt x="15" y="579"/>
                  <a:pt x="10" y="570"/>
                  <a:pt x="6" y="560"/>
                </a:cubicBezTo>
                <a:cubicBezTo>
                  <a:pt x="2" y="551"/>
                  <a:pt x="0" y="540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17" name=""/>
          <p:cNvSpPr txBox="1"/>
          <p:nvPr/>
        </p:nvSpPr>
        <p:spPr>
          <a:xfrm>
            <a:off x="685800" y="1325880"/>
            <a:ext cx="34020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mini-ensayo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 1–2 páginas en PDF (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8" name=""/>
          <p:cNvSpPr txBox="1"/>
          <p:nvPr/>
        </p:nvSpPr>
        <p:spPr>
          <a:xfrm>
            <a:off x="4151160" y="1328040"/>
            <a:ext cx="277524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cp3_&lt;apellido&gt;_&lt;nombre&gt;.pdf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9" name=""/>
          <p:cNvSpPr txBox="1"/>
          <p:nvPr/>
        </p:nvSpPr>
        <p:spPr>
          <a:xfrm>
            <a:off x="6972120" y="1325880"/>
            <a:ext cx="4232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), 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Moodle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(sección "CP3 — VLM"), en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48 h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Usa la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0" name=""/>
          <p:cNvSpPr/>
          <p:nvPr/>
        </p:nvSpPr>
        <p:spPr>
          <a:xfrm>
            <a:off x="1409400" y="1599840"/>
            <a:ext cx="3086640" cy="219600"/>
          </a:xfrm>
          <a:custGeom>
            <a:avLst/>
            <a:gdLst/>
            <a:ahLst/>
            <a:rect l="0" t="0" r="r" b="b"/>
            <a:pathLst>
              <a:path w="8574" h="610">
                <a:moveTo>
                  <a:pt x="0" y="531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lnTo>
                  <a:pt x="8494" y="0"/>
                </a:lnTo>
                <a:cubicBezTo>
                  <a:pt x="8505" y="0"/>
                  <a:pt x="8515" y="3"/>
                  <a:pt x="8525" y="7"/>
                </a:cubicBezTo>
                <a:cubicBezTo>
                  <a:pt x="8535" y="11"/>
                  <a:pt x="8543" y="16"/>
                  <a:pt x="8551" y="24"/>
                </a:cubicBezTo>
                <a:cubicBezTo>
                  <a:pt x="8558" y="31"/>
                  <a:pt x="8564" y="40"/>
                  <a:pt x="8568" y="49"/>
                </a:cubicBezTo>
                <a:cubicBezTo>
                  <a:pt x="8572" y="59"/>
                  <a:pt x="8574" y="69"/>
                  <a:pt x="8574" y="80"/>
                </a:cubicBezTo>
                <a:lnTo>
                  <a:pt x="8574" y="531"/>
                </a:lnTo>
                <a:cubicBezTo>
                  <a:pt x="8574" y="541"/>
                  <a:pt x="8572" y="551"/>
                  <a:pt x="8568" y="561"/>
                </a:cubicBezTo>
                <a:cubicBezTo>
                  <a:pt x="8564" y="571"/>
                  <a:pt x="8558" y="579"/>
                  <a:pt x="8551" y="587"/>
                </a:cubicBezTo>
                <a:cubicBezTo>
                  <a:pt x="8543" y="594"/>
                  <a:pt x="8535" y="600"/>
                  <a:pt x="8525" y="604"/>
                </a:cubicBezTo>
                <a:cubicBezTo>
                  <a:pt x="8515" y="608"/>
                  <a:pt x="8505" y="610"/>
                  <a:pt x="8494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1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1" name=""/>
          <p:cNvSpPr txBox="1"/>
          <p:nvPr/>
        </p:nvSpPr>
        <p:spPr>
          <a:xfrm>
            <a:off x="685800" y="1611720"/>
            <a:ext cx="725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plantilla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2" name=""/>
          <p:cNvSpPr txBox="1"/>
          <p:nvPr/>
        </p:nvSpPr>
        <p:spPr>
          <a:xfrm>
            <a:off x="1468800" y="1613880"/>
            <a:ext cx="298080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1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plantilla-respuestas-cp3.docx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3" name=""/>
          <p:cNvSpPr/>
          <p:nvPr/>
        </p:nvSpPr>
        <p:spPr>
          <a:xfrm>
            <a:off x="5295600" y="1599840"/>
            <a:ext cx="1238760" cy="219600"/>
          </a:xfrm>
          <a:custGeom>
            <a:avLst/>
            <a:gdLst/>
            <a:ahLst/>
            <a:rect l="0" t="0" r="r" b="b"/>
            <a:pathLst>
              <a:path w="3441" h="610">
                <a:moveTo>
                  <a:pt x="0" y="531"/>
                </a:moveTo>
                <a:lnTo>
                  <a:pt x="0" y="80"/>
                </a:lnTo>
                <a:cubicBezTo>
                  <a:pt x="0" y="69"/>
                  <a:pt x="2" y="59"/>
                  <a:pt x="6" y="49"/>
                </a:cubicBezTo>
                <a:cubicBezTo>
                  <a:pt x="10" y="40"/>
                  <a:pt x="16" y="31"/>
                  <a:pt x="24" y="24"/>
                </a:cubicBezTo>
                <a:cubicBezTo>
                  <a:pt x="31" y="16"/>
                  <a:pt x="40" y="11"/>
                  <a:pt x="49" y="7"/>
                </a:cubicBezTo>
                <a:cubicBezTo>
                  <a:pt x="59" y="3"/>
                  <a:pt x="69" y="0"/>
                  <a:pt x="80" y="0"/>
                </a:cubicBezTo>
                <a:lnTo>
                  <a:pt x="3362" y="0"/>
                </a:lnTo>
                <a:cubicBezTo>
                  <a:pt x="3372" y="0"/>
                  <a:pt x="3382" y="3"/>
                  <a:pt x="3392" y="7"/>
                </a:cubicBezTo>
                <a:cubicBezTo>
                  <a:pt x="3402" y="11"/>
                  <a:pt x="3410" y="16"/>
                  <a:pt x="3418" y="24"/>
                </a:cubicBezTo>
                <a:cubicBezTo>
                  <a:pt x="3425" y="31"/>
                  <a:pt x="3431" y="40"/>
                  <a:pt x="3435" y="49"/>
                </a:cubicBezTo>
                <a:cubicBezTo>
                  <a:pt x="3439" y="59"/>
                  <a:pt x="3441" y="69"/>
                  <a:pt x="3441" y="80"/>
                </a:cubicBezTo>
                <a:lnTo>
                  <a:pt x="3441" y="531"/>
                </a:lnTo>
                <a:cubicBezTo>
                  <a:pt x="3441" y="541"/>
                  <a:pt x="3439" y="551"/>
                  <a:pt x="3435" y="561"/>
                </a:cubicBezTo>
                <a:cubicBezTo>
                  <a:pt x="3431" y="571"/>
                  <a:pt x="3425" y="579"/>
                  <a:pt x="3418" y="587"/>
                </a:cubicBezTo>
                <a:cubicBezTo>
                  <a:pt x="3410" y="594"/>
                  <a:pt x="3402" y="600"/>
                  <a:pt x="3392" y="604"/>
                </a:cubicBezTo>
                <a:cubicBezTo>
                  <a:pt x="3382" y="608"/>
                  <a:pt x="3372" y="610"/>
                  <a:pt x="3362" y="610"/>
                </a:cubicBezTo>
                <a:lnTo>
                  <a:pt x="80" y="610"/>
                </a:lnTo>
                <a:cubicBezTo>
                  <a:pt x="69" y="610"/>
                  <a:pt x="59" y="608"/>
                  <a:pt x="49" y="604"/>
                </a:cubicBezTo>
                <a:cubicBezTo>
                  <a:pt x="40" y="600"/>
                  <a:pt x="31" y="594"/>
                  <a:pt x="24" y="587"/>
                </a:cubicBezTo>
                <a:cubicBezTo>
                  <a:pt x="16" y="579"/>
                  <a:pt x="10" y="571"/>
                  <a:pt x="6" y="561"/>
                </a:cubicBezTo>
                <a:cubicBezTo>
                  <a:pt x="2" y="551"/>
                  <a:pt x="0" y="541"/>
                  <a:pt x="0" y="531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24" name=""/>
          <p:cNvSpPr txBox="1"/>
          <p:nvPr/>
        </p:nvSpPr>
        <p:spPr>
          <a:xfrm>
            <a:off x="4494240" y="1611720"/>
            <a:ext cx="8031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(carpeta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5" name=""/>
          <p:cNvSpPr txBox="1"/>
          <p:nvPr/>
        </p:nvSpPr>
        <p:spPr>
          <a:xfrm>
            <a:off x="5355360" y="1613880"/>
            <a:ext cx="11311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entregable/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6" name=""/>
          <p:cNvSpPr txBox="1"/>
          <p:nvPr/>
        </p:nvSpPr>
        <p:spPr>
          <a:xfrm>
            <a:off x="6538320" y="16117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7" name=""/>
          <p:cNvSpPr txBox="1"/>
          <p:nvPr/>
        </p:nvSpPr>
        <p:spPr>
          <a:xfrm>
            <a:off x="685800" y="2049840"/>
            <a:ext cx="4214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Responde a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 preguntas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apoyándote en tus datos: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8" name=""/>
          <p:cNvSpPr txBox="1"/>
          <p:nvPr/>
        </p:nvSpPr>
        <p:spPr>
          <a:xfrm>
            <a:off x="860400" y="2535480"/>
            <a:ext cx="786636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1.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Caracterización empírica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calidad por categoría, latencia y consistencia, con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tus números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9" name=""/>
          <p:cNvSpPr txBox="1"/>
          <p:nvPr/>
        </p:nvSpPr>
        <p:spPr>
          <a:xfrm>
            <a:off x="860760" y="2878560"/>
            <a:ext cx="8007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2.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Cuándo SÍ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usar un VLM en conducción — 3 casos (auto-etiquetado, explicación al conductor…).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0" name=""/>
          <p:cNvSpPr txBox="1"/>
          <p:nvPr/>
        </p:nvSpPr>
        <p:spPr>
          <a:xfrm>
            <a:off x="860760" y="3221280"/>
            <a:ext cx="67471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3.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Cuándo NO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3 casos (control en tiempo real…), con la alternativa que usarías.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1" name=""/>
          <p:cNvSpPr txBox="1"/>
          <p:nvPr/>
        </p:nvSpPr>
        <p:spPr>
          <a:xfrm>
            <a:off x="860760" y="3554640"/>
            <a:ext cx="10000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4.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Local vs Frontier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¿Moondream2 local o un modelo de API (Claude/GPT)? Argumenta sobre ≥3 ejes (coste, latencia,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2" name=""/>
          <p:cNvSpPr txBox="1"/>
          <p:nvPr/>
        </p:nvSpPr>
        <p:spPr>
          <a:xfrm>
            <a:off x="1072440" y="3849840"/>
            <a:ext cx="21794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calidad, privacidad, offline).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3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4" name=""/>
          <p:cNvSpPr txBox="1"/>
          <p:nvPr/>
        </p:nvSpPr>
        <p:spPr>
          <a:xfrm>
            <a:off x="860760" y="4192920"/>
            <a:ext cx="1035504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5.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 pregunta de cierre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— en 2028, ¿estarán los VLMs dentro del control en tiempo real de un coche? Defiende tu postura.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5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6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37" name=""/>
          <p:cNvSpPr txBox="1"/>
          <p:nvPr/>
        </p:nvSpPr>
        <p:spPr>
          <a:xfrm>
            <a:off x="685800" y="632520"/>
            <a:ext cx="133812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Qué se entrega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8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9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0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1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2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3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4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645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6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20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0" name=""/>
          <p:cNvSpPr/>
          <p:nvPr/>
        </p:nvSpPr>
        <p:spPr>
          <a:xfrm>
            <a:off x="695160" y="1371240"/>
            <a:ext cx="1276560" cy="362520"/>
          </a:xfrm>
          <a:custGeom>
            <a:avLst/>
            <a:gdLst/>
            <a:ahLst/>
            <a:rect l="0" t="0" r="r" b="b"/>
            <a:pathLst>
              <a:path w="3546" h="1007">
                <a:moveTo>
                  <a:pt x="0" y="0"/>
                </a:moveTo>
                <a:lnTo>
                  <a:pt x="3546" y="0"/>
                </a:lnTo>
                <a:lnTo>
                  <a:pt x="354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1" name=""/>
          <p:cNvSpPr/>
          <p:nvPr/>
        </p:nvSpPr>
        <p:spPr>
          <a:xfrm>
            <a:off x="1971360" y="1371240"/>
            <a:ext cx="4810680" cy="362520"/>
          </a:xfrm>
          <a:custGeom>
            <a:avLst/>
            <a:gdLst/>
            <a:ahLst/>
            <a:rect l="0" t="0" r="r" b="b"/>
            <a:pathLst>
              <a:path w="13363" h="1007">
                <a:moveTo>
                  <a:pt x="0" y="0"/>
                </a:moveTo>
                <a:lnTo>
                  <a:pt x="13363" y="0"/>
                </a:lnTo>
                <a:lnTo>
                  <a:pt x="13363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2" name=""/>
          <p:cNvSpPr/>
          <p:nvPr/>
        </p:nvSpPr>
        <p:spPr>
          <a:xfrm>
            <a:off x="695160" y="1371240"/>
            <a:ext cx="1276560" cy="362520"/>
          </a:xfrm>
          <a:custGeom>
            <a:avLst/>
            <a:gdLst/>
            <a:ahLst/>
            <a:rect l="0" t="0" r="r" b="b"/>
            <a:pathLst>
              <a:path w="3546" h="1007">
                <a:moveTo>
                  <a:pt x="0" y="0"/>
                </a:moveTo>
                <a:lnTo>
                  <a:pt x="3546" y="0"/>
                </a:lnTo>
                <a:lnTo>
                  <a:pt x="3546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3" name=""/>
          <p:cNvSpPr/>
          <p:nvPr/>
        </p:nvSpPr>
        <p:spPr>
          <a:xfrm>
            <a:off x="1971360" y="1371240"/>
            <a:ext cx="4810680" cy="362520"/>
          </a:xfrm>
          <a:custGeom>
            <a:avLst/>
            <a:gdLst/>
            <a:ahLst/>
            <a:rect l="0" t="0" r="r" b="b"/>
            <a:pathLst>
              <a:path w="13363" h="1007">
                <a:moveTo>
                  <a:pt x="0" y="0"/>
                </a:moveTo>
                <a:lnTo>
                  <a:pt x="13363" y="0"/>
                </a:lnTo>
                <a:lnTo>
                  <a:pt x="13363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54" name=""/>
          <p:cNvSpPr/>
          <p:nvPr/>
        </p:nvSpPr>
        <p:spPr>
          <a:xfrm>
            <a:off x="695160" y="1733400"/>
            <a:ext cx="1276560" cy="371880"/>
          </a:xfrm>
          <a:custGeom>
            <a:avLst/>
            <a:gdLst/>
            <a:ahLst/>
            <a:rect l="0" t="0" r="r" b="b"/>
            <a:pathLst>
              <a:path w="3546" h="1033">
                <a:moveTo>
                  <a:pt x="0" y="0"/>
                </a:moveTo>
                <a:lnTo>
                  <a:pt x="3546" y="0"/>
                </a:lnTo>
                <a:lnTo>
                  <a:pt x="354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5" name=""/>
          <p:cNvSpPr/>
          <p:nvPr/>
        </p:nvSpPr>
        <p:spPr>
          <a:xfrm>
            <a:off x="1971360" y="1733400"/>
            <a:ext cx="4810680" cy="371880"/>
          </a:xfrm>
          <a:custGeom>
            <a:avLst/>
            <a:gdLst/>
            <a:ahLst/>
            <a:rect l="0" t="0" r="r" b="b"/>
            <a:pathLst>
              <a:path w="13363" h="1033">
                <a:moveTo>
                  <a:pt x="0" y="0"/>
                </a:moveTo>
                <a:lnTo>
                  <a:pt x="13363" y="0"/>
                </a:lnTo>
                <a:lnTo>
                  <a:pt x="1336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6" name=""/>
          <p:cNvSpPr/>
          <p:nvPr/>
        </p:nvSpPr>
        <p:spPr>
          <a:xfrm>
            <a:off x="695160" y="2104920"/>
            <a:ext cx="1276560" cy="362160"/>
          </a:xfrm>
          <a:custGeom>
            <a:avLst/>
            <a:gdLst/>
            <a:ahLst/>
            <a:rect l="0" t="0" r="r" b="b"/>
            <a:pathLst>
              <a:path w="3546" h="1006">
                <a:moveTo>
                  <a:pt x="0" y="0"/>
                </a:moveTo>
                <a:lnTo>
                  <a:pt x="3546" y="0"/>
                </a:lnTo>
                <a:lnTo>
                  <a:pt x="354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7" name=""/>
          <p:cNvSpPr/>
          <p:nvPr/>
        </p:nvSpPr>
        <p:spPr>
          <a:xfrm>
            <a:off x="1971360" y="2104920"/>
            <a:ext cx="4810680" cy="362160"/>
          </a:xfrm>
          <a:custGeom>
            <a:avLst/>
            <a:gdLst/>
            <a:ahLst/>
            <a:rect l="0" t="0" r="r" b="b"/>
            <a:pathLst>
              <a:path w="13363" h="1006">
                <a:moveTo>
                  <a:pt x="0" y="0"/>
                </a:moveTo>
                <a:lnTo>
                  <a:pt x="13363" y="0"/>
                </a:lnTo>
                <a:lnTo>
                  <a:pt x="13363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8" name=""/>
          <p:cNvSpPr/>
          <p:nvPr/>
        </p:nvSpPr>
        <p:spPr>
          <a:xfrm>
            <a:off x="695160" y="2466720"/>
            <a:ext cx="1276560" cy="371880"/>
          </a:xfrm>
          <a:custGeom>
            <a:avLst/>
            <a:gdLst/>
            <a:ahLst/>
            <a:rect l="0" t="0" r="r" b="b"/>
            <a:pathLst>
              <a:path w="3546" h="1033">
                <a:moveTo>
                  <a:pt x="0" y="0"/>
                </a:moveTo>
                <a:lnTo>
                  <a:pt x="3546" y="0"/>
                </a:lnTo>
                <a:lnTo>
                  <a:pt x="3546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9" name=""/>
          <p:cNvSpPr/>
          <p:nvPr/>
        </p:nvSpPr>
        <p:spPr>
          <a:xfrm>
            <a:off x="1971360" y="2466720"/>
            <a:ext cx="4810680" cy="371880"/>
          </a:xfrm>
          <a:custGeom>
            <a:avLst/>
            <a:gdLst/>
            <a:ahLst/>
            <a:rect l="0" t="0" r="r" b="b"/>
            <a:pathLst>
              <a:path w="13363" h="1033">
                <a:moveTo>
                  <a:pt x="0" y="0"/>
                </a:moveTo>
                <a:lnTo>
                  <a:pt x="13363" y="0"/>
                </a:lnTo>
                <a:lnTo>
                  <a:pt x="13363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0" name=""/>
          <p:cNvSpPr/>
          <p:nvPr/>
        </p:nvSpPr>
        <p:spPr>
          <a:xfrm>
            <a:off x="695160" y="2838240"/>
            <a:ext cx="1276560" cy="362160"/>
          </a:xfrm>
          <a:custGeom>
            <a:avLst/>
            <a:gdLst/>
            <a:ahLst/>
            <a:rect l="0" t="0" r="r" b="b"/>
            <a:pathLst>
              <a:path w="3546" h="1006">
                <a:moveTo>
                  <a:pt x="0" y="0"/>
                </a:moveTo>
                <a:lnTo>
                  <a:pt x="3546" y="0"/>
                </a:lnTo>
                <a:lnTo>
                  <a:pt x="3546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1" name=""/>
          <p:cNvSpPr/>
          <p:nvPr/>
        </p:nvSpPr>
        <p:spPr>
          <a:xfrm>
            <a:off x="1971360" y="2838240"/>
            <a:ext cx="4810680" cy="362160"/>
          </a:xfrm>
          <a:custGeom>
            <a:avLst/>
            <a:gdLst/>
            <a:ahLst/>
            <a:rect l="0" t="0" r="r" b="b"/>
            <a:pathLst>
              <a:path w="13363" h="1006">
                <a:moveTo>
                  <a:pt x="0" y="0"/>
                </a:moveTo>
                <a:lnTo>
                  <a:pt x="13363" y="0"/>
                </a:lnTo>
                <a:lnTo>
                  <a:pt x="13363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F6F8FA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2" name=""/>
          <p:cNvSpPr/>
          <p:nvPr/>
        </p:nvSpPr>
        <p:spPr>
          <a:xfrm>
            <a:off x="685440" y="1361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3" name=""/>
          <p:cNvSpPr/>
          <p:nvPr/>
        </p:nvSpPr>
        <p:spPr>
          <a:xfrm>
            <a:off x="685440" y="1361880"/>
            <a:ext cx="1296000" cy="9720"/>
          </a:xfrm>
          <a:custGeom>
            <a:avLst/>
            <a:gdLst/>
            <a:ah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4" name=""/>
          <p:cNvSpPr/>
          <p:nvPr/>
        </p:nvSpPr>
        <p:spPr>
          <a:xfrm>
            <a:off x="1971360" y="1361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5" name=""/>
          <p:cNvSpPr/>
          <p:nvPr/>
        </p:nvSpPr>
        <p:spPr>
          <a:xfrm>
            <a:off x="1981080" y="1361880"/>
            <a:ext cx="4800960" cy="9720"/>
          </a:xfrm>
          <a:custGeom>
            <a:avLst/>
            <a:gdLst/>
            <a:ahLst/>
            <a:rect l="0" t="0" r="r" b="b"/>
            <a:pathLst>
              <a:path w="13336" h="27">
                <a:moveTo>
                  <a:pt x="0" y="0"/>
                </a:moveTo>
                <a:lnTo>
                  <a:pt x="13336" y="0"/>
                </a:lnTo>
                <a:lnTo>
                  <a:pt x="133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6" name=""/>
          <p:cNvSpPr/>
          <p:nvPr/>
        </p:nvSpPr>
        <p:spPr>
          <a:xfrm>
            <a:off x="6771960" y="1361880"/>
            <a:ext cx="10080" cy="381240"/>
          </a:xfrm>
          <a:custGeom>
            <a:avLst/>
            <a:gdLst/>
            <a:ahLst/>
            <a:rect l="0" t="0" r="r" b="b"/>
            <a:pathLst>
              <a:path w="28" h="1059">
                <a:moveTo>
                  <a:pt x="0" y="0"/>
                </a:moveTo>
                <a:lnTo>
                  <a:pt x="28" y="0"/>
                </a:lnTo>
                <a:lnTo>
                  <a:pt x="2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7" name=""/>
          <p:cNvSpPr/>
          <p:nvPr/>
        </p:nvSpPr>
        <p:spPr>
          <a:xfrm>
            <a:off x="685440" y="1733400"/>
            <a:ext cx="1296000" cy="9720"/>
          </a:xfrm>
          <a:custGeom>
            <a:avLst/>
            <a:gdLst/>
            <a:ah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8" name=""/>
          <p:cNvSpPr/>
          <p:nvPr/>
        </p:nvSpPr>
        <p:spPr>
          <a:xfrm>
            <a:off x="1981080" y="1733400"/>
            <a:ext cx="4800960" cy="9720"/>
          </a:xfrm>
          <a:custGeom>
            <a:avLst/>
            <a:gdLst/>
            <a:ahLst/>
            <a:rect l="0" t="0" r="r" b="b"/>
            <a:pathLst>
              <a:path w="13336" h="27">
                <a:moveTo>
                  <a:pt x="0" y="0"/>
                </a:moveTo>
                <a:lnTo>
                  <a:pt x="13336" y="0"/>
                </a:lnTo>
                <a:lnTo>
                  <a:pt x="133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9" name=""/>
          <p:cNvSpPr/>
          <p:nvPr/>
        </p:nvSpPr>
        <p:spPr>
          <a:xfrm>
            <a:off x="685440" y="174276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0" name=""/>
          <p:cNvSpPr/>
          <p:nvPr/>
        </p:nvSpPr>
        <p:spPr>
          <a:xfrm>
            <a:off x="1971360" y="174276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1" name=""/>
          <p:cNvSpPr/>
          <p:nvPr/>
        </p:nvSpPr>
        <p:spPr>
          <a:xfrm>
            <a:off x="6771960" y="1742760"/>
            <a:ext cx="10080" cy="362520"/>
          </a:xfrm>
          <a:custGeom>
            <a:avLst/>
            <a:gdLst/>
            <a:ahLst/>
            <a:rect l="0" t="0" r="r" b="b"/>
            <a:pathLst>
              <a:path w="28" h="1007">
                <a:moveTo>
                  <a:pt x="0" y="0"/>
                </a:moveTo>
                <a:lnTo>
                  <a:pt x="28" y="0"/>
                </a:lnTo>
                <a:lnTo>
                  <a:pt x="28" y="1007"/>
                </a:lnTo>
                <a:lnTo>
                  <a:pt x="0" y="100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2" name=""/>
          <p:cNvSpPr/>
          <p:nvPr/>
        </p:nvSpPr>
        <p:spPr>
          <a:xfrm>
            <a:off x="685440" y="21049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3" name=""/>
          <p:cNvSpPr/>
          <p:nvPr/>
        </p:nvSpPr>
        <p:spPr>
          <a:xfrm>
            <a:off x="685440" y="2095200"/>
            <a:ext cx="1296000" cy="10080"/>
          </a:xfrm>
          <a:custGeom>
            <a:avLst/>
            <a:gdLst/>
            <a:ah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4" name=""/>
          <p:cNvSpPr/>
          <p:nvPr/>
        </p:nvSpPr>
        <p:spPr>
          <a:xfrm>
            <a:off x="1971360" y="21049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5" name=""/>
          <p:cNvSpPr/>
          <p:nvPr/>
        </p:nvSpPr>
        <p:spPr>
          <a:xfrm>
            <a:off x="1981080" y="2095200"/>
            <a:ext cx="4800960" cy="10080"/>
          </a:xfrm>
          <a:custGeom>
            <a:avLst/>
            <a:gdLst/>
            <a:ahLst/>
            <a:rect l="0" t="0" r="r" b="b"/>
            <a:pathLst>
              <a:path w="13336" h="28">
                <a:moveTo>
                  <a:pt x="0" y="0"/>
                </a:moveTo>
                <a:lnTo>
                  <a:pt x="13336" y="0"/>
                </a:lnTo>
                <a:lnTo>
                  <a:pt x="133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6" name=""/>
          <p:cNvSpPr/>
          <p:nvPr/>
        </p:nvSpPr>
        <p:spPr>
          <a:xfrm>
            <a:off x="6771960" y="210492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7" name=""/>
          <p:cNvSpPr/>
          <p:nvPr/>
        </p:nvSpPr>
        <p:spPr>
          <a:xfrm>
            <a:off x="685440" y="247644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8" name=""/>
          <p:cNvSpPr/>
          <p:nvPr/>
        </p:nvSpPr>
        <p:spPr>
          <a:xfrm>
            <a:off x="685440" y="2466720"/>
            <a:ext cx="1296000" cy="10080"/>
          </a:xfrm>
          <a:custGeom>
            <a:avLst/>
            <a:gdLst/>
            <a:ah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9" name=""/>
          <p:cNvSpPr/>
          <p:nvPr/>
        </p:nvSpPr>
        <p:spPr>
          <a:xfrm>
            <a:off x="1971360" y="247644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0" name=""/>
          <p:cNvSpPr/>
          <p:nvPr/>
        </p:nvSpPr>
        <p:spPr>
          <a:xfrm>
            <a:off x="1981080" y="2466720"/>
            <a:ext cx="4800960" cy="10080"/>
          </a:xfrm>
          <a:custGeom>
            <a:avLst/>
            <a:gdLst/>
            <a:ahLst/>
            <a:rect l="0" t="0" r="r" b="b"/>
            <a:pathLst>
              <a:path w="13336" h="28">
                <a:moveTo>
                  <a:pt x="0" y="0"/>
                </a:moveTo>
                <a:lnTo>
                  <a:pt x="13336" y="0"/>
                </a:lnTo>
                <a:lnTo>
                  <a:pt x="133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1" name=""/>
          <p:cNvSpPr/>
          <p:nvPr/>
        </p:nvSpPr>
        <p:spPr>
          <a:xfrm>
            <a:off x="6771960" y="2476440"/>
            <a:ext cx="10080" cy="362160"/>
          </a:xfrm>
          <a:custGeom>
            <a:avLst/>
            <a:gdLst/>
            <a:ahLst/>
            <a:rect l="0" t="0" r="r" b="b"/>
            <a:pathLst>
              <a:path w="28" h="1006">
                <a:moveTo>
                  <a:pt x="0" y="0"/>
                </a:moveTo>
                <a:lnTo>
                  <a:pt x="28" y="0"/>
                </a:lnTo>
                <a:lnTo>
                  <a:pt x="28" y="1006"/>
                </a:lnTo>
                <a:lnTo>
                  <a:pt x="0" y="1006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2" name=""/>
          <p:cNvSpPr/>
          <p:nvPr/>
        </p:nvSpPr>
        <p:spPr>
          <a:xfrm>
            <a:off x="685440" y="28382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3" name=""/>
          <p:cNvSpPr/>
          <p:nvPr/>
        </p:nvSpPr>
        <p:spPr>
          <a:xfrm>
            <a:off x="685440" y="2828880"/>
            <a:ext cx="1296000" cy="9720"/>
          </a:xfrm>
          <a:custGeom>
            <a:avLst/>
            <a:gdLst/>
            <a:ahLst/>
            <a:rect l="0" t="0" r="r" b="b"/>
            <a:pathLst>
              <a:path w="3600" h="27">
                <a:moveTo>
                  <a:pt x="0" y="0"/>
                </a:moveTo>
                <a:lnTo>
                  <a:pt x="3600" y="0"/>
                </a:lnTo>
                <a:lnTo>
                  <a:pt x="3600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4" name=""/>
          <p:cNvSpPr/>
          <p:nvPr/>
        </p:nvSpPr>
        <p:spPr>
          <a:xfrm>
            <a:off x="1971360" y="28382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5" name=""/>
          <p:cNvSpPr/>
          <p:nvPr/>
        </p:nvSpPr>
        <p:spPr>
          <a:xfrm>
            <a:off x="1981080" y="2828880"/>
            <a:ext cx="4800960" cy="9720"/>
          </a:xfrm>
          <a:custGeom>
            <a:avLst/>
            <a:gdLst/>
            <a:ahLst/>
            <a:rect l="0" t="0" r="r" b="b"/>
            <a:pathLst>
              <a:path w="13336" h="27">
                <a:moveTo>
                  <a:pt x="0" y="0"/>
                </a:moveTo>
                <a:lnTo>
                  <a:pt x="13336" y="0"/>
                </a:lnTo>
                <a:lnTo>
                  <a:pt x="13336" y="27"/>
                </a:lnTo>
                <a:lnTo>
                  <a:pt x="0" y="27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6" name=""/>
          <p:cNvSpPr/>
          <p:nvPr/>
        </p:nvSpPr>
        <p:spPr>
          <a:xfrm>
            <a:off x="6771960" y="2838240"/>
            <a:ext cx="10080" cy="371880"/>
          </a:xfrm>
          <a:custGeom>
            <a:avLst/>
            <a:gdLst/>
            <a:ahLst/>
            <a:rect l="0" t="0" r="r" b="b"/>
            <a:pathLst>
              <a:path w="28" h="1033">
                <a:moveTo>
                  <a:pt x="0" y="0"/>
                </a:moveTo>
                <a:lnTo>
                  <a:pt x="28" y="0"/>
                </a:lnTo>
                <a:lnTo>
                  <a:pt x="28" y="1033"/>
                </a:lnTo>
                <a:lnTo>
                  <a:pt x="0" y="1033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7" name=""/>
          <p:cNvSpPr/>
          <p:nvPr/>
        </p:nvSpPr>
        <p:spPr>
          <a:xfrm>
            <a:off x="685440" y="3200040"/>
            <a:ext cx="1296000" cy="10080"/>
          </a:xfrm>
          <a:custGeom>
            <a:avLst/>
            <a:gdLst/>
            <a:ahLst/>
            <a:rect l="0" t="0" r="r" b="b"/>
            <a:pathLst>
              <a:path w="3600" h="28">
                <a:moveTo>
                  <a:pt x="0" y="0"/>
                </a:moveTo>
                <a:lnTo>
                  <a:pt x="3600" y="0"/>
                </a:lnTo>
                <a:lnTo>
                  <a:pt x="3600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8" name=""/>
          <p:cNvSpPr/>
          <p:nvPr/>
        </p:nvSpPr>
        <p:spPr>
          <a:xfrm>
            <a:off x="1981080" y="3200040"/>
            <a:ext cx="4800960" cy="10080"/>
          </a:xfrm>
          <a:custGeom>
            <a:avLst/>
            <a:gdLst/>
            <a:ahLst/>
            <a:rect l="0" t="0" r="r" b="b"/>
            <a:pathLst>
              <a:path w="13336" h="28">
                <a:moveTo>
                  <a:pt x="0" y="0"/>
                </a:moveTo>
                <a:lnTo>
                  <a:pt x="13336" y="0"/>
                </a:lnTo>
                <a:lnTo>
                  <a:pt x="13336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1D9E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9" name=""/>
          <p:cNvSpPr txBox="1"/>
          <p:nvPr/>
        </p:nvSpPr>
        <p:spPr>
          <a:xfrm>
            <a:off x="819000" y="1470600"/>
            <a:ext cx="646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Se valora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0" name=""/>
          <p:cNvSpPr txBox="1"/>
          <p:nvPr/>
        </p:nvSpPr>
        <p:spPr>
          <a:xfrm>
            <a:off x="2102760" y="1470600"/>
            <a:ext cx="109440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En qué consiste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1" name=""/>
          <p:cNvSpPr txBox="1"/>
          <p:nvPr/>
        </p:nvSpPr>
        <p:spPr>
          <a:xfrm>
            <a:off x="819000" y="1842120"/>
            <a:ext cx="6544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Ejecución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2" name=""/>
          <p:cNvSpPr txBox="1"/>
          <p:nvPr/>
        </p:nvSpPr>
        <p:spPr>
          <a:xfrm>
            <a:off x="2102760" y="1842120"/>
            <a:ext cx="31964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Los 5 notebooks corren + mejoras tus prompts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3" name=""/>
          <p:cNvSpPr txBox="1"/>
          <p:nvPr/>
        </p:nvSpPr>
        <p:spPr>
          <a:xfrm>
            <a:off x="819000" y="2203920"/>
            <a:ext cx="92304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Comprensión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4" name=""/>
          <p:cNvSpPr txBox="1"/>
          <p:nvPr/>
        </p:nvSpPr>
        <p:spPr>
          <a:xfrm>
            <a:off x="2102760" y="2203920"/>
            <a:ext cx="41547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Ves el patrón "acierta lo típico, falla lo raro" </a:t>
            </a:r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y razonas por qué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5" name=""/>
          <p:cNvSpPr txBox="1"/>
          <p:nvPr/>
        </p:nvSpPr>
        <p:spPr>
          <a:xfrm>
            <a:off x="819000" y="2575440"/>
            <a:ext cx="102456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Análisis crítico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6" name=""/>
          <p:cNvSpPr txBox="1"/>
          <p:nvPr/>
        </p:nvSpPr>
        <p:spPr>
          <a:xfrm>
            <a:off x="2102760" y="2575440"/>
            <a:ext cx="453708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Catalogas tipos de fallo + mitigación concreta + dónde sí/no encaja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7" name=""/>
          <p:cNvSpPr txBox="1"/>
          <p:nvPr/>
        </p:nvSpPr>
        <p:spPr>
          <a:xfrm>
            <a:off x="819000" y="2937600"/>
            <a:ext cx="9709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Comunicación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8" name=""/>
          <p:cNvSpPr/>
          <p:nvPr/>
        </p:nvSpPr>
        <p:spPr>
          <a:xfrm>
            <a:off x="685440" y="3504960"/>
            <a:ext cx="10820880" cy="724320"/>
          </a:xfrm>
          <a:custGeom>
            <a:avLst/>
            <a:gdLst/>
            <a:ahLst/>
            <a:rect l="0" t="0" r="r" b="b"/>
            <a:pathLst>
              <a:path w="30058" h="2012">
                <a:moveTo>
                  <a:pt x="0" y="0"/>
                </a:moveTo>
                <a:lnTo>
                  <a:pt x="30058" y="0"/>
                </a:lnTo>
                <a:lnTo>
                  <a:pt x="30058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DA4544">
              <a:alpha val="4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699" name=""/>
          <p:cNvSpPr/>
          <p:nvPr/>
        </p:nvSpPr>
        <p:spPr>
          <a:xfrm>
            <a:off x="685440" y="3504960"/>
            <a:ext cx="29160" cy="724320"/>
          </a:xfrm>
          <a:custGeom>
            <a:avLst/>
            <a:gdLst/>
            <a:ahLst/>
            <a:rect l="0" t="0" r="r" b="b"/>
            <a:pathLst>
              <a:path w="81" h="2012">
                <a:moveTo>
                  <a:pt x="0" y="0"/>
                </a:moveTo>
                <a:lnTo>
                  <a:pt x="81" y="0"/>
                </a:lnTo>
                <a:lnTo>
                  <a:pt x="81" y="2012"/>
                </a:lnTo>
                <a:lnTo>
                  <a:pt x="0" y="201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0" name=""/>
          <p:cNvSpPr txBox="1"/>
          <p:nvPr/>
        </p:nvSpPr>
        <p:spPr>
          <a:xfrm>
            <a:off x="2102760" y="2937600"/>
            <a:ext cx="3075120" cy="162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Ensayo claro, con datos y ejemplos lado a lado</a:t>
            </a:r>
            <a:endParaRPr lang="en-US" sz="12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1" name=""/>
          <p:cNvSpPr txBox="1"/>
          <p:nvPr/>
        </p:nvSpPr>
        <p:spPr>
          <a:xfrm>
            <a:off x="990720" y="3611880"/>
            <a:ext cx="103813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Lo que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más sube la nota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: números medidos por ti, ejemplos concretos de alucinación, y un argumento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matizado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sobre dónde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2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3" name=""/>
          <p:cNvSpPr txBox="1"/>
          <p:nvPr/>
        </p:nvSpPr>
        <p:spPr>
          <a:xfrm>
            <a:off x="990720" y="3907080"/>
            <a:ext cx="23166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encaja (y dónde no) un VLM.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4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5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06" name=""/>
          <p:cNvSpPr txBox="1"/>
          <p:nvPr/>
        </p:nvSpPr>
        <p:spPr>
          <a:xfrm>
            <a:off x="685800" y="632520"/>
            <a:ext cx="265824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Cómo se te evalúa (16 puntos)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7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8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9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0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1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2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3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14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15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21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5F2EE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9" name=""/>
          <p:cNvSpPr/>
          <p:nvPr/>
        </p:nvSpPr>
        <p:spPr>
          <a:xfrm>
            <a:off x="904680" y="1447560"/>
            <a:ext cx="57600" cy="57600"/>
          </a:xfrm>
          <a:custGeom>
            <a:avLst/>
            <a:gdLst/>
            <a:ahLst/>
            <a:rect l="0" t="0" r="r" b="b"/>
            <a:pathLst>
              <a:path w="160" h="160">
                <a:moveTo>
                  <a:pt x="160" y="81"/>
                </a:moveTo>
                <a:cubicBezTo>
                  <a:pt x="160" y="91"/>
                  <a:pt x="158" y="101"/>
                  <a:pt x="154" y="111"/>
                </a:cubicBezTo>
                <a:cubicBezTo>
                  <a:pt x="150" y="121"/>
                  <a:pt x="144" y="129"/>
                  <a:pt x="137" y="137"/>
                </a:cubicBezTo>
                <a:cubicBezTo>
                  <a:pt x="129" y="144"/>
                  <a:pt x="121" y="150"/>
                  <a:pt x="111" y="154"/>
                </a:cubicBezTo>
                <a:cubicBezTo>
                  <a:pt x="101" y="158"/>
                  <a:pt x="90" y="160"/>
                  <a:pt x="79" y="160"/>
                </a:cubicBezTo>
                <a:cubicBezTo>
                  <a:pt x="69" y="160"/>
                  <a:pt x="59" y="158"/>
                  <a:pt x="49" y="154"/>
                </a:cubicBezTo>
                <a:cubicBezTo>
                  <a:pt x="39" y="150"/>
                  <a:pt x="31" y="144"/>
                  <a:pt x="23" y="137"/>
                </a:cubicBezTo>
                <a:cubicBezTo>
                  <a:pt x="16" y="129"/>
                  <a:pt x="10" y="121"/>
                  <a:pt x="6" y="111"/>
                </a:cubicBezTo>
                <a:cubicBezTo>
                  <a:pt x="2" y="101"/>
                  <a:pt x="0" y="91"/>
                  <a:pt x="0" y="81"/>
                </a:cubicBezTo>
                <a:cubicBezTo>
                  <a:pt x="0" y="70"/>
                  <a:pt x="2" y="60"/>
                  <a:pt x="6" y="50"/>
                </a:cubicBezTo>
                <a:cubicBezTo>
                  <a:pt x="10" y="40"/>
                  <a:pt x="16" y="32"/>
                  <a:pt x="23" y="24"/>
                </a:cubicBezTo>
                <a:cubicBezTo>
                  <a:pt x="31" y="17"/>
                  <a:pt x="39" y="11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1"/>
                  <a:pt x="129" y="17"/>
                  <a:pt x="137" y="24"/>
                </a:cubicBezTo>
                <a:cubicBezTo>
                  <a:pt x="144" y="32"/>
                  <a:pt x="150" y="40"/>
                  <a:pt x="154" y="50"/>
                </a:cubicBezTo>
                <a:cubicBezTo>
                  <a:pt x="158" y="60"/>
                  <a:pt x="160" y="70"/>
                  <a:pt x="160" y="81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0" name=""/>
          <p:cNvSpPr/>
          <p:nvPr/>
        </p:nvSpPr>
        <p:spPr>
          <a:xfrm>
            <a:off x="904680" y="179064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3" y="24"/>
                </a:cubicBezTo>
                <a:cubicBezTo>
                  <a:pt x="31" y="16"/>
                  <a:pt x="39" y="11"/>
                  <a:pt x="49" y="7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7"/>
                </a:cubicBezTo>
                <a:cubicBezTo>
                  <a:pt x="121" y="11"/>
                  <a:pt x="129" y="16"/>
                  <a:pt x="137" y="24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1" name=""/>
          <p:cNvSpPr txBox="1"/>
          <p:nvPr/>
        </p:nvSpPr>
        <p:spPr>
          <a:xfrm>
            <a:off x="1072440" y="1364040"/>
            <a:ext cx="1022652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Se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permite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el uso de herramientas de IA como apoyo, pero el análisis y las conclusiones deben ser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propios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. Copiar penaliza.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2" name=""/>
          <p:cNvSpPr/>
          <p:nvPr/>
        </p:nvSpPr>
        <p:spPr>
          <a:xfrm>
            <a:off x="904680" y="2124000"/>
            <a:ext cx="57600" cy="57240"/>
          </a:xfrm>
          <a:custGeom>
            <a:avLst/>
            <a:gdLst/>
            <a:ahLst/>
            <a:rect l="0" t="0" r="r" b="b"/>
            <a:pathLst>
              <a:path w="160" h="159">
                <a:moveTo>
                  <a:pt x="160" y="80"/>
                </a:moveTo>
                <a:cubicBezTo>
                  <a:pt x="160" y="91"/>
                  <a:pt x="158" y="101"/>
                  <a:pt x="154" y="110"/>
                </a:cubicBezTo>
                <a:cubicBezTo>
                  <a:pt x="150" y="120"/>
                  <a:pt x="144" y="129"/>
                  <a:pt x="137" y="136"/>
                </a:cubicBezTo>
                <a:cubicBezTo>
                  <a:pt x="129" y="144"/>
                  <a:pt x="121" y="149"/>
                  <a:pt x="111" y="153"/>
                </a:cubicBezTo>
                <a:cubicBezTo>
                  <a:pt x="101" y="157"/>
                  <a:pt x="90" y="159"/>
                  <a:pt x="79" y="159"/>
                </a:cubicBezTo>
                <a:cubicBezTo>
                  <a:pt x="69" y="159"/>
                  <a:pt x="59" y="157"/>
                  <a:pt x="49" y="153"/>
                </a:cubicBezTo>
                <a:cubicBezTo>
                  <a:pt x="39" y="149"/>
                  <a:pt x="31" y="144"/>
                  <a:pt x="23" y="136"/>
                </a:cubicBezTo>
                <a:cubicBezTo>
                  <a:pt x="16" y="129"/>
                  <a:pt x="10" y="120"/>
                  <a:pt x="6" y="110"/>
                </a:cubicBezTo>
                <a:cubicBezTo>
                  <a:pt x="2" y="101"/>
                  <a:pt x="0" y="91"/>
                  <a:pt x="0" y="80"/>
                </a:cubicBezTo>
                <a:cubicBezTo>
                  <a:pt x="0" y="70"/>
                  <a:pt x="2" y="59"/>
                  <a:pt x="6" y="50"/>
                </a:cubicBezTo>
                <a:cubicBezTo>
                  <a:pt x="10" y="40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cubicBezTo>
                  <a:pt x="90" y="0"/>
                  <a:pt x="101" y="2"/>
                  <a:pt x="111" y="6"/>
                </a:cubicBezTo>
                <a:cubicBezTo>
                  <a:pt x="121" y="10"/>
                  <a:pt x="129" y="16"/>
                  <a:pt x="137" y="23"/>
                </a:cubicBezTo>
                <a:cubicBezTo>
                  <a:pt x="144" y="31"/>
                  <a:pt x="150" y="40"/>
                  <a:pt x="154" y="50"/>
                </a:cubicBezTo>
                <a:cubicBezTo>
                  <a:pt x="158" y="59"/>
                  <a:pt x="160" y="70"/>
                  <a:pt x="160" y="80"/>
                </a:cubicBezTo>
                <a:close/>
              </a:path>
            </a:pathLst>
          </a:custGeom>
          <a:solidFill>
            <a:srgbClr val="1F1F1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3" name=""/>
          <p:cNvSpPr txBox="1"/>
          <p:nvPr/>
        </p:nvSpPr>
        <p:spPr>
          <a:xfrm>
            <a:off x="1072440" y="1706760"/>
            <a:ext cx="7107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Si usó una de estas herramientas,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decláralo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en una línea. No baja la nota; ocultarlo, sí.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4" name=""/>
          <p:cNvSpPr/>
          <p:nvPr/>
        </p:nvSpPr>
        <p:spPr>
          <a:xfrm>
            <a:off x="2019240" y="2028600"/>
            <a:ext cx="1238400" cy="219600"/>
          </a:xfrm>
          <a:custGeom>
            <a:avLst/>
            <a:gdLst/>
            <a:ahLst/>
            <a:rect l="0" t="0" r="r" b="b"/>
            <a:pathLst>
              <a:path w="3440" h="610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3361" y="0"/>
                </a:lnTo>
                <a:cubicBezTo>
                  <a:pt x="3371" y="0"/>
                  <a:pt x="3382" y="2"/>
                  <a:pt x="3391" y="6"/>
                </a:cubicBezTo>
                <a:cubicBezTo>
                  <a:pt x="3401" y="10"/>
                  <a:pt x="3410" y="16"/>
                  <a:pt x="3417" y="23"/>
                </a:cubicBezTo>
                <a:cubicBezTo>
                  <a:pt x="3424" y="31"/>
                  <a:pt x="3430" y="39"/>
                  <a:pt x="3434" y="49"/>
                </a:cubicBezTo>
                <a:cubicBezTo>
                  <a:pt x="3438" y="59"/>
                  <a:pt x="3440" y="69"/>
                  <a:pt x="3440" y="79"/>
                </a:cubicBezTo>
                <a:lnTo>
                  <a:pt x="3440" y="530"/>
                </a:lnTo>
                <a:cubicBezTo>
                  <a:pt x="3440" y="541"/>
                  <a:pt x="3438" y="551"/>
                  <a:pt x="3434" y="561"/>
                </a:cubicBezTo>
                <a:cubicBezTo>
                  <a:pt x="3430" y="570"/>
                  <a:pt x="3424" y="579"/>
                  <a:pt x="3417" y="586"/>
                </a:cubicBezTo>
                <a:cubicBezTo>
                  <a:pt x="3410" y="594"/>
                  <a:pt x="3401" y="600"/>
                  <a:pt x="3391" y="604"/>
                </a:cubicBezTo>
                <a:cubicBezTo>
                  <a:pt x="3382" y="608"/>
                  <a:pt x="3371" y="610"/>
                  <a:pt x="3361" y="610"/>
                </a:cubicBezTo>
                <a:lnTo>
                  <a:pt x="79" y="610"/>
                </a:lnTo>
                <a:cubicBezTo>
                  <a:pt x="69" y="610"/>
                  <a:pt x="58" y="608"/>
                  <a:pt x="49" y="604"/>
                </a:cubicBezTo>
                <a:cubicBezTo>
                  <a:pt x="39" y="600"/>
                  <a:pt x="30" y="594"/>
                  <a:pt x="23" y="586"/>
                </a:cubicBezTo>
                <a:cubicBezTo>
                  <a:pt x="15" y="579"/>
                  <a:pt x="10" y="570"/>
                  <a:pt x="6" y="561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5" name=""/>
          <p:cNvSpPr txBox="1"/>
          <p:nvPr/>
        </p:nvSpPr>
        <p:spPr>
          <a:xfrm>
            <a:off x="1072440" y="2040120"/>
            <a:ext cx="9460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La carpeta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6" name=""/>
          <p:cNvSpPr txBox="1"/>
          <p:nvPr/>
        </p:nvSpPr>
        <p:spPr>
          <a:xfrm>
            <a:off x="2076840" y="2042640"/>
            <a:ext cx="113112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soluciones/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7" name=""/>
          <p:cNvSpPr/>
          <p:nvPr/>
        </p:nvSpPr>
        <p:spPr>
          <a:xfrm>
            <a:off x="685440" y="1009440"/>
            <a:ext cx="10820880" cy="10080"/>
          </a:xfrm>
          <a:custGeom>
            <a:avLst/>
            <a:gdLst/>
            <a:ahLst/>
            <a:rect l="0" t="0" r="r" b="b"/>
            <a:pathLst>
              <a:path w="30058" h="28">
                <a:moveTo>
                  <a:pt x="0" y="0"/>
                </a:moveTo>
                <a:lnTo>
                  <a:pt x="30058" y="0"/>
                </a:lnTo>
                <a:lnTo>
                  <a:pt x="30058" y="28"/>
                </a:lnTo>
                <a:lnTo>
                  <a:pt x="0" y="28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28" name=""/>
          <p:cNvSpPr txBox="1"/>
          <p:nvPr/>
        </p:nvSpPr>
        <p:spPr>
          <a:xfrm>
            <a:off x="3260160" y="2040120"/>
            <a:ext cx="43434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 </a:t>
            </a:r>
            <a:r>
              <a:rPr lang="en-US" sz="1580" b="1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no debe consultarse </a:t>
            </a:r>
            <a:r>
              <a:rPr lang="en-US" sz="1580" b="0" u="none" strike="noStrike">
                <a:solidFill>
                  <a:srgbClr val="1F1F1F"/>
                </a:solidFill>
                <a:effectLst/>
                <a:uFillTx/>
                <a:latin typeface="Eurostile"/>
                <a:ea typeface="Eurostile"/>
              </a:rPr>
              <a:t>hasta haber intentado el caso.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9" name=""/>
          <p:cNvSpPr/>
          <p:nvPr/>
        </p:nvSpPr>
        <p:spPr>
          <a:xfrm>
            <a:off x="7181640" y="981000"/>
            <a:ext cx="86040" cy="86040"/>
          </a:xfrm>
          <a:custGeom>
            <a:avLst/>
            <a:gdLst/>
            <a:ahLst/>
            <a:rect l="0" t="0" r="r" b="b"/>
            <a:pathLst>
              <a:path w="239" h="239">
                <a:moveTo>
                  <a:pt x="239" y="120"/>
                </a:moveTo>
                <a:cubicBezTo>
                  <a:pt x="239" y="136"/>
                  <a:pt x="236" y="151"/>
                  <a:pt x="230" y="165"/>
                </a:cubicBezTo>
                <a:cubicBezTo>
                  <a:pt x="224" y="180"/>
                  <a:pt x="215" y="193"/>
                  <a:pt x="204" y="204"/>
                </a:cubicBezTo>
                <a:cubicBezTo>
                  <a:pt x="193" y="215"/>
                  <a:pt x="180" y="224"/>
                  <a:pt x="166" y="230"/>
                </a:cubicBezTo>
                <a:cubicBezTo>
                  <a:pt x="150" y="236"/>
                  <a:pt x="135" y="239"/>
                  <a:pt x="119" y="239"/>
                </a:cubicBezTo>
                <a:cubicBezTo>
                  <a:pt x="103" y="239"/>
                  <a:pt x="88" y="236"/>
                  <a:pt x="74" y="230"/>
                </a:cubicBezTo>
                <a:cubicBezTo>
                  <a:pt x="59" y="224"/>
                  <a:pt x="46" y="215"/>
                  <a:pt x="35" y="204"/>
                </a:cubicBezTo>
                <a:cubicBezTo>
                  <a:pt x="24" y="193"/>
                  <a:pt x="15" y="180"/>
                  <a:pt x="9" y="165"/>
                </a:cubicBezTo>
                <a:cubicBezTo>
                  <a:pt x="3" y="151"/>
                  <a:pt x="0" y="136"/>
                  <a:pt x="0" y="120"/>
                </a:cubicBezTo>
                <a:cubicBezTo>
                  <a:pt x="0" y="104"/>
                  <a:pt x="3" y="89"/>
                  <a:pt x="9" y="74"/>
                </a:cubicBezTo>
                <a:cubicBezTo>
                  <a:pt x="15" y="60"/>
                  <a:pt x="24" y="47"/>
                  <a:pt x="35" y="36"/>
                </a:cubicBezTo>
                <a:cubicBezTo>
                  <a:pt x="46" y="24"/>
                  <a:pt x="59" y="16"/>
                  <a:pt x="74" y="9"/>
                </a:cubicBezTo>
                <a:cubicBezTo>
                  <a:pt x="88" y="3"/>
                  <a:pt x="103" y="0"/>
                  <a:pt x="119" y="0"/>
                </a:cubicBezTo>
                <a:cubicBezTo>
                  <a:pt x="135" y="0"/>
                  <a:pt x="150" y="3"/>
                  <a:pt x="166" y="9"/>
                </a:cubicBezTo>
                <a:cubicBezTo>
                  <a:pt x="180" y="16"/>
                  <a:pt x="193" y="24"/>
                  <a:pt x="204" y="36"/>
                </a:cubicBezTo>
                <a:cubicBezTo>
                  <a:pt x="215" y="47"/>
                  <a:pt x="224" y="60"/>
                  <a:pt x="230" y="74"/>
                </a:cubicBezTo>
                <a:cubicBezTo>
                  <a:pt x="236" y="89"/>
                  <a:pt x="239" y="104"/>
                  <a:pt x="239" y="120"/>
                </a:cubicBez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0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31" name=""/>
          <p:cNvSpPr txBox="1"/>
          <p:nvPr/>
        </p:nvSpPr>
        <p:spPr>
          <a:xfrm>
            <a:off x="685800" y="632520"/>
            <a:ext cx="1983960" cy="209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650" b="0" u="none" strike="noStrike">
                <a:solidFill>
                  <a:srgbClr val="DA4544"/>
                </a:solidFill>
                <a:effectLst/>
                <a:uFillTx/>
                <a:latin typeface="Eurostile"/>
                <a:ea typeface="Eurostile"/>
              </a:rPr>
              <a:t>Normas de la actividad</a:t>
            </a:r>
            <a:endParaRPr lang="en-US" sz="16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2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3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4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5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6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7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8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39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0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22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A4544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4" name=""/>
          <p:cNvSpPr/>
          <p:nvPr/>
        </p:nvSpPr>
        <p:spPr>
          <a:xfrm>
            <a:off x="1533240" y="1733400"/>
            <a:ext cx="314640" cy="219240"/>
          </a:xfrm>
          <a:custGeom>
            <a:avLst/>
            <a:gdLst/>
            <a:ahLst/>
            <a:rect l="0" t="0" r="r" b="b"/>
            <a:pathLst>
              <a:path w="874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795" y="0"/>
                </a:lnTo>
                <a:cubicBezTo>
                  <a:pt x="806" y="0"/>
                  <a:pt x="816" y="2"/>
                  <a:pt x="825" y="6"/>
                </a:cubicBezTo>
                <a:cubicBezTo>
                  <a:pt x="835" y="10"/>
                  <a:pt x="844" y="16"/>
                  <a:pt x="851" y="23"/>
                </a:cubicBezTo>
                <a:cubicBezTo>
                  <a:pt x="859" y="31"/>
                  <a:pt x="864" y="39"/>
                  <a:pt x="868" y="49"/>
                </a:cubicBezTo>
                <a:cubicBezTo>
                  <a:pt x="872" y="59"/>
                  <a:pt x="874" y="69"/>
                  <a:pt x="874" y="79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0"/>
                </a:cubicBezTo>
                <a:cubicBezTo>
                  <a:pt x="864" y="570"/>
                  <a:pt x="859" y="579"/>
                  <a:pt x="851" y="586"/>
                </a:cubicBezTo>
                <a:cubicBezTo>
                  <a:pt x="844" y="594"/>
                  <a:pt x="835" y="599"/>
                  <a:pt x="825" y="603"/>
                </a:cubicBezTo>
                <a:cubicBezTo>
                  <a:pt x="816" y="607"/>
                  <a:pt x="806" y="609"/>
                  <a:pt x="795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4"/>
                  <a:pt x="24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45" name=""/>
          <p:cNvSpPr txBox="1"/>
          <p:nvPr/>
        </p:nvSpPr>
        <p:spPr>
          <a:xfrm>
            <a:off x="914400" y="1744920"/>
            <a:ext cx="6184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Orden: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6" name=""/>
          <p:cNvSpPr txBox="1"/>
          <p:nvPr/>
        </p:nvSpPr>
        <p:spPr>
          <a:xfrm>
            <a:off x="1590480" y="17470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02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7" name=""/>
          <p:cNvSpPr txBox="1"/>
          <p:nvPr/>
        </p:nvSpPr>
        <p:spPr>
          <a:xfrm>
            <a:off x="185220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8" name=""/>
          <p:cNvSpPr txBox="1"/>
          <p:nvPr/>
        </p:nvSpPr>
        <p:spPr>
          <a:xfrm>
            <a:off x="1902240" y="17114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9" name=""/>
          <p:cNvSpPr/>
          <p:nvPr/>
        </p:nvSpPr>
        <p:spPr>
          <a:xfrm>
            <a:off x="2152440" y="1733400"/>
            <a:ext cx="314640" cy="219240"/>
          </a:xfrm>
          <a:custGeom>
            <a:avLst/>
            <a:gdLst/>
            <a:ahLst/>
            <a:rect l="0" t="0" r="r" b="b"/>
            <a:pathLst>
              <a:path w="874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95" y="0"/>
                </a:lnTo>
                <a:cubicBezTo>
                  <a:pt x="805" y="0"/>
                  <a:pt x="815" y="2"/>
                  <a:pt x="825" y="6"/>
                </a:cubicBezTo>
                <a:cubicBezTo>
                  <a:pt x="835" y="10"/>
                  <a:pt x="844" y="16"/>
                  <a:pt x="851" y="23"/>
                </a:cubicBezTo>
                <a:cubicBezTo>
                  <a:pt x="858" y="31"/>
                  <a:pt x="864" y="39"/>
                  <a:pt x="868" y="49"/>
                </a:cubicBezTo>
                <a:cubicBezTo>
                  <a:pt x="872" y="59"/>
                  <a:pt x="874" y="69"/>
                  <a:pt x="874" y="79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0"/>
                </a:cubicBezTo>
                <a:cubicBezTo>
                  <a:pt x="864" y="570"/>
                  <a:pt x="858" y="579"/>
                  <a:pt x="851" y="586"/>
                </a:cubicBezTo>
                <a:cubicBezTo>
                  <a:pt x="844" y="594"/>
                  <a:pt x="835" y="599"/>
                  <a:pt x="825" y="603"/>
                </a:cubicBezTo>
                <a:cubicBezTo>
                  <a:pt x="815" y="607"/>
                  <a:pt x="805" y="609"/>
                  <a:pt x="795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0" name=""/>
          <p:cNvSpPr txBox="1"/>
          <p:nvPr/>
        </p:nvSpPr>
        <p:spPr>
          <a:xfrm>
            <a:off x="210240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1" name=""/>
          <p:cNvSpPr txBox="1"/>
          <p:nvPr/>
        </p:nvSpPr>
        <p:spPr>
          <a:xfrm>
            <a:off x="2209680" y="17470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03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2" name=""/>
          <p:cNvSpPr txBox="1"/>
          <p:nvPr/>
        </p:nvSpPr>
        <p:spPr>
          <a:xfrm>
            <a:off x="247140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3" name=""/>
          <p:cNvSpPr txBox="1"/>
          <p:nvPr/>
        </p:nvSpPr>
        <p:spPr>
          <a:xfrm>
            <a:off x="2521440" y="17114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4" name=""/>
          <p:cNvSpPr/>
          <p:nvPr/>
        </p:nvSpPr>
        <p:spPr>
          <a:xfrm>
            <a:off x="2771640" y="1733400"/>
            <a:ext cx="314640" cy="219240"/>
          </a:xfrm>
          <a:custGeom>
            <a:avLst/>
            <a:gdLst/>
            <a:ahLst/>
            <a:rect l="0" t="0" r="r" b="b"/>
            <a:pathLst>
              <a:path w="874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1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795" y="0"/>
                </a:lnTo>
                <a:cubicBezTo>
                  <a:pt x="805" y="0"/>
                  <a:pt x="815" y="2"/>
                  <a:pt x="825" y="6"/>
                </a:cubicBezTo>
                <a:cubicBezTo>
                  <a:pt x="835" y="10"/>
                  <a:pt x="843" y="16"/>
                  <a:pt x="851" y="23"/>
                </a:cubicBezTo>
                <a:cubicBezTo>
                  <a:pt x="858" y="31"/>
                  <a:pt x="864" y="39"/>
                  <a:pt x="868" y="49"/>
                </a:cubicBezTo>
                <a:cubicBezTo>
                  <a:pt x="872" y="59"/>
                  <a:pt x="874" y="69"/>
                  <a:pt x="874" y="79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0"/>
                </a:cubicBezTo>
                <a:cubicBezTo>
                  <a:pt x="864" y="570"/>
                  <a:pt x="858" y="579"/>
                  <a:pt x="851" y="586"/>
                </a:cubicBezTo>
                <a:cubicBezTo>
                  <a:pt x="843" y="594"/>
                  <a:pt x="835" y="599"/>
                  <a:pt x="825" y="603"/>
                </a:cubicBezTo>
                <a:cubicBezTo>
                  <a:pt x="815" y="607"/>
                  <a:pt x="805" y="609"/>
                  <a:pt x="795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1" y="594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55" name=""/>
          <p:cNvSpPr txBox="1"/>
          <p:nvPr/>
        </p:nvSpPr>
        <p:spPr>
          <a:xfrm>
            <a:off x="272160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6" name=""/>
          <p:cNvSpPr txBox="1"/>
          <p:nvPr/>
        </p:nvSpPr>
        <p:spPr>
          <a:xfrm>
            <a:off x="2828520" y="17470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04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7" name=""/>
          <p:cNvSpPr txBox="1"/>
          <p:nvPr/>
        </p:nvSpPr>
        <p:spPr>
          <a:xfrm>
            <a:off x="309060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8" name=""/>
          <p:cNvSpPr txBox="1"/>
          <p:nvPr/>
        </p:nvSpPr>
        <p:spPr>
          <a:xfrm>
            <a:off x="3140640" y="17114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9" name=""/>
          <p:cNvSpPr/>
          <p:nvPr/>
        </p:nvSpPr>
        <p:spPr>
          <a:xfrm>
            <a:off x="3390840" y="1733400"/>
            <a:ext cx="314640" cy="219240"/>
          </a:xfrm>
          <a:custGeom>
            <a:avLst/>
            <a:gdLst/>
            <a:ahLst/>
            <a:rect l="0" t="0" r="r" b="b"/>
            <a:pathLst>
              <a:path w="874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5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8" y="2"/>
                  <a:pt x="69" y="0"/>
                  <a:pt x="79" y="0"/>
                </a:cubicBezTo>
                <a:lnTo>
                  <a:pt x="794" y="0"/>
                </a:lnTo>
                <a:cubicBezTo>
                  <a:pt x="805" y="0"/>
                  <a:pt x="815" y="2"/>
                  <a:pt x="825" y="6"/>
                </a:cubicBezTo>
                <a:cubicBezTo>
                  <a:pt x="835" y="10"/>
                  <a:pt x="843" y="16"/>
                  <a:pt x="851" y="23"/>
                </a:cubicBezTo>
                <a:cubicBezTo>
                  <a:pt x="858" y="31"/>
                  <a:pt x="864" y="39"/>
                  <a:pt x="868" y="49"/>
                </a:cubicBezTo>
                <a:cubicBezTo>
                  <a:pt x="872" y="59"/>
                  <a:pt x="874" y="69"/>
                  <a:pt x="874" y="79"/>
                </a:cubicBezTo>
                <a:lnTo>
                  <a:pt x="874" y="530"/>
                </a:lnTo>
                <a:cubicBezTo>
                  <a:pt x="874" y="541"/>
                  <a:pt x="872" y="551"/>
                  <a:pt x="868" y="560"/>
                </a:cubicBezTo>
                <a:cubicBezTo>
                  <a:pt x="864" y="570"/>
                  <a:pt x="858" y="579"/>
                  <a:pt x="851" y="586"/>
                </a:cubicBezTo>
                <a:cubicBezTo>
                  <a:pt x="843" y="594"/>
                  <a:pt x="835" y="599"/>
                  <a:pt x="825" y="603"/>
                </a:cubicBezTo>
                <a:cubicBezTo>
                  <a:pt x="815" y="607"/>
                  <a:pt x="805" y="609"/>
                  <a:pt x="794" y="609"/>
                </a:cubicBezTo>
                <a:lnTo>
                  <a:pt x="79" y="609"/>
                </a:lnTo>
                <a:cubicBezTo>
                  <a:pt x="69" y="609"/>
                  <a:pt x="58" y="607"/>
                  <a:pt x="49" y="603"/>
                </a:cubicBezTo>
                <a:cubicBezTo>
                  <a:pt x="39" y="599"/>
                  <a:pt x="30" y="594"/>
                  <a:pt x="23" y="586"/>
                </a:cubicBezTo>
                <a:cubicBezTo>
                  <a:pt x="15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0" name=""/>
          <p:cNvSpPr txBox="1"/>
          <p:nvPr/>
        </p:nvSpPr>
        <p:spPr>
          <a:xfrm>
            <a:off x="334044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1" name=""/>
          <p:cNvSpPr txBox="1"/>
          <p:nvPr/>
        </p:nvSpPr>
        <p:spPr>
          <a:xfrm>
            <a:off x="3447720" y="17470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05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2" name=""/>
          <p:cNvSpPr txBox="1"/>
          <p:nvPr/>
        </p:nvSpPr>
        <p:spPr>
          <a:xfrm>
            <a:off x="370980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3" name=""/>
          <p:cNvSpPr txBox="1"/>
          <p:nvPr/>
        </p:nvSpPr>
        <p:spPr>
          <a:xfrm>
            <a:off x="3759840" y="17114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4" name=""/>
          <p:cNvSpPr/>
          <p:nvPr/>
        </p:nvSpPr>
        <p:spPr>
          <a:xfrm>
            <a:off x="4009680" y="1733400"/>
            <a:ext cx="315000" cy="219240"/>
          </a:xfrm>
          <a:custGeom>
            <a:avLst/>
            <a:gdLst/>
            <a:ahLst/>
            <a:rect l="0" t="0" r="r" b="b"/>
            <a:pathLst>
              <a:path w="875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1" y="39"/>
                  <a:pt x="16" y="31"/>
                  <a:pt x="24" y="23"/>
                </a:cubicBezTo>
                <a:cubicBezTo>
                  <a:pt x="31" y="16"/>
                  <a:pt x="40" y="10"/>
                  <a:pt x="49" y="6"/>
                </a:cubicBezTo>
                <a:cubicBezTo>
                  <a:pt x="59" y="2"/>
                  <a:pt x="69" y="0"/>
                  <a:pt x="80" y="0"/>
                </a:cubicBezTo>
                <a:lnTo>
                  <a:pt x="795" y="0"/>
                </a:lnTo>
                <a:cubicBezTo>
                  <a:pt x="806" y="0"/>
                  <a:pt x="816" y="2"/>
                  <a:pt x="826" y="6"/>
                </a:cubicBezTo>
                <a:cubicBezTo>
                  <a:pt x="835" y="10"/>
                  <a:pt x="844" y="16"/>
                  <a:pt x="851" y="23"/>
                </a:cubicBezTo>
                <a:cubicBezTo>
                  <a:pt x="859" y="31"/>
                  <a:pt x="865" y="39"/>
                  <a:pt x="869" y="49"/>
                </a:cubicBezTo>
                <a:cubicBezTo>
                  <a:pt x="873" y="59"/>
                  <a:pt x="875" y="69"/>
                  <a:pt x="875" y="79"/>
                </a:cubicBezTo>
                <a:lnTo>
                  <a:pt x="875" y="530"/>
                </a:lnTo>
                <a:cubicBezTo>
                  <a:pt x="875" y="541"/>
                  <a:pt x="873" y="551"/>
                  <a:pt x="869" y="560"/>
                </a:cubicBezTo>
                <a:cubicBezTo>
                  <a:pt x="865" y="570"/>
                  <a:pt x="859" y="579"/>
                  <a:pt x="851" y="586"/>
                </a:cubicBezTo>
                <a:cubicBezTo>
                  <a:pt x="844" y="594"/>
                  <a:pt x="835" y="599"/>
                  <a:pt x="826" y="603"/>
                </a:cubicBezTo>
                <a:cubicBezTo>
                  <a:pt x="816" y="607"/>
                  <a:pt x="806" y="609"/>
                  <a:pt x="795" y="609"/>
                </a:cubicBezTo>
                <a:lnTo>
                  <a:pt x="80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40" y="599"/>
                  <a:pt x="31" y="594"/>
                  <a:pt x="24" y="586"/>
                </a:cubicBezTo>
                <a:cubicBezTo>
                  <a:pt x="16" y="579"/>
                  <a:pt x="11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65" name=""/>
          <p:cNvSpPr txBox="1"/>
          <p:nvPr/>
        </p:nvSpPr>
        <p:spPr>
          <a:xfrm>
            <a:off x="395964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6" name=""/>
          <p:cNvSpPr txBox="1"/>
          <p:nvPr/>
        </p:nvSpPr>
        <p:spPr>
          <a:xfrm>
            <a:off x="4066920" y="17470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06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7" name=""/>
          <p:cNvSpPr txBox="1"/>
          <p:nvPr/>
        </p:nvSpPr>
        <p:spPr>
          <a:xfrm>
            <a:off x="432864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8" name=""/>
          <p:cNvSpPr txBox="1"/>
          <p:nvPr/>
        </p:nvSpPr>
        <p:spPr>
          <a:xfrm>
            <a:off x="4378680" y="1711440"/>
            <a:ext cx="200520" cy="236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LucidaGrande"/>
                <a:ea typeface="LucidaGrande"/>
              </a:rPr>
              <a:t>→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9" name=""/>
          <p:cNvSpPr/>
          <p:nvPr/>
        </p:nvSpPr>
        <p:spPr>
          <a:xfrm>
            <a:off x="5305320" y="1733400"/>
            <a:ext cx="324000" cy="219240"/>
          </a:xfrm>
          <a:custGeom>
            <a:avLst/>
            <a:gdLst/>
            <a:ahLst/>
            <a:rect l="0" t="0" r="r" b="b"/>
            <a:pathLst>
              <a:path w="900" h="609">
                <a:moveTo>
                  <a:pt x="0" y="530"/>
                </a:moveTo>
                <a:lnTo>
                  <a:pt x="0" y="79"/>
                </a:lnTo>
                <a:cubicBezTo>
                  <a:pt x="0" y="69"/>
                  <a:pt x="2" y="59"/>
                  <a:pt x="6" y="49"/>
                </a:cubicBezTo>
                <a:cubicBezTo>
                  <a:pt x="10" y="39"/>
                  <a:pt x="16" y="31"/>
                  <a:pt x="23" y="23"/>
                </a:cubicBezTo>
                <a:cubicBezTo>
                  <a:pt x="30" y="16"/>
                  <a:pt x="39" y="10"/>
                  <a:pt x="49" y="6"/>
                </a:cubicBezTo>
                <a:cubicBezTo>
                  <a:pt x="59" y="2"/>
                  <a:pt x="69" y="0"/>
                  <a:pt x="79" y="0"/>
                </a:cubicBezTo>
                <a:lnTo>
                  <a:pt x="821" y="0"/>
                </a:lnTo>
                <a:cubicBezTo>
                  <a:pt x="832" y="0"/>
                  <a:pt x="842" y="2"/>
                  <a:pt x="851" y="6"/>
                </a:cubicBezTo>
                <a:cubicBezTo>
                  <a:pt x="861" y="10"/>
                  <a:pt x="870" y="16"/>
                  <a:pt x="877" y="23"/>
                </a:cubicBezTo>
                <a:cubicBezTo>
                  <a:pt x="885" y="31"/>
                  <a:pt x="890" y="39"/>
                  <a:pt x="894" y="49"/>
                </a:cubicBezTo>
                <a:cubicBezTo>
                  <a:pt x="898" y="59"/>
                  <a:pt x="900" y="69"/>
                  <a:pt x="900" y="79"/>
                </a:cubicBezTo>
                <a:lnTo>
                  <a:pt x="900" y="530"/>
                </a:lnTo>
                <a:cubicBezTo>
                  <a:pt x="900" y="541"/>
                  <a:pt x="898" y="551"/>
                  <a:pt x="894" y="560"/>
                </a:cubicBezTo>
                <a:cubicBezTo>
                  <a:pt x="890" y="570"/>
                  <a:pt x="885" y="579"/>
                  <a:pt x="877" y="586"/>
                </a:cubicBezTo>
                <a:cubicBezTo>
                  <a:pt x="870" y="594"/>
                  <a:pt x="861" y="599"/>
                  <a:pt x="851" y="603"/>
                </a:cubicBezTo>
                <a:cubicBezTo>
                  <a:pt x="842" y="607"/>
                  <a:pt x="832" y="609"/>
                  <a:pt x="821" y="609"/>
                </a:cubicBezTo>
                <a:lnTo>
                  <a:pt x="79" y="609"/>
                </a:lnTo>
                <a:cubicBezTo>
                  <a:pt x="69" y="609"/>
                  <a:pt x="59" y="607"/>
                  <a:pt x="49" y="603"/>
                </a:cubicBezTo>
                <a:cubicBezTo>
                  <a:pt x="39" y="599"/>
                  <a:pt x="30" y="594"/>
                  <a:pt x="23" y="586"/>
                </a:cubicBezTo>
                <a:cubicBezTo>
                  <a:pt x="16" y="579"/>
                  <a:pt x="10" y="570"/>
                  <a:pt x="6" y="560"/>
                </a:cubicBezTo>
                <a:cubicBezTo>
                  <a:pt x="2" y="551"/>
                  <a:pt x="0" y="541"/>
                  <a:pt x="0" y="530"/>
                </a:cubicBezTo>
                <a:close/>
              </a:path>
            </a:pathLst>
          </a:custGeom>
          <a:solidFill>
            <a:srgbClr val="DA4544">
              <a:alpha val="10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0" name=""/>
          <p:cNvSpPr txBox="1"/>
          <p:nvPr/>
        </p:nvSpPr>
        <p:spPr>
          <a:xfrm>
            <a:off x="4578840" y="1744920"/>
            <a:ext cx="728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escribir 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1" name=""/>
          <p:cNvSpPr txBox="1"/>
          <p:nvPr/>
        </p:nvSpPr>
        <p:spPr>
          <a:xfrm>
            <a:off x="5365080" y="1747080"/>
            <a:ext cx="206280" cy="1983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40" b="0" u="none" strike="noStrike">
                <a:solidFill>
                  <a:srgbClr val="B8302F"/>
                </a:solidFill>
                <a:effectLst/>
                <a:uFillTx/>
                <a:latin typeface="Menlo"/>
                <a:ea typeface="Menlo"/>
              </a:rPr>
              <a:t>07</a:t>
            </a:r>
            <a:endParaRPr lang="en-US" sz="134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2" name=""/>
          <p:cNvSpPr txBox="1"/>
          <p:nvPr/>
        </p:nvSpPr>
        <p:spPr>
          <a:xfrm>
            <a:off x="5627160" y="1744920"/>
            <a:ext cx="199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3" name=""/>
          <p:cNvSpPr/>
          <p:nvPr/>
        </p:nvSpPr>
        <p:spPr>
          <a:xfrm>
            <a:off x="914040" y="2809800"/>
            <a:ext cx="10363680" cy="714600"/>
          </a:xfrm>
          <a:custGeom>
            <a:avLst/>
            <a:gdLst/>
            <a:ahLst/>
            <a:rect l="0" t="0" r="r" b="b"/>
            <a:pathLst>
              <a:path w="28788" h="1985">
                <a:moveTo>
                  <a:pt x="0" y="0"/>
                </a:moveTo>
                <a:lnTo>
                  <a:pt x="28788" y="0"/>
                </a:lnTo>
                <a:lnTo>
                  <a:pt x="28788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6000"/>
            </a:srgbClr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4" name=""/>
          <p:cNvSpPr/>
          <p:nvPr/>
        </p:nvSpPr>
        <p:spPr>
          <a:xfrm>
            <a:off x="914040" y="2809800"/>
            <a:ext cx="29160" cy="714600"/>
          </a:xfrm>
          <a:custGeom>
            <a:avLst/>
            <a:gdLst/>
            <a:ahLst/>
            <a:rect l="0" t="0" r="r" b="b"/>
            <a:pathLst>
              <a:path w="81" h="1985">
                <a:moveTo>
                  <a:pt x="0" y="0"/>
                </a:moveTo>
                <a:lnTo>
                  <a:pt x="81" y="0"/>
                </a:lnTo>
                <a:lnTo>
                  <a:pt x="81" y="1985"/>
                </a:lnTo>
                <a:lnTo>
                  <a:pt x="0" y="1985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5" name=""/>
          <p:cNvSpPr txBox="1"/>
          <p:nvPr/>
        </p:nvSpPr>
        <p:spPr>
          <a:xfrm>
            <a:off x="914400" y="2183040"/>
            <a:ext cx="9017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Recuerde: el VLM es </a:t>
            </a: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lento en CPU</a:t>
            </a:r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; los notebooks tardan minutos, es normal. Ante dudas, el </a:t>
            </a: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foro del máster</a:t>
            </a:r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.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6" name=""/>
          <p:cNvSpPr txBox="1"/>
          <p:nvPr/>
        </p:nvSpPr>
        <p:spPr>
          <a:xfrm>
            <a:off x="1219320" y="2916720"/>
            <a:ext cx="924228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"Un VLM describe la escena con palabras y razona sobre ella — pero también inventa. La gracia de este caso es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7" name=""/>
          <p:cNvSpPr txBox="1"/>
          <p:nvPr/>
        </p:nvSpPr>
        <p:spPr>
          <a:xfrm>
            <a:off x="1219320" y="3211920"/>
            <a:ext cx="4177800" cy="2001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aprender </a:t>
            </a:r>
            <a:r>
              <a:rPr lang="en-US" sz="158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dónde puedes confiar en él y dónde no</a:t>
            </a:r>
            <a:r>
              <a:rPr lang="en-US" sz="158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."</a:t>
            </a:r>
            <a:endParaRPr lang="en-US" sz="158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8" name=""/>
          <p:cNvSpPr/>
          <p:nvPr/>
        </p:nvSpPr>
        <p:spPr>
          <a:xfrm>
            <a:off x="0" y="6324480"/>
            <a:ext cx="12192120" cy="533520"/>
          </a:xfrm>
          <a:custGeom>
            <a:avLst/>
            <a:gdLst/>
            <a:ahLst/>
            <a:rect l="0" t="0" r="r" b="b"/>
            <a:pathLst>
              <a:path w="33867" h="1482">
                <a:moveTo>
                  <a:pt x="0" y="0"/>
                </a:moveTo>
                <a:lnTo>
                  <a:pt x="33867" y="0"/>
                </a:lnTo>
                <a:lnTo>
                  <a:pt x="33867" y="1482"/>
                </a:lnTo>
                <a:lnTo>
                  <a:pt x="0" y="1482"/>
                </a:lnTo>
                <a:lnTo>
                  <a:pt x="0" y="0"/>
                </a:lnTo>
                <a:close/>
              </a:path>
            </a:pathLst>
          </a:custGeom>
          <a:solidFill>
            <a:srgbClr val="B8302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779" name=""/>
          <p:cNvSpPr txBox="1"/>
          <p:nvPr/>
        </p:nvSpPr>
        <p:spPr>
          <a:xfrm>
            <a:off x="914400" y="975240"/>
            <a:ext cx="3998160" cy="49572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390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PARA COMENZAR</a:t>
            </a:r>
            <a:endParaRPr lang="en-US" sz="3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0" name=""/>
          <p:cNvSpPr txBox="1"/>
          <p:nvPr/>
        </p:nvSpPr>
        <p:spPr>
          <a:xfrm>
            <a:off x="685800" y="6517080"/>
            <a:ext cx="31320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CP3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1" name=""/>
          <p:cNvSpPr txBox="1"/>
          <p:nvPr/>
        </p:nvSpPr>
        <p:spPr>
          <a:xfrm>
            <a:off x="99828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2" name=""/>
          <p:cNvSpPr txBox="1"/>
          <p:nvPr/>
        </p:nvSpPr>
        <p:spPr>
          <a:xfrm>
            <a:off x="1040400" y="6517080"/>
            <a:ext cx="114372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VLM + Dashcam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3" name=""/>
          <p:cNvSpPr txBox="1"/>
          <p:nvPr/>
        </p:nvSpPr>
        <p:spPr>
          <a:xfrm>
            <a:off x="218340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4" name=""/>
          <p:cNvSpPr txBox="1"/>
          <p:nvPr/>
        </p:nvSpPr>
        <p:spPr>
          <a:xfrm>
            <a:off x="2225880" y="6517080"/>
            <a:ext cx="8996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Máster en IA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5" name=""/>
          <p:cNvSpPr txBox="1"/>
          <p:nvPr/>
        </p:nvSpPr>
        <p:spPr>
          <a:xfrm>
            <a:off x="3124440" y="6521400"/>
            <a:ext cx="151920" cy="1526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Arial"/>
                <a:ea typeface="Arial"/>
              </a:rPr>
              <a:t>·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6" name=""/>
          <p:cNvSpPr txBox="1"/>
          <p:nvPr/>
        </p:nvSpPr>
        <p:spPr>
          <a:xfrm>
            <a:off x="3166920" y="6517080"/>
            <a:ext cx="253440" cy="15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200" b="0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 AIC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pic>
        <p:nvPicPr>
          <p:cNvPr id="787" name=""/>
          <p:cNvPicPr/>
          <p:nvPr/>
        </p:nvPicPr>
        <p:blipFill>
          <a:blip r:embed="rId1"/>
          <a:stretch/>
        </p:blipFill>
        <p:spPr>
          <a:xfrm>
            <a:off x="9820440" y="266760"/>
            <a:ext cx="1685520" cy="399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88" name=""/>
          <p:cNvSpPr txBox="1"/>
          <p:nvPr/>
        </p:nvSpPr>
        <p:spPr>
          <a:xfrm>
            <a:off x="11757960" y="6513120"/>
            <a:ext cx="167040" cy="132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050" b="1" u="none" strike="noStrike">
                <a:solidFill>
                  <a:srgbClr val="FFFFFF"/>
                </a:solidFill>
                <a:effectLst/>
                <a:uFillTx/>
                <a:latin typeface="Eurostile"/>
                <a:ea typeface="Eurostile"/>
              </a:rPr>
              <a:t>23</a:t>
            </a:r>
            <a:endParaRPr lang="en-US" sz="10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LibreOffice/26.2.4.2$MacOSX_AARCH64 LibreOffice_project/0229ac93fcf0d7cbc6376066c6f35021cef002dc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