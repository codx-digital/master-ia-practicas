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9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914400" y="2945160"/>
            <a:ext cx="1665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Máster en IA — AIC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914400" y="3231000"/>
            <a:ext cx="3505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Módulo: IA Aplicada al Vehículo Autónomo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4425840" y="323676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4481280" y="3231000"/>
            <a:ext cx="5403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2026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914400" y="975240"/>
            <a:ext cx="81903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BEHAVIORAL CLONING: APRENDER A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914400" y="1594440"/>
            <a:ext cx="47451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CONDUCIR MIRANDO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914400" y="2354400"/>
            <a:ext cx="17236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Caso Práctico 4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2632320" y="236196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2701080" y="2354400"/>
            <a:ext cx="19198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Dosier del alumno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CP4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1040400" y="6517080"/>
            <a:ext cx="1236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Behavioral Cloning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22759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231840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3217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325944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685800" y="1325880"/>
            <a:ext cx="10755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este cuarto caso práctico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entrenará usted mismo una red neuronal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que aprende a conducir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imitando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 un conductor experto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685800" y="1611720"/>
            <a:ext cx="12052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(esto se llama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1932480" y="1611720"/>
            <a:ext cx="156564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555555"/>
                </a:solidFill>
                <a:effectLst/>
                <a:uFillTx/>
                <a:latin typeface="Eurostile"/>
                <a:ea typeface="Eurostile"/>
              </a:rPr>
              <a:t>Behavioral Cloning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3414240" y="1611720"/>
            <a:ext cx="8038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). Y vivirá en su propio ordenador el problema que hace que esto sea difícil: el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compounding error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685800" y="1897200"/>
            <a:ext cx="2171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(los errores se acumulan).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685800" y="2345040"/>
            <a:ext cx="10558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Está pensado para realizarse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sin conocimientos previos de programación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El ordenador ya se preparó en CP1; aquí se reutiliza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685440" y="3257280"/>
            <a:ext cx="10820880" cy="628920"/>
          </a:xfrm>
          <a:custGeom>
            <a:avLst/>
            <a:gdLst/>
            <a:ahLst/>
            <a:rect l="0" t="0" r="r" b="b"/>
            <a:pathLst>
              <a:path w="30058" h="1747">
                <a:moveTo>
                  <a:pt x="0" y="0"/>
                </a:moveTo>
                <a:lnTo>
                  <a:pt x="30058" y="0"/>
                </a:lnTo>
                <a:lnTo>
                  <a:pt x="30058" y="1747"/>
                </a:lnTo>
                <a:lnTo>
                  <a:pt x="0" y="1747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685440" y="3257280"/>
            <a:ext cx="29160" cy="628920"/>
          </a:xfrm>
          <a:custGeom>
            <a:avLst/>
            <a:gdLst/>
            <a:ahLst/>
            <a:rect l="0" t="0" r="r" b="b"/>
            <a:pathLst>
              <a:path w="81" h="1747">
                <a:moveTo>
                  <a:pt x="0" y="0"/>
                </a:moveTo>
                <a:lnTo>
                  <a:pt x="81" y="0"/>
                </a:lnTo>
                <a:lnTo>
                  <a:pt x="81" y="1747"/>
                </a:lnTo>
                <a:lnTo>
                  <a:pt x="0" y="174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009440" y="3323880"/>
            <a:ext cx="200520" cy="200520"/>
          </a:xfrm>
          <a:custGeom>
            <a:avLst/>
            <a:gdLst/>
            <a:ahLst/>
            <a:rect l="0" t="0" r="r" b="b"/>
            <a:pathLst>
              <a:path w="557" h="557">
                <a:moveTo>
                  <a:pt x="557" y="278"/>
                </a:moveTo>
                <a:cubicBezTo>
                  <a:pt x="557" y="297"/>
                  <a:pt x="555" y="315"/>
                  <a:pt x="551" y="332"/>
                </a:cubicBezTo>
                <a:cubicBezTo>
                  <a:pt x="548" y="350"/>
                  <a:pt x="543" y="368"/>
                  <a:pt x="536" y="385"/>
                </a:cubicBezTo>
                <a:cubicBezTo>
                  <a:pt x="529" y="401"/>
                  <a:pt x="520" y="417"/>
                  <a:pt x="510" y="433"/>
                </a:cubicBezTo>
                <a:cubicBezTo>
                  <a:pt x="500" y="448"/>
                  <a:pt x="488" y="462"/>
                  <a:pt x="475" y="475"/>
                </a:cubicBezTo>
                <a:cubicBezTo>
                  <a:pt x="462" y="489"/>
                  <a:pt x="448" y="500"/>
                  <a:pt x="433" y="510"/>
                </a:cubicBezTo>
                <a:cubicBezTo>
                  <a:pt x="418" y="520"/>
                  <a:pt x="402" y="529"/>
                  <a:pt x="385" y="536"/>
                </a:cubicBezTo>
                <a:cubicBezTo>
                  <a:pt x="368" y="543"/>
                  <a:pt x="351" y="548"/>
                  <a:pt x="333" y="552"/>
                </a:cubicBezTo>
                <a:cubicBezTo>
                  <a:pt x="315" y="555"/>
                  <a:pt x="297" y="557"/>
                  <a:pt x="279" y="557"/>
                </a:cubicBezTo>
                <a:cubicBezTo>
                  <a:pt x="261" y="557"/>
                  <a:pt x="242" y="555"/>
                  <a:pt x="224" y="552"/>
                </a:cubicBezTo>
                <a:cubicBezTo>
                  <a:pt x="206" y="548"/>
                  <a:pt x="188" y="543"/>
                  <a:pt x="172" y="536"/>
                </a:cubicBezTo>
                <a:cubicBezTo>
                  <a:pt x="155" y="529"/>
                  <a:pt x="139" y="520"/>
                  <a:pt x="124" y="510"/>
                </a:cubicBezTo>
                <a:cubicBezTo>
                  <a:pt x="108" y="500"/>
                  <a:pt x="94" y="489"/>
                  <a:pt x="81" y="475"/>
                </a:cubicBezTo>
                <a:cubicBezTo>
                  <a:pt x="69" y="462"/>
                  <a:pt x="57" y="448"/>
                  <a:pt x="47" y="433"/>
                </a:cubicBezTo>
                <a:cubicBezTo>
                  <a:pt x="37" y="417"/>
                  <a:pt x="28" y="401"/>
                  <a:pt x="21" y="385"/>
                </a:cubicBezTo>
                <a:cubicBezTo>
                  <a:pt x="14" y="368"/>
                  <a:pt x="9" y="350"/>
                  <a:pt x="5" y="332"/>
                </a:cubicBezTo>
                <a:cubicBezTo>
                  <a:pt x="2" y="315"/>
                  <a:pt x="0" y="297"/>
                  <a:pt x="0" y="278"/>
                </a:cubicBezTo>
                <a:cubicBezTo>
                  <a:pt x="0" y="260"/>
                  <a:pt x="2" y="242"/>
                  <a:pt x="5" y="224"/>
                </a:cubicBezTo>
                <a:cubicBezTo>
                  <a:pt x="9" y="206"/>
                  <a:pt x="14" y="189"/>
                  <a:pt x="21" y="172"/>
                </a:cubicBezTo>
                <a:cubicBezTo>
                  <a:pt x="28" y="155"/>
                  <a:pt x="37" y="139"/>
                  <a:pt x="47" y="124"/>
                </a:cubicBezTo>
                <a:cubicBezTo>
                  <a:pt x="57" y="109"/>
                  <a:pt x="69" y="95"/>
                  <a:pt x="81" y="82"/>
                </a:cubicBezTo>
                <a:cubicBezTo>
                  <a:pt x="94" y="69"/>
                  <a:pt x="108" y="57"/>
                  <a:pt x="124" y="47"/>
                </a:cubicBezTo>
                <a:cubicBezTo>
                  <a:pt x="139" y="37"/>
                  <a:pt x="155" y="29"/>
                  <a:pt x="172" y="22"/>
                </a:cubicBezTo>
                <a:cubicBezTo>
                  <a:pt x="188" y="15"/>
                  <a:pt x="206" y="9"/>
                  <a:pt x="224" y="6"/>
                </a:cubicBezTo>
                <a:cubicBezTo>
                  <a:pt x="242" y="2"/>
                  <a:pt x="261" y="0"/>
                  <a:pt x="279" y="0"/>
                </a:cubicBezTo>
                <a:cubicBezTo>
                  <a:pt x="297" y="0"/>
                  <a:pt x="315" y="2"/>
                  <a:pt x="333" y="6"/>
                </a:cubicBezTo>
                <a:cubicBezTo>
                  <a:pt x="351" y="9"/>
                  <a:pt x="368" y="15"/>
                  <a:pt x="385" y="22"/>
                </a:cubicBezTo>
                <a:cubicBezTo>
                  <a:pt x="402" y="29"/>
                  <a:pt x="418" y="37"/>
                  <a:pt x="433" y="47"/>
                </a:cubicBezTo>
                <a:cubicBezTo>
                  <a:pt x="448" y="57"/>
                  <a:pt x="462" y="69"/>
                  <a:pt x="475" y="82"/>
                </a:cubicBezTo>
                <a:cubicBezTo>
                  <a:pt x="488" y="95"/>
                  <a:pt x="500" y="109"/>
                  <a:pt x="510" y="124"/>
                </a:cubicBezTo>
                <a:cubicBezTo>
                  <a:pt x="520" y="139"/>
                  <a:pt x="529" y="155"/>
                  <a:pt x="536" y="172"/>
                </a:cubicBezTo>
                <a:cubicBezTo>
                  <a:pt x="543" y="189"/>
                  <a:pt x="548" y="206"/>
                  <a:pt x="551" y="224"/>
                </a:cubicBezTo>
                <a:cubicBezTo>
                  <a:pt x="555" y="242"/>
                  <a:pt x="557" y="260"/>
                  <a:pt x="557" y="278"/>
                </a:cubicBez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031760" y="3346200"/>
            <a:ext cx="155880" cy="155880"/>
          </a:xfrm>
          <a:custGeom>
            <a:avLst/>
            <a:gdLst/>
            <a:ahLst/>
            <a:rect l="0" t="0" r="r" b="b"/>
            <a:pathLst>
              <a:path w="433" h="433">
                <a:moveTo>
                  <a:pt x="433" y="216"/>
                </a:moveTo>
                <a:cubicBezTo>
                  <a:pt x="433" y="230"/>
                  <a:pt x="432" y="245"/>
                  <a:pt x="429" y="258"/>
                </a:cubicBezTo>
                <a:cubicBezTo>
                  <a:pt x="426" y="272"/>
                  <a:pt x="422" y="286"/>
                  <a:pt x="417" y="299"/>
                </a:cubicBezTo>
                <a:cubicBezTo>
                  <a:pt x="411" y="312"/>
                  <a:pt x="404" y="325"/>
                  <a:pt x="397" y="336"/>
                </a:cubicBezTo>
                <a:cubicBezTo>
                  <a:pt x="389" y="348"/>
                  <a:pt x="380" y="359"/>
                  <a:pt x="369" y="369"/>
                </a:cubicBezTo>
                <a:cubicBezTo>
                  <a:pt x="359" y="379"/>
                  <a:pt x="348" y="388"/>
                  <a:pt x="336" y="396"/>
                </a:cubicBezTo>
                <a:cubicBezTo>
                  <a:pt x="324" y="404"/>
                  <a:pt x="312" y="410"/>
                  <a:pt x="299" y="416"/>
                </a:cubicBezTo>
                <a:cubicBezTo>
                  <a:pt x="285" y="421"/>
                  <a:pt x="272" y="426"/>
                  <a:pt x="258" y="429"/>
                </a:cubicBezTo>
                <a:cubicBezTo>
                  <a:pt x="244" y="432"/>
                  <a:pt x="230" y="433"/>
                  <a:pt x="216" y="433"/>
                </a:cubicBezTo>
                <a:cubicBezTo>
                  <a:pt x="202" y="433"/>
                  <a:pt x="188" y="432"/>
                  <a:pt x="174" y="429"/>
                </a:cubicBezTo>
                <a:cubicBezTo>
                  <a:pt x="160" y="426"/>
                  <a:pt x="146" y="421"/>
                  <a:pt x="133" y="416"/>
                </a:cubicBezTo>
                <a:cubicBezTo>
                  <a:pt x="120" y="410"/>
                  <a:pt x="108" y="404"/>
                  <a:pt x="96" y="396"/>
                </a:cubicBezTo>
                <a:cubicBezTo>
                  <a:pt x="84" y="388"/>
                  <a:pt x="73" y="379"/>
                  <a:pt x="63" y="369"/>
                </a:cubicBezTo>
                <a:cubicBezTo>
                  <a:pt x="53" y="359"/>
                  <a:pt x="44" y="348"/>
                  <a:pt x="36" y="336"/>
                </a:cubicBezTo>
                <a:cubicBezTo>
                  <a:pt x="28" y="325"/>
                  <a:pt x="22" y="312"/>
                  <a:pt x="16" y="299"/>
                </a:cubicBezTo>
                <a:cubicBezTo>
                  <a:pt x="11" y="286"/>
                  <a:pt x="7" y="272"/>
                  <a:pt x="4" y="258"/>
                </a:cubicBezTo>
                <a:cubicBezTo>
                  <a:pt x="1" y="245"/>
                  <a:pt x="0" y="230"/>
                  <a:pt x="0" y="216"/>
                </a:cubicBezTo>
                <a:cubicBezTo>
                  <a:pt x="0" y="202"/>
                  <a:pt x="1" y="188"/>
                  <a:pt x="4" y="174"/>
                </a:cubicBezTo>
                <a:cubicBezTo>
                  <a:pt x="7" y="160"/>
                  <a:pt x="11" y="147"/>
                  <a:pt x="16" y="134"/>
                </a:cubicBezTo>
                <a:cubicBezTo>
                  <a:pt x="22" y="120"/>
                  <a:pt x="28" y="108"/>
                  <a:pt x="36" y="96"/>
                </a:cubicBezTo>
                <a:cubicBezTo>
                  <a:pt x="44" y="84"/>
                  <a:pt x="53" y="74"/>
                  <a:pt x="63" y="63"/>
                </a:cubicBezTo>
                <a:cubicBezTo>
                  <a:pt x="73" y="53"/>
                  <a:pt x="84" y="44"/>
                  <a:pt x="96" y="37"/>
                </a:cubicBezTo>
                <a:cubicBezTo>
                  <a:pt x="108" y="29"/>
                  <a:pt x="120" y="22"/>
                  <a:pt x="133" y="17"/>
                </a:cubicBezTo>
                <a:cubicBezTo>
                  <a:pt x="146" y="11"/>
                  <a:pt x="160" y="7"/>
                  <a:pt x="174" y="4"/>
                </a:cubicBezTo>
                <a:cubicBezTo>
                  <a:pt x="188" y="2"/>
                  <a:pt x="202" y="0"/>
                  <a:pt x="216" y="0"/>
                </a:cubicBezTo>
                <a:cubicBezTo>
                  <a:pt x="230" y="0"/>
                  <a:pt x="244" y="2"/>
                  <a:pt x="258" y="4"/>
                </a:cubicBezTo>
                <a:cubicBezTo>
                  <a:pt x="272" y="7"/>
                  <a:pt x="285" y="11"/>
                  <a:pt x="299" y="17"/>
                </a:cubicBezTo>
                <a:cubicBezTo>
                  <a:pt x="312" y="22"/>
                  <a:pt x="324" y="29"/>
                  <a:pt x="336" y="37"/>
                </a:cubicBezTo>
                <a:cubicBezTo>
                  <a:pt x="348" y="44"/>
                  <a:pt x="359" y="53"/>
                  <a:pt x="369" y="63"/>
                </a:cubicBezTo>
                <a:cubicBezTo>
                  <a:pt x="380" y="74"/>
                  <a:pt x="389" y="84"/>
                  <a:pt x="397" y="96"/>
                </a:cubicBezTo>
                <a:cubicBezTo>
                  <a:pt x="404" y="108"/>
                  <a:pt x="411" y="120"/>
                  <a:pt x="417" y="134"/>
                </a:cubicBezTo>
                <a:cubicBezTo>
                  <a:pt x="422" y="147"/>
                  <a:pt x="426" y="160"/>
                  <a:pt x="429" y="174"/>
                </a:cubicBezTo>
                <a:cubicBezTo>
                  <a:pt x="432" y="188"/>
                  <a:pt x="433" y="202"/>
                  <a:pt x="433" y="216"/>
                </a:cubicBezTo>
                <a:close/>
              </a:path>
            </a:pathLst>
          </a:custGeom>
          <a:solidFill>
            <a:srgbClr val="E1E8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103760" y="3357360"/>
            <a:ext cx="11520" cy="72720"/>
          </a:xfrm>
          <a:custGeom>
            <a:avLst/>
            <a:gdLst/>
            <a:ahLst/>
            <a:rect l="0" t="0" r="r" b="b"/>
            <a:pathLst>
              <a:path w="32" h="202">
                <a:moveTo>
                  <a:pt x="32" y="186"/>
                </a:moveTo>
                <a:cubicBezTo>
                  <a:pt x="32" y="195"/>
                  <a:pt x="25" y="202"/>
                  <a:pt x="17" y="202"/>
                </a:cubicBezTo>
                <a:cubicBezTo>
                  <a:pt x="7" y="202"/>
                  <a:pt x="0" y="195"/>
                  <a:pt x="0" y="186"/>
                </a:cubicBezTo>
                <a:lnTo>
                  <a:pt x="0" y="15"/>
                </a:lnTo>
                <a:cubicBezTo>
                  <a:pt x="0" y="7"/>
                  <a:pt x="7" y="0"/>
                  <a:pt x="17" y="0"/>
                </a:cubicBezTo>
                <a:cubicBezTo>
                  <a:pt x="25" y="0"/>
                  <a:pt x="32" y="7"/>
                  <a:pt x="32" y="15"/>
                </a:cubicBezTo>
                <a:lnTo>
                  <a:pt x="32" y="186"/>
                </a:ln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1105200" y="3374640"/>
            <a:ext cx="36720" cy="54720"/>
          </a:xfrm>
          <a:custGeom>
            <a:avLst/>
            <a:gdLst/>
            <a:ahLst/>
            <a:rect l="0" t="0" r="r" b="b"/>
            <a:pathLst>
              <a:path w="102" h="152">
                <a:moveTo>
                  <a:pt x="94" y="2"/>
                </a:moveTo>
                <a:cubicBezTo>
                  <a:pt x="101" y="6"/>
                  <a:pt x="104" y="16"/>
                  <a:pt x="100" y="23"/>
                </a:cubicBezTo>
                <a:lnTo>
                  <a:pt x="29" y="144"/>
                </a:lnTo>
                <a:cubicBezTo>
                  <a:pt x="25" y="152"/>
                  <a:pt x="15" y="154"/>
                  <a:pt x="8" y="150"/>
                </a:cubicBezTo>
                <a:cubicBezTo>
                  <a:pt x="1" y="146"/>
                  <a:pt x="-2" y="136"/>
                  <a:pt x="2" y="129"/>
                </a:cubicBezTo>
                <a:lnTo>
                  <a:pt x="72" y="8"/>
                </a:lnTo>
                <a:cubicBezTo>
                  <a:pt x="76" y="0"/>
                  <a:pt x="87" y="-2"/>
                  <a:pt x="94" y="2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685800" y="2630880"/>
            <a:ext cx="2642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(con un entorno propio de CP4).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990720" y="3564360"/>
            <a:ext cx="93531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Duración estimada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~45–60 min. Sin GPU. 8 GB de RAM. No necesita internet salvo para instalar dependencias.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685800" y="632520"/>
            <a:ext cx="23990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Alcance y requisitos previos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CP4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1040400" y="6517080"/>
            <a:ext cx="1236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Behavioral Cloning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22759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231840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3217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325944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6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3590640" y="1314360"/>
            <a:ext cx="1238760" cy="219240"/>
          </a:xfrm>
          <a:custGeom>
            <a:avLst/>
            <a:gdLst/>
            <a:ahLst/>
            <a:rect l="0" t="0" r="r" b="b"/>
            <a:pathLst>
              <a:path w="3441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3361" y="0"/>
                </a:lnTo>
                <a:cubicBezTo>
                  <a:pt x="3372" y="0"/>
                  <a:pt x="3382" y="2"/>
                  <a:pt x="3392" y="6"/>
                </a:cubicBezTo>
                <a:cubicBezTo>
                  <a:pt x="3402" y="10"/>
                  <a:pt x="3410" y="16"/>
                  <a:pt x="3418" y="23"/>
                </a:cubicBezTo>
                <a:cubicBezTo>
                  <a:pt x="3425" y="30"/>
                  <a:pt x="3431" y="39"/>
                  <a:pt x="3435" y="49"/>
                </a:cubicBezTo>
                <a:cubicBezTo>
                  <a:pt x="3439" y="58"/>
                  <a:pt x="3441" y="69"/>
                  <a:pt x="3441" y="79"/>
                </a:cubicBezTo>
                <a:lnTo>
                  <a:pt x="3441" y="530"/>
                </a:lnTo>
                <a:cubicBezTo>
                  <a:pt x="3441" y="540"/>
                  <a:pt x="3439" y="551"/>
                  <a:pt x="3435" y="560"/>
                </a:cubicBezTo>
                <a:cubicBezTo>
                  <a:pt x="3431" y="570"/>
                  <a:pt x="3425" y="579"/>
                  <a:pt x="3418" y="586"/>
                </a:cubicBezTo>
                <a:cubicBezTo>
                  <a:pt x="3410" y="593"/>
                  <a:pt x="3402" y="599"/>
                  <a:pt x="3392" y="603"/>
                </a:cubicBezTo>
                <a:cubicBezTo>
                  <a:pt x="3382" y="607"/>
                  <a:pt x="3372" y="609"/>
                  <a:pt x="3361" y="609"/>
                </a:cubicBezTo>
                <a:lnTo>
                  <a:pt x="80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40" y="599"/>
                  <a:pt x="31" y="593"/>
                  <a:pt x="24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685800" y="1325880"/>
            <a:ext cx="28962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Usará un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simulador de autopista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3643920" y="1328040"/>
            <a:ext cx="11311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highway-env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4827240" y="1325880"/>
            <a:ext cx="5299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) para: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860400" y="1811520"/>
            <a:ext cx="6377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Generar un dataset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viendo conducir a un "experto" (~5000 pares imagen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7248960" y="177840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7449120" y="1811520"/>
            <a:ext cx="13557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giro de volante).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860760" y="2144880"/>
            <a:ext cx="9667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2.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Entrenar una red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(PilotNet, una CNN pequeña) que predice el giro a partir de la imagen. En CPU, en unos minutos.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860760" y="2487960"/>
            <a:ext cx="61988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3.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Evaluarla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situaciones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conocidas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vs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nuevas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(otra densidad de tráfico).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685440" y="3495600"/>
            <a:ext cx="10820880" cy="428760"/>
          </a:xfrm>
          <a:custGeom>
            <a:avLst/>
            <a:gdLst/>
            <a:ahLst/>
            <a:rect l="0" t="0" r="r" b="b"/>
            <a:pathLst>
              <a:path w="30058" h="1191">
                <a:moveTo>
                  <a:pt x="0" y="0"/>
                </a:moveTo>
                <a:lnTo>
                  <a:pt x="30058" y="0"/>
                </a:lnTo>
                <a:lnTo>
                  <a:pt x="3005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685440" y="3495600"/>
            <a:ext cx="29160" cy="428760"/>
          </a:xfrm>
          <a:custGeom>
            <a:avLst/>
            <a:gdLst/>
            <a:ahLst/>
            <a:rect l="0" t="0" r="r" b="b"/>
            <a:pathLst>
              <a:path w="81" h="1191">
                <a:moveTo>
                  <a:pt x="0" y="0"/>
                </a:moveTo>
                <a:lnTo>
                  <a:pt x="81" y="0"/>
                </a:lnTo>
                <a:lnTo>
                  <a:pt x="81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860760" y="2830680"/>
            <a:ext cx="58287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4.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Ver fallar al modelo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cuando conduce él solo: el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compounding error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990720" y="3602520"/>
            <a:ext cx="8437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La pregunta del caso: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¿por qué Tesla puede hacer esto en producción y un proyecto académico no?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685800" y="632520"/>
            <a:ext cx="17791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Objeto de la práctica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CP4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040400" y="6517080"/>
            <a:ext cx="1236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Behavioral Cloning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22759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231840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3217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325944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5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685800" y="1325880"/>
            <a:ext cx="3898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Al finalizar la práctica, el alumno será capaz de: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860400" y="1811520"/>
            <a:ext cx="63507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1. Entender qué es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Behavioral Cloning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(aprender por imitación) y sus límites.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860760" y="2144880"/>
            <a:ext cx="8924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2. Reconocer el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sesgo de los datos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(en autopista casi siempre se va recto) y cómo afecta al entrenamiento.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860760" y="2487960"/>
            <a:ext cx="59929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3. Distinguir rendimiento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distribución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vs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fuera de distribución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(OOD).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860760" y="2830680"/>
            <a:ext cx="94244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4.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Vivir el compounding error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por qué un modelo que imita bien en teoría se sale de la carretera al conducir solo.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860760" y="3164040"/>
            <a:ext cx="9077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5. Razonar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mitigaciones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(DAgger, data augmentation…) y por qué la escala de datos de Tesla cambia el juego.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685800" y="632520"/>
            <a:ext cx="20797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Objetivos de aprendizaje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CP4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1040400" y="6517080"/>
            <a:ext cx="1236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Behavioral Cloning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22759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231840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3217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325944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7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695160" y="1371240"/>
            <a:ext cx="2029320" cy="362520"/>
          </a:xfrm>
          <a:custGeom>
            <a:avLst/>
            <a:gdLst/>
            <a:ahLst/>
            <a:rect l="0" t="0" r="r" b="b"/>
            <a:pathLst>
              <a:path w="5637" h="1007">
                <a:moveTo>
                  <a:pt x="0" y="0"/>
                </a:moveTo>
                <a:lnTo>
                  <a:pt x="5637" y="0"/>
                </a:lnTo>
                <a:lnTo>
                  <a:pt x="563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2724120" y="1371240"/>
            <a:ext cx="3333960" cy="362520"/>
          </a:xfrm>
          <a:custGeom>
            <a:avLst/>
            <a:gdLst/>
            <a:ahLst/>
            <a:rect l="0" t="0" r="r" b="b"/>
            <a:pathLst>
              <a:path w="9261" h="1007">
                <a:moveTo>
                  <a:pt x="0" y="0"/>
                </a:moveTo>
                <a:lnTo>
                  <a:pt x="9261" y="0"/>
                </a:lnTo>
                <a:lnTo>
                  <a:pt x="9261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6057720" y="1371240"/>
            <a:ext cx="886320" cy="362520"/>
          </a:xfrm>
          <a:custGeom>
            <a:avLst/>
            <a:gdLst/>
            <a:ahLst/>
            <a:rect l="0" t="0" r="r" b="b"/>
            <a:pathLst>
              <a:path w="2462" h="1007">
                <a:moveTo>
                  <a:pt x="0" y="0"/>
                </a:moveTo>
                <a:lnTo>
                  <a:pt x="2462" y="0"/>
                </a:lnTo>
                <a:lnTo>
                  <a:pt x="2462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695160" y="1371240"/>
            <a:ext cx="2029320" cy="362520"/>
          </a:xfrm>
          <a:custGeom>
            <a:avLst/>
            <a:gdLst/>
            <a:ahLst/>
            <a:rect l="0" t="0" r="r" b="b"/>
            <a:pathLst>
              <a:path w="5637" h="1007">
                <a:moveTo>
                  <a:pt x="0" y="0"/>
                </a:moveTo>
                <a:lnTo>
                  <a:pt x="5637" y="0"/>
                </a:lnTo>
                <a:lnTo>
                  <a:pt x="563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2724120" y="1371240"/>
            <a:ext cx="3333960" cy="362520"/>
          </a:xfrm>
          <a:custGeom>
            <a:avLst/>
            <a:gdLst/>
            <a:ahLst/>
            <a:rect l="0" t="0" r="r" b="b"/>
            <a:pathLst>
              <a:path w="9261" h="1007">
                <a:moveTo>
                  <a:pt x="0" y="0"/>
                </a:moveTo>
                <a:lnTo>
                  <a:pt x="9261" y="0"/>
                </a:lnTo>
                <a:lnTo>
                  <a:pt x="9261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6057720" y="1371240"/>
            <a:ext cx="886320" cy="362520"/>
          </a:xfrm>
          <a:custGeom>
            <a:avLst/>
            <a:gdLst/>
            <a:ahLst/>
            <a:rect l="0" t="0" r="r" b="b"/>
            <a:pathLst>
              <a:path w="2462" h="1007">
                <a:moveTo>
                  <a:pt x="0" y="0"/>
                </a:moveTo>
                <a:lnTo>
                  <a:pt x="2462" y="0"/>
                </a:lnTo>
                <a:lnTo>
                  <a:pt x="2462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695160" y="1733400"/>
            <a:ext cx="2029320" cy="371880"/>
          </a:xfrm>
          <a:custGeom>
            <a:avLst/>
            <a:gdLst/>
            <a:ahLst/>
            <a:rect l="0" t="0" r="r" b="b"/>
            <a:pathLst>
              <a:path w="5637" h="1033">
                <a:moveTo>
                  <a:pt x="0" y="0"/>
                </a:moveTo>
                <a:lnTo>
                  <a:pt x="5637" y="0"/>
                </a:lnTo>
                <a:lnTo>
                  <a:pt x="563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2724120" y="1733400"/>
            <a:ext cx="3333960" cy="371880"/>
          </a:xfrm>
          <a:custGeom>
            <a:avLst/>
            <a:gdLst/>
            <a:ahLst/>
            <a:rect l="0" t="0" r="r" b="b"/>
            <a:pathLst>
              <a:path w="9261" h="1033">
                <a:moveTo>
                  <a:pt x="0" y="0"/>
                </a:moveTo>
                <a:lnTo>
                  <a:pt x="9261" y="0"/>
                </a:lnTo>
                <a:lnTo>
                  <a:pt x="926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6057720" y="1733400"/>
            <a:ext cx="886320" cy="371880"/>
          </a:xfrm>
          <a:custGeom>
            <a:avLst/>
            <a:gdLst/>
            <a:ahLst/>
            <a:rect l="0" t="0" r="r" b="b"/>
            <a:pathLst>
              <a:path w="2462" h="1033">
                <a:moveTo>
                  <a:pt x="0" y="0"/>
                </a:moveTo>
                <a:lnTo>
                  <a:pt x="2462" y="0"/>
                </a:lnTo>
                <a:lnTo>
                  <a:pt x="246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695160" y="2104920"/>
            <a:ext cx="2029320" cy="362160"/>
          </a:xfrm>
          <a:custGeom>
            <a:avLst/>
            <a:gdLst/>
            <a:ahLst/>
            <a:rect l="0" t="0" r="r" b="b"/>
            <a:pathLst>
              <a:path w="5637" h="1006">
                <a:moveTo>
                  <a:pt x="0" y="0"/>
                </a:moveTo>
                <a:lnTo>
                  <a:pt x="5637" y="0"/>
                </a:lnTo>
                <a:lnTo>
                  <a:pt x="563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2724120" y="2104920"/>
            <a:ext cx="3333960" cy="362160"/>
          </a:xfrm>
          <a:custGeom>
            <a:avLst/>
            <a:gdLst/>
            <a:ahLst/>
            <a:rect l="0" t="0" r="r" b="b"/>
            <a:pathLst>
              <a:path w="9261" h="1006">
                <a:moveTo>
                  <a:pt x="0" y="0"/>
                </a:moveTo>
                <a:lnTo>
                  <a:pt x="9261" y="0"/>
                </a:lnTo>
                <a:lnTo>
                  <a:pt x="9261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057720" y="2104920"/>
            <a:ext cx="886320" cy="362160"/>
          </a:xfrm>
          <a:custGeom>
            <a:avLst/>
            <a:gdLst/>
            <a:ahLst/>
            <a:rect l="0" t="0" r="r" b="b"/>
            <a:pathLst>
              <a:path w="2462" h="1006">
                <a:moveTo>
                  <a:pt x="0" y="0"/>
                </a:moveTo>
                <a:lnTo>
                  <a:pt x="2462" y="0"/>
                </a:lnTo>
                <a:lnTo>
                  <a:pt x="2462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695160" y="2466720"/>
            <a:ext cx="2029320" cy="371880"/>
          </a:xfrm>
          <a:custGeom>
            <a:avLst/>
            <a:gdLst/>
            <a:ahLst/>
            <a:rect l="0" t="0" r="r" b="b"/>
            <a:pathLst>
              <a:path w="5637" h="1033">
                <a:moveTo>
                  <a:pt x="0" y="0"/>
                </a:moveTo>
                <a:lnTo>
                  <a:pt x="5637" y="0"/>
                </a:lnTo>
                <a:lnTo>
                  <a:pt x="563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2724120" y="2466720"/>
            <a:ext cx="3333960" cy="371880"/>
          </a:xfrm>
          <a:custGeom>
            <a:avLst/>
            <a:gdLst/>
            <a:ahLst/>
            <a:rect l="0" t="0" r="r" b="b"/>
            <a:pathLst>
              <a:path w="9261" h="1033">
                <a:moveTo>
                  <a:pt x="0" y="0"/>
                </a:moveTo>
                <a:lnTo>
                  <a:pt x="9261" y="0"/>
                </a:lnTo>
                <a:lnTo>
                  <a:pt x="926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6057720" y="2466720"/>
            <a:ext cx="886320" cy="371880"/>
          </a:xfrm>
          <a:custGeom>
            <a:avLst/>
            <a:gdLst/>
            <a:ahLst/>
            <a:rect l="0" t="0" r="r" b="b"/>
            <a:pathLst>
              <a:path w="2462" h="1033">
                <a:moveTo>
                  <a:pt x="0" y="0"/>
                </a:moveTo>
                <a:lnTo>
                  <a:pt x="2462" y="0"/>
                </a:lnTo>
                <a:lnTo>
                  <a:pt x="246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695160" y="2838240"/>
            <a:ext cx="2029320" cy="362160"/>
          </a:xfrm>
          <a:custGeom>
            <a:avLst/>
            <a:gdLst/>
            <a:ahLst/>
            <a:rect l="0" t="0" r="r" b="b"/>
            <a:pathLst>
              <a:path w="5637" h="1006">
                <a:moveTo>
                  <a:pt x="0" y="0"/>
                </a:moveTo>
                <a:lnTo>
                  <a:pt x="5637" y="0"/>
                </a:lnTo>
                <a:lnTo>
                  <a:pt x="563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2724120" y="2838240"/>
            <a:ext cx="3333960" cy="362160"/>
          </a:xfrm>
          <a:custGeom>
            <a:avLst/>
            <a:gdLst/>
            <a:ahLst/>
            <a:rect l="0" t="0" r="r" b="b"/>
            <a:pathLst>
              <a:path w="9261" h="1006">
                <a:moveTo>
                  <a:pt x="0" y="0"/>
                </a:moveTo>
                <a:lnTo>
                  <a:pt x="9261" y="0"/>
                </a:lnTo>
                <a:lnTo>
                  <a:pt x="9261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6057720" y="2838240"/>
            <a:ext cx="886320" cy="362160"/>
          </a:xfrm>
          <a:custGeom>
            <a:avLst/>
            <a:gdLst/>
            <a:ahLst/>
            <a:rect l="0" t="0" r="r" b="b"/>
            <a:pathLst>
              <a:path w="2462" h="1006">
                <a:moveTo>
                  <a:pt x="0" y="0"/>
                </a:moveTo>
                <a:lnTo>
                  <a:pt x="2462" y="0"/>
                </a:lnTo>
                <a:lnTo>
                  <a:pt x="2462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695160" y="3200040"/>
            <a:ext cx="2029320" cy="371880"/>
          </a:xfrm>
          <a:custGeom>
            <a:avLst/>
            <a:gdLst/>
            <a:ahLst/>
            <a:rect l="0" t="0" r="r" b="b"/>
            <a:pathLst>
              <a:path w="5637" h="1033">
                <a:moveTo>
                  <a:pt x="0" y="0"/>
                </a:moveTo>
                <a:lnTo>
                  <a:pt x="5637" y="0"/>
                </a:lnTo>
                <a:lnTo>
                  <a:pt x="563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2724120" y="3200040"/>
            <a:ext cx="3333960" cy="371880"/>
          </a:xfrm>
          <a:custGeom>
            <a:avLst/>
            <a:gdLst/>
            <a:ahLst/>
            <a:rect l="0" t="0" r="r" b="b"/>
            <a:pathLst>
              <a:path w="9261" h="1033">
                <a:moveTo>
                  <a:pt x="0" y="0"/>
                </a:moveTo>
                <a:lnTo>
                  <a:pt x="9261" y="0"/>
                </a:lnTo>
                <a:lnTo>
                  <a:pt x="9261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6057720" y="3200040"/>
            <a:ext cx="886320" cy="371880"/>
          </a:xfrm>
          <a:custGeom>
            <a:avLst/>
            <a:gdLst/>
            <a:ahLst/>
            <a:rect l="0" t="0" r="r" b="b"/>
            <a:pathLst>
              <a:path w="2462" h="1033">
                <a:moveTo>
                  <a:pt x="0" y="0"/>
                </a:moveTo>
                <a:lnTo>
                  <a:pt x="2462" y="0"/>
                </a:lnTo>
                <a:lnTo>
                  <a:pt x="246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695160" y="3571560"/>
            <a:ext cx="2029320" cy="362520"/>
          </a:xfrm>
          <a:custGeom>
            <a:avLst/>
            <a:gdLst/>
            <a:ahLst/>
            <a:rect l="0" t="0" r="r" b="b"/>
            <a:pathLst>
              <a:path w="5637" h="1007">
                <a:moveTo>
                  <a:pt x="0" y="0"/>
                </a:moveTo>
                <a:lnTo>
                  <a:pt x="5637" y="0"/>
                </a:lnTo>
                <a:lnTo>
                  <a:pt x="563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2724120" y="3571560"/>
            <a:ext cx="3333960" cy="362520"/>
          </a:xfrm>
          <a:custGeom>
            <a:avLst/>
            <a:gdLst/>
            <a:ahLst/>
            <a:rect l="0" t="0" r="r" b="b"/>
            <a:pathLst>
              <a:path w="9261" h="1007">
                <a:moveTo>
                  <a:pt x="0" y="0"/>
                </a:moveTo>
                <a:lnTo>
                  <a:pt x="9261" y="0"/>
                </a:lnTo>
                <a:lnTo>
                  <a:pt x="9261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6057720" y="3571560"/>
            <a:ext cx="886320" cy="362520"/>
          </a:xfrm>
          <a:custGeom>
            <a:avLst/>
            <a:gdLst/>
            <a:ahLst/>
            <a:rect l="0" t="0" r="r" b="b"/>
            <a:pathLst>
              <a:path w="2462" h="1007">
                <a:moveTo>
                  <a:pt x="0" y="0"/>
                </a:moveTo>
                <a:lnTo>
                  <a:pt x="2462" y="0"/>
                </a:lnTo>
                <a:lnTo>
                  <a:pt x="2462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685440" y="13618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685440" y="1361880"/>
            <a:ext cx="2039040" cy="9720"/>
          </a:xfrm>
          <a:custGeom>
            <a:avLst/>
            <a:gdLst/>
            <a:ahLst/>
            <a:rect l="0" t="0" r="r" b="b"/>
            <a:pathLst>
              <a:path w="5664" h="27">
                <a:moveTo>
                  <a:pt x="0" y="0"/>
                </a:moveTo>
                <a:lnTo>
                  <a:pt x="5664" y="0"/>
                </a:lnTo>
                <a:lnTo>
                  <a:pt x="56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2714400" y="13618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2724120" y="1361880"/>
            <a:ext cx="3333960" cy="9720"/>
          </a:xfrm>
          <a:custGeom>
            <a:avLst/>
            <a:gdLst/>
            <a:ahLst/>
            <a:rect l="0" t="0" r="r" b="b"/>
            <a:pathLst>
              <a:path w="9261" h="27">
                <a:moveTo>
                  <a:pt x="0" y="0"/>
                </a:moveTo>
                <a:lnTo>
                  <a:pt x="9261" y="0"/>
                </a:lnTo>
                <a:lnTo>
                  <a:pt x="926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6048360" y="13618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6057720" y="1361880"/>
            <a:ext cx="895680" cy="9720"/>
          </a:xfrm>
          <a:custGeom>
            <a:avLst/>
            <a:gdLst/>
            <a:ahLst/>
            <a:rect l="0" t="0" r="r" b="b"/>
            <a:pathLst>
              <a:path w="2488" h="27">
                <a:moveTo>
                  <a:pt x="0" y="0"/>
                </a:moveTo>
                <a:lnTo>
                  <a:pt x="2488" y="0"/>
                </a:lnTo>
                <a:lnTo>
                  <a:pt x="24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6943680" y="13618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685440" y="1733400"/>
            <a:ext cx="2039040" cy="9720"/>
          </a:xfrm>
          <a:custGeom>
            <a:avLst/>
            <a:gdLst/>
            <a:ahLst/>
            <a:rect l="0" t="0" r="r" b="b"/>
            <a:pathLst>
              <a:path w="5664" h="27">
                <a:moveTo>
                  <a:pt x="0" y="0"/>
                </a:moveTo>
                <a:lnTo>
                  <a:pt x="5664" y="0"/>
                </a:lnTo>
                <a:lnTo>
                  <a:pt x="56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2724120" y="1733400"/>
            <a:ext cx="3333960" cy="9720"/>
          </a:xfrm>
          <a:custGeom>
            <a:avLst/>
            <a:gdLst/>
            <a:ahLst/>
            <a:rect l="0" t="0" r="r" b="b"/>
            <a:pathLst>
              <a:path w="9261" h="27">
                <a:moveTo>
                  <a:pt x="0" y="0"/>
                </a:moveTo>
                <a:lnTo>
                  <a:pt x="9261" y="0"/>
                </a:lnTo>
                <a:lnTo>
                  <a:pt x="926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6057720" y="1733400"/>
            <a:ext cx="895680" cy="9720"/>
          </a:xfrm>
          <a:custGeom>
            <a:avLst/>
            <a:gdLst/>
            <a:ahLst/>
            <a:rect l="0" t="0" r="r" b="b"/>
            <a:pathLst>
              <a:path w="2488" h="27">
                <a:moveTo>
                  <a:pt x="0" y="0"/>
                </a:moveTo>
                <a:lnTo>
                  <a:pt x="2488" y="0"/>
                </a:lnTo>
                <a:lnTo>
                  <a:pt x="24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685440" y="174276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2714400" y="174276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6048360" y="1742760"/>
            <a:ext cx="9720" cy="362520"/>
          </a:xfrm>
          <a:custGeom>
            <a:avLst/>
            <a:gdLst/>
            <a:ahLst/>
            <a:rect l="0" t="0" r="r" b="b"/>
            <a:pathLst>
              <a:path w="27" h="1007">
                <a:moveTo>
                  <a:pt x="0" y="0"/>
                </a:moveTo>
                <a:lnTo>
                  <a:pt x="27" y="0"/>
                </a:lnTo>
                <a:lnTo>
                  <a:pt x="2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6943680" y="1742760"/>
            <a:ext cx="9720" cy="362520"/>
          </a:xfrm>
          <a:custGeom>
            <a:avLst/>
            <a:gdLst/>
            <a:ahLst/>
            <a:rect l="0" t="0" r="r" b="b"/>
            <a:pathLst>
              <a:path w="27" h="1007">
                <a:moveTo>
                  <a:pt x="0" y="0"/>
                </a:moveTo>
                <a:lnTo>
                  <a:pt x="27" y="0"/>
                </a:lnTo>
                <a:lnTo>
                  <a:pt x="2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685440" y="21049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685440" y="2095200"/>
            <a:ext cx="2039040" cy="10080"/>
          </a:xfrm>
          <a:custGeom>
            <a:avLst/>
            <a:gdLst/>
            <a:ahLst/>
            <a:rect l="0" t="0" r="r" b="b"/>
            <a:pathLst>
              <a:path w="5664" h="28">
                <a:moveTo>
                  <a:pt x="0" y="0"/>
                </a:moveTo>
                <a:lnTo>
                  <a:pt x="5664" y="0"/>
                </a:lnTo>
                <a:lnTo>
                  <a:pt x="56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2714400" y="21049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2724120" y="2095200"/>
            <a:ext cx="3333960" cy="10080"/>
          </a:xfrm>
          <a:custGeom>
            <a:avLst/>
            <a:gdLst/>
            <a:ahLst/>
            <a:rect l="0" t="0" r="r" b="b"/>
            <a:pathLst>
              <a:path w="9261" h="28">
                <a:moveTo>
                  <a:pt x="0" y="0"/>
                </a:moveTo>
                <a:lnTo>
                  <a:pt x="9261" y="0"/>
                </a:lnTo>
                <a:lnTo>
                  <a:pt x="926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6048360" y="21049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6057720" y="2095200"/>
            <a:ext cx="895680" cy="10080"/>
          </a:xfrm>
          <a:custGeom>
            <a:avLst/>
            <a:gdLst/>
            <a:ahLst/>
            <a:rect l="0" t="0" r="r" b="b"/>
            <a:pathLst>
              <a:path w="2488" h="28">
                <a:moveTo>
                  <a:pt x="0" y="0"/>
                </a:moveTo>
                <a:lnTo>
                  <a:pt x="2488" y="0"/>
                </a:lnTo>
                <a:lnTo>
                  <a:pt x="24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6943680" y="21049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685440" y="247644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685440" y="2466720"/>
            <a:ext cx="2039040" cy="10080"/>
          </a:xfrm>
          <a:custGeom>
            <a:avLst/>
            <a:gdLst/>
            <a:ahLst/>
            <a:rect l="0" t="0" r="r" b="b"/>
            <a:pathLst>
              <a:path w="5664" h="28">
                <a:moveTo>
                  <a:pt x="0" y="0"/>
                </a:moveTo>
                <a:lnTo>
                  <a:pt x="5664" y="0"/>
                </a:lnTo>
                <a:lnTo>
                  <a:pt x="56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2714400" y="247644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2724120" y="2466720"/>
            <a:ext cx="3333960" cy="10080"/>
          </a:xfrm>
          <a:custGeom>
            <a:avLst/>
            <a:gdLst/>
            <a:ahLst/>
            <a:rect l="0" t="0" r="r" b="b"/>
            <a:pathLst>
              <a:path w="9261" h="28">
                <a:moveTo>
                  <a:pt x="0" y="0"/>
                </a:moveTo>
                <a:lnTo>
                  <a:pt x="9261" y="0"/>
                </a:lnTo>
                <a:lnTo>
                  <a:pt x="926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6048360" y="247644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6057720" y="2466720"/>
            <a:ext cx="895680" cy="10080"/>
          </a:xfrm>
          <a:custGeom>
            <a:avLst/>
            <a:gdLst/>
            <a:ahLst/>
            <a:rect l="0" t="0" r="r" b="b"/>
            <a:pathLst>
              <a:path w="2488" h="28">
                <a:moveTo>
                  <a:pt x="0" y="0"/>
                </a:moveTo>
                <a:lnTo>
                  <a:pt x="2488" y="0"/>
                </a:lnTo>
                <a:lnTo>
                  <a:pt x="24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6943680" y="247644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685440" y="28382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685440" y="2828880"/>
            <a:ext cx="2039040" cy="9720"/>
          </a:xfrm>
          <a:custGeom>
            <a:avLst/>
            <a:gdLst/>
            <a:ahLst/>
            <a:rect l="0" t="0" r="r" b="b"/>
            <a:pathLst>
              <a:path w="5664" h="27">
                <a:moveTo>
                  <a:pt x="0" y="0"/>
                </a:moveTo>
                <a:lnTo>
                  <a:pt x="5664" y="0"/>
                </a:lnTo>
                <a:lnTo>
                  <a:pt x="56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2714400" y="28382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2724120" y="2828880"/>
            <a:ext cx="3333960" cy="9720"/>
          </a:xfrm>
          <a:custGeom>
            <a:avLst/>
            <a:gdLst/>
            <a:ahLst/>
            <a:rect l="0" t="0" r="r" b="b"/>
            <a:pathLst>
              <a:path w="9261" h="27">
                <a:moveTo>
                  <a:pt x="0" y="0"/>
                </a:moveTo>
                <a:lnTo>
                  <a:pt x="9261" y="0"/>
                </a:lnTo>
                <a:lnTo>
                  <a:pt x="926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6048360" y="28382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6057720" y="2828880"/>
            <a:ext cx="895680" cy="9720"/>
          </a:xfrm>
          <a:custGeom>
            <a:avLst/>
            <a:gdLst/>
            <a:ahLst/>
            <a:rect l="0" t="0" r="r" b="b"/>
            <a:pathLst>
              <a:path w="2488" h="27">
                <a:moveTo>
                  <a:pt x="0" y="0"/>
                </a:moveTo>
                <a:lnTo>
                  <a:pt x="2488" y="0"/>
                </a:lnTo>
                <a:lnTo>
                  <a:pt x="24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6943680" y="28382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685440" y="320976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685440" y="3200040"/>
            <a:ext cx="2039040" cy="10080"/>
          </a:xfrm>
          <a:custGeom>
            <a:avLst/>
            <a:gdLst/>
            <a:ahLst/>
            <a:rect l="0" t="0" r="r" b="b"/>
            <a:pathLst>
              <a:path w="5664" h="28">
                <a:moveTo>
                  <a:pt x="0" y="0"/>
                </a:moveTo>
                <a:lnTo>
                  <a:pt x="5664" y="0"/>
                </a:lnTo>
                <a:lnTo>
                  <a:pt x="56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2714400" y="320976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2724120" y="3200040"/>
            <a:ext cx="3333960" cy="10080"/>
          </a:xfrm>
          <a:custGeom>
            <a:avLst/>
            <a:gdLst/>
            <a:ahLst/>
            <a:rect l="0" t="0" r="r" b="b"/>
            <a:pathLst>
              <a:path w="9261" h="28">
                <a:moveTo>
                  <a:pt x="0" y="0"/>
                </a:moveTo>
                <a:lnTo>
                  <a:pt x="9261" y="0"/>
                </a:lnTo>
                <a:lnTo>
                  <a:pt x="926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6048360" y="320976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6057720" y="3200040"/>
            <a:ext cx="895680" cy="10080"/>
          </a:xfrm>
          <a:custGeom>
            <a:avLst/>
            <a:gdLst/>
            <a:ahLst/>
            <a:rect l="0" t="0" r="r" b="b"/>
            <a:pathLst>
              <a:path w="2488" h="28">
                <a:moveTo>
                  <a:pt x="0" y="0"/>
                </a:moveTo>
                <a:lnTo>
                  <a:pt x="2488" y="0"/>
                </a:lnTo>
                <a:lnTo>
                  <a:pt x="24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6943680" y="320976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68544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685440" y="3562200"/>
            <a:ext cx="2039040" cy="9720"/>
          </a:xfrm>
          <a:custGeom>
            <a:avLst/>
            <a:gdLst/>
            <a:ahLst/>
            <a:rect l="0" t="0" r="r" b="b"/>
            <a:pathLst>
              <a:path w="5664" h="27">
                <a:moveTo>
                  <a:pt x="0" y="0"/>
                </a:moveTo>
                <a:lnTo>
                  <a:pt x="5664" y="0"/>
                </a:lnTo>
                <a:lnTo>
                  <a:pt x="56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271440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2724120" y="3562200"/>
            <a:ext cx="3333960" cy="9720"/>
          </a:xfrm>
          <a:custGeom>
            <a:avLst/>
            <a:gdLst/>
            <a:ahLst/>
            <a:rect l="0" t="0" r="r" b="b"/>
            <a:pathLst>
              <a:path w="9261" h="27">
                <a:moveTo>
                  <a:pt x="0" y="0"/>
                </a:moveTo>
                <a:lnTo>
                  <a:pt x="9261" y="0"/>
                </a:lnTo>
                <a:lnTo>
                  <a:pt x="926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604836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6057720" y="3562200"/>
            <a:ext cx="895680" cy="9720"/>
          </a:xfrm>
          <a:custGeom>
            <a:avLst/>
            <a:gdLst/>
            <a:ahLst/>
            <a:rect l="0" t="0" r="r" b="b"/>
            <a:pathLst>
              <a:path w="2488" h="27">
                <a:moveTo>
                  <a:pt x="0" y="0"/>
                </a:moveTo>
                <a:lnTo>
                  <a:pt x="2488" y="0"/>
                </a:lnTo>
                <a:lnTo>
                  <a:pt x="24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694368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685440" y="3933720"/>
            <a:ext cx="2039040" cy="9720"/>
          </a:xfrm>
          <a:custGeom>
            <a:avLst/>
            <a:gdLst/>
            <a:ahLst/>
            <a:rect l="0" t="0" r="r" b="b"/>
            <a:pathLst>
              <a:path w="5664" h="27">
                <a:moveTo>
                  <a:pt x="0" y="0"/>
                </a:moveTo>
                <a:lnTo>
                  <a:pt x="5664" y="0"/>
                </a:lnTo>
                <a:lnTo>
                  <a:pt x="56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2724120" y="3933720"/>
            <a:ext cx="3333960" cy="9720"/>
          </a:xfrm>
          <a:custGeom>
            <a:avLst/>
            <a:gdLst/>
            <a:ahLst/>
            <a:rect l="0" t="0" r="r" b="b"/>
            <a:pathLst>
              <a:path w="9261" h="27">
                <a:moveTo>
                  <a:pt x="0" y="0"/>
                </a:moveTo>
                <a:lnTo>
                  <a:pt x="9261" y="0"/>
                </a:lnTo>
                <a:lnTo>
                  <a:pt x="926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6057720" y="3933720"/>
            <a:ext cx="895680" cy="9720"/>
          </a:xfrm>
          <a:custGeom>
            <a:avLst/>
            <a:gdLst/>
            <a:ahLst/>
            <a:rect l="0" t="0" r="r" b="b"/>
            <a:pathLst>
              <a:path w="2488" h="27">
                <a:moveTo>
                  <a:pt x="0" y="0"/>
                </a:moveTo>
                <a:lnTo>
                  <a:pt x="2488" y="0"/>
                </a:lnTo>
                <a:lnTo>
                  <a:pt x="24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819000" y="1470600"/>
            <a:ext cx="5266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Archivo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2847960" y="1470600"/>
            <a:ext cx="539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Función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819000" y="1838160"/>
            <a:ext cx="781200" cy="171720"/>
          </a:xfrm>
          <a:custGeom>
            <a:avLst/>
            <a:gdLst/>
            <a:ahLst/>
            <a:rect l="0" t="0" r="r" b="b"/>
            <a:pathLst>
              <a:path w="2170" h="477">
                <a:moveTo>
                  <a:pt x="0" y="398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2091" y="0"/>
                </a:lnTo>
                <a:cubicBezTo>
                  <a:pt x="2102" y="0"/>
                  <a:pt x="2112" y="2"/>
                  <a:pt x="2121" y="6"/>
                </a:cubicBezTo>
                <a:cubicBezTo>
                  <a:pt x="2131" y="10"/>
                  <a:pt x="2140" y="16"/>
                  <a:pt x="2147" y="23"/>
                </a:cubicBezTo>
                <a:cubicBezTo>
                  <a:pt x="2155" y="31"/>
                  <a:pt x="2160" y="39"/>
                  <a:pt x="2164" y="49"/>
                </a:cubicBezTo>
                <a:cubicBezTo>
                  <a:pt x="2168" y="59"/>
                  <a:pt x="2170" y="69"/>
                  <a:pt x="2170" y="79"/>
                </a:cubicBezTo>
                <a:lnTo>
                  <a:pt x="2170" y="398"/>
                </a:lnTo>
                <a:cubicBezTo>
                  <a:pt x="2170" y="408"/>
                  <a:pt x="2168" y="418"/>
                  <a:pt x="2164" y="428"/>
                </a:cubicBezTo>
                <a:cubicBezTo>
                  <a:pt x="2160" y="438"/>
                  <a:pt x="2155" y="447"/>
                  <a:pt x="2147" y="454"/>
                </a:cubicBezTo>
                <a:cubicBezTo>
                  <a:pt x="2140" y="461"/>
                  <a:pt x="2131" y="467"/>
                  <a:pt x="2121" y="471"/>
                </a:cubicBezTo>
                <a:cubicBezTo>
                  <a:pt x="2112" y="475"/>
                  <a:pt x="2102" y="477"/>
                  <a:pt x="2091" y="477"/>
                </a:cubicBezTo>
                <a:lnTo>
                  <a:pt x="79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39" y="467"/>
                  <a:pt x="31" y="461"/>
                  <a:pt x="23" y="454"/>
                </a:cubicBezTo>
                <a:cubicBezTo>
                  <a:pt x="16" y="447"/>
                  <a:pt x="10" y="438"/>
                  <a:pt x="6" y="428"/>
                </a:cubicBezTo>
                <a:cubicBezTo>
                  <a:pt x="2" y="418"/>
                  <a:pt x="0" y="408"/>
                  <a:pt x="0" y="398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6186240" y="1470600"/>
            <a:ext cx="6310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Duración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876240" y="1843920"/>
            <a:ext cx="6613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02_setup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2847960" y="1842120"/>
            <a:ext cx="30747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Verifica el entorno + genera/carga el dataset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819000" y="2199960"/>
            <a:ext cx="943200" cy="172080"/>
          </a:xfrm>
          <a:custGeom>
            <a:avLst/>
            <a:gdLst/>
            <a:ahLst/>
            <a:rect l="0" t="0" r="r" b="b"/>
            <a:pathLst>
              <a:path w="2620" h="478">
                <a:moveTo>
                  <a:pt x="0" y="398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2541" y="0"/>
                </a:lnTo>
                <a:cubicBezTo>
                  <a:pt x="2551" y="0"/>
                  <a:pt x="2562" y="2"/>
                  <a:pt x="2571" y="6"/>
                </a:cubicBezTo>
                <a:cubicBezTo>
                  <a:pt x="2581" y="10"/>
                  <a:pt x="2590" y="16"/>
                  <a:pt x="2597" y="24"/>
                </a:cubicBezTo>
                <a:cubicBezTo>
                  <a:pt x="2604" y="31"/>
                  <a:pt x="2610" y="40"/>
                  <a:pt x="2614" y="49"/>
                </a:cubicBezTo>
                <a:cubicBezTo>
                  <a:pt x="2618" y="59"/>
                  <a:pt x="2620" y="69"/>
                  <a:pt x="2620" y="80"/>
                </a:cubicBezTo>
                <a:lnTo>
                  <a:pt x="2620" y="398"/>
                </a:lnTo>
                <a:cubicBezTo>
                  <a:pt x="2620" y="409"/>
                  <a:pt x="2618" y="419"/>
                  <a:pt x="2614" y="429"/>
                </a:cubicBezTo>
                <a:cubicBezTo>
                  <a:pt x="2610" y="438"/>
                  <a:pt x="2604" y="447"/>
                  <a:pt x="2597" y="454"/>
                </a:cubicBezTo>
                <a:cubicBezTo>
                  <a:pt x="2590" y="462"/>
                  <a:pt x="2581" y="468"/>
                  <a:pt x="2571" y="472"/>
                </a:cubicBezTo>
                <a:cubicBezTo>
                  <a:pt x="2562" y="476"/>
                  <a:pt x="2551" y="478"/>
                  <a:pt x="2541" y="478"/>
                </a:cubicBezTo>
                <a:lnTo>
                  <a:pt x="79" y="478"/>
                </a:lnTo>
                <a:cubicBezTo>
                  <a:pt x="69" y="478"/>
                  <a:pt x="59" y="476"/>
                  <a:pt x="49" y="472"/>
                </a:cubicBezTo>
                <a:cubicBezTo>
                  <a:pt x="39" y="468"/>
                  <a:pt x="31" y="462"/>
                  <a:pt x="23" y="454"/>
                </a:cubicBezTo>
                <a:cubicBezTo>
                  <a:pt x="16" y="447"/>
                  <a:pt x="10" y="438"/>
                  <a:pt x="6" y="429"/>
                </a:cubicBezTo>
                <a:cubicBezTo>
                  <a:pt x="2" y="419"/>
                  <a:pt x="0" y="409"/>
                  <a:pt x="0" y="398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6186240" y="1842120"/>
            <a:ext cx="387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5 min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876240" y="2205720"/>
            <a:ext cx="8265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03_dataset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2847960" y="2203920"/>
            <a:ext cx="2412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Explora los datos (sesgo del volante)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819000" y="2571480"/>
            <a:ext cx="1609920" cy="171720"/>
          </a:xfrm>
          <a:custGeom>
            <a:avLst/>
            <a:gdLst/>
            <a:ahLst/>
            <a:rect l="0" t="0" r="r" b="b"/>
            <a:pathLst>
              <a:path w="4472" h="477">
                <a:moveTo>
                  <a:pt x="0" y="398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4392" y="0"/>
                </a:lnTo>
                <a:cubicBezTo>
                  <a:pt x="4403" y="0"/>
                  <a:pt x="4413" y="2"/>
                  <a:pt x="4422" y="6"/>
                </a:cubicBezTo>
                <a:cubicBezTo>
                  <a:pt x="4433" y="10"/>
                  <a:pt x="4442" y="16"/>
                  <a:pt x="4449" y="23"/>
                </a:cubicBezTo>
                <a:cubicBezTo>
                  <a:pt x="4457" y="31"/>
                  <a:pt x="4462" y="40"/>
                  <a:pt x="4466" y="49"/>
                </a:cubicBezTo>
                <a:cubicBezTo>
                  <a:pt x="4470" y="59"/>
                  <a:pt x="4472" y="69"/>
                  <a:pt x="4472" y="80"/>
                </a:cubicBezTo>
                <a:lnTo>
                  <a:pt x="4472" y="398"/>
                </a:lnTo>
                <a:cubicBezTo>
                  <a:pt x="4472" y="409"/>
                  <a:pt x="4470" y="419"/>
                  <a:pt x="4466" y="428"/>
                </a:cubicBezTo>
                <a:cubicBezTo>
                  <a:pt x="4462" y="438"/>
                  <a:pt x="4457" y="447"/>
                  <a:pt x="4449" y="454"/>
                </a:cubicBezTo>
                <a:cubicBezTo>
                  <a:pt x="4442" y="462"/>
                  <a:pt x="4433" y="467"/>
                  <a:pt x="4422" y="471"/>
                </a:cubicBezTo>
                <a:cubicBezTo>
                  <a:pt x="4413" y="475"/>
                  <a:pt x="4403" y="477"/>
                  <a:pt x="4392" y="477"/>
                </a:cubicBezTo>
                <a:lnTo>
                  <a:pt x="79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39" y="467"/>
                  <a:pt x="31" y="462"/>
                  <a:pt x="23" y="454"/>
                </a:cubicBezTo>
                <a:cubicBezTo>
                  <a:pt x="16" y="447"/>
                  <a:pt x="10" y="438"/>
                  <a:pt x="6" y="428"/>
                </a:cubicBezTo>
                <a:cubicBezTo>
                  <a:pt x="2" y="419"/>
                  <a:pt x="0" y="409"/>
                  <a:pt x="0" y="398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6186240" y="2203920"/>
            <a:ext cx="387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8 min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876240" y="2577240"/>
            <a:ext cx="14871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04_modelo_pilotnet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2847960" y="2575440"/>
            <a:ext cx="22068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Entrena </a:t>
            </a: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la CNN (~6 min en CPU)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819000" y="2933640"/>
            <a:ext cx="1190880" cy="171720"/>
          </a:xfrm>
          <a:custGeom>
            <a:avLst/>
            <a:gdLst/>
            <a:ahLst/>
            <a:rect l="0" t="0" r="r" b="b"/>
            <a:pathLst>
              <a:path w="3308" h="477">
                <a:moveTo>
                  <a:pt x="0" y="398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3229" y="0"/>
                </a:lnTo>
                <a:cubicBezTo>
                  <a:pt x="3239" y="0"/>
                  <a:pt x="3249" y="2"/>
                  <a:pt x="3259" y="6"/>
                </a:cubicBezTo>
                <a:cubicBezTo>
                  <a:pt x="3269" y="10"/>
                  <a:pt x="3278" y="15"/>
                  <a:pt x="3285" y="23"/>
                </a:cubicBezTo>
                <a:cubicBezTo>
                  <a:pt x="3292" y="30"/>
                  <a:pt x="3298" y="39"/>
                  <a:pt x="3302" y="49"/>
                </a:cubicBezTo>
                <a:cubicBezTo>
                  <a:pt x="3306" y="58"/>
                  <a:pt x="3308" y="69"/>
                  <a:pt x="3308" y="79"/>
                </a:cubicBezTo>
                <a:lnTo>
                  <a:pt x="3308" y="398"/>
                </a:lnTo>
                <a:cubicBezTo>
                  <a:pt x="3308" y="408"/>
                  <a:pt x="3306" y="418"/>
                  <a:pt x="3302" y="428"/>
                </a:cubicBezTo>
                <a:cubicBezTo>
                  <a:pt x="3298" y="438"/>
                  <a:pt x="3292" y="446"/>
                  <a:pt x="3285" y="454"/>
                </a:cubicBezTo>
                <a:cubicBezTo>
                  <a:pt x="3278" y="461"/>
                  <a:pt x="3269" y="467"/>
                  <a:pt x="3259" y="471"/>
                </a:cubicBezTo>
                <a:cubicBezTo>
                  <a:pt x="3249" y="475"/>
                  <a:pt x="3239" y="477"/>
                  <a:pt x="3229" y="477"/>
                </a:cubicBezTo>
                <a:lnTo>
                  <a:pt x="79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39" y="467"/>
                  <a:pt x="31" y="461"/>
                  <a:pt x="23" y="454"/>
                </a:cubicBezTo>
                <a:cubicBezTo>
                  <a:pt x="16" y="446"/>
                  <a:pt x="10" y="438"/>
                  <a:pt x="6" y="428"/>
                </a:cubicBezTo>
                <a:cubicBezTo>
                  <a:pt x="2" y="418"/>
                  <a:pt x="0" y="408"/>
                  <a:pt x="0" y="398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6186240" y="2575440"/>
            <a:ext cx="486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10 min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876240" y="2939400"/>
            <a:ext cx="107424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05_evaluacion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2847960" y="2937600"/>
            <a:ext cx="23155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Evalúa en conocido vs nuevo (OOD)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819000" y="3305160"/>
            <a:ext cx="1771920" cy="171720"/>
          </a:xfrm>
          <a:custGeom>
            <a:avLst/>
            <a:gdLst/>
            <a:ahLst/>
            <a:rect l="0" t="0" r="r" b="b"/>
            <a:pathLst>
              <a:path w="4922" h="477">
                <a:moveTo>
                  <a:pt x="0" y="397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4843" y="0"/>
                </a:lnTo>
                <a:cubicBezTo>
                  <a:pt x="4853" y="0"/>
                  <a:pt x="4863" y="2"/>
                  <a:pt x="4873" y="6"/>
                </a:cubicBezTo>
                <a:cubicBezTo>
                  <a:pt x="4883" y="10"/>
                  <a:pt x="4891" y="15"/>
                  <a:pt x="4899" y="23"/>
                </a:cubicBezTo>
                <a:cubicBezTo>
                  <a:pt x="4906" y="30"/>
                  <a:pt x="4912" y="39"/>
                  <a:pt x="4916" y="49"/>
                </a:cubicBezTo>
                <a:cubicBezTo>
                  <a:pt x="4920" y="58"/>
                  <a:pt x="4922" y="68"/>
                  <a:pt x="4922" y="79"/>
                </a:cubicBezTo>
                <a:lnTo>
                  <a:pt x="4922" y="397"/>
                </a:lnTo>
                <a:cubicBezTo>
                  <a:pt x="4922" y="408"/>
                  <a:pt x="4920" y="418"/>
                  <a:pt x="4916" y="428"/>
                </a:cubicBezTo>
                <a:cubicBezTo>
                  <a:pt x="4912" y="438"/>
                  <a:pt x="4906" y="446"/>
                  <a:pt x="4899" y="454"/>
                </a:cubicBezTo>
                <a:cubicBezTo>
                  <a:pt x="4891" y="461"/>
                  <a:pt x="4883" y="467"/>
                  <a:pt x="4873" y="471"/>
                </a:cubicBezTo>
                <a:cubicBezTo>
                  <a:pt x="4863" y="475"/>
                  <a:pt x="4853" y="477"/>
                  <a:pt x="4843" y="477"/>
                </a:cubicBezTo>
                <a:lnTo>
                  <a:pt x="79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39" y="467"/>
                  <a:pt x="31" y="461"/>
                  <a:pt x="23" y="454"/>
                </a:cubicBezTo>
                <a:cubicBezTo>
                  <a:pt x="16" y="446"/>
                  <a:pt x="10" y="438"/>
                  <a:pt x="6" y="428"/>
                </a:cubicBezTo>
                <a:cubicBezTo>
                  <a:pt x="2" y="418"/>
                  <a:pt x="0" y="408"/>
                  <a:pt x="0" y="397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6186240" y="2937600"/>
            <a:ext cx="387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8 min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876240" y="3310920"/>
            <a:ext cx="165240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06_compounding_error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2847960" y="3309120"/>
            <a:ext cx="1601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modelo conduce solo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4452840" y="3291840"/>
            <a:ext cx="162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4614480" y="3309120"/>
            <a:ext cx="657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se desvía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819000" y="3666960"/>
            <a:ext cx="1105200" cy="171720"/>
          </a:xfrm>
          <a:custGeom>
            <a:avLst/>
            <a:gdLst/>
            <a:ahLst/>
            <a:rect l="0" t="0" r="r" b="b"/>
            <a:pathLst>
              <a:path w="3070" h="477">
                <a:moveTo>
                  <a:pt x="0" y="398"/>
                </a:moveTo>
                <a:lnTo>
                  <a:pt x="0" y="80"/>
                </a:lnTo>
                <a:cubicBezTo>
                  <a:pt x="0" y="70"/>
                  <a:pt x="2" y="60"/>
                  <a:pt x="6" y="50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2991" y="0"/>
                </a:lnTo>
                <a:cubicBezTo>
                  <a:pt x="3001" y="0"/>
                  <a:pt x="3011" y="2"/>
                  <a:pt x="3021" y="6"/>
                </a:cubicBezTo>
                <a:cubicBezTo>
                  <a:pt x="3031" y="10"/>
                  <a:pt x="3039" y="16"/>
                  <a:pt x="3047" y="23"/>
                </a:cubicBezTo>
                <a:cubicBezTo>
                  <a:pt x="3054" y="31"/>
                  <a:pt x="3060" y="39"/>
                  <a:pt x="3064" y="50"/>
                </a:cubicBezTo>
                <a:cubicBezTo>
                  <a:pt x="3068" y="60"/>
                  <a:pt x="3070" y="70"/>
                  <a:pt x="3070" y="80"/>
                </a:cubicBezTo>
                <a:lnTo>
                  <a:pt x="3070" y="398"/>
                </a:lnTo>
                <a:cubicBezTo>
                  <a:pt x="3070" y="408"/>
                  <a:pt x="3068" y="418"/>
                  <a:pt x="3064" y="428"/>
                </a:cubicBezTo>
                <a:cubicBezTo>
                  <a:pt x="3060" y="438"/>
                  <a:pt x="3054" y="447"/>
                  <a:pt x="3047" y="454"/>
                </a:cubicBezTo>
                <a:cubicBezTo>
                  <a:pt x="3039" y="461"/>
                  <a:pt x="3031" y="467"/>
                  <a:pt x="3021" y="471"/>
                </a:cubicBezTo>
                <a:cubicBezTo>
                  <a:pt x="3011" y="475"/>
                  <a:pt x="3001" y="477"/>
                  <a:pt x="2991" y="477"/>
                </a:cubicBezTo>
                <a:lnTo>
                  <a:pt x="79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39" y="467"/>
                  <a:pt x="31" y="461"/>
                  <a:pt x="23" y="454"/>
                </a:cubicBezTo>
                <a:cubicBezTo>
                  <a:pt x="16" y="447"/>
                  <a:pt x="10" y="438"/>
                  <a:pt x="6" y="428"/>
                </a:cubicBezTo>
                <a:cubicBezTo>
                  <a:pt x="2" y="418"/>
                  <a:pt x="0" y="408"/>
                  <a:pt x="0" y="398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6186240" y="3309120"/>
            <a:ext cx="486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10 min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876240" y="3672720"/>
            <a:ext cx="99180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07_preguntas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2847960" y="3670920"/>
            <a:ext cx="16153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Cuestionario de entrega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6186240" y="3670920"/>
            <a:ext cx="486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10 min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685800" y="632520"/>
            <a:ext cx="18957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Estructura del trabajo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CP4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1040400" y="6517080"/>
            <a:ext cx="1236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Behavioral Cloning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22759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231840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3217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325944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8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914400" y="975240"/>
            <a:ext cx="190152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PARTE 0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914400" y="1735560"/>
            <a:ext cx="127080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Preparación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CP4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1040400" y="6517080"/>
            <a:ext cx="1236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Behavioral Cloning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22759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231840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3217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325944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3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4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685800" y="1325880"/>
            <a:ext cx="43628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ordenador ya quedó preparado en CP1. Para CP4: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2543040" y="1800000"/>
            <a:ext cx="2372040" cy="219600"/>
          </a:xfrm>
          <a:custGeom>
            <a:avLst/>
            <a:gdLst/>
            <a:ahLst/>
            <a:rect l="0" t="0" r="r" b="b"/>
            <a:pathLst>
              <a:path w="6589" h="610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6510" y="0"/>
                </a:lnTo>
                <a:cubicBezTo>
                  <a:pt x="6520" y="0"/>
                  <a:pt x="6530" y="2"/>
                  <a:pt x="6540" y="6"/>
                </a:cubicBezTo>
                <a:cubicBezTo>
                  <a:pt x="6550" y="10"/>
                  <a:pt x="6558" y="16"/>
                  <a:pt x="6566" y="23"/>
                </a:cubicBezTo>
                <a:cubicBezTo>
                  <a:pt x="6573" y="31"/>
                  <a:pt x="6579" y="39"/>
                  <a:pt x="6583" y="49"/>
                </a:cubicBezTo>
                <a:cubicBezTo>
                  <a:pt x="6587" y="59"/>
                  <a:pt x="6589" y="69"/>
                  <a:pt x="6589" y="79"/>
                </a:cubicBezTo>
                <a:lnTo>
                  <a:pt x="6589" y="530"/>
                </a:lnTo>
                <a:cubicBezTo>
                  <a:pt x="6589" y="541"/>
                  <a:pt x="6587" y="551"/>
                  <a:pt x="6583" y="561"/>
                </a:cubicBezTo>
                <a:cubicBezTo>
                  <a:pt x="6579" y="570"/>
                  <a:pt x="6573" y="579"/>
                  <a:pt x="6566" y="586"/>
                </a:cubicBezTo>
                <a:cubicBezTo>
                  <a:pt x="6558" y="594"/>
                  <a:pt x="6550" y="600"/>
                  <a:pt x="6540" y="604"/>
                </a:cubicBezTo>
                <a:cubicBezTo>
                  <a:pt x="6530" y="608"/>
                  <a:pt x="6520" y="610"/>
                  <a:pt x="6510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39" y="600"/>
                  <a:pt x="31" y="594"/>
                  <a:pt x="23" y="586"/>
                </a:cubicBezTo>
                <a:cubicBezTo>
                  <a:pt x="16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860400" y="1811520"/>
            <a:ext cx="1682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Tener la carpeta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2603160" y="1814040"/>
            <a:ext cx="22615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1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CP4-behavioral-cloning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4912200" y="1811520"/>
            <a:ext cx="21891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(mismo repositorio: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Code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7104960" y="177840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7305120" y="1811520"/>
            <a:ext cx="2404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Download ZIP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si no la tiene).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860760" y="2144880"/>
            <a:ext cx="5559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2. Crear un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entorno virtual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propio de CP4 e instalar dependencias.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685440" y="3152520"/>
            <a:ext cx="10820880" cy="429120"/>
          </a:xfrm>
          <a:custGeom>
            <a:avLst/>
            <a:gdLst/>
            <a:ahLst/>
            <a:rect l="0" t="0" r="r" b="b"/>
            <a:pathLst>
              <a:path w="30058" h="1192">
                <a:moveTo>
                  <a:pt x="0" y="0"/>
                </a:moveTo>
                <a:lnTo>
                  <a:pt x="30058" y="0"/>
                </a:lnTo>
                <a:lnTo>
                  <a:pt x="3005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685440" y="3152520"/>
            <a:ext cx="29160" cy="429120"/>
          </a:xfrm>
          <a:custGeom>
            <a:avLst/>
            <a:gdLst/>
            <a:ahLst/>
            <a:rect l="0" t="0" r="r" b="b"/>
            <a:pathLst>
              <a:path w="81" h="1192">
                <a:moveTo>
                  <a:pt x="0" y="0"/>
                </a:moveTo>
                <a:lnTo>
                  <a:pt x="81" y="0"/>
                </a:lnTo>
                <a:lnTo>
                  <a:pt x="8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860760" y="2487960"/>
            <a:ext cx="4465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3.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Generar el dataset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con el simulador (un comando).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990720" y="3259440"/>
            <a:ext cx="5617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Repositorio: </a:t>
            </a:r>
            <a:r>
              <a:rPr lang="en-US" sz="1580" b="1" u="none" strike="noStrike">
                <a:solidFill>
                  <a:srgbClr val="0969DA"/>
                </a:solidFill>
                <a:effectLst/>
                <a:uFillTx/>
                <a:latin typeface="Eurostile"/>
                <a:ea typeface="Eurostile"/>
              </a:rPr>
              <a:t>https://github.com/codx-digital/master-ia-practicas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685800" y="632520"/>
            <a:ext cx="30934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Lo que hace falta antes de empezar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CP4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1040400" y="6517080"/>
            <a:ext cx="1236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Behavioral Cloning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22759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231840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3217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325944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1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2323800" y="1314360"/>
            <a:ext cx="2372040" cy="219240"/>
          </a:xfrm>
          <a:custGeom>
            <a:avLst/>
            <a:gdLst/>
            <a:ahLst/>
            <a:rect l="0" t="0" r="r" b="b"/>
            <a:pathLst>
              <a:path w="6589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6510" y="0"/>
                </a:lnTo>
                <a:cubicBezTo>
                  <a:pt x="6521" y="0"/>
                  <a:pt x="6531" y="2"/>
                  <a:pt x="6540" y="6"/>
                </a:cubicBezTo>
                <a:cubicBezTo>
                  <a:pt x="6550" y="10"/>
                  <a:pt x="6559" y="16"/>
                  <a:pt x="6566" y="23"/>
                </a:cubicBezTo>
                <a:cubicBezTo>
                  <a:pt x="6574" y="30"/>
                  <a:pt x="6579" y="39"/>
                  <a:pt x="6583" y="49"/>
                </a:cubicBezTo>
                <a:cubicBezTo>
                  <a:pt x="6587" y="58"/>
                  <a:pt x="6589" y="69"/>
                  <a:pt x="6589" y="79"/>
                </a:cubicBezTo>
                <a:lnTo>
                  <a:pt x="6589" y="530"/>
                </a:lnTo>
                <a:cubicBezTo>
                  <a:pt x="6589" y="540"/>
                  <a:pt x="6587" y="551"/>
                  <a:pt x="6583" y="560"/>
                </a:cubicBezTo>
                <a:cubicBezTo>
                  <a:pt x="6579" y="570"/>
                  <a:pt x="6574" y="579"/>
                  <a:pt x="6566" y="586"/>
                </a:cubicBezTo>
                <a:cubicBezTo>
                  <a:pt x="6559" y="593"/>
                  <a:pt x="6550" y="599"/>
                  <a:pt x="6540" y="603"/>
                </a:cubicBezTo>
                <a:cubicBezTo>
                  <a:pt x="6531" y="607"/>
                  <a:pt x="6521" y="609"/>
                  <a:pt x="6510" y="609"/>
                </a:cubicBezTo>
                <a:lnTo>
                  <a:pt x="80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40" y="599"/>
                  <a:pt x="31" y="593"/>
                  <a:pt x="24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685800" y="1325880"/>
            <a:ext cx="16372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Entre en la carpeta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2382840" y="1328040"/>
            <a:ext cx="22615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CP4-behavioral-cloning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690480" y="172872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1"/>
                  <a:pt x="29995" y="18"/>
                  <a:pt x="30004" y="27"/>
                </a:cubicBezTo>
                <a:cubicBezTo>
                  <a:pt x="30012" y="35"/>
                  <a:pt x="30019" y="46"/>
                  <a:pt x="30024" y="57"/>
                </a:cubicBezTo>
                <a:cubicBezTo>
                  <a:pt x="30029" y="68"/>
                  <a:pt x="30031" y="80"/>
                  <a:pt x="30031" y="92"/>
                </a:cubicBezTo>
                <a:lnTo>
                  <a:pt x="30031" y="1178"/>
                </a:lnTo>
                <a:cubicBezTo>
                  <a:pt x="30031" y="1190"/>
                  <a:pt x="30029" y="1202"/>
                  <a:pt x="30024" y="1214"/>
                </a:cubicBezTo>
                <a:cubicBezTo>
                  <a:pt x="30019" y="1225"/>
                  <a:pt x="30012" y="1235"/>
                  <a:pt x="30004" y="1244"/>
                </a:cubicBezTo>
                <a:cubicBezTo>
                  <a:pt x="29995" y="1252"/>
                  <a:pt x="29985" y="1259"/>
                  <a:pt x="29974" y="1264"/>
                </a:cubicBezTo>
                <a:cubicBezTo>
                  <a:pt x="29962" y="1268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8"/>
                  <a:pt x="57" y="1264"/>
                </a:cubicBezTo>
                <a:cubicBezTo>
                  <a:pt x="46" y="1259"/>
                  <a:pt x="36" y="1252"/>
                  <a:pt x="27" y="1244"/>
                </a:cubicBezTo>
                <a:cubicBezTo>
                  <a:pt x="18" y="1235"/>
                  <a:pt x="11" y="1225"/>
                  <a:pt x="7" y="1214"/>
                </a:cubicBezTo>
                <a:cubicBezTo>
                  <a:pt x="2" y="1202"/>
                  <a:pt x="0" y="1190"/>
                  <a:pt x="0" y="1178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690480" y="172872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1"/>
                  <a:pt x="29995" y="18"/>
                  <a:pt x="30004" y="27"/>
                </a:cubicBezTo>
                <a:cubicBezTo>
                  <a:pt x="30012" y="35"/>
                  <a:pt x="30019" y="46"/>
                  <a:pt x="30024" y="57"/>
                </a:cubicBezTo>
                <a:cubicBezTo>
                  <a:pt x="30029" y="68"/>
                  <a:pt x="30031" y="80"/>
                  <a:pt x="30031" y="92"/>
                </a:cubicBezTo>
                <a:lnTo>
                  <a:pt x="30031" y="1178"/>
                </a:lnTo>
                <a:cubicBezTo>
                  <a:pt x="30031" y="1190"/>
                  <a:pt x="30029" y="1202"/>
                  <a:pt x="30024" y="1214"/>
                </a:cubicBezTo>
                <a:cubicBezTo>
                  <a:pt x="30019" y="1225"/>
                  <a:pt x="30012" y="1235"/>
                  <a:pt x="30004" y="1244"/>
                </a:cubicBezTo>
                <a:cubicBezTo>
                  <a:pt x="29995" y="1252"/>
                  <a:pt x="29985" y="1259"/>
                  <a:pt x="29974" y="1264"/>
                </a:cubicBezTo>
                <a:cubicBezTo>
                  <a:pt x="29962" y="1268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8"/>
                  <a:pt x="57" y="1264"/>
                </a:cubicBezTo>
                <a:cubicBezTo>
                  <a:pt x="46" y="1259"/>
                  <a:pt x="36" y="1252"/>
                  <a:pt x="27" y="1244"/>
                </a:cubicBezTo>
                <a:cubicBezTo>
                  <a:pt x="18" y="1235"/>
                  <a:pt x="11" y="1225"/>
                  <a:pt x="7" y="1214"/>
                </a:cubicBezTo>
                <a:cubicBezTo>
                  <a:pt x="2" y="1202"/>
                  <a:pt x="0" y="1190"/>
                  <a:pt x="0" y="117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4691880" y="132588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y: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690480" y="2347560"/>
            <a:ext cx="10811160" cy="638640"/>
          </a:xfrm>
          <a:custGeom>
            <a:avLst/>
            <a:gdLst/>
            <a:ahLst/>
            <a:rect l="0" t="0" r="r" b="b"/>
            <a:pathLst>
              <a:path w="30031" h="1774">
                <a:moveTo>
                  <a:pt x="0" y="1682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8" y="3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3"/>
                  <a:pt x="29974" y="8"/>
                </a:cubicBezTo>
                <a:cubicBezTo>
                  <a:pt x="29985" y="12"/>
                  <a:pt x="29995" y="19"/>
                  <a:pt x="30004" y="28"/>
                </a:cubicBezTo>
                <a:cubicBezTo>
                  <a:pt x="30012" y="36"/>
                  <a:pt x="30019" y="46"/>
                  <a:pt x="30024" y="58"/>
                </a:cubicBezTo>
                <a:cubicBezTo>
                  <a:pt x="30029" y="69"/>
                  <a:pt x="30031" y="81"/>
                  <a:pt x="30031" y="93"/>
                </a:cubicBezTo>
                <a:lnTo>
                  <a:pt x="30031" y="1682"/>
                </a:lnTo>
                <a:cubicBezTo>
                  <a:pt x="30031" y="1694"/>
                  <a:pt x="30029" y="1706"/>
                  <a:pt x="30024" y="1717"/>
                </a:cubicBezTo>
                <a:cubicBezTo>
                  <a:pt x="30019" y="1728"/>
                  <a:pt x="30012" y="1738"/>
                  <a:pt x="30004" y="1747"/>
                </a:cubicBezTo>
                <a:cubicBezTo>
                  <a:pt x="29995" y="1756"/>
                  <a:pt x="29985" y="1762"/>
                  <a:pt x="29974" y="1767"/>
                </a:cubicBezTo>
                <a:cubicBezTo>
                  <a:pt x="29962" y="1772"/>
                  <a:pt x="29951" y="1774"/>
                  <a:pt x="29938" y="1774"/>
                </a:cubicBezTo>
                <a:lnTo>
                  <a:pt x="92" y="1774"/>
                </a:lnTo>
                <a:cubicBezTo>
                  <a:pt x="80" y="1774"/>
                  <a:pt x="68" y="1772"/>
                  <a:pt x="57" y="1767"/>
                </a:cubicBezTo>
                <a:cubicBezTo>
                  <a:pt x="46" y="1762"/>
                  <a:pt x="36" y="1756"/>
                  <a:pt x="27" y="1747"/>
                </a:cubicBezTo>
                <a:cubicBezTo>
                  <a:pt x="18" y="1738"/>
                  <a:pt x="11" y="1728"/>
                  <a:pt x="7" y="1717"/>
                </a:cubicBezTo>
                <a:cubicBezTo>
                  <a:pt x="2" y="1706"/>
                  <a:pt x="0" y="1694"/>
                  <a:pt x="0" y="1682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690480" y="2347560"/>
            <a:ext cx="10811160" cy="638640"/>
          </a:xfrm>
          <a:custGeom>
            <a:avLst/>
            <a:gdLst/>
            <a:ahLst/>
            <a:rect l="0" t="0" r="r" b="b"/>
            <a:pathLst>
              <a:path w="30031" h="1774">
                <a:moveTo>
                  <a:pt x="0" y="1682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8" y="3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3"/>
                  <a:pt x="29974" y="8"/>
                </a:cubicBezTo>
                <a:cubicBezTo>
                  <a:pt x="29985" y="12"/>
                  <a:pt x="29995" y="19"/>
                  <a:pt x="30004" y="28"/>
                </a:cubicBezTo>
                <a:cubicBezTo>
                  <a:pt x="30012" y="36"/>
                  <a:pt x="30019" y="46"/>
                  <a:pt x="30024" y="58"/>
                </a:cubicBezTo>
                <a:cubicBezTo>
                  <a:pt x="30029" y="69"/>
                  <a:pt x="30031" y="81"/>
                  <a:pt x="30031" y="93"/>
                </a:cubicBezTo>
                <a:lnTo>
                  <a:pt x="30031" y="1682"/>
                </a:lnTo>
                <a:cubicBezTo>
                  <a:pt x="30031" y="1694"/>
                  <a:pt x="30029" y="1706"/>
                  <a:pt x="30024" y="1717"/>
                </a:cubicBezTo>
                <a:cubicBezTo>
                  <a:pt x="30019" y="1728"/>
                  <a:pt x="30012" y="1738"/>
                  <a:pt x="30004" y="1747"/>
                </a:cubicBezTo>
                <a:cubicBezTo>
                  <a:pt x="29995" y="1756"/>
                  <a:pt x="29985" y="1762"/>
                  <a:pt x="29974" y="1767"/>
                </a:cubicBezTo>
                <a:cubicBezTo>
                  <a:pt x="29962" y="1772"/>
                  <a:pt x="29951" y="1774"/>
                  <a:pt x="29938" y="1774"/>
                </a:cubicBezTo>
                <a:lnTo>
                  <a:pt x="92" y="1774"/>
                </a:lnTo>
                <a:cubicBezTo>
                  <a:pt x="80" y="1774"/>
                  <a:pt x="68" y="1772"/>
                  <a:pt x="57" y="1767"/>
                </a:cubicBezTo>
                <a:cubicBezTo>
                  <a:pt x="46" y="1762"/>
                  <a:pt x="36" y="1756"/>
                  <a:pt x="27" y="1747"/>
                </a:cubicBezTo>
                <a:cubicBezTo>
                  <a:pt x="18" y="1738"/>
                  <a:pt x="11" y="1728"/>
                  <a:pt x="7" y="1717"/>
                </a:cubicBezTo>
                <a:cubicBezTo>
                  <a:pt x="2" y="1706"/>
                  <a:pt x="0" y="1694"/>
                  <a:pt x="0" y="168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866880" y="1881000"/>
            <a:ext cx="156060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python -m venv .venv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866880" y="2500200"/>
            <a:ext cx="28864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.venv\Scripts\activate      ← Windows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685440" y="3362040"/>
            <a:ext cx="10820880" cy="629280"/>
          </a:xfrm>
          <a:custGeom>
            <a:avLst/>
            <a:gdLst/>
            <a:ahLst/>
            <a:rect l="0" t="0" r="r" b="b"/>
            <a:pathLst>
              <a:path w="30058" h="1748">
                <a:moveTo>
                  <a:pt x="0" y="0"/>
                </a:moveTo>
                <a:lnTo>
                  <a:pt x="30058" y="0"/>
                </a:lnTo>
                <a:lnTo>
                  <a:pt x="30058" y="1748"/>
                </a:lnTo>
                <a:lnTo>
                  <a:pt x="0" y="1748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685440" y="3362040"/>
            <a:ext cx="29160" cy="629280"/>
          </a:xfrm>
          <a:custGeom>
            <a:avLst/>
            <a:gdLst/>
            <a:ahLst/>
            <a:rect l="0" t="0" r="r" b="b"/>
            <a:pathLst>
              <a:path w="81" h="1748">
                <a:moveTo>
                  <a:pt x="0" y="0"/>
                </a:moveTo>
                <a:lnTo>
                  <a:pt x="81" y="0"/>
                </a:lnTo>
                <a:lnTo>
                  <a:pt x="81" y="1748"/>
                </a:lnTo>
                <a:lnTo>
                  <a:pt x="0" y="174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1009440" y="3428640"/>
            <a:ext cx="200520" cy="200520"/>
          </a:xfrm>
          <a:custGeom>
            <a:avLst/>
            <a:gdLst/>
            <a:ahLst/>
            <a:rect l="0" t="0" r="r" b="b"/>
            <a:pathLst>
              <a:path w="557" h="557">
                <a:moveTo>
                  <a:pt x="557" y="495"/>
                </a:moveTo>
                <a:cubicBezTo>
                  <a:pt x="557" y="529"/>
                  <a:pt x="529" y="557"/>
                  <a:pt x="495" y="557"/>
                </a:cubicBezTo>
                <a:lnTo>
                  <a:pt x="62" y="557"/>
                </a:lnTo>
                <a:cubicBezTo>
                  <a:pt x="28" y="557"/>
                  <a:pt x="0" y="529"/>
                  <a:pt x="0" y="495"/>
                </a:cubicBezTo>
                <a:lnTo>
                  <a:pt x="0" y="62"/>
                </a:lnTo>
                <a:cubicBezTo>
                  <a:pt x="0" y="28"/>
                  <a:pt x="28" y="0"/>
                  <a:pt x="62" y="0"/>
                </a:cubicBezTo>
                <a:lnTo>
                  <a:pt x="495" y="0"/>
                </a:lnTo>
                <a:cubicBezTo>
                  <a:pt x="529" y="0"/>
                  <a:pt x="557" y="28"/>
                  <a:pt x="557" y="62"/>
                </a:cubicBezTo>
                <a:lnTo>
                  <a:pt x="557" y="495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1041120" y="3461760"/>
            <a:ext cx="137520" cy="135360"/>
          </a:xfrm>
          <a:custGeom>
            <a:avLst/>
            <a:gdLst/>
            <a:ahLst/>
            <a:rect l="0" t="0" r="r" b="b"/>
            <a:pathLst>
              <a:path w="382" h="376">
                <a:moveTo>
                  <a:pt x="365" y="7"/>
                </a:moveTo>
                <a:cubicBezTo>
                  <a:pt x="346" y="-5"/>
                  <a:pt x="322" y="0"/>
                  <a:pt x="311" y="18"/>
                </a:cubicBezTo>
                <a:lnTo>
                  <a:pt x="143" y="277"/>
                </a:lnTo>
                <a:lnTo>
                  <a:pt x="65" y="205"/>
                </a:lnTo>
                <a:cubicBezTo>
                  <a:pt x="49" y="191"/>
                  <a:pt x="25" y="192"/>
                  <a:pt x="10" y="207"/>
                </a:cubicBezTo>
                <a:cubicBezTo>
                  <a:pt x="-4" y="223"/>
                  <a:pt x="-3" y="247"/>
                  <a:pt x="13" y="262"/>
                </a:cubicBezTo>
                <a:lnTo>
                  <a:pt x="124" y="366"/>
                </a:lnTo>
                <a:cubicBezTo>
                  <a:pt x="131" y="373"/>
                  <a:pt x="141" y="376"/>
                  <a:pt x="150" y="376"/>
                </a:cubicBezTo>
                <a:cubicBezTo>
                  <a:pt x="160" y="376"/>
                  <a:pt x="174" y="372"/>
                  <a:pt x="182" y="358"/>
                </a:cubicBezTo>
                <a:cubicBezTo>
                  <a:pt x="188" y="351"/>
                  <a:pt x="376" y="60"/>
                  <a:pt x="376" y="60"/>
                </a:cubicBezTo>
                <a:cubicBezTo>
                  <a:pt x="388" y="42"/>
                  <a:pt x="383" y="18"/>
                  <a:pt x="365" y="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866880" y="2680920"/>
            <a:ext cx="257436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source .venv/bin/activate   ← Mac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2285640" y="3657240"/>
            <a:ext cx="829080" cy="219600"/>
          </a:xfrm>
          <a:custGeom>
            <a:avLst/>
            <a:gdLst/>
            <a:ahLst/>
            <a:rect l="0" t="0" r="r" b="b"/>
            <a:pathLst>
              <a:path w="2303" h="610">
                <a:moveTo>
                  <a:pt x="0" y="531"/>
                </a:moveTo>
                <a:lnTo>
                  <a:pt x="0" y="80"/>
                </a:lnTo>
                <a:cubicBezTo>
                  <a:pt x="0" y="69"/>
                  <a:pt x="3" y="59"/>
                  <a:pt x="7" y="49"/>
                </a:cubicBezTo>
                <a:cubicBezTo>
                  <a:pt x="11" y="40"/>
                  <a:pt x="16" y="31"/>
                  <a:pt x="24" y="24"/>
                </a:cubicBezTo>
                <a:cubicBezTo>
                  <a:pt x="31" y="16"/>
                  <a:pt x="40" y="11"/>
                  <a:pt x="49" y="7"/>
                </a:cubicBezTo>
                <a:cubicBezTo>
                  <a:pt x="59" y="3"/>
                  <a:pt x="69" y="0"/>
                  <a:pt x="80" y="0"/>
                </a:cubicBezTo>
                <a:lnTo>
                  <a:pt x="2224" y="0"/>
                </a:lnTo>
                <a:cubicBezTo>
                  <a:pt x="2235" y="0"/>
                  <a:pt x="2245" y="3"/>
                  <a:pt x="2254" y="7"/>
                </a:cubicBezTo>
                <a:cubicBezTo>
                  <a:pt x="2264" y="11"/>
                  <a:pt x="2273" y="16"/>
                  <a:pt x="2280" y="24"/>
                </a:cubicBezTo>
                <a:cubicBezTo>
                  <a:pt x="2288" y="31"/>
                  <a:pt x="2293" y="40"/>
                  <a:pt x="2297" y="49"/>
                </a:cubicBezTo>
                <a:cubicBezTo>
                  <a:pt x="2301" y="59"/>
                  <a:pt x="2303" y="69"/>
                  <a:pt x="2303" y="80"/>
                </a:cubicBezTo>
                <a:lnTo>
                  <a:pt x="2303" y="531"/>
                </a:lnTo>
                <a:cubicBezTo>
                  <a:pt x="2303" y="541"/>
                  <a:pt x="2301" y="551"/>
                  <a:pt x="2297" y="561"/>
                </a:cubicBezTo>
                <a:cubicBezTo>
                  <a:pt x="2293" y="571"/>
                  <a:pt x="2288" y="579"/>
                  <a:pt x="2280" y="587"/>
                </a:cubicBezTo>
                <a:cubicBezTo>
                  <a:pt x="2273" y="594"/>
                  <a:pt x="2264" y="600"/>
                  <a:pt x="2254" y="604"/>
                </a:cubicBezTo>
                <a:cubicBezTo>
                  <a:pt x="2245" y="608"/>
                  <a:pt x="2235" y="610"/>
                  <a:pt x="2224" y="610"/>
                </a:cubicBezTo>
                <a:lnTo>
                  <a:pt x="80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40" y="600"/>
                  <a:pt x="31" y="594"/>
                  <a:pt x="24" y="587"/>
                </a:cubicBezTo>
                <a:cubicBezTo>
                  <a:pt x="16" y="579"/>
                  <a:pt x="11" y="571"/>
                  <a:pt x="7" y="561"/>
                </a:cubicBezTo>
                <a:cubicBezTo>
                  <a:pt x="3" y="551"/>
                  <a:pt x="0" y="541"/>
                  <a:pt x="0" y="531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990720" y="3669120"/>
            <a:ext cx="1295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Debe aparecer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2345040" y="3671280"/>
            <a:ext cx="720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1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(.venv)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690480" y="4214520"/>
            <a:ext cx="10811160" cy="638640"/>
          </a:xfrm>
          <a:custGeom>
            <a:avLst/>
            <a:gdLst/>
            <a:ahLst/>
            <a:rect l="0" t="0" r="r" b="b"/>
            <a:pathLst>
              <a:path w="30031" h="1774">
                <a:moveTo>
                  <a:pt x="0" y="1681"/>
                </a:moveTo>
                <a:lnTo>
                  <a:pt x="0" y="93"/>
                </a:lnTo>
                <a:cubicBezTo>
                  <a:pt x="0" y="81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3"/>
                  <a:pt x="29974" y="7"/>
                </a:cubicBezTo>
                <a:cubicBezTo>
                  <a:pt x="29985" y="12"/>
                  <a:pt x="29995" y="19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9"/>
                  <a:pt x="30031" y="81"/>
                  <a:pt x="30031" y="93"/>
                </a:cubicBezTo>
                <a:lnTo>
                  <a:pt x="30031" y="1681"/>
                </a:lnTo>
                <a:cubicBezTo>
                  <a:pt x="30031" y="1694"/>
                  <a:pt x="30029" y="1706"/>
                  <a:pt x="30024" y="1717"/>
                </a:cubicBezTo>
                <a:cubicBezTo>
                  <a:pt x="30019" y="1728"/>
                  <a:pt x="30012" y="1738"/>
                  <a:pt x="30004" y="1747"/>
                </a:cubicBezTo>
                <a:cubicBezTo>
                  <a:pt x="29995" y="1756"/>
                  <a:pt x="29985" y="1762"/>
                  <a:pt x="29974" y="1767"/>
                </a:cubicBezTo>
                <a:cubicBezTo>
                  <a:pt x="29962" y="1772"/>
                  <a:pt x="29951" y="1774"/>
                  <a:pt x="29938" y="1774"/>
                </a:cubicBezTo>
                <a:lnTo>
                  <a:pt x="92" y="1774"/>
                </a:lnTo>
                <a:cubicBezTo>
                  <a:pt x="80" y="1774"/>
                  <a:pt x="68" y="1772"/>
                  <a:pt x="57" y="1767"/>
                </a:cubicBezTo>
                <a:cubicBezTo>
                  <a:pt x="46" y="1762"/>
                  <a:pt x="36" y="1756"/>
                  <a:pt x="27" y="1747"/>
                </a:cubicBezTo>
                <a:cubicBezTo>
                  <a:pt x="18" y="1738"/>
                  <a:pt x="11" y="1728"/>
                  <a:pt x="7" y="1717"/>
                </a:cubicBezTo>
                <a:cubicBezTo>
                  <a:pt x="2" y="1706"/>
                  <a:pt x="0" y="1694"/>
                  <a:pt x="0" y="1681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690480" y="4214520"/>
            <a:ext cx="10811160" cy="638640"/>
          </a:xfrm>
          <a:custGeom>
            <a:avLst/>
            <a:gdLst/>
            <a:ahLst/>
            <a:rect l="0" t="0" r="r" b="b"/>
            <a:pathLst>
              <a:path w="30031" h="1774">
                <a:moveTo>
                  <a:pt x="0" y="1681"/>
                </a:moveTo>
                <a:lnTo>
                  <a:pt x="0" y="93"/>
                </a:lnTo>
                <a:cubicBezTo>
                  <a:pt x="0" y="81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3"/>
                  <a:pt x="29974" y="7"/>
                </a:cubicBezTo>
                <a:cubicBezTo>
                  <a:pt x="29985" y="12"/>
                  <a:pt x="29995" y="19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9"/>
                  <a:pt x="30031" y="81"/>
                  <a:pt x="30031" y="93"/>
                </a:cubicBezTo>
                <a:lnTo>
                  <a:pt x="30031" y="1681"/>
                </a:lnTo>
                <a:cubicBezTo>
                  <a:pt x="30031" y="1694"/>
                  <a:pt x="30029" y="1706"/>
                  <a:pt x="30024" y="1717"/>
                </a:cubicBezTo>
                <a:cubicBezTo>
                  <a:pt x="30019" y="1728"/>
                  <a:pt x="30012" y="1738"/>
                  <a:pt x="30004" y="1747"/>
                </a:cubicBezTo>
                <a:cubicBezTo>
                  <a:pt x="29995" y="1756"/>
                  <a:pt x="29985" y="1762"/>
                  <a:pt x="29974" y="1767"/>
                </a:cubicBezTo>
                <a:cubicBezTo>
                  <a:pt x="29962" y="1772"/>
                  <a:pt x="29951" y="1774"/>
                  <a:pt x="29938" y="1774"/>
                </a:cubicBezTo>
                <a:lnTo>
                  <a:pt x="92" y="1774"/>
                </a:lnTo>
                <a:cubicBezTo>
                  <a:pt x="80" y="1774"/>
                  <a:pt x="68" y="1772"/>
                  <a:pt x="57" y="1767"/>
                </a:cubicBezTo>
                <a:cubicBezTo>
                  <a:pt x="46" y="1762"/>
                  <a:pt x="36" y="1756"/>
                  <a:pt x="27" y="1747"/>
                </a:cubicBezTo>
                <a:cubicBezTo>
                  <a:pt x="18" y="1738"/>
                  <a:pt x="11" y="1728"/>
                  <a:pt x="7" y="1717"/>
                </a:cubicBezTo>
                <a:cubicBezTo>
                  <a:pt x="2" y="1706"/>
                  <a:pt x="0" y="1694"/>
                  <a:pt x="0" y="1681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3118680" y="36691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866880" y="4366800"/>
            <a:ext cx="19504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pip install --upgrade pip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685440" y="5229000"/>
            <a:ext cx="10820880" cy="429120"/>
          </a:xfrm>
          <a:custGeom>
            <a:avLst/>
            <a:gdLst/>
            <a:ahLst/>
            <a:rect l="0" t="0" r="r" b="b"/>
            <a:pathLst>
              <a:path w="30058" h="1192">
                <a:moveTo>
                  <a:pt x="0" y="0"/>
                </a:moveTo>
                <a:lnTo>
                  <a:pt x="30058" y="0"/>
                </a:lnTo>
                <a:lnTo>
                  <a:pt x="3005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685440" y="5229000"/>
            <a:ext cx="29160" cy="429120"/>
          </a:xfrm>
          <a:custGeom>
            <a:avLst/>
            <a:gdLst/>
            <a:ahLst/>
            <a:rect l="0" t="0" r="r" b="b"/>
            <a:pathLst>
              <a:path w="81" h="1192">
                <a:moveTo>
                  <a:pt x="0" y="0"/>
                </a:moveTo>
                <a:lnTo>
                  <a:pt x="81" y="0"/>
                </a:lnTo>
                <a:lnTo>
                  <a:pt x="8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866880" y="4547880"/>
            <a:ext cx="24184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pip install -r requirements.txt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2705040" y="5333760"/>
            <a:ext cx="1238400" cy="219600"/>
          </a:xfrm>
          <a:custGeom>
            <a:avLst/>
            <a:gdLst/>
            <a:ahLst/>
            <a:rect l="0" t="0" r="r" b="b"/>
            <a:pathLst>
              <a:path w="3440" h="610">
                <a:moveTo>
                  <a:pt x="0" y="530"/>
                </a:moveTo>
                <a:lnTo>
                  <a:pt x="0" y="81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3361" y="0"/>
                </a:lnTo>
                <a:cubicBezTo>
                  <a:pt x="3371" y="0"/>
                  <a:pt x="3382" y="2"/>
                  <a:pt x="3391" y="6"/>
                </a:cubicBezTo>
                <a:cubicBezTo>
                  <a:pt x="3401" y="10"/>
                  <a:pt x="3410" y="16"/>
                  <a:pt x="3417" y="23"/>
                </a:cubicBezTo>
                <a:cubicBezTo>
                  <a:pt x="3424" y="31"/>
                  <a:pt x="3430" y="39"/>
                  <a:pt x="3434" y="49"/>
                </a:cubicBezTo>
                <a:cubicBezTo>
                  <a:pt x="3438" y="59"/>
                  <a:pt x="3440" y="69"/>
                  <a:pt x="3440" y="81"/>
                </a:cubicBezTo>
                <a:lnTo>
                  <a:pt x="3440" y="530"/>
                </a:lnTo>
                <a:cubicBezTo>
                  <a:pt x="3440" y="541"/>
                  <a:pt x="3438" y="551"/>
                  <a:pt x="3434" y="561"/>
                </a:cubicBezTo>
                <a:cubicBezTo>
                  <a:pt x="3430" y="570"/>
                  <a:pt x="3424" y="579"/>
                  <a:pt x="3417" y="586"/>
                </a:cubicBezTo>
                <a:cubicBezTo>
                  <a:pt x="3410" y="594"/>
                  <a:pt x="3401" y="600"/>
                  <a:pt x="3391" y="604"/>
                </a:cubicBezTo>
                <a:cubicBezTo>
                  <a:pt x="3382" y="608"/>
                  <a:pt x="3371" y="610"/>
                  <a:pt x="3361" y="610"/>
                </a:cubicBezTo>
                <a:lnTo>
                  <a:pt x="79" y="610"/>
                </a:lnTo>
                <a:cubicBezTo>
                  <a:pt x="69" y="610"/>
                  <a:pt x="58" y="608"/>
                  <a:pt x="49" y="604"/>
                </a:cubicBezTo>
                <a:cubicBezTo>
                  <a:pt x="39" y="600"/>
                  <a:pt x="30" y="594"/>
                  <a:pt x="23" y="586"/>
                </a:cubicBezTo>
                <a:cubicBezTo>
                  <a:pt x="15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990720" y="5345280"/>
            <a:ext cx="17082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Instala el simulador (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2758680" y="5347800"/>
            <a:ext cx="11311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highway-env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4028760" y="5333760"/>
            <a:ext cx="734040" cy="219600"/>
          </a:xfrm>
          <a:custGeom>
            <a:avLst/>
            <a:gdLst/>
            <a:ahLst/>
            <a:rect l="0" t="0" r="r" b="b"/>
            <a:pathLst>
              <a:path w="2039" h="610">
                <a:moveTo>
                  <a:pt x="0" y="530"/>
                </a:moveTo>
                <a:lnTo>
                  <a:pt x="0" y="81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7" y="31"/>
                  <a:pt x="25" y="23"/>
                </a:cubicBezTo>
                <a:cubicBezTo>
                  <a:pt x="32" y="16"/>
                  <a:pt x="41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lnTo>
                  <a:pt x="1959" y="0"/>
                </a:lnTo>
                <a:cubicBezTo>
                  <a:pt x="1970" y="0"/>
                  <a:pt x="1980" y="2"/>
                  <a:pt x="1990" y="6"/>
                </a:cubicBezTo>
                <a:cubicBezTo>
                  <a:pt x="1999" y="10"/>
                  <a:pt x="2008" y="16"/>
                  <a:pt x="2015" y="23"/>
                </a:cubicBezTo>
                <a:cubicBezTo>
                  <a:pt x="2023" y="31"/>
                  <a:pt x="2029" y="39"/>
                  <a:pt x="2033" y="49"/>
                </a:cubicBezTo>
                <a:cubicBezTo>
                  <a:pt x="2037" y="59"/>
                  <a:pt x="2039" y="69"/>
                  <a:pt x="2039" y="81"/>
                </a:cubicBezTo>
                <a:lnTo>
                  <a:pt x="2039" y="530"/>
                </a:lnTo>
                <a:cubicBezTo>
                  <a:pt x="2039" y="541"/>
                  <a:pt x="2037" y="551"/>
                  <a:pt x="2033" y="561"/>
                </a:cubicBezTo>
                <a:cubicBezTo>
                  <a:pt x="2029" y="570"/>
                  <a:pt x="2023" y="579"/>
                  <a:pt x="2015" y="586"/>
                </a:cubicBezTo>
                <a:cubicBezTo>
                  <a:pt x="2008" y="594"/>
                  <a:pt x="1999" y="600"/>
                  <a:pt x="1990" y="604"/>
                </a:cubicBezTo>
                <a:cubicBezTo>
                  <a:pt x="1980" y="608"/>
                  <a:pt x="1970" y="610"/>
                  <a:pt x="1959" y="610"/>
                </a:cubicBezTo>
                <a:lnTo>
                  <a:pt x="81" y="610"/>
                </a:lnTo>
                <a:cubicBezTo>
                  <a:pt x="70" y="610"/>
                  <a:pt x="60" y="608"/>
                  <a:pt x="50" y="604"/>
                </a:cubicBezTo>
                <a:cubicBezTo>
                  <a:pt x="41" y="600"/>
                  <a:pt x="32" y="594"/>
                  <a:pt x="25" y="586"/>
                </a:cubicBezTo>
                <a:cubicBezTo>
                  <a:pt x="17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3941640" y="534528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4088520" y="5347800"/>
            <a:ext cx="6174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pygame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4759920" y="5345280"/>
            <a:ext cx="26938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) y PyTorch. Tarda unos minutos.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685800" y="632520"/>
            <a:ext cx="6674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Paso 1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1355040" y="638640"/>
            <a:ext cx="209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1413000" y="632520"/>
            <a:ext cx="28540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Entorno de CP4 + dependencias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CP4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1040400" y="6517080"/>
            <a:ext cx="1236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Behavioral Cloning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22759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231840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3217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325944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21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2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690480" y="172872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1"/>
                  <a:pt x="29995" y="18"/>
                  <a:pt x="30004" y="27"/>
                </a:cubicBezTo>
                <a:cubicBezTo>
                  <a:pt x="30012" y="35"/>
                  <a:pt x="30019" y="46"/>
                  <a:pt x="30024" y="57"/>
                </a:cubicBezTo>
                <a:cubicBezTo>
                  <a:pt x="30029" y="68"/>
                  <a:pt x="30031" y="80"/>
                  <a:pt x="30031" y="92"/>
                </a:cubicBezTo>
                <a:lnTo>
                  <a:pt x="30031" y="1178"/>
                </a:lnTo>
                <a:cubicBezTo>
                  <a:pt x="30031" y="1190"/>
                  <a:pt x="30029" y="1202"/>
                  <a:pt x="30024" y="1214"/>
                </a:cubicBezTo>
                <a:cubicBezTo>
                  <a:pt x="30019" y="1225"/>
                  <a:pt x="30012" y="1235"/>
                  <a:pt x="30004" y="1244"/>
                </a:cubicBezTo>
                <a:cubicBezTo>
                  <a:pt x="29995" y="1252"/>
                  <a:pt x="29985" y="1259"/>
                  <a:pt x="29974" y="1264"/>
                </a:cubicBezTo>
                <a:cubicBezTo>
                  <a:pt x="29962" y="1268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8"/>
                  <a:pt x="57" y="1264"/>
                </a:cubicBezTo>
                <a:cubicBezTo>
                  <a:pt x="46" y="1259"/>
                  <a:pt x="36" y="1252"/>
                  <a:pt x="27" y="1244"/>
                </a:cubicBezTo>
                <a:cubicBezTo>
                  <a:pt x="18" y="1235"/>
                  <a:pt x="11" y="1225"/>
                  <a:pt x="7" y="1214"/>
                </a:cubicBezTo>
                <a:cubicBezTo>
                  <a:pt x="2" y="1202"/>
                  <a:pt x="0" y="1190"/>
                  <a:pt x="0" y="1178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690480" y="172872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1"/>
                  <a:pt x="29995" y="18"/>
                  <a:pt x="30004" y="27"/>
                </a:cubicBezTo>
                <a:cubicBezTo>
                  <a:pt x="30012" y="35"/>
                  <a:pt x="30019" y="46"/>
                  <a:pt x="30024" y="57"/>
                </a:cubicBezTo>
                <a:cubicBezTo>
                  <a:pt x="30029" y="68"/>
                  <a:pt x="30031" y="80"/>
                  <a:pt x="30031" y="92"/>
                </a:cubicBezTo>
                <a:lnTo>
                  <a:pt x="30031" y="1178"/>
                </a:lnTo>
                <a:cubicBezTo>
                  <a:pt x="30031" y="1190"/>
                  <a:pt x="30029" y="1202"/>
                  <a:pt x="30024" y="1214"/>
                </a:cubicBezTo>
                <a:cubicBezTo>
                  <a:pt x="30019" y="1225"/>
                  <a:pt x="30012" y="1235"/>
                  <a:pt x="30004" y="1244"/>
                </a:cubicBezTo>
                <a:cubicBezTo>
                  <a:pt x="29995" y="1252"/>
                  <a:pt x="29985" y="1259"/>
                  <a:pt x="29974" y="1264"/>
                </a:cubicBezTo>
                <a:cubicBezTo>
                  <a:pt x="29962" y="1268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8"/>
                  <a:pt x="57" y="1264"/>
                </a:cubicBezTo>
                <a:cubicBezTo>
                  <a:pt x="46" y="1259"/>
                  <a:pt x="36" y="1252"/>
                  <a:pt x="27" y="1244"/>
                </a:cubicBezTo>
                <a:cubicBezTo>
                  <a:pt x="18" y="1235"/>
                  <a:pt x="11" y="1225"/>
                  <a:pt x="7" y="1214"/>
                </a:cubicBezTo>
                <a:cubicBezTo>
                  <a:pt x="2" y="1202"/>
                  <a:pt x="0" y="1190"/>
                  <a:pt x="0" y="117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685800" y="1325880"/>
            <a:ext cx="6035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 comando crea el dataset viendo conducir al "experto" en el simulador: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866880" y="1881000"/>
            <a:ext cx="26524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python scripts/generate_dataset.py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685800" y="2383200"/>
            <a:ext cx="28609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Genera ~5000 muestras (imagen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3551760" y="234972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5533920" y="2371680"/>
            <a:ext cx="2876760" cy="219240"/>
          </a:xfrm>
          <a:custGeom>
            <a:avLst/>
            <a:gdLst/>
            <a:ahLst/>
            <a:rect l="0" t="0" r="r" b="b"/>
            <a:pathLst>
              <a:path w="7991" h="609">
                <a:moveTo>
                  <a:pt x="0" y="530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7912" y="0"/>
                </a:lnTo>
                <a:cubicBezTo>
                  <a:pt x="7922" y="0"/>
                  <a:pt x="7932" y="2"/>
                  <a:pt x="7942" y="6"/>
                </a:cubicBezTo>
                <a:cubicBezTo>
                  <a:pt x="7952" y="10"/>
                  <a:pt x="7961" y="15"/>
                  <a:pt x="7968" y="23"/>
                </a:cubicBezTo>
                <a:cubicBezTo>
                  <a:pt x="7975" y="30"/>
                  <a:pt x="7981" y="39"/>
                  <a:pt x="7985" y="49"/>
                </a:cubicBezTo>
                <a:cubicBezTo>
                  <a:pt x="7989" y="58"/>
                  <a:pt x="7991" y="68"/>
                  <a:pt x="7991" y="79"/>
                </a:cubicBezTo>
                <a:lnTo>
                  <a:pt x="7991" y="530"/>
                </a:lnTo>
                <a:cubicBezTo>
                  <a:pt x="7991" y="540"/>
                  <a:pt x="7989" y="550"/>
                  <a:pt x="7985" y="560"/>
                </a:cubicBezTo>
                <a:cubicBezTo>
                  <a:pt x="7981" y="570"/>
                  <a:pt x="7975" y="578"/>
                  <a:pt x="7968" y="586"/>
                </a:cubicBezTo>
                <a:cubicBezTo>
                  <a:pt x="7961" y="593"/>
                  <a:pt x="7952" y="599"/>
                  <a:pt x="7942" y="603"/>
                </a:cubicBezTo>
                <a:cubicBezTo>
                  <a:pt x="7932" y="607"/>
                  <a:pt x="7922" y="609"/>
                  <a:pt x="7912" y="609"/>
                </a:cubicBezTo>
                <a:lnTo>
                  <a:pt x="79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39" y="599"/>
                  <a:pt x="30" y="593"/>
                  <a:pt x="23" y="586"/>
                </a:cubicBezTo>
                <a:cubicBezTo>
                  <a:pt x="16" y="578"/>
                  <a:pt x="10" y="570"/>
                  <a:pt x="6" y="560"/>
                </a:cubicBezTo>
                <a:cubicBezTo>
                  <a:pt x="2" y="550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3751560" y="2383200"/>
            <a:ext cx="1778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giro) y las guarda en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5590080" y="2385360"/>
            <a:ext cx="27752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datasets/cp4-highway-bc.npz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685440" y="3009600"/>
            <a:ext cx="10820880" cy="1553040"/>
          </a:xfrm>
          <a:custGeom>
            <a:avLst/>
            <a:gdLst/>
            <a:ahLst/>
            <a:rect l="0" t="0" r="r" b="b"/>
            <a:pathLst>
              <a:path w="30058" h="4314">
                <a:moveTo>
                  <a:pt x="0" y="0"/>
                </a:moveTo>
                <a:lnTo>
                  <a:pt x="30058" y="0"/>
                </a:lnTo>
                <a:lnTo>
                  <a:pt x="30058" y="4314"/>
                </a:lnTo>
                <a:lnTo>
                  <a:pt x="0" y="4314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685440" y="3009600"/>
            <a:ext cx="29160" cy="1553040"/>
          </a:xfrm>
          <a:custGeom>
            <a:avLst/>
            <a:gdLst/>
            <a:ahLst/>
            <a:rect l="0" t="0" r="r" b="b"/>
            <a:pathLst>
              <a:path w="81" h="4314">
                <a:moveTo>
                  <a:pt x="0" y="0"/>
                </a:moveTo>
                <a:lnTo>
                  <a:pt x="81" y="0"/>
                </a:lnTo>
                <a:lnTo>
                  <a:pt x="81" y="4314"/>
                </a:lnTo>
                <a:lnTo>
                  <a:pt x="0" y="4314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1048320" y="3077280"/>
            <a:ext cx="122760" cy="154440"/>
          </a:xfrm>
          <a:custGeom>
            <a:avLst/>
            <a:gdLst/>
            <a:ahLst/>
            <a:rect l="0" t="0" r="r" b="b"/>
            <a:pathLst>
              <a:path w="341" h="429">
                <a:moveTo>
                  <a:pt x="341" y="168"/>
                </a:moveTo>
                <a:cubicBezTo>
                  <a:pt x="341" y="269"/>
                  <a:pt x="262" y="284"/>
                  <a:pt x="262" y="377"/>
                </a:cubicBezTo>
                <a:cubicBezTo>
                  <a:pt x="262" y="424"/>
                  <a:pt x="214" y="429"/>
                  <a:pt x="178" y="429"/>
                </a:cubicBezTo>
                <a:cubicBezTo>
                  <a:pt x="146" y="429"/>
                  <a:pt x="76" y="416"/>
                  <a:pt x="76" y="377"/>
                </a:cubicBezTo>
                <a:cubicBezTo>
                  <a:pt x="76" y="284"/>
                  <a:pt x="0" y="269"/>
                  <a:pt x="0" y="168"/>
                </a:cubicBezTo>
                <a:cubicBezTo>
                  <a:pt x="0" y="75"/>
                  <a:pt x="82" y="0"/>
                  <a:pt x="171" y="0"/>
                </a:cubicBezTo>
                <a:cubicBezTo>
                  <a:pt x="261" y="0"/>
                  <a:pt x="341" y="75"/>
                  <a:pt x="341" y="168"/>
                </a:cubicBezTo>
                <a:close/>
              </a:path>
            </a:pathLst>
          </a:custGeom>
          <a:solidFill>
            <a:srgbClr val="FFD98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1086480" y="3253680"/>
            <a:ext cx="46440" cy="17640"/>
          </a:xfrm>
          <a:custGeom>
            <a:avLst/>
            <a:gdLst/>
            <a:ahLst/>
            <a:rect l="0" t="0" r="r" b="b"/>
            <a:pathLst>
              <a:path w="129" h="49">
                <a:moveTo>
                  <a:pt x="129" y="9"/>
                </a:moveTo>
                <a:cubicBezTo>
                  <a:pt x="129" y="23"/>
                  <a:pt x="94" y="49"/>
                  <a:pt x="64" y="49"/>
                </a:cubicBezTo>
                <a:cubicBezTo>
                  <a:pt x="34" y="49"/>
                  <a:pt x="0" y="23"/>
                  <a:pt x="0" y="9"/>
                </a:cubicBezTo>
                <a:cubicBezTo>
                  <a:pt x="0" y="-4"/>
                  <a:pt x="34" y="1"/>
                  <a:pt x="64" y="1"/>
                </a:cubicBezTo>
                <a:cubicBezTo>
                  <a:pt x="94" y="1"/>
                  <a:pt x="129" y="-4"/>
                  <a:pt x="129" y="9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1081800" y="3132000"/>
            <a:ext cx="56160" cy="95040"/>
          </a:xfrm>
          <a:custGeom>
            <a:avLst/>
            <a:gdLst/>
            <a:ahLst/>
            <a:rect l="0" t="0" r="r" b="b"/>
            <a:pathLst>
              <a:path w="156" h="264">
                <a:moveTo>
                  <a:pt x="151" y="5"/>
                </a:moveTo>
                <a:cubicBezTo>
                  <a:pt x="145" y="-1"/>
                  <a:pt x="135" y="-1"/>
                  <a:pt x="129" y="5"/>
                </a:cubicBezTo>
                <a:lnTo>
                  <a:pt x="78" y="56"/>
                </a:lnTo>
                <a:lnTo>
                  <a:pt x="27" y="5"/>
                </a:lnTo>
                <a:cubicBezTo>
                  <a:pt x="21" y="-1"/>
                  <a:pt x="11" y="-1"/>
                  <a:pt x="5" y="5"/>
                </a:cubicBezTo>
                <a:cubicBezTo>
                  <a:pt x="-1" y="11"/>
                  <a:pt x="-1" y="21"/>
                  <a:pt x="5" y="27"/>
                </a:cubicBezTo>
                <a:lnTo>
                  <a:pt x="62" y="85"/>
                </a:lnTo>
                <a:lnTo>
                  <a:pt x="62" y="249"/>
                </a:lnTo>
                <a:cubicBezTo>
                  <a:pt x="62" y="257"/>
                  <a:pt x="69" y="264"/>
                  <a:pt x="78" y="264"/>
                </a:cubicBezTo>
                <a:cubicBezTo>
                  <a:pt x="86" y="264"/>
                  <a:pt x="93" y="257"/>
                  <a:pt x="93" y="249"/>
                </a:cubicBezTo>
                <a:lnTo>
                  <a:pt x="93" y="85"/>
                </a:lnTo>
                <a:lnTo>
                  <a:pt x="151" y="27"/>
                </a:lnTo>
                <a:cubicBezTo>
                  <a:pt x="158" y="21"/>
                  <a:pt x="158" y="11"/>
                  <a:pt x="151" y="5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1076040" y="3215160"/>
            <a:ext cx="66960" cy="45000"/>
          </a:xfrm>
          <a:custGeom>
            <a:avLst/>
            <a:gdLst/>
            <a:ahLst/>
            <a:rect l="0" t="0" r="r" b="b"/>
            <a:pathLst>
              <a:path w="186" h="125">
                <a:moveTo>
                  <a:pt x="186" y="93"/>
                </a:moveTo>
                <a:cubicBezTo>
                  <a:pt x="186" y="111"/>
                  <a:pt x="173" y="125"/>
                  <a:pt x="156" y="125"/>
                </a:cubicBezTo>
                <a:lnTo>
                  <a:pt x="31" y="125"/>
                </a:lnTo>
                <a:cubicBezTo>
                  <a:pt x="14" y="125"/>
                  <a:pt x="0" y="111"/>
                  <a:pt x="0" y="93"/>
                </a:cubicBezTo>
                <a:lnTo>
                  <a:pt x="0" y="0"/>
                </a:lnTo>
                <a:lnTo>
                  <a:pt x="186" y="0"/>
                </a:lnTo>
                <a:lnTo>
                  <a:pt x="186" y="93"/>
                </a:ln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1070640" y="3209760"/>
            <a:ext cx="78120" cy="44640"/>
          </a:xfrm>
          <a:custGeom>
            <a:avLst/>
            <a:gdLst/>
            <a:ahLst/>
            <a:rect l="0" t="0" r="r" b="b"/>
            <a:pathLst>
              <a:path w="217" h="124">
                <a:moveTo>
                  <a:pt x="0" y="112"/>
                </a:moveTo>
                <a:cubicBezTo>
                  <a:pt x="-1" y="103"/>
                  <a:pt x="4" y="95"/>
                  <a:pt x="13" y="94"/>
                </a:cubicBezTo>
                <a:lnTo>
                  <a:pt x="199" y="63"/>
                </a:lnTo>
                <a:cubicBezTo>
                  <a:pt x="207" y="61"/>
                  <a:pt x="215" y="67"/>
                  <a:pt x="217" y="76"/>
                </a:cubicBezTo>
                <a:cubicBezTo>
                  <a:pt x="218" y="84"/>
                  <a:pt x="212" y="92"/>
                  <a:pt x="204" y="93"/>
                </a:cubicBezTo>
                <a:lnTo>
                  <a:pt x="18" y="124"/>
                </a:lnTo>
                <a:cubicBezTo>
                  <a:pt x="17" y="124"/>
                  <a:pt x="16" y="124"/>
                  <a:pt x="15" y="124"/>
                </a:cubicBezTo>
                <a:cubicBezTo>
                  <a:pt x="8" y="124"/>
                  <a:pt x="1" y="119"/>
                  <a:pt x="0" y="112"/>
                </a:cubicBezTo>
                <a:moveTo>
                  <a:pt x="0" y="50"/>
                </a:moveTo>
                <a:cubicBezTo>
                  <a:pt x="-1" y="41"/>
                  <a:pt x="4" y="33"/>
                  <a:pt x="13" y="32"/>
                </a:cubicBezTo>
                <a:lnTo>
                  <a:pt x="199" y="0"/>
                </a:lnTo>
                <a:cubicBezTo>
                  <a:pt x="207" y="-1"/>
                  <a:pt x="215" y="5"/>
                  <a:pt x="217" y="14"/>
                </a:cubicBezTo>
                <a:cubicBezTo>
                  <a:pt x="218" y="22"/>
                  <a:pt x="212" y="30"/>
                  <a:pt x="204" y="32"/>
                </a:cubicBezTo>
                <a:lnTo>
                  <a:pt x="18" y="62"/>
                </a:lnTo>
                <a:cubicBezTo>
                  <a:pt x="17" y="63"/>
                  <a:pt x="16" y="63"/>
                  <a:pt x="15" y="63"/>
                </a:cubicBezTo>
                <a:cubicBezTo>
                  <a:pt x="8" y="63"/>
                  <a:pt x="1" y="57"/>
                  <a:pt x="0" y="50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8411040" y="2383200"/>
            <a:ext cx="1405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Tarda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1–3 min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1026000" y="3753360"/>
            <a:ext cx="167040" cy="161640"/>
          </a:xfrm>
          <a:custGeom>
            <a:avLst/>
            <a:gdLst/>
            <a:ahLst/>
            <a:rect l="0" t="0" r="r" b="b"/>
            <a:pathLst>
              <a:path w="464" h="449">
                <a:moveTo>
                  <a:pt x="325" y="0"/>
                </a:moveTo>
                <a:cubicBezTo>
                  <a:pt x="279" y="0"/>
                  <a:pt x="279" y="16"/>
                  <a:pt x="233" y="16"/>
                </a:cubicBezTo>
                <a:cubicBezTo>
                  <a:pt x="187" y="16"/>
                  <a:pt x="187" y="0"/>
                  <a:pt x="139" y="0"/>
                </a:cubicBezTo>
                <a:cubicBezTo>
                  <a:pt x="78" y="0"/>
                  <a:pt x="0" y="31"/>
                  <a:pt x="0" y="140"/>
                </a:cubicBezTo>
                <a:cubicBezTo>
                  <a:pt x="0" y="310"/>
                  <a:pt x="93" y="449"/>
                  <a:pt x="155" y="449"/>
                </a:cubicBezTo>
                <a:cubicBezTo>
                  <a:pt x="202" y="449"/>
                  <a:pt x="202" y="433"/>
                  <a:pt x="233" y="433"/>
                </a:cubicBezTo>
                <a:cubicBezTo>
                  <a:pt x="264" y="433"/>
                  <a:pt x="264" y="449"/>
                  <a:pt x="310" y="449"/>
                </a:cubicBezTo>
                <a:cubicBezTo>
                  <a:pt x="372" y="449"/>
                  <a:pt x="464" y="310"/>
                  <a:pt x="464" y="140"/>
                </a:cubicBezTo>
                <a:cubicBezTo>
                  <a:pt x="464" y="31"/>
                  <a:pt x="387" y="0"/>
                  <a:pt x="325" y="0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1114920" y="3731400"/>
            <a:ext cx="78120" cy="28080"/>
          </a:xfrm>
          <a:custGeom>
            <a:avLst/>
            <a:gdLst/>
            <a:ahLst/>
            <a:rect l="0" t="0" r="r" b="b"/>
            <a:pathLst>
              <a:path w="217" h="78">
                <a:moveTo>
                  <a:pt x="0" y="61"/>
                </a:moveTo>
                <a:cubicBezTo>
                  <a:pt x="0" y="61"/>
                  <a:pt x="48" y="0"/>
                  <a:pt x="125" y="0"/>
                </a:cubicBezTo>
                <a:cubicBezTo>
                  <a:pt x="187" y="0"/>
                  <a:pt x="217" y="30"/>
                  <a:pt x="217" y="30"/>
                </a:cubicBezTo>
                <a:cubicBezTo>
                  <a:pt x="217" y="30"/>
                  <a:pt x="156" y="78"/>
                  <a:pt x="109" y="78"/>
                </a:cubicBezTo>
                <a:cubicBezTo>
                  <a:pt x="63" y="78"/>
                  <a:pt x="0" y="61"/>
                  <a:pt x="0" y="61"/>
                </a:cubicBez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1103760" y="3714480"/>
            <a:ext cx="28440" cy="56160"/>
          </a:xfrm>
          <a:custGeom>
            <a:avLst/>
            <a:gdLst/>
            <a:ahLst/>
            <a:rect l="0" t="0" r="r" b="b"/>
            <a:pathLst>
              <a:path w="79" h="156">
                <a:moveTo>
                  <a:pt x="16" y="156"/>
                </a:moveTo>
                <a:cubicBezTo>
                  <a:pt x="7" y="156"/>
                  <a:pt x="0" y="149"/>
                  <a:pt x="0" y="140"/>
                </a:cubicBezTo>
                <a:cubicBezTo>
                  <a:pt x="0" y="87"/>
                  <a:pt x="19" y="37"/>
                  <a:pt x="51" y="5"/>
                </a:cubicBezTo>
                <a:cubicBezTo>
                  <a:pt x="55" y="2"/>
                  <a:pt x="59" y="0"/>
                  <a:pt x="63" y="0"/>
                </a:cubicBezTo>
                <a:lnTo>
                  <a:pt x="64" y="0"/>
                </a:lnTo>
                <a:cubicBezTo>
                  <a:pt x="67" y="0"/>
                  <a:pt x="71" y="2"/>
                  <a:pt x="74" y="5"/>
                </a:cubicBezTo>
                <a:cubicBezTo>
                  <a:pt x="80" y="11"/>
                  <a:pt x="80" y="21"/>
                  <a:pt x="74" y="27"/>
                </a:cubicBezTo>
                <a:cubicBezTo>
                  <a:pt x="47" y="53"/>
                  <a:pt x="31" y="95"/>
                  <a:pt x="31" y="140"/>
                </a:cubicBezTo>
                <a:cubicBezTo>
                  <a:pt x="31" y="149"/>
                  <a:pt x="24" y="156"/>
                  <a:pt x="16" y="156"/>
                </a:cubicBezTo>
                <a:close/>
              </a:path>
            </a:pathLst>
          </a:custGeom>
          <a:solidFill>
            <a:srgbClr val="66211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990720" y="3316680"/>
            <a:ext cx="99021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100% reproducible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(usa semillas fijas): a todos os sale el mismo dataset. Y se genera en local, no se descarga nada.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2333520" y="3943080"/>
            <a:ext cx="3905640" cy="219600"/>
          </a:xfrm>
          <a:custGeom>
            <a:avLst/>
            <a:gdLst/>
            <a:ahLst/>
            <a:rect l="0" t="0" r="r" b="b"/>
            <a:pathLst>
              <a:path w="10849" h="610">
                <a:moveTo>
                  <a:pt x="0" y="530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10769" y="0"/>
                </a:lnTo>
                <a:cubicBezTo>
                  <a:pt x="10780" y="0"/>
                  <a:pt x="10790" y="2"/>
                  <a:pt x="10800" y="6"/>
                </a:cubicBezTo>
                <a:cubicBezTo>
                  <a:pt x="10809" y="10"/>
                  <a:pt x="10818" y="16"/>
                  <a:pt x="10825" y="23"/>
                </a:cubicBezTo>
                <a:cubicBezTo>
                  <a:pt x="10833" y="31"/>
                  <a:pt x="10839" y="40"/>
                  <a:pt x="10843" y="49"/>
                </a:cubicBezTo>
                <a:cubicBezTo>
                  <a:pt x="10847" y="59"/>
                  <a:pt x="10849" y="69"/>
                  <a:pt x="10849" y="80"/>
                </a:cubicBezTo>
                <a:lnTo>
                  <a:pt x="10849" y="530"/>
                </a:lnTo>
                <a:cubicBezTo>
                  <a:pt x="10849" y="541"/>
                  <a:pt x="10847" y="551"/>
                  <a:pt x="10843" y="561"/>
                </a:cubicBezTo>
                <a:cubicBezTo>
                  <a:pt x="10839" y="571"/>
                  <a:pt x="10833" y="579"/>
                  <a:pt x="10825" y="587"/>
                </a:cubicBezTo>
                <a:cubicBezTo>
                  <a:pt x="10818" y="594"/>
                  <a:pt x="10809" y="600"/>
                  <a:pt x="10800" y="604"/>
                </a:cubicBezTo>
                <a:cubicBezTo>
                  <a:pt x="10790" y="608"/>
                  <a:pt x="10780" y="610"/>
                  <a:pt x="10769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39" y="600"/>
                  <a:pt x="30" y="594"/>
                  <a:pt x="23" y="587"/>
                </a:cubicBezTo>
                <a:cubicBezTo>
                  <a:pt x="16" y="579"/>
                  <a:pt x="10" y="571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990720" y="3954600"/>
            <a:ext cx="1345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Si ve avisos tipo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2395080" y="3957120"/>
            <a:ext cx="38030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objc[...] SDL ... implemented in both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6239520" y="3954600"/>
            <a:ext cx="48448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ignórelos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son inofensivos (dos copias de una librería de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990720" y="4250160"/>
            <a:ext cx="25912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vídeo) y no afectan al resultado.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685800" y="632520"/>
            <a:ext cx="6670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Paso 2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1354680" y="638640"/>
            <a:ext cx="209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1413000" y="632520"/>
            <a:ext cx="16804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Generar el dataset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CP4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1040400" y="6517080"/>
            <a:ext cx="1236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Behavioral Cloning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22759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231840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3217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325944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65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6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9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690480" y="129996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3"/>
                </a:lnTo>
                <a:cubicBezTo>
                  <a:pt x="0" y="80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2"/>
                  <a:pt x="29995" y="19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9"/>
                  <a:pt x="30031" y="80"/>
                  <a:pt x="30031" y="93"/>
                </a:cubicBezTo>
                <a:lnTo>
                  <a:pt x="30031" y="1178"/>
                </a:lnTo>
                <a:cubicBezTo>
                  <a:pt x="30031" y="1191"/>
                  <a:pt x="30029" y="1203"/>
                  <a:pt x="30024" y="1214"/>
                </a:cubicBezTo>
                <a:cubicBezTo>
                  <a:pt x="30019" y="1225"/>
                  <a:pt x="30012" y="1235"/>
                  <a:pt x="30004" y="1244"/>
                </a:cubicBezTo>
                <a:cubicBezTo>
                  <a:pt x="29995" y="1253"/>
                  <a:pt x="29985" y="1259"/>
                  <a:pt x="29974" y="1264"/>
                </a:cubicBezTo>
                <a:cubicBezTo>
                  <a:pt x="29962" y="1269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9"/>
                  <a:pt x="57" y="1264"/>
                </a:cubicBezTo>
                <a:cubicBezTo>
                  <a:pt x="46" y="1259"/>
                  <a:pt x="36" y="1253"/>
                  <a:pt x="27" y="1244"/>
                </a:cubicBezTo>
                <a:cubicBezTo>
                  <a:pt x="18" y="1235"/>
                  <a:pt x="11" y="1225"/>
                  <a:pt x="7" y="1214"/>
                </a:cubicBezTo>
                <a:cubicBezTo>
                  <a:pt x="2" y="1203"/>
                  <a:pt x="0" y="1191"/>
                  <a:pt x="0" y="1178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690480" y="129996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3"/>
                </a:lnTo>
                <a:cubicBezTo>
                  <a:pt x="0" y="80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2"/>
                  <a:pt x="29995" y="19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9"/>
                  <a:pt x="30031" y="80"/>
                  <a:pt x="30031" y="93"/>
                </a:cubicBezTo>
                <a:lnTo>
                  <a:pt x="30031" y="1178"/>
                </a:lnTo>
                <a:cubicBezTo>
                  <a:pt x="30031" y="1191"/>
                  <a:pt x="30029" y="1203"/>
                  <a:pt x="30024" y="1214"/>
                </a:cubicBezTo>
                <a:cubicBezTo>
                  <a:pt x="30019" y="1225"/>
                  <a:pt x="30012" y="1235"/>
                  <a:pt x="30004" y="1244"/>
                </a:cubicBezTo>
                <a:cubicBezTo>
                  <a:pt x="29995" y="1253"/>
                  <a:pt x="29985" y="1259"/>
                  <a:pt x="29974" y="1264"/>
                </a:cubicBezTo>
                <a:cubicBezTo>
                  <a:pt x="29962" y="1269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9"/>
                  <a:pt x="57" y="1264"/>
                </a:cubicBezTo>
                <a:cubicBezTo>
                  <a:pt x="46" y="1259"/>
                  <a:pt x="36" y="1253"/>
                  <a:pt x="27" y="1244"/>
                </a:cubicBezTo>
                <a:cubicBezTo>
                  <a:pt x="18" y="1235"/>
                  <a:pt x="11" y="1225"/>
                  <a:pt x="7" y="1214"/>
                </a:cubicBezTo>
                <a:cubicBezTo>
                  <a:pt x="2" y="1203"/>
                  <a:pt x="0" y="1191"/>
                  <a:pt x="0" y="117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866880" y="1452240"/>
            <a:ext cx="12484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jupyter notebook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1333440" y="1942920"/>
            <a:ext cx="1552680" cy="219600"/>
          </a:xfrm>
          <a:custGeom>
            <a:avLst/>
            <a:gdLst/>
            <a:ahLst/>
            <a:rect l="0" t="0" r="r" b="b"/>
            <a:pathLst>
              <a:path w="4313" h="610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4234" y="0"/>
                </a:lnTo>
                <a:cubicBezTo>
                  <a:pt x="4245" y="0"/>
                  <a:pt x="4255" y="2"/>
                  <a:pt x="4264" y="6"/>
                </a:cubicBezTo>
                <a:cubicBezTo>
                  <a:pt x="4274" y="10"/>
                  <a:pt x="4283" y="16"/>
                  <a:pt x="4290" y="23"/>
                </a:cubicBezTo>
                <a:cubicBezTo>
                  <a:pt x="4298" y="31"/>
                  <a:pt x="4303" y="39"/>
                  <a:pt x="4307" y="49"/>
                </a:cubicBezTo>
                <a:cubicBezTo>
                  <a:pt x="4311" y="59"/>
                  <a:pt x="4313" y="69"/>
                  <a:pt x="4313" y="79"/>
                </a:cubicBezTo>
                <a:lnTo>
                  <a:pt x="4313" y="530"/>
                </a:lnTo>
                <a:cubicBezTo>
                  <a:pt x="4313" y="541"/>
                  <a:pt x="4311" y="551"/>
                  <a:pt x="4307" y="561"/>
                </a:cubicBezTo>
                <a:cubicBezTo>
                  <a:pt x="4303" y="570"/>
                  <a:pt x="4298" y="579"/>
                  <a:pt x="4290" y="586"/>
                </a:cubicBezTo>
                <a:cubicBezTo>
                  <a:pt x="4283" y="594"/>
                  <a:pt x="4274" y="599"/>
                  <a:pt x="4264" y="603"/>
                </a:cubicBezTo>
                <a:cubicBezTo>
                  <a:pt x="4255" y="608"/>
                  <a:pt x="4245" y="610"/>
                  <a:pt x="4234" y="610"/>
                </a:cubicBezTo>
                <a:lnTo>
                  <a:pt x="79" y="610"/>
                </a:lnTo>
                <a:cubicBezTo>
                  <a:pt x="69" y="610"/>
                  <a:pt x="58" y="608"/>
                  <a:pt x="49" y="603"/>
                </a:cubicBezTo>
                <a:cubicBezTo>
                  <a:pt x="39" y="599"/>
                  <a:pt x="30" y="594"/>
                  <a:pt x="23" y="586"/>
                </a:cubicBezTo>
                <a:cubicBezTo>
                  <a:pt x="15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685800" y="1954440"/>
            <a:ext cx="6508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Ejecute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1394640" y="1956600"/>
            <a:ext cx="1439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02_setup.ipynb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9572400" y="1942920"/>
            <a:ext cx="1486440" cy="219600"/>
          </a:xfrm>
          <a:custGeom>
            <a:avLst/>
            <a:gdLst/>
            <a:ahLst/>
            <a:rect l="0" t="0" r="r" b="b"/>
            <a:pathLst>
              <a:path w="4129" h="610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4129" y="0"/>
                </a:lnTo>
                <a:lnTo>
                  <a:pt x="4129" y="610"/>
                </a:lnTo>
                <a:lnTo>
                  <a:pt x="79" y="610"/>
                </a:lnTo>
                <a:cubicBezTo>
                  <a:pt x="69" y="610"/>
                  <a:pt x="59" y="608"/>
                  <a:pt x="49" y="603"/>
                </a:cubicBezTo>
                <a:cubicBezTo>
                  <a:pt x="39" y="599"/>
                  <a:pt x="31" y="594"/>
                  <a:pt x="23" y="586"/>
                </a:cubicBezTo>
                <a:cubicBezTo>
                  <a:pt x="16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9648720" y="1952280"/>
            <a:ext cx="171720" cy="172080"/>
          </a:xfrm>
          <a:custGeom>
            <a:avLst/>
            <a:gdLst/>
            <a:ahLst/>
            <a:rect l="0" t="0" r="r" b="b"/>
            <a:pathLst>
              <a:path w="477" h="478">
                <a:moveTo>
                  <a:pt x="477" y="425"/>
                </a:moveTo>
                <a:cubicBezTo>
                  <a:pt x="477" y="454"/>
                  <a:pt x="453" y="478"/>
                  <a:pt x="424" y="478"/>
                </a:cubicBezTo>
                <a:lnTo>
                  <a:pt x="53" y="478"/>
                </a:lnTo>
                <a:cubicBezTo>
                  <a:pt x="23" y="478"/>
                  <a:pt x="0" y="454"/>
                  <a:pt x="0" y="425"/>
                </a:cubicBezTo>
                <a:lnTo>
                  <a:pt x="0" y="54"/>
                </a:lnTo>
                <a:cubicBezTo>
                  <a:pt x="0" y="24"/>
                  <a:pt x="23" y="0"/>
                  <a:pt x="53" y="0"/>
                </a:cubicBezTo>
                <a:lnTo>
                  <a:pt x="424" y="0"/>
                </a:lnTo>
                <a:cubicBezTo>
                  <a:pt x="453" y="0"/>
                  <a:pt x="477" y="24"/>
                  <a:pt x="477" y="54"/>
                </a:cubicBezTo>
                <a:lnTo>
                  <a:pt x="477" y="425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9675720" y="1980720"/>
            <a:ext cx="118080" cy="115920"/>
          </a:xfrm>
          <a:custGeom>
            <a:avLst/>
            <a:gdLst/>
            <a:ahLst/>
            <a:rect l="0" t="0" r="r" b="b"/>
            <a:pathLst>
              <a:path w="328" h="322">
                <a:moveTo>
                  <a:pt x="312" y="6"/>
                </a:moveTo>
                <a:cubicBezTo>
                  <a:pt x="297" y="-4"/>
                  <a:pt x="276" y="0"/>
                  <a:pt x="266" y="15"/>
                </a:cubicBezTo>
                <a:lnTo>
                  <a:pt x="122" y="238"/>
                </a:lnTo>
                <a:lnTo>
                  <a:pt x="56" y="177"/>
                </a:lnTo>
                <a:cubicBezTo>
                  <a:pt x="42" y="164"/>
                  <a:pt x="22" y="165"/>
                  <a:pt x="8" y="179"/>
                </a:cubicBezTo>
                <a:cubicBezTo>
                  <a:pt x="-4" y="192"/>
                  <a:pt x="-3" y="213"/>
                  <a:pt x="10" y="225"/>
                </a:cubicBezTo>
                <a:lnTo>
                  <a:pt x="106" y="314"/>
                </a:lnTo>
                <a:cubicBezTo>
                  <a:pt x="113" y="319"/>
                  <a:pt x="121" y="322"/>
                  <a:pt x="129" y="322"/>
                </a:cubicBezTo>
                <a:cubicBezTo>
                  <a:pt x="138" y="322"/>
                  <a:pt x="149" y="319"/>
                  <a:pt x="157" y="307"/>
                </a:cubicBezTo>
                <a:cubicBezTo>
                  <a:pt x="161" y="301"/>
                  <a:pt x="322" y="51"/>
                  <a:pt x="322" y="51"/>
                </a:cubicBezTo>
                <a:cubicBezTo>
                  <a:pt x="332" y="36"/>
                  <a:pt x="327" y="16"/>
                  <a:pt x="312" y="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2884680" y="1954440"/>
            <a:ext cx="66783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entero. Comprueba que el simulador y el dataset están bien. Debe terminar con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685440" y="2228760"/>
            <a:ext cx="1391040" cy="219240"/>
          </a:xfrm>
          <a:custGeom>
            <a:avLst/>
            <a:gdLst/>
            <a:ahLst/>
            <a:rect l="0" t="0" r="r" b="b"/>
            <a:pathLst>
              <a:path w="3864" h="609">
                <a:moveTo>
                  <a:pt x="0" y="0"/>
                </a:moveTo>
                <a:lnTo>
                  <a:pt x="3785" y="0"/>
                </a:lnTo>
                <a:cubicBezTo>
                  <a:pt x="3796" y="0"/>
                  <a:pt x="3806" y="2"/>
                  <a:pt x="3815" y="6"/>
                </a:cubicBezTo>
                <a:cubicBezTo>
                  <a:pt x="3825" y="10"/>
                  <a:pt x="3834" y="16"/>
                  <a:pt x="3841" y="23"/>
                </a:cubicBezTo>
                <a:cubicBezTo>
                  <a:pt x="3849" y="30"/>
                  <a:pt x="3854" y="39"/>
                  <a:pt x="3858" y="49"/>
                </a:cubicBezTo>
                <a:cubicBezTo>
                  <a:pt x="3862" y="58"/>
                  <a:pt x="3864" y="69"/>
                  <a:pt x="3864" y="79"/>
                </a:cubicBezTo>
                <a:lnTo>
                  <a:pt x="3864" y="530"/>
                </a:lnTo>
                <a:cubicBezTo>
                  <a:pt x="3864" y="540"/>
                  <a:pt x="3862" y="551"/>
                  <a:pt x="3858" y="560"/>
                </a:cubicBezTo>
                <a:cubicBezTo>
                  <a:pt x="3854" y="570"/>
                  <a:pt x="3849" y="579"/>
                  <a:pt x="3841" y="586"/>
                </a:cubicBezTo>
                <a:cubicBezTo>
                  <a:pt x="3834" y="593"/>
                  <a:pt x="3825" y="599"/>
                  <a:pt x="3815" y="603"/>
                </a:cubicBezTo>
                <a:cubicBezTo>
                  <a:pt x="3806" y="607"/>
                  <a:pt x="3796" y="609"/>
                  <a:pt x="3785" y="609"/>
                </a:cubicBezTo>
                <a:lnTo>
                  <a:pt x="0" y="609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9827640" y="1956600"/>
            <a:ext cx="12337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 Setup OK — 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685800" y="2242440"/>
            <a:ext cx="13366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listo para 03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685440" y="101916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2073600" y="224028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685800" y="641880"/>
            <a:ext cx="6670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Paso 3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1354680" y="648360"/>
            <a:ext cx="209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3609720" y="618840"/>
            <a:ext cx="1095840" cy="238680"/>
          </a:xfrm>
          <a:custGeom>
            <a:avLst/>
            <a:gdLst/>
            <a:ahLst/>
            <a:rect l="0" t="0" r="r" b="b"/>
            <a:pathLst>
              <a:path w="3044" h="663">
                <a:moveTo>
                  <a:pt x="0" y="582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2965" y="0"/>
                </a:lnTo>
                <a:cubicBezTo>
                  <a:pt x="2975" y="0"/>
                  <a:pt x="2985" y="2"/>
                  <a:pt x="2995" y="6"/>
                </a:cubicBezTo>
                <a:cubicBezTo>
                  <a:pt x="3005" y="10"/>
                  <a:pt x="3013" y="16"/>
                  <a:pt x="3021" y="24"/>
                </a:cubicBezTo>
                <a:cubicBezTo>
                  <a:pt x="3028" y="31"/>
                  <a:pt x="3034" y="40"/>
                  <a:pt x="3038" y="49"/>
                </a:cubicBezTo>
                <a:cubicBezTo>
                  <a:pt x="3042" y="59"/>
                  <a:pt x="3044" y="69"/>
                  <a:pt x="3044" y="80"/>
                </a:cubicBezTo>
                <a:lnTo>
                  <a:pt x="3044" y="582"/>
                </a:lnTo>
                <a:cubicBezTo>
                  <a:pt x="3044" y="593"/>
                  <a:pt x="3042" y="604"/>
                  <a:pt x="3038" y="614"/>
                </a:cubicBezTo>
                <a:cubicBezTo>
                  <a:pt x="3034" y="623"/>
                  <a:pt x="3028" y="632"/>
                  <a:pt x="3021" y="640"/>
                </a:cubicBezTo>
                <a:cubicBezTo>
                  <a:pt x="3013" y="647"/>
                  <a:pt x="3005" y="653"/>
                  <a:pt x="2995" y="657"/>
                </a:cubicBezTo>
                <a:cubicBezTo>
                  <a:pt x="2985" y="661"/>
                  <a:pt x="2975" y="663"/>
                  <a:pt x="2965" y="663"/>
                </a:cubicBezTo>
                <a:lnTo>
                  <a:pt x="80" y="663"/>
                </a:lnTo>
                <a:cubicBezTo>
                  <a:pt x="69" y="663"/>
                  <a:pt x="59" y="661"/>
                  <a:pt x="49" y="657"/>
                </a:cubicBezTo>
                <a:cubicBezTo>
                  <a:pt x="39" y="653"/>
                  <a:pt x="31" y="647"/>
                  <a:pt x="23" y="640"/>
                </a:cubicBezTo>
                <a:cubicBezTo>
                  <a:pt x="16" y="632"/>
                  <a:pt x="10" y="623"/>
                  <a:pt x="6" y="614"/>
                </a:cubicBezTo>
                <a:cubicBezTo>
                  <a:pt x="2" y="604"/>
                  <a:pt x="0" y="593"/>
                  <a:pt x="0" y="582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1413000" y="641880"/>
            <a:ext cx="21913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Abrir Jupyter y verificar (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3653640" y="615240"/>
            <a:ext cx="10062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02_setup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7181640" y="9903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79"/>
                  <a:pt x="215" y="192"/>
                  <a:pt x="204" y="203"/>
                </a:cubicBezTo>
                <a:cubicBezTo>
                  <a:pt x="193" y="215"/>
                  <a:pt x="180" y="223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3"/>
                  <a:pt x="46" y="215"/>
                  <a:pt x="35" y="203"/>
                </a:cubicBezTo>
                <a:cubicBezTo>
                  <a:pt x="24" y="192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4704840" y="641880"/>
            <a:ext cx="209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CP4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1040400" y="6517080"/>
            <a:ext cx="1236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Behavioral Cloning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22759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231840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3217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325944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00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1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914400" y="975240"/>
            <a:ext cx="20253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PARTE 1 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3015360" y="990360"/>
            <a:ext cx="49500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3162600" y="975240"/>
            <a:ext cx="264168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LOS DATOS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1962000" y="1714320"/>
            <a:ext cx="1590840" cy="286200"/>
          </a:xfrm>
          <a:custGeom>
            <a:avLst/>
            <a:gdLst/>
            <a:ahLst/>
            <a:rect l="0" t="0" r="r" b="b"/>
            <a:pathLst>
              <a:path w="4419" h="795">
                <a:moveTo>
                  <a:pt x="0" y="715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4340" y="0"/>
                </a:lnTo>
                <a:cubicBezTo>
                  <a:pt x="4351" y="0"/>
                  <a:pt x="4361" y="2"/>
                  <a:pt x="4370" y="6"/>
                </a:cubicBezTo>
                <a:cubicBezTo>
                  <a:pt x="4380" y="10"/>
                  <a:pt x="4389" y="16"/>
                  <a:pt x="4396" y="23"/>
                </a:cubicBezTo>
                <a:cubicBezTo>
                  <a:pt x="4404" y="31"/>
                  <a:pt x="4409" y="39"/>
                  <a:pt x="4413" y="49"/>
                </a:cubicBezTo>
                <a:cubicBezTo>
                  <a:pt x="4417" y="59"/>
                  <a:pt x="4419" y="69"/>
                  <a:pt x="4419" y="79"/>
                </a:cubicBezTo>
                <a:lnTo>
                  <a:pt x="4419" y="715"/>
                </a:lnTo>
                <a:cubicBezTo>
                  <a:pt x="4419" y="726"/>
                  <a:pt x="4417" y="736"/>
                  <a:pt x="4413" y="746"/>
                </a:cubicBezTo>
                <a:cubicBezTo>
                  <a:pt x="4409" y="755"/>
                  <a:pt x="4404" y="764"/>
                  <a:pt x="4396" y="772"/>
                </a:cubicBezTo>
                <a:cubicBezTo>
                  <a:pt x="4389" y="779"/>
                  <a:pt x="4380" y="785"/>
                  <a:pt x="4370" y="789"/>
                </a:cubicBezTo>
                <a:cubicBezTo>
                  <a:pt x="4361" y="793"/>
                  <a:pt x="4351" y="795"/>
                  <a:pt x="4340" y="795"/>
                </a:cubicBezTo>
                <a:lnTo>
                  <a:pt x="79" y="795"/>
                </a:lnTo>
                <a:cubicBezTo>
                  <a:pt x="69" y="795"/>
                  <a:pt x="59" y="793"/>
                  <a:pt x="49" y="789"/>
                </a:cubicBezTo>
                <a:cubicBezTo>
                  <a:pt x="39" y="785"/>
                  <a:pt x="31" y="779"/>
                  <a:pt x="23" y="772"/>
                </a:cubicBezTo>
                <a:cubicBezTo>
                  <a:pt x="16" y="764"/>
                  <a:pt x="10" y="755"/>
                  <a:pt x="6" y="746"/>
                </a:cubicBezTo>
                <a:cubicBezTo>
                  <a:pt x="2" y="736"/>
                  <a:pt x="0" y="726"/>
                  <a:pt x="0" y="715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914400" y="1744920"/>
            <a:ext cx="10522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Notebook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2012400" y="1713240"/>
            <a:ext cx="149616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03_dataset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3552840" y="174492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3614760" y="175248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3683520" y="1744920"/>
            <a:ext cx="7765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~8 min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CP4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1040400" y="6517080"/>
            <a:ext cx="1236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Behavioral Cloning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22759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231840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3217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325944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22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3" name=""/>
          <p:cNvSpPr txBox="1"/>
          <p:nvPr/>
        </p:nvSpPr>
        <p:spPr>
          <a:xfrm>
            <a:off x="11757600" y="6513120"/>
            <a:ext cx="1674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685440" y="1942920"/>
            <a:ext cx="10820880" cy="924120"/>
          </a:xfrm>
          <a:custGeom>
            <a:avLst/>
            <a:gdLst/>
            <a:ahLst/>
            <a:rect l="0" t="0" r="r" b="b"/>
            <a:pathLst>
              <a:path w="30058" h="2567">
                <a:moveTo>
                  <a:pt x="0" y="0"/>
                </a:moveTo>
                <a:lnTo>
                  <a:pt x="30058" y="0"/>
                </a:lnTo>
                <a:lnTo>
                  <a:pt x="30058" y="2567"/>
                </a:lnTo>
                <a:lnTo>
                  <a:pt x="0" y="2567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685440" y="1942920"/>
            <a:ext cx="29160" cy="924120"/>
          </a:xfrm>
          <a:custGeom>
            <a:avLst/>
            <a:gdLst/>
            <a:ahLst/>
            <a:rect l="0" t="0" r="r" b="b"/>
            <a:pathLst>
              <a:path w="81" h="2567">
                <a:moveTo>
                  <a:pt x="0" y="0"/>
                </a:moveTo>
                <a:lnTo>
                  <a:pt x="81" y="0"/>
                </a:lnTo>
                <a:lnTo>
                  <a:pt x="81" y="2567"/>
                </a:lnTo>
                <a:lnTo>
                  <a:pt x="0" y="256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1056960" y="2118960"/>
            <a:ext cx="43560" cy="43560"/>
          </a:xfrm>
          <a:custGeom>
            <a:avLst/>
            <a:gdLst/>
            <a:ahLst/>
            <a:rect l="0" t="0" r="r" b="b"/>
            <a:pathLst>
              <a:path w="121" h="121">
                <a:moveTo>
                  <a:pt x="77" y="0"/>
                </a:moveTo>
                <a:lnTo>
                  <a:pt x="121" y="44"/>
                </a:lnTo>
                <a:lnTo>
                  <a:pt x="45" y="121"/>
                </a:lnTo>
                <a:lnTo>
                  <a:pt x="0" y="78"/>
                </a:lnTo>
                <a:lnTo>
                  <a:pt x="77" y="0"/>
                </a:lnTo>
                <a:close/>
              </a:path>
            </a:pathLst>
          </a:custGeom>
          <a:solidFill>
            <a:srgbClr val="9AAAB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1009800" y="2135520"/>
            <a:ext cx="74520" cy="74160"/>
          </a:xfrm>
          <a:custGeom>
            <a:avLst/>
            <a:gdLst/>
            <a:ahLst/>
            <a:rect l="0" t="0" r="r" b="b"/>
            <a:pathLst>
              <a:path w="207" h="206">
                <a:moveTo>
                  <a:pt x="18" y="99"/>
                </a:moveTo>
                <a:lnTo>
                  <a:pt x="109" y="9"/>
                </a:lnTo>
                <a:cubicBezTo>
                  <a:pt x="121" y="-3"/>
                  <a:pt x="141" y="-3"/>
                  <a:pt x="153" y="9"/>
                </a:cubicBezTo>
                <a:lnTo>
                  <a:pt x="198" y="52"/>
                </a:lnTo>
                <a:cubicBezTo>
                  <a:pt x="210" y="64"/>
                  <a:pt x="210" y="84"/>
                  <a:pt x="198" y="96"/>
                </a:cubicBezTo>
                <a:lnTo>
                  <a:pt x="106" y="188"/>
                </a:lnTo>
                <a:cubicBezTo>
                  <a:pt x="82" y="212"/>
                  <a:pt x="43" y="212"/>
                  <a:pt x="18" y="188"/>
                </a:cubicBezTo>
                <a:cubicBezTo>
                  <a:pt x="-6" y="164"/>
                  <a:pt x="-6" y="125"/>
                  <a:pt x="18" y="99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1058760" y="2010600"/>
            <a:ext cx="150120" cy="150480"/>
          </a:xfrm>
          <a:custGeom>
            <a:avLst/>
            <a:gdLst/>
            <a:ahLst/>
            <a:rect l="0" t="0" r="r" b="b"/>
            <a:pathLst>
              <a:path w="417" h="418">
                <a:moveTo>
                  <a:pt x="417" y="209"/>
                </a:moveTo>
                <a:cubicBezTo>
                  <a:pt x="417" y="223"/>
                  <a:pt x="416" y="236"/>
                  <a:pt x="413" y="250"/>
                </a:cubicBezTo>
                <a:cubicBezTo>
                  <a:pt x="411" y="263"/>
                  <a:pt x="407" y="276"/>
                  <a:pt x="402" y="289"/>
                </a:cubicBezTo>
                <a:cubicBezTo>
                  <a:pt x="396" y="302"/>
                  <a:pt x="390" y="314"/>
                  <a:pt x="382" y="325"/>
                </a:cubicBezTo>
                <a:cubicBezTo>
                  <a:pt x="375" y="336"/>
                  <a:pt x="366" y="347"/>
                  <a:pt x="356" y="357"/>
                </a:cubicBezTo>
                <a:cubicBezTo>
                  <a:pt x="347" y="366"/>
                  <a:pt x="336" y="375"/>
                  <a:pt x="325" y="382"/>
                </a:cubicBezTo>
                <a:cubicBezTo>
                  <a:pt x="313" y="390"/>
                  <a:pt x="301" y="396"/>
                  <a:pt x="289" y="402"/>
                </a:cubicBezTo>
                <a:cubicBezTo>
                  <a:pt x="276" y="407"/>
                  <a:pt x="263" y="411"/>
                  <a:pt x="250" y="414"/>
                </a:cubicBezTo>
                <a:cubicBezTo>
                  <a:pt x="236" y="416"/>
                  <a:pt x="223" y="418"/>
                  <a:pt x="209" y="418"/>
                </a:cubicBezTo>
                <a:cubicBezTo>
                  <a:pt x="195" y="418"/>
                  <a:pt x="182" y="416"/>
                  <a:pt x="167" y="414"/>
                </a:cubicBezTo>
                <a:cubicBezTo>
                  <a:pt x="154" y="411"/>
                  <a:pt x="141" y="407"/>
                  <a:pt x="128" y="402"/>
                </a:cubicBezTo>
                <a:cubicBezTo>
                  <a:pt x="116" y="396"/>
                  <a:pt x="104" y="390"/>
                  <a:pt x="92" y="382"/>
                </a:cubicBezTo>
                <a:cubicBezTo>
                  <a:pt x="81" y="375"/>
                  <a:pt x="70" y="366"/>
                  <a:pt x="61" y="357"/>
                </a:cubicBezTo>
                <a:cubicBezTo>
                  <a:pt x="51" y="347"/>
                  <a:pt x="42" y="336"/>
                  <a:pt x="35" y="325"/>
                </a:cubicBezTo>
                <a:cubicBezTo>
                  <a:pt x="27" y="314"/>
                  <a:pt x="21" y="302"/>
                  <a:pt x="16" y="289"/>
                </a:cubicBezTo>
                <a:cubicBezTo>
                  <a:pt x="10" y="276"/>
                  <a:pt x="6" y="263"/>
                  <a:pt x="4" y="250"/>
                </a:cubicBezTo>
                <a:cubicBezTo>
                  <a:pt x="1" y="236"/>
                  <a:pt x="0" y="223"/>
                  <a:pt x="0" y="209"/>
                </a:cubicBezTo>
                <a:cubicBezTo>
                  <a:pt x="0" y="195"/>
                  <a:pt x="1" y="182"/>
                  <a:pt x="4" y="169"/>
                </a:cubicBezTo>
                <a:cubicBezTo>
                  <a:pt x="6" y="155"/>
                  <a:pt x="10" y="142"/>
                  <a:pt x="16" y="129"/>
                </a:cubicBezTo>
                <a:cubicBezTo>
                  <a:pt x="21" y="117"/>
                  <a:pt x="27" y="105"/>
                  <a:pt x="35" y="93"/>
                </a:cubicBezTo>
                <a:cubicBezTo>
                  <a:pt x="42" y="82"/>
                  <a:pt x="51" y="72"/>
                  <a:pt x="61" y="62"/>
                </a:cubicBezTo>
                <a:cubicBezTo>
                  <a:pt x="70" y="52"/>
                  <a:pt x="81" y="44"/>
                  <a:pt x="92" y="36"/>
                </a:cubicBezTo>
                <a:cubicBezTo>
                  <a:pt x="104" y="27"/>
                  <a:pt x="116" y="21"/>
                  <a:pt x="128" y="16"/>
                </a:cubicBezTo>
                <a:cubicBezTo>
                  <a:pt x="141" y="10"/>
                  <a:pt x="154" y="6"/>
                  <a:pt x="167" y="4"/>
                </a:cubicBezTo>
                <a:cubicBezTo>
                  <a:pt x="182" y="1"/>
                  <a:pt x="195" y="0"/>
                  <a:pt x="209" y="0"/>
                </a:cubicBezTo>
                <a:cubicBezTo>
                  <a:pt x="223" y="0"/>
                  <a:pt x="236" y="1"/>
                  <a:pt x="250" y="4"/>
                </a:cubicBezTo>
                <a:cubicBezTo>
                  <a:pt x="263" y="6"/>
                  <a:pt x="276" y="10"/>
                  <a:pt x="289" y="16"/>
                </a:cubicBezTo>
                <a:cubicBezTo>
                  <a:pt x="301" y="21"/>
                  <a:pt x="313" y="27"/>
                  <a:pt x="325" y="36"/>
                </a:cubicBezTo>
                <a:cubicBezTo>
                  <a:pt x="336" y="44"/>
                  <a:pt x="347" y="52"/>
                  <a:pt x="356" y="62"/>
                </a:cubicBezTo>
                <a:cubicBezTo>
                  <a:pt x="366" y="72"/>
                  <a:pt x="375" y="82"/>
                  <a:pt x="382" y="93"/>
                </a:cubicBezTo>
                <a:cubicBezTo>
                  <a:pt x="390" y="105"/>
                  <a:pt x="396" y="117"/>
                  <a:pt x="402" y="129"/>
                </a:cubicBezTo>
                <a:cubicBezTo>
                  <a:pt x="407" y="142"/>
                  <a:pt x="411" y="155"/>
                  <a:pt x="413" y="169"/>
                </a:cubicBezTo>
                <a:cubicBezTo>
                  <a:pt x="416" y="182"/>
                  <a:pt x="417" y="195"/>
                  <a:pt x="417" y="209"/>
                </a:cubicBezTo>
                <a:close/>
              </a:path>
            </a:pathLst>
          </a:custGeom>
          <a:solidFill>
            <a:srgbClr val="8899A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1080720" y="2032920"/>
            <a:ext cx="106200" cy="105840"/>
          </a:xfrm>
          <a:custGeom>
            <a:avLst/>
            <a:gdLst/>
            <a:ahLst/>
            <a:rect l="0" t="0" r="r" b="b"/>
            <a:pathLst>
              <a:path w="295" h="294">
                <a:moveTo>
                  <a:pt x="295" y="147"/>
                </a:moveTo>
                <a:cubicBezTo>
                  <a:pt x="295" y="157"/>
                  <a:pt x="294" y="166"/>
                  <a:pt x="292" y="176"/>
                </a:cubicBezTo>
                <a:cubicBezTo>
                  <a:pt x="290" y="185"/>
                  <a:pt x="287" y="194"/>
                  <a:pt x="284" y="203"/>
                </a:cubicBezTo>
                <a:cubicBezTo>
                  <a:pt x="280" y="212"/>
                  <a:pt x="275" y="221"/>
                  <a:pt x="270" y="229"/>
                </a:cubicBezTo>
                <a:cubicBezTo>
                  <a:pt x="265" y="237"/>
                  <a:pt x="259" y="244"/>
                  <a:pt x="252" y="251"/>
                </a:cubicBezTo>
                <a:cubicBezTo>
                  <a:pt x="245" y="258"/>
                  <a:pt x="238" y="264"/>
                  <a:pt x="230" y="269"/>
                </a:cubicBezTo>
                <a:cubicBezTo>
                  <a:pt x="222" y="274"/>
                  <a:pt x="213" y="279"/>
                  <a:pt x="204" y="283"/>
                </a:cubicBezTo>
                <a:cubicBezTo>
                  <a:pt x="195" y="286"/>
                  <a:pt x="186" y="289"/>
                  <a:pt x="177" y="291"/>
                </a:cubicBezTo>
                <a:cubicBezTo>
                  <a:pt x="167" y="293"/>
                  <a:pt x="158" y="294"/>
                  <a:pt x="148" y="294"/>
                </a:cubicBezTo>
                <a:cubicBezTo>
                  <a:pt x="138" y="294"/>
                  <a:pt x="129" y="293"/>
                  <a:pt x="120" y="291"/>
                </a:cubicBezTo>
                <a:cubicBezTo>
                  <a:pt x="110" y="289"/>
                  <a:pt x="101" y="286"/>
                  <a:pt x="92" y="283"/>
                </a:cubicBezTo>
                <a:cubicBezTo>
                  <a:pt x="83" y="279"/>
                  <a:pt x="74" y="274"/>
                  <a:pt x="66" y="269"/>
                </a:cubicBezTo>
                <a:cubicBezTo>
                  <a:pt x="58" y="264"/>
                  <a:pt x="50" y="258"/>
                  <a:pt x="43" y="251"/>
                </a:cubicBezTo>
                <a:cubicBezTo>
                  <a:pt x="37" y="244"/>
                  <a:pt x="31" y="237"/>
                  <a:pt x="25" y="229"/>
                </a:cubicBezTo>
                <a:cubicBezTo>
                  <a:pt x="20" y="221"/>
                  <a:pt x="15" y="212"/>
                  <a:pt x="12" y="203"/>
                </a:cubicBezTo>
                <a:cubicBezTo>
                  <a:pt x="8" y="194"/>
                  <a:pt x="5" y="185"/>
                  <a:pt x="3" y="176"/>
                </a:cubicBezTo>
                <a:cubicBezTo>
                  <a:pt x="1" y="166"/>
                  <a:pt x="0" y="157"/>
                  <a:pt x="0" y="147"/>
                </a:cubicBezTo>
                <a:cubicBezTo>
                  <a:pt x="0" y="138"/>
                  <a:pt x="1" y="128"/>
                  <a:pt x="3" y="119"/>
                </a:cubicBezTo>
                <a:cubicBezTo>
                  <a:pt x="5" y="109"/>
                  <a:pt x="8" y="100"/>
                  <a:pt x="12" y="91"/>
                </a:cubicBezTo>
                <a:cubicBezTo>
                  <a:pt x="15" y="82"/>
                  <a:pt x="20" y="74"/>
                  <a:pt x="25" y="65"/>
                </a:cubicBezTo>
                <a:cubicBezTo>
                  <a:pt x="31" y="57"/>
                  <a:pt x="37" y="49"/>
                  <a:pt x="43" y="42"/>
                </a:cubicBezTo>
                <a:cubicBezTo>
                  <a:pt x="50" y="36"/>
                  <a:pt x="58" y="30"/>
                  <a:pt x="66" y="24"/>
                </a:cubicBezTo>
                <a:cubicBezTo>
                  <a:pt x="74" y="19"/>
                  <a:pt x="83" y="14"/>
                  <a:pt x="92" y="11"/>
                </a:cubicBezTo>
                <a:cubicBezTo>
                  <a:pt x="101" y="7"/>
                  <a:pt x="110" y="4"/>
                  <a:pt x="120" y="2"/>
                </a:cubicBezTo>
                <a:cubicBezTo>
                  <a:pt x="129" y="0"/>
                  <a:pt x="138" y="0"/>
                  <a:pt x="148" y="0"/>
                </a:cubicBezTo>
                <a:cubicBezTo>
                  <a:pt x="158" y="0"/>
                  <a:pt x="167" y="0"/>
                  <a:pt x="177" y="2"/>
                </a:cubicBezTo>
                <a:cubicBezTo>
                  <a:pt x="186" y="4"/>
                  <a:pt x="195" y="7"/>
                  <a:pt x="204" y="11"/>
                </a:cubicBezTo>
                <a:cubicBezTo>
                  <a:pt x="213" y="14"/>
                  <a:pt x="222" y="19"/>
                  <a:pt x="230" y="24"/>
                </a:cubicBezTo>
                <a:cubicBezTo>
                  <a:pt x="238" y="30"/>
                  <a:pt x="245" y="36"/>
                  <a:pt x="252" y="42"/>
                </a:cubicBezTo>
                <a:cubicBezTo>
                  <a:pt x="259" y="49"/>
                  <a:pt x="265" y="57"/>
                  <a:pt x="270" y="65"/>
                </a:cubicBezTo>
                <a:cubicBezTo>
                  <a:pt x="275" y="74"/>
                  <a:pt x="280" y="82"/>
                  <a:pt x="284" y="91"/>
                </a:cubicBezTo>
                <a:cubicBezTo>
                  <a:pt x="287" y="100"/>
                  <a:pt x="290" y="109"/>
                  <a:pt x="292" y="119"/>
                </a:cubicBezTo>
                <a:cubicBezTo>
                  <a:pt x="294" y="128"/>
                  <a:pt x="295" y="138"/>
                  <a:pt x="295" y="147"/>
                </a:cubicBezTo>
                <a:close/>
              </a:path>
            </a:pathLst>
          </a:custGeom>
          <a:solidFill>
            <a:srgbClr val="BBDD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685800" y="1325880"/>
            <a:ext cx="78912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Explora el dataset que generó. Lo más importante: el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histograma del giro de volante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(steering).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990720" y="2249640"/>
            <a:ext cx="10363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Observe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la inmensa mayoría de las muestras tienen giro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cercano a 0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¿Por qué? Porque en autopista un conductor va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recto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990720" y="2545200"/>
            <a:ext cx="1597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casi todo el tiempo.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685440" y="3743280"/>
            <a:ext cx="10820880" cy="723960"/>
          </a:xfrm>
          <a:custGeom>
            <a:avLst/>
            <a:gdLst/>
            <a:ahLst/>
            <a:rect l="0" t="0" r="r" b="b"/>
            <a:pathLst>
              <a:path w="30058" h="2011">
                <a:moveTo>
                  <a:pt x="0" y="0"/>
                </a:moveTo>
                <a:lnTo>
                  <a:pt x="30058" y="0"/>
                </a:lnTo>
                <a:lnTo>
                  <a:pt x="30058" y="2011"/>
                </a:lnTo>
                <a:lnTo>
                  <a:pt x="0" y="2011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685440" y="3743280"/>
            <a:ext cx="29160" cy="723960"/>
          </a:xfrm>
          <a:custGeom>
            <a:avLst/>
            <a:gdLst/>
            <a:ahLst/>
            <a:rect l="0" t="0" r="r" b="b"/>
            <a:pathLst>
              <a:path w="81" h="2011">
                <a:moveTo>
                  <a:pt x="0" y="0"/>
                </a:moveTo>
                <a:lnTo>
                  <a:pt x="81" y="0"/>
                </a:lnTo>
                <a:lnTo>
                  <a:pt x="81" y="2011"/>
                </a:lnTo>
                <a:lnTo>
                  <a:pt x="0" y="2011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685800" y="3126240"/>
            <a:ext cx="8156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Esto crea un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dataset desbalanceado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y tiene una consecuencia importante para el entrenamiento: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990720" y="3819600"/>
            <a:ext cx="200520" cy="26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AppleColorEmoji"/>
                <a:ea typeface="AppleColorEmoji"/>
              </a:rPr>
              <a:t>✍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1209600" y="3859560"/>
            <a:ext cx="101772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Anote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si el 90% de los datos es "ir recto", ¿qué es lo más fácil que puede aprender la red para equivocarse poco… aunque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990720" y="4145400"/>
            <a:ext cx="2744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 sepa girar? (es la Pregunta 1)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685800" y="632520"/>
            <a:ext cx="2095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Qué hace este notebook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CP4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1040400" y="6517080"/>
            <a:ext cx="1236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Behavioral Cloning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22759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231840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3217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325944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53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4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914400" y="975240"/>
            <a:ext cx="20253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PARTE 2 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3015000" y="990360"/>
            <a:ext cx="49500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3162240" y="975240"/>
            <a:ext cx="433368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ENTRENAR LA RED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1962000" y="1714320"/>
            <a:ext cx="2781720" cy="286200"/>
          </a:xfrm>
          <a:custGeom>
            <a:avLst/>
            <a:gdLst/>
            <a:ahLst/>
            <a:rect l="0" t="0" r="r" b="b"/>
            <a:pathLst>
              <a:path w="7727" h="795">
                <a:moveTo>
                  <a:pt x="0" y="715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7647" y="0"/>
                </a:lnTo>
                <a:cubicBezTo>
                  <a:pt x="7658" y="0"/>
                  <a:pt x="7668" y="2"/>
                  <a:pt x="7678" y="6"/>
                </a:cubicBezTo>
                <a:cubicBezTo>
                  <a:pt x="7687" y="10"/>
                  <a:pt x="7696" y="16"/>
                  <a:pt x="7704" y="23"/>
                </a:cubicBezTo>
                <a:cubicBezTo>
                  <a:pt x="7711" y="31"/>
                  <a:pt x="7717" y="39"/>
                  <a:pt x="7721" y="49"/>
                </a:cubicBezTo>
                <a:cubicBezTo>
                  <a:pt x="7725" y="59"/>
                  <a:pt x="7727" y="69"/>
                  <a:pt x="7727" y="79"/>
                </a:cubicBezTo>
                <a:lnTo>
                  <a:pt x="7727" y="715"/>
                </a:lnTo>
                <a:cubicBezTo>
                  <a:pt x="7727" y="726"/>
                  <a:pt x="7725" y="736"/>
                  <a:pt x="7721" y="746"/>
                </a:cubicBezTo>
                <a:cubicBezTo>
                  <a:pt x="7717" y="755"/>
                  <a:pt x="7711" y="764"/>
                  <a:pt x="7704" y="772"/>
                </a:cubicBezTo>
                <a:cubicBezTo>
                  <a:pt x="7696" y="779"/>
                  <a:pt x="7687" y="785"/>
                  <a:pt x="7678" y="789"/>
                </a:cubicBezTo>
                <a:cubicBezTo>
                  <a:pt x="7668" y="793"/>
                  <a:pt x="7658" y="795"/>
                  <a:pt x="7647" y="795"/>
                </a:cubicBezTo>
                <a:lnTo>
                  <a:pt x="79" y="795"/>
                </a:lnTo>
                <a:cubicBezTo>
                  <a:pt x="69" y="795"/>
                  <a:pt x="59" y="793"/>
                  <a:pt x="49" y="789"/>
                </a:cubicBezTo>
                <a:cubicBezTo>
                  <a:pt x="39" y="785"/>
                  <a:pt x="31" y="779"/>
                  <a:pt x="23" y="772"/>
                </a:cubicBezTo>
                <a:cubicBezTo>
                  <a:pt x="16" y="764"/>
                  <a:pt x="10" y="755"/>
                  <a:pt x="6" y="746"/>
                </a:cubicBezTo>
                <a:cubicBezTo>
                  <a:pt x="2" y="736"/>
                  <a:pt x="0" y="726"/>
                  <a:pt x="0" y="715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914400" y="1744920"/>
            <a:ext cx="10522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Notebook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2012400" y="1713240"/>
            <a:ext cx="269280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04_modelo_pilotnet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4745520" y="174492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4807440" y="175248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4876200" y="1744920"/>
            <a:ext cx="92916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~10 min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CP4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1040400" y="6517080"/>
            <a:ext cx="1236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Behavioral Cloning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22759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231840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3217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325944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75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6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685800" y="1325880"/>
            <a:ext cx="10218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Entrena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una CNN pequeña (PilotNet, ~250.000 parámetros) para predecir el giro a partir de la imagen. En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CPU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en unos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6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904680" y="21808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30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4"/>
                </a:cubicBezTo>
                <a:cubicBezTo>
                  <a:pt x="31" y="16"/>
                  <a:pt x="39" y="11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1"/>
                  <a:pt x="129" y="16"/>
                  <a:pt x="137" y="24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685800" y="1611720"/>
            <a:ext cx="7365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minutos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904680" y="25239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2"/>
                  <a:pt x="150" y="40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1072440" y="2097360"/>
            <a:ext cx="43257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Verá la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curva de pérdida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(loss) bajar época a época.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685440" y="3105000"/>
            <a:ext cx="10820880" cy="628920"/>
          </a:xfrm>
          <a:custGeom>
            <a:avLst/>
            <a:gdLst/>
            <a:ahLst/>
            <a:rect l="0" t="0" r="r" b="b"/>
            <a:pathLst>
              <a:path w="30058" h="1747">
                <a:moveTo>
                  <a:pt x="0" y="0"/>
                </a:moveTo>
                <a:lnTo>
                  <a:pt x="30058" y="0"/>
                </a:lnTo>
                <a:lnTo>
                  <a:pt x="30058" y="1747"/>
                </a:lnTo>
                <a:lnTo>
                  <a:pt x="0" y="1747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685440" y="3105000"/>
            <a:ext cx="29160" cy="628920"/>
          </a:xfrm>
          <a:custGeom>
            <a:avLst/>
            <a:gdLst/>
            <a:ahLst/>
            <a:rect l="0" t="0" r="r" b="b"/>
            <a:pathLst>
              <a:path w="81" h="1747">
                <a:moveTo>
                  <a:pt x="0" y="0"/>
                </a:moveTo>
                <a:lnTo>
                  <a:pt x="81" y="0"/>
                </a:lnTo>
                <a:lnTo>
                  <a:pt x="81" y="1747"/>
                </a:lnTo>
                <a:lnTo>
                  <a:pt x="0" y="174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1054080" y="3182760"/>
            <a:ext cx="111240" cy="178200"/>
          </a:xfrm>
          <a:custGeom>
            <a:avLst/>
            <a:gdLst/>
            <a:ahLst/>
            <a:rect l="0" t="0" r="r" b="b"/>
            <a:pathLst>
              <a:path w="309" h="495">
                <a:moveTo>
                  <a:pt x="200" y="247"/>
                </a:moveTo>
                <a:cubicBezTo>
                  <a:pt x="200" y="216"/>
                  <a:pt x="250" y="195"/>
                  <a:pt x="277" y="154"/>
                </a:cubicBezTo>
                <a:cubicBezTo>
                  <a:pt x="309" y="108"/>
                  <a:pt x="309" y="0"/>
                  <a:pt x="309" y="0"/>
                </a:cubicBezTo>
                <a:lnTo>
                  <a:pt x="0" y="0"/>
                </a:lnTo>
                <a:cubicBezTo>
                  <a:pt x="0" y="0"/>
                  <a:pt x="0" y="108"/>
                  <a:pt x="30" y="154"/>
                </a:cubicBezTo>
                <a:cubicBezTo>
                  <a:pt x="57" y="195"/>
                  <a:pt x="108" y="216"/>
                  <a:pt x="108" y="247"/>
                </a:cubicBezTo>
                <a:cubicBezTo>
                  <a:pt x="108" y="278"/>
                  <a:pt x="57" y="300"/>
                  <a:pt x="30" y="341"/>
                </a:cubicBezTo>
                <a:cubicBezTo>
                  <a:pt x="0" y="387"/>
                  <a:pt x="0" y="495"/>
                  <a:pt x="0" y="495"/>
                </a:cubicBezTo>
                <a:lnTo>
                  <a:pt x="309" y="495"/>
                </a:lnTo>
                <a:cubicBezTo>
                  <a:pt x="309" y="495"/>
                  <a:pt x="309" y="387"/>
                  <a:pt x="277" y="341"/>
                </a:cubicBezTo>
                <a:cubicBezTo>
                  <a:pt x="250" y="300"/>
                  <a:pt x="200" y="278"/>
                  <a:pt x="200" y="247"/>
                </a:cubicBezTo>
                <a:close/>
              </a:path>
            </a:pathLst>
          </a:custGeom>
          <a:solidFill>
            <a:srgbClr val="FFE8B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1064880" y="3182760"/>
            <a:ext cx="89280" cy="161640"/>
          </a:xfrm>
          <a:custGeom>
            <a:avLst/>
            <a:gdLst/>
            <a:ahLst/>
            <a:rect l="0" t="0" r="r" b="b"/>
            <a:pathLst>
              <a:path w="248" h="449">
                <a:moveTo>
                  <a:pt x="125" y="0"/>
                </a:moveTo>
                <a:lnTo>
                  <a:pt x="0" y="0"/>
                </a:lnTo>
                <a:cubicBezTo>
                  <a:pt x="0" y="0"/>
                  <a:pt x="0" y="62"/>
                  <a:pt x="16" y="108"/>
                </a:cubicBezTo>
                <a:cubicBezTo>
                  <a:pt x="36" y="168"/>
                  <a:pt x="108" y="185"/>
                  <a:pt x="108" y="247"/>
                </a:cubicBezTo>
                <a:cubicBezTo>
                  <a:pt x="108" y="309"/>
                  <a:pt x="108" y="449"/>
                  <a:pt x="125" y="449"/>
                </a:cubicBezTo>
                <a:cubicBezTo>
                  <a:pt x="140" y="449"/>
                  <a:pt x="140" y="309"/>
                  <a:pt x="140" y="247"/>
                </a:cubicBezTo>
                <a:cubicBezTo>
                  <a:pt x="140" y="185"/>
                  <a:pt x="213" y="168"/>
                  <a:pt x="233" y="108"/>
                </a:cubicBezTo>
                <a:cubicBezTo>
                  <a:pt x="248" y="62"/>
                  <a:pt x="248" y="0"/>
                  <a:pt x="248" y="0"/>
                </a:cubicBezTo>
                <a:lnTo>
                  <a:pt x="125" y="0"/>
                </a:ln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1042920" y="3171600"/>
            <a:ext cx="133560" cy="200520"/>
          </a:xfrm>
          <a:custGeom>
            <a:avLst/>
            <a:gdLst/>
            <a:ahLst/>
            <a:rect l="0" t="0" r="r" b="b"/>
            <a:pathLst>
              <a:path w="371" h="557">
                <a:moveTo>
                  <a:pt x="371" y="526"/>
                </a:moveTo>
                <a:cubicBezTo>
                  <a:pt x="371" y="543"/>
                  <a:pt x="357" y="557"/>
                  <a:pt x="340" y="557"/>
                </a:cubicBezTo>
                <a:lnTo>
                  <a:pt x="31" y="557"/>
                </a:lnTo>
                <a:cubicBezTo>
                  <a:pt x="14" y="557"/>
                  <a:pt x="0" y="543"/>
                  <a:pt x="0" y="526"/>
                </a:cubicBezTo>
                <a:cubicBezTo>
                  <a:pt x="0" y="509"/>
                  <a:pt x="14" y="495"/>
                  <a:pt x="31" y="495"/>
                </a:cubicBezTo>
                <a:lnTo>
                  <a:pt x="340" y="495"/>
                </a:lnTo>
                <a:cubicBezTo>
                  <a:pt x="357" y="495"/>
                  <a:pt x="371" y="509"/>
                  <a:pt x="371" y="526"/>
                </a:cubicBezTo>
                <a:moveTo>
                  <a:pt x="371" y="31"/>
                </a:moveTo>
                <a:cubicBezTo>
                  <a:pt x="371" y="48"/>
                  <a:pt x="357" y="62"/>
                  <a:pt x="340" y="62"/>
                </a:cubicBezTo>
                <a:lnTo>
                  <a:pt x="31" y="62"/>
                </a:ln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lnTo>
                  <a:pt x="340" y="0"/>
                </a:lnTo>
                <a:cubicBezTo>
                  <a:pt x="357" y="0"/>
                  <a:pt x="371" y="14"/>
                  <a:pt x="371" y="31"/>
                </a:cubicBez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1072440" y="2440440"/>
            <a:ext cx="88279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 hace falta que entienda la arquitectura: lo importante es que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entrena de verdad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su portátil, sin GPU.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990720" y="3411720"/>
            <a:ext cx="9317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Las épocas tardan; es normal que el notebook esté "pensando" un rato. No lo pare mientras la loss vaya bajando.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685800" y="632520"/>
            <a:ext cx="2095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Qué hace este notebook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CP4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1040400" y="6517080"/>
            <a:ext cx="1236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Behavioral Cloning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22759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231840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3217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325944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03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4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914400" y="975240"/>
            <a:ext cx="20253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PARTE 3 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3015000" y="990360"/>
            <a:ext cx="49500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3162240" y="975240"/>
            <a:ext cx="30207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EVALUACIÓN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1962000" y="1714320"/>
            <a:ext cx="2038680" cy="286200"/>
          </a:xfrm>
          <a:custGeom>
            <a:avLst/>
            <a:gdLst/>
            <a:ahLst/>
            <a:rect l="0" t="0" r="r" b="b"/>
            <a:pathLst>
              <a:path w="5663" h="795">
                <a:moveTo>
                  <a:pt x="0" y="715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5584" y="0"/>
                </a:lnTo>
                <a:cubicBezTo>
                  <a:pt x="5594" y="0"/>
                  <a:pt x="5604" y="2"/>
                  <a:pt x="5614" y="6"/>
                </a:cubicBezTo>
                <a:cubicBezTo>
                  <a:pt x="5624" y="10"/>
                  <a:pt x="5632" y="16"/>
                  <a:pt x="5640" y="23"/>
                </a:cubicBezTo>
                <a:cubicBezTo>
                  <a:pt x="5647" y="31"/>
                  <a:pt x="5653" y="39"/>
                  <a:pt x="5657" y="49"/>
                </a:cubicBezTo>
                <a:cubicBezTo>
                  <a:pt x="5661" y="59"/>
                  <a:pt x="5663" y="69"/>
                  <a:pt x="5663" y="79"/>
                </a:cubicBezTo>
                <a:lnTo>
                  <a:pt x="5663" y="715"/>
                </a:lnTo>
                <a:cubicBezTo>
                  <a:pt x="5663" y="726"/>
                  <a:pt x="5661" y="736"/>
                  <a:pt x="5657" y="746"/>
                </a:cubicBezTo>
                <a:cubicBezTo>
                  <a:pt x="5653" y="755"/>
                  <a:pt x="5647" y="764"/>
                  <a:pt x="5640" y="772"/>
                </a:cubicBezTo>
                <a:cubicBezTo>
                  <a:pt x="5632" y="779"/>
                  <a:pt x="5624" y="785"/>
                  <a:pt x="5614" y="789"/>
                </a:cubicBezTo>
                <a:cubicBezTo>
                  <a:pt x="5604" y="793"/>
                  <a:pt x="5594" y="795"/>
                  <a:pt x="5584" y="795"/>
                </a:cubicBezTo>
                <a:lnTo>
                  <a:pt x="79" y="795"/>
                </a:lnTo>
                <a:cubicBezTo>
                  <a:pt x="69" y="795"/>
                  <a:pt x="59" y="793"/>
                  <a:pt x="49" y="789"/>
                </a:cubicBezTo>
                <a:cubicBezTo>
                  <a:pt x="39" y="785"/>
                  <a:pt x="31" y="779"/>
                  <a:pt x="23" y="772"/>
                </a:cubicBezTo>
                <a:cubicBezTo>
                  <a:pt x="16" y="764"/>
                  <a:pt x="10" y="755"/>
                  <a:pt x="6" y="746"/>
                </a:cubicBezTo>
                <a:cubicBezTo>
                  <a:pt x="2" y="736"/>
                  <a:pt x="0" y="726"/>
                  <a:pt x="0" y="715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914400" y="1744920"/>
            <a:ext cx="10522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Notebook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2012400" y="1713240"/>
            <a:ext cx="194508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05_evaluacion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3999960" y="174492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4061880" y="175248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4130640" y="1744920"/>
            <a:ext cx="7765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~8 min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CP4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1040400" y="6517080"/>
            <a:ext cx="1236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Behavioral Cloning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22759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231840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3217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325944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25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904680" y="189540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685800" y="1325880"/>
            <a:ext cx="31222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Se evalúa el modelo en dos conjuntos: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2371680" y="1800000"/>
            <a:ext cx="733680" cy="219600"/>
          </a:xfrm>
          <a:custGeom>
            <a:avLst/>
            <a:gdLst/>
            <a:ahLst/>
            <a:rect l="0" t="0" r="r" b="b"/>
            <a:pathLst>
              <a:path w="2038" h="610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lnTo>
                  <a:pt x="1959" y="0"/>
                </a:lnTo>
                <a:cubicBezTo>
                  <a:pt x="1969" y="0"/>
                  <a:pt x="1979" y="2"/>
                  <a:pt x="1989" y="6"/>
                </a:cubicBezTo>
                <a:cubicBezTo>
                  <a:pt x="1999" y="10"/>
                  <a:pt x="2007" y="16"/>
                  <a:pt x="2015" y="23"/>
                </a:cubicBezTo>
                <a:cubicBezTo>
                  <a:pt x="2022" y="31"/>
                  <a:pt x="2028" y="39"/>
                  <a:pt x="2032" y="49"/>
                </a:cubicBezTo>
                <a:cubicBezTo>
                  <a:pt x="2036" y="59"/>
                  <a:pt x="2038" y="69"/>
                  <a:pt x="2038" y="79"/>
                </a:cubicBezTo>
                <a:lnTo>
                  <a:pt x="2038" y="530"/>
                </a:lnTo>
                <a:cubicBezTo>
                  <a:pt x="2038" y="541"/>
                  <a:pt x="2036" y="551"/>
                  <a:pt x="2032" y="561"/>
                </a:cubicBezTo>
                <a:cubicBezTo>
                  <a:pt x="2028" y="570"/>
                  <a:pt x="2022" y="579"/>
                  <a:pt x="2015" y="586"/>
                </a:cubicBezTo>
                <a:cubicBezTo>
                  <a:pt x="2007" y="594"/>
                  <a:pt x="1999" y="600"/>
                  <a:pt x="1989" y="604"/>
                </a:cubicBezTo>
                <a:cubicBezTo>
                  <a:pt x="1979" y="608"/>
                  <a:pt x="1969" y="610"/>
                  <a:pt x="1959" y="610"/>
                </a:cubicBezTo>
                <a:lnTo>
                  <a:pt x="79" y="610"/>
                </a:lnTo>
                <a:cubicBezTo>
                  <a:pt x="68" y="610"/>
                  <a:pt x="58" y="608"/>
                  <a:pt x="49" y="604"/>
                </a:cubicBezTo>
                <a:cubicBezTo>
                  <a:pt x="39" y="600"/>
                  <a:pt x="30" y="594"/>
                  <a:pt x="23" y="586"/>
                </a:cubicBezTo>
                <a:cubicBezTo>
                  <a:pt x="15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1072440" y="1811520"/>
            <a:ext cx="1298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In-distribution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2430000" y="1814040"/>
            <a:ext cx="6174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val_in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904680" y="222876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3101400" y="1811520"/>
            <a:ext cx="4034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): mismo tipo de escenario que el entrenamiento.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3000240" y="2133360"/>
            <a:ext cx="829080" cy="219600"/>
          </a:xfrm>
          <a:custGeom>
            <a:avLst/>
            <a:gdLst/>
            <a:ahLst/>
            <a:rect l="0" t="0" r="r" b="b"/>
            <a:pathLst>
              <a:path w="2303" h="610">
                <a:moveTo>
                  <a:pt x="0" y="530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2223" y="0"/>
                </a:lnTo>
                <a:cubicBezTo>
                  <a:pt x="2234" y="0"/>
                  <a:pt x="2244" y="2"/>
                  <a:pt x="2254" y="6"/>
                </a:cubicBezTo>
                <a:cubicBezTo>
                  <a:pt x="2263" y="10"/>
                  <a:pt x="2272" y="16"/>
                  <a:pt x="2280" y="23"/>
                </a:cubicBezTo>
                <a:cubicBezTo>
                  <a:pt x="2287" y="31"/>
                  <a:pt x="2293" y="39"/>
                  <a:pt x="2297" y="49"/>
                </a:cubicBezTo>
                <a:cubicBezTo>
                  <a:pt x="2301" y="59"/>
                  <a:pt x="2303" y="69"/>
                  <a:pt x="2303" y="80"/>
                </a:cubicBezTo>
                <a:lnTo>
                  <a:pt x="2303" y="530"/>
                </a:lnTo>
                <a:cubicBezTo>
                  <a:pt x="2303" y="541"/>
                  <a:pt x="2301" y="551"/>
                  <a:pt x="2297" y="561"/>
                </a:cubicBezTo>
                <a:cubicBezTo>
                  <a:pt x="2293" y="570"/>
                  <a:pt x="2287" y="579"/>
                  <a:pt x="2280" y="586"/>
                </a:cubicBezTo>
                <a:cubicBezTo>
                  <a:pt x="2272" y="594"/>
                  <a:pt x="2263" y="600"/>
                  <a:pt x="2254" y="604"/>
                </a:cubicBezTo>
                <a:cubicBezTo>
                  <a:pt x="2244" y="608"/>
                  <a:pt x="2234" y="610"/>
                  <a:pt x="2223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39" y="600"/>
                  <a:pt x="31" y="594"/>
                  <a:pt x="23" y="586"/>
                </a:cubicBezTo>
                <a:cubicBezTo>
                  <a:pt x="16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1072440" y="2144880"/>
            <a:ext cx="19249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Fuera de distribución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3057840" y="2147400"/>
            <a:ext cx="720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val_ood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685440" y="2809800"/>
            <a:ext cx="10820880" cy="724320"/>
          </a:xfrm>
          <a:custGeom>
            <a:avLst/>
            <a:gdLst/>
            <a:ahLst/>
            <a:rect l="0" t="0" r="r" b="b"/>
            <a:pathLst>
              <a:path w="30058" h="2012">
                <a:moveTo>
                  <a:pt x="0" y="0"/>
                </a:moveTo>
                <a:lnTo>
                  <a:pt x="30058" y="0"/>
                </a:lnTo>
                <a:lnTo>
                  <a:pt x="30058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685440" y="2809800"/>
            <a:ext cx="29160" cy="724320"/>
          </a:xfrm>
          <a:custGeom>
            <a:avLst/>
            <a:gdLst/>
            <a:ahLst/>
            <a:rect l="0" t="0" r="r" b="b"/>
            <a:pathLst>
              <a:path w="81" h="2012">
                <a:moveTo>
                  <a:pt x="0" y="0"/>
                </a:moveTo>
                <a:lnTo>
                  <a:pt x="81" y="0"/>
                </a:lnTo>
                <a:lnTo>
                  <a:pt x="81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3831480" y="2144880"/>
            <a:ext cx="41389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): otra densidad de tráfico / geometría que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 vio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990720" y="2926080"/>
            <a:ext cx="103921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Casi siempre el error (MSE) será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más alto en el nuevo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que en el conocido. Ese hueco es la primera señal de que el modelo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685440" y="3971880"/>
            <a:ext cx="10820880" cy="428760"/>
          </a:xfrm>
          <a:custGeom>
            <a:avLst/>
            <a:gdLst/>
            <a:ahLst/>
            <a:rect l="0" t="0" r="r" b="b"/>
            <a:pathLst>
              <a:path w="30058" h="1191">
                <a:moveTo>
                  <a:pt x="0" y="0"/>
                </a:moveTo>
                <a:lnTo>
                  <a:pt x="30058" y="0"/>
                </a:lnTo>
                <a:lnTo>
                  <a:pt x="3005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685440" y="3971880"/>
            <a:ext cx="29160" cy="428760"/>
          </a:xfrm>
          <a:custGeom>
            <a:avLst/>
            <a:gdLst/>
            <a:ahLst/>
            <a:rect l="0" t="0" r="r" b="b"/>
            <a:pathLst>
              <a:path w="81" h="1191">
                <a:moveTo>
                  <a:pt x="0" y="0"/>
                </a:moveTo>
                <a:lnTo>
                  <a:pt x="81" y="0"/>
                </a:lnTo>
                <a:lnTo>
                  <a:pt x="81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990720" y="3211920"/>
            <a:ext cx="28141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generaliza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tan bien como parecía.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990720" y="4038480"/>
            <a:ext cx="200520" cy="26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AppleColorEmoji"/>
                <a:ea typeface="AppleColorEmoji"/>
              </a:rPr>
              <a:t>✍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745560" y="610200"/>
            <a:ext cx="128160" cy="161640"/>
          </a:xfrm>
          <a:custGeom>
            <a:avLst/>
            <a:gdLst/>
            <a:ahLst/>
            <a:rect l="0" t="0" r="r" b="b"/>
            <a:pathLst>
              <a:path w="356" h="449">
                <a:moveTo>
                  <a:pt x="356" y="177"/>
                </a:moveTo>
                <a:cubicBezTo>
                  <a:pt x="356" y="281"/>
                  <a:pt x="275" y="297"/>
                  <a:pt x="275" y="395"/>
                </a:cubicBezTo>
                <a:cubicBezTo>
                  <a:pt x="275" y="445"/>
                  <a:pt x="224" y="449"/>
                  <a:pt x="186" y="449"/>
                </a:cubicBezTo>
                <a:cubicBezTo>
                  <a:pt x="152" y="449"/>
                  <a:pt x="79" y="437"/>
                  <a:pt x="79" y="395"/>
                </a:cubicBezTo>
                <a:cubicBezTo>
                  <a:pt x="79" y="297"/>
                  <a:pt x="0" y="281"/>
                  <a:pt x="0" y="177"/>
                </a:cubicBezTo>
                <a:cubicBezTo>
                  <a:pt x="0" y="79"/>
                  <a:pt x="85" y="0"/>
                  <a:pt x="179" y="0"/>
                </a:cubicBezTo>
                <a:cubicBezTo>
                  <a:pt x="274" y="0"/>
                  <a:pt x="356" y="79"/>
                  <a:pt x="356" y="177"/>
                </a:cubicBezTo>
                <a:close/>
              </a:path>
            </a:pathLst>
          </a:custGeom>
          <a:solidFill>
            <a:srgbClr val="FFD98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785160" y="795240"/>
            <a:ext cx="48960" cy="18360"/>
          </a:xfrm>
          <a:custGeom>
            <a:avLst/>
            <a:gdLst/>
            <a:ahLst/>
            <a:rect l="0" t="0" r="r" b="b"/>
            <a:pathLst>
              <a:path w="136" h="51">
                <a:moveTo>
                  <a:pt x="136" y="9"/>
                </a:moveTo>
                <a:cubicBezTo>
                  <a:pt x="136" y="24"/>
                  <a:pt x="100" y="51"/>
                  <a:pt x="68" y="51"/>
                </a:cubicBezTo>
                <a:cubicBezTo>
                  <a:pt x="37" y="51"/>
                  <a:pt x="0" y="24"/>
                  <a:pt x="0" y="9"/>
                </a:cubicBezTo>
                <a:cubicBezTo>
                  <a:pt x="0" y="-4"/>
                  <a:pt x="37" y="1"/>
                  <a:pt x="68" y="1"/>
                </a:cubicBezTo>
                <a:cubicBezTo>
                  <a:pt x="100" y="1"/>
                  <a:pt x="136" y="-4"/>
                  <a:pt x="136" y="9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780480" y="667800"/>
            <a:ext cx="58680" cy="99360"/>
          </a:xfrm>
          <a:custGeom>
            <a:avLst/>
            <a:gdLst/>
            <a:ahLst/>
            <a:rect l="0" t="0" r="r" b="b"/>
            <a:pathLst>
              <a:path w="163" h="276">
                <a:moveTo>
                  <a:pt x="159" y="5"/>
                </a:moveTo>
                <a:cubicBezTo>
                  <a:pt x="152" y="-1"/>
                  <a:pt x="142" y="-1"/>
                  <a:pt x="136" y="5"/>
                </a:cubicBezTo>
                <a:lnTo>
                  <a:pt x="82" y="59"/>
                </a:lnTo>
                <a:lnTo>
                  <a:pt x="29" y="5"/>
                </a:lnTo>
                <a:cubicBezTo>
                  <a:pt x="23" y="-1"/>
                  <a:pt x="13" y="-1"/>
                  <a:pt x="5" y="5"/>
                </a:cubicBezTo>
                <a:cubicBezTo>
                  <a:pt x="-1" y="12"/>
                  <a:pt x="-1" y="22"/>
                  <a:pt x="5" y="28"/>
                </a:cubicBezTo>
                <a:lnTo>
                  <a:pt x="66" y="88"/>
                </a:lnTo>
                <a:lnTo>
                  <a:pt x="66" y="260"/>
                </a:lnTo>
                <a:cubicBezTo>
                  <a:pt x="66" y="269"/>
                  <a:pt x="74" y="276"/>
                  <a:pt x="82" y="276"/>
                </a:cubicBezTo>
                <a:cubicBezTo>
                  <a:pt x="91" y="276"/>
                  <a:pt x="99" y="269"/>
                  <a:pt x="99" y="260"/>
                </a:cubicBezTo>
                <a:lnTo>
                  <a:pt x="99" y="88"/>
                </a:lnTo>
                <a:lnTo>
                  <a:pt x="159" y="28"/>
                </a:lnTo>
                <a:cubicBezTo>
                  <a:pt x="165" y="22"/>
                  <a:pt x="165" y="12"/>
                  <a:pt x="159" y="5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774360" y="754920"/>
            <a:ext cx="70200" cy="46800"/>
          </a:xfrm>
          <a:custGeom>
            <a:avLst/>
            <a:gdLst/>
            <a:ahLst/>
            <a:rect l="0" t="0" r="r" b="b"/>
            <a:pathLst>
              <a:path w="195" h="130">
                <a:moveTo>
                  <a:pt x="195" y="98"/>
                </a:moveTo>
                <a:cubicBezTo>
                  <a:pt x="195" y="116"/>
                  <a:pt x="181" y="130"/>
                  <a:pt x="163" y="130"/>
                </a:cubicBezTo>
                <a:lnTo>
                  <a:pt x="33" y="130"/>
                </a:lnTo>
                <a:cubicBezTo>
                  <a:pt x="15" y="130"/>
                  <a:pt x="0" y="116"/>
                  <a:pt x="0" y="98"/>
                </a:cubicBezTo>
                <a:lnTo>
                  <a:pt x="0" y="0"/>
                </a:lnTo>
                <a:lnTo>
                  <a:pt x="195" y="0"/>
                </a:lnTo>
                <a:lnTo>
                  <a:pt x="195" y="98"/>
                </a:ln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768600" y="749160"/>
            <a:ext cx="81720" cy="46800"/>
          </a:xfrm>
          <a:custGeom>
            <a:avLst/>
            <a:gdLst/>
            <a:ahLst/>
            <a:rect l="0" t="0" r="r" b="b"/>
            <a:pathLst>
              <a:path w="227" h="130">
                <a:moveTo>
                  <a:pt x="0" y="117"/>
                </a:moveTo>
                <a:cubicBezTo>
                  <a:pt x="-2" y="108"/>
                  <a:pt x="4" y="100"/>
                  <a:pt x="14" y="98"/>
                </a:cubicBezTo>
                <a:lnTo>
                  <a:pt x="208" y="66"/>
                </a:lnTo>
                <a:cubicBezTo>
                  <a:pt x="217" y="64"/>
                  <a:pt x="225" y="70"/>
                  <a:pt x="226" y="79"/>
                </a:cubicBezTo>
                <a:cubicBezTo>
                  <a:pt x="228" y="88"/>
                  <a:pt x="222" y="96"/>
                  <a:pt x="213" y="98"/>
                </a:cubicBezTo>
                <a:lnTo>
                  <a:pt x="19" y="130"/>
                </a:lnTo>
                <a:cubicBezTo>
                  <a:pt x="18" y="130"/>
                  <a:pt x="17" y="130"/>
                  <a:pt x="16" y="130"/>
                </a:cubicBezTo>
                <a:cubicBezTo>
                  <a:pt x="8" y="130"/>
                  <a:pt x="1" y="125"/>
                  <a:pt x="0" y="117"/>
                </a:cubicBezTo>
                <a:moveTo>
                  <a:pt x="0" y="52"/>
                </a:moveTo>
                <a:cubicBezTo>
                  <a:pt x="-2" y="42"/>
                  <a:pt x="4" y="34"/>
                  <a:pt x="14" y="32"/>
                </a:cubicBezTo>
                <a:lnTo>
                  <a:pt x="208" y="0"/>
                </a:lnTo>
                <a:cubicBezTo>
                  <a:pt x="217" y="-1"/>
                  <a:pt x="225" y="5"/>
                  <a:pt x="226" y="13"/>
                </a:cubicBezTo>
                <a:cubicBezTo>
                  <a:pt x="228" y="22"/>
                  <a:pt x="222" y="31"/>
                  <a:pt x="213" y="32"/>
                </a:cubicBezTo>
                <a:lnTo>
                  <a:pt x="19" y="65"/>
                </a:lnTo>
                <a:cubicBezTo>
                  <a:pt x="18" y="66"/>
                  <a:pt x="17" y="66"/>
                  <a:pt x="16" y="66"/>
                </a:cubicBezTo>
                <a:cubicBezTo>
                  <a:pt x="8" y="66"/>
                  <a:pt x="1" y="60"/>
                  <a:pt x="0" y="52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1209600" y="4078440"/>
            <a:ext cx="5417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Anote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MSE de cada uno y el hueco relativo — es la Pregunta 2.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926640" y="632520"/>
            <a:ext cx="20772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Lo conocido vs lo nuevo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CP4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1040400" y="6517080"/>
            <a:ext cx="1236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Behavioral Cloning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22759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231840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3217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325944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65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6" name=""/>
          <p:cNvSpPr txBox="1"/>
          <p:nvPr/>
        </p:nvSpPr>
        <p:spPr>
          <a:xfrm>
            <a:off x="11757600" y="6513120"/>
            <a:ext cx="1674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914400" y="975240"/>
            <a:ext cx="20253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PARTE 4 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3015000" y="990360"/>
            <a:ext cx="49500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3162240" y="975240"/>
            <a:ext cx="596628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EL COMPOUNDING ERROR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1962000" y="1714320"/>
            <a:ext cx="3086280" cy="286200"/>
          </a:xfrm>
          <a:custGeom>
            <a:avLst/>
            <a:gdLst/>
            <a:ahLst/>
            <a:rect l="0" t="0" r="r" b="b"/>
            <a:pathLst>
              <a:path w="8573" h="795">
                <a:moveTo>
                  <a:pt x="0" y="715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8494" y="0"/>
                </a:lnTo>
                <a:cubicBezTo>
                  <a:pt x="8505" y="0"/>
                  <a:pt x="8515" y="2"/>
                  <a:pt x="8524" y="6"/>
                </a:cubicBezTo>
                <a:cubicBezTo>
                  <a:pt x="8534" y="10"/>
                  <a:pt x="8543" y="16"/>
                  <a:pt x="8550" y="23"/>
                </a:cubicBezTo>
                <a:cubicBezTo>
                  <a:pt x="8558" y="31"/>
                  <a:pt x="8563" y="39"/>
                  <a:pt x="8567" y="49"/>
                </a:cubicBezTo>
                <a:cubicBezTo>
                  <a:pt x="8571" y="59"/>
                  <a:pt x="8573" y="69"/>
                  <a:pt x="8573" y="79"/>
                </a:cubicBezTo>
                <a:lnTo>
                  <a:pt x="8573" y="715"/>
                </a:lnTo>
                <a:cubicBezTo>
                  <a:pt x="8573" y="726"/>
                  <a:pt x="8571" y="736"/>
                  <a:pt x="8567" y="746"/>
                </a:cubicBezTo>
                <a:cubicBezTo>
                  <a:pt x="8563" y="755"/>
                  <a:pt x="8558" y="764"/>
                  <a:pt x="8550" y="772"/>
                </a:cubicBezTo>
                <a:cubicBezTo>
                  <a:pt x="8543" y="779"/>
                  <a:pt x="8534" y="785"/>
                  <a:pt x="8524" y="789"/>
                </a:cubicBezTo>
                <a:cubicBezTo>
                  <a:pt x="8515" y="793"/>
                  <a:pt x="8505" y="795"/>
                  <a:pt x="8494" y="795"/>
                </a:cubicBezTo>
                <a:lnTo>
                  <a:pt x="79" y="795"/>
                </a:lnTo>
                <a:cubicBezTo>
                  <a:pt x="69" y="795"/>
                  <a:pt x="59" y="793"/>
                  <a:pt x="49" y="789"/>
                </a:cubicBezTo>
                <a:cubicBezTo>
                  <a:pt x="39" y="785"/>
                  <a:pt x="31" y="779"/>
                  <a:pt x="23" y="772"/>
                </a:cubicBezTo>
                <a:cubicBezTo>
                  <a:pt x="16" y="764"/>
                  <a:pt x="10" y="755"/>
                  <a:pt x="6" y="746"/>
                </a:cubicBezTo>
                <a:cubicBezTo>
                  <a:pt x="2" y="736"/>
                  <a:pt x="0" y="726"/>
                  <a:pt x="0" y="715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914400" y="1744920"/>
            <a:ext cx="10522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Notebook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2012400" y="1713240"/>
            <a:ext cx="299196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06_compounding_error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5043960" y="174492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5105520" y="175248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5174640" y="1744920"/>
            <a:ext cx="9910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~10 min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6161760" y="175248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6230520" y="1744920"/>
            <a:ext cx="180000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la lección central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CP4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1040400" y="6517080"/>
            <a:ext cx="1236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Behavioral Cloning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22759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231840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3217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325944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89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0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685800" y="1325880"/>
            <a:ext cx="104472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Hasta ahora el modelo solo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predecía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sobre imágenes fijas. Aquí lo dejamos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conducir solo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(closed-loop): su predicción mueve el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685440" y="2238120"/>
            <a:ext cx="10820880" cy="914760"/>
          </a:xfrm>
          <a:custGeom>
            <a:avLst/>
            <a:gdLst/>
            <a:ahLst/>
            <a:rect l="0" t="0" r="r" b="b"/>
            <a:pathLst>
              <a:path w="30058" h="2541">
                <a:moveTo>
                  <a:pt x="0" y="0"/>
                </a:moveTo>
                <a:lnTo>
                  <a:pt x="30058" y="0"/>
                </a:lnTo>
                <a:lnTo>
                  <a:pt x="30058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685440" y="2238120"/>
            <a:ext cx="29160" cy="914760"/>
          </a:xfrm>
          <a:custGeom>
            <a:avLst/>
            <a:gdLst/>
            <a:ahLst/>
            <a:rect l="0" t="0" r="r" b="b"/>
            <a:pathLst>
              <a:path w="81" h="2541">
                <a:moveTo>
                  <a:pt x="0" y="0"/>
                </a:moveTo>
                <a:lnTo>
                  <a:pt x="81" y="0"/>
                </a:lnTo>
                <a:lnTo>
                  <a:pt x="81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1014840" y="2305800"/>
            <a:ext cx="194040" cy="198720"/>
          </a:xfrm>
          <a:custGeom>
            <a:avLst/>
            <a:gdLst/>
            <a:ahLst/>
            <a:rect l="0" t="0" r="r" b="b"/>
            <a:pathLst>
              <a:path w="539" h="552">
                <a:moveTo>
                  <a:pt x="489" y="50"/>
                </a:moveTo>
                <a:cubicBezTo>
                  <a:pt x="423" y="-16"/>
                  <a:pt x="315" y="-16"/>
                  <a:pt x="249" y="50"/>
                </a:cubicBezTo>
                <a:cubicBezTo>
                  <a:pt x="197" y="102"/>
                  <a:pt x="186" y="180"/>
                  <a:pt x="216" y="244"/>
                </a:cubicBezTo>
                <a:lnTo>
                  <a:pt x="155" y="304"/>
                </a:lnTo>
                <a:cubicBezTo>
                  <a:pt x="145" y="314"/>
                  <a:pt x="142" y="328"/>
                  <a:pt x="146" y="340"/>
                </a:cubicBezTo>
                <a:lnTo>
                  <a:pt x="114" y="371"/>
                </a:lnTo>
                <a:cubicBezTo>
                  <a:pt x="107" y="363"/>
                  <a:pt x="95" y="363"/>
                  <a:pt x="88" y="371"/>
                </a:cubicBezTo>
                <a:lnTo>
                  <a:pt x="61" y="398"/>
                </a:lnTo>
                <a:cubicBezTo>
                  <a:pt x="53" y="405"/>
                  <a:pt x="53" y="417"/>
                  <a:pt x="61" y="424"/>
                </a:cubicBezTo>
                <a:lnTo>
                  <a:pt x="47" y="438"/>
                </a:lnTo>
                <a:cubicBezTo>
                  <a:pt x="40" y="430"/>
                  <a:pt x="28" y="430"/>
                  <a:pt x="21" y="438"/>
                </a:cubicBezTo>
                <a:lnTo>
                  <a:pt x="7" y="451"/>
                </a:lnTo>
                <a:cubicBezTo>
                  <a:pt x="0" y="458"/>
                  <a:pt x="0" y="470"/>
                  <a:pt x="7" y="478"/>
                </a:cubicBezTo>
                <a:cubicBezTo>
                  <a:pt x="8" y="478"/>
                  <a:pt x="8" y="478"/>
                  <a:pt x="8" y="478"/>
                </a:cubicBezTo>
                <a:cubicBezTo>
                  <a:pt x="-4" y="498"/>
                  <a:pt x="-2" y="523"/>
                  <a:pt x="14" y="539"/>
                </a:cubicBezTo>
                <a:cubicBezTo>
                  <a:pt x="32" y="557"/>
                  <a:pt x="62" y="557"/>
                  <a:pt x="81" y="539"/>
                </a:cubicBezTo>
                <a:lnTo>
                  <a:pt x="296" y="324"/>
                </a:lnTo>
                <a:cubicBezTo>
                  <a:pt x="359" y="354"/>
                  <a:pt x="437" y="343"/>
                  <a:pt x="489" y="291"/>
                </a:cubicBezTo>
                <a:cubicBezTo>
                  <a:pt x="556" y="224"/>
                  <a:pt x="556" y="117"/>
                  <a:pt x="489" y="50"/>
                </a:cubicBezTo>
                <a:moveTo>
                  <a:pt x="463" y="130"/>
                </a:moveTo>
                <a:cubicBezTo>
                  <a:pt x="448" y="145"/>
                  <a:pt x="424" y="145"/>
                  <a:pt x="409" y="130"/>
                </a:cubicBezTo>
                <a:cubicBezTo>
                  <a:pt x="395" y="116"/>
                  <a:pt x="395" y="92"/>
                  <a:pt x="409" y="77"/>
                </a:cubicBezTo>
                <a:cubicBezTo>
                  <a:pt x="424" y="62"/>
                  <a:pt x="448" y="62"/>
                  <a:pt x="463" y="77"/>
                </a:cubicBezTo>
                <a:cubicBezTo>
                  <a:pt x="477" y="92"/>
                  <a:pt x="477" y="116"/>
                  <a:pt x="463" y="130"/>
                </a:cubicBezTo>
                <a:close/>
              </a:path>
            </a:pathLst>
          </a:custGeom>
          <a:solidFill>
            <a:srgbClr val="C169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685800" y="1611720"/>
            <a:ext cx="5136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coche, lo que genera la siguiente imagen, y así sucesivamente.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990720" y="2545200"/>
            <a:ext cx="104878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Lo que va a ver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aunque el modelo imita bien "foto a foto", cuando conduce él solo, un pequeño error lo lleva a una posición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algo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990720" y="2830680"/>
            <a:ext cx="2871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distinta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 las que vio entrenando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3867480" y="279756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4067280" y="2830680"/>
            <a:ext cx="14558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ahí predice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peor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5525280" y="279756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5725440" y="2830680"/>
            <a:ext cx="1252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el error crece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6978960" y="279756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7179120" y="2830680"/>
            <a:ext cx="4184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se desvía y se sale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Eso es el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compounding error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685440" y="4038480"/>
            <a:ext cx="10820880" cy="714600"/>
          </a:xfrm>
          <a:custGeom>
            <a:avLst/>
            <a:gdLst/>
            <a:ahLst/>
            <a:rect l="0" t="0" r="r" b="b"/>
            <a:pathLst>
              <a:path w="30058" h="1985">
                <a:moveTo>
                  <a:pt x="0" y="0"/>
                </a:moveTo>
                <a:lnTo>
                  <a:pt x="30058" y="0"/>
                </a:lnTo>
                <a:lnTo>
                  <a:pt x="30058" y="1985"/>
                </a:lnTo>
                <a:lnTo>
                  <a:pt x="0" y="1985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685440" y="4038480"/>
            <a:ext cx="29160" cy="714600"/>
          </a:xfrm>
          <a:custGeom>
            <a:avLst/>
            <a:gdLst/>
            <a:ahLst/>
            <a:rect l="0" t="0" r="r" b="b"/>
            <a:pathLst>
              <a:path w="81" h="1985">
                <a:moveTo>
                  <a:pt x="0" y="0"/>
                </a:moveTo>
                <a:lnTo>
                  <a:pt x="81" y="0"/>
                </a:lnTo>
                <a:lnTo>
                  <a:pt x="81" y="1985"/>
                </a:lnTo>
                <a:lnTo>
                  <a:pt x="0" y="1985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685800" y="3411720"/>
            <a:ext cx="6534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notebook mide la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divergencia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entre la trayectoria del modelo y la del experto.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990720" y="4105440"/>
            <a:ext cx="200520" cy="26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AppleColorEmoji"/>
                <a:ea typeface="AppleColorEmoji"/>
              </a:rPr>
              <a:t>✍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1209600" y="4145400"/>
            <a:ext cx="9622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Observe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¿en qué momento (step) empieza a desviarse? ¿La desviación crece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poco a poco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o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cada vez más rápido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990720" y="4430880"/>
            <a:ext cx="10544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(Pregunta 3)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685800" y="632520"/>
            <a:ext cx="2095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Qué hace este notebook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CP4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1040400" y="6517080"/>
            <a:ext cx="1236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Behavioral Cloning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22759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231840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3217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325944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24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5" name=""/>
          <p:cNvSpPr txBox="1"/>
          <p:nvPr/>
        </p:nvSpPr>
        <p:spPr>
          <a:xfrm>
            <a:off x="11757600" y="6513120"/>
            <a:ext cx="1674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914400" y="975240"/>
            <a:ext cx="20253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PARTE 5 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3015000" y="990360"/>
            <a:ext cx="49500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3162240" y="975240"/>
            <a:ext cx="371088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EL ENTREGABLE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914400" y="1735560"/>
            <a:ext cx="298044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Documento a subir a Moodle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CP4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1040400" y="6517080"/>
            <a:ext cx="1236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Behavioral Cloning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22759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231840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 txBox="1"/>
          <p:nvPr/>
        </p:nvSpPr>
        <p:spPr>
          <a:xfrm>
            <a:off x="3217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325944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41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2" name=""/>
          <p:cNvSpPr txBox="1"/>
          <p:nvPr/>
        </p:nvSpPr>
        <p:spPr>
          <a:xfrm>
            <a:off x="11757600" y="6513120"/>
            <a:ext cx="1674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19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1438200" y="1314360"/>
            <a:ext cx="2877120" cy="219240"/>
          </a:xfrm>
          <a:custGeom>
            <a:avLst/>
            <a:gdLst/>
            <a:ahLst/>
            <a:rect l="0" t="0" r="r" b="b"/>
            <a:pathLst>
              <a:path w="7992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3" y="58"/>
                  <a:pt x="7" y="49"/>
                </a:cubicBezTo>
                <a:cubicBezTo>
                  <a:pt x="11" y="39"/>
                  <a:pt x="17" y="30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lnTo>
                  <a:pt x="7912" y="0"/>
                </a:lnTo>
                <a:cubicBezTo>
                  <a:pt x="7922" y="0"/>
                  <a:pt x="7932" y="2"/>
                  <a:pt x="7942" y="6"/>
                </a:cubicBezTo>
                <a:cubicBezTo>
                  <a:pt x="7952" y="10"/>
                  <a:pt x="7960" y="16"/>
                  <a:pt x="7968" y="23"/>
                </a:cubicBezTo>
                <a:cubicBezTo>
                  <a:pt x="7975" y="30"/>
                  <a:pt x="7981" y="39"/>
                  <a:pt x="7985" y="49"/>
                </a:cubicBezTo>
                <a:cubicBezTo>
                  <a:pt x="7989" y="58"/>
                  <a:pt x="7992" y="69"/>
                  <a:pt x="7992" y="79"/>
                </a:cubicBezTo>
                <a:lnTo>
                  <a:pt x="7992" y="530"/>
                </a:lnTo>
                <a:cubicBezTo>
                  <a:pt x="7992" y="540"/>
                  <a:pt x="7989" y="551"/>
                  <a:pt x="7985" y="560"/>
                </a:cubicBezTo>
                <a:cubicBezTo>
                  <a:pt x="7981" y="570"/>
                  <a:pt x="7975" y="579"/>
                  <a:pt x="7968" y="586"/>
                </a:cubicBezTo>
                <a:cubicBezTo>
                  <a:pt x="7960" y="593"/>
                  <a:pt x="7952" y="599"/>
                  <a:pt x="7942" y="603"/>
                </a:cubicBezTo>
                <a:cubicBezTo>
                  <a:pt x="7932" y="607"/>
                  <a:pt x="7922" y="609"/>
                  <a:pt x="7912" y="609"/>
                </a:cubicBezTo>
                <a:lnTo>
                  <a:pt x="80" y="609"/>
                </a:lnTo>
                <a:cubicBezTo>
                  <a:pt x="70" y="609"/>
                  <a:pt x="59" y="607"/>
                  <a:pt x="50" y="603"/>
                </a:cubicBezTo>
                <a:cubicBezTo>
                  <a:pt x="40" y="599"/>
                  <a:pt x="31" y="593"/>
                  <a:pt x="24" y="586"/>
                </a:cubicBezTo>
                <a:cubicBezTo>
                  <a:pt x="17" y="579"/>
                  <a:pt x="11" y="570"/>
                  <a:pt x="7" y="560"/>
                </a:cubicBezTo>
                <a:cubicBezTo>
                  <a:pt x="3" y="551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685800" y="1325880"/>
            <a:ext cx="749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PDF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 txBox="1"/>
          <p:nvPr/>
        </p:nvSpPr>
        <p:spPr>
          <a:xfrm>
            <a:off x="1493280" y="1328040"/>
            <a:ext cx="27752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cp4_&lt;apellido&gt;_&lt;nombre&gt;.pdf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685440" y="1599840"/>
            <a:ext cx="3086640" cy="219600"/>
          </a:xfrm>
          <a:custGeom>
            <a:avLst/>
            <a:gdLst/>
            <a:ahLst/>
            <a:rect l="0" t="0" r="r" b="b"/>
            <a:pathLst>
              <a:path w="8574" h="610">
                <a:moveTo>
                  <a:pt x="0" y="531"/>
                </a:moveTo>
                <a:lnTo>
                  <a:pt x="0" y="80"/>
                </a:lnTo>
                <a:cubicBezTo>
                  <a:pt x="0" y="69"/>
                  <a:pt x="3" y="59"/>
                  <a:pt x="7" y="49"/>
                </a:cubicBezTo>
                <a:cubicBezTo>
                  <a:pt x="11" y="40"/>
                  <a:pt x="16" y="31"/>
                  <a:pt x="24" y="24"/>
                </a:cubicBezTo>
                <a:cubicBezTo>
                  <a:pt x="31" y="16"/>
                  <a:pt x="40" y="11"/>
                  <a:pt x="49" y="7"/>
                </a:cubicBezTo>
                <a:cubicBezTo>
                  <a:pt x="59" y="3"/>
                  <a:pt x="69" y="0"/>
                  <a:pt x="80" y="0"/>
                </a:cubicBezTo>
                <a:lnTo>
                  <a:pt x="8495" y="0"/>
                </a:lnTo>
                <a:cubicBezTo>
                  <a:pt x="8505" y="0"/>
                  <a:pt x="8515" y="3"/>
                  <a:pt x="8525" y="7"/>
                </a:cubicBezTo>
                <a:cubicBezTo>
                  <a:pt x="8535" y="11"/>
                  <a:pt x="8543" y="16"/>
                  <a:pt x="8551" y="24"/>
                </a:cubicBezTo>
                <a:cubicBezTo>
                  <a:pt x="8558" y="31"/>
                  <a:pt x="8564" y="40"/>
                  <a:pt x="8568" y="49"/>
                </a:cubicBezTo>
                <a:cubicBezTo>
                  <a:pt x="8572" y="59"/>
                  <a:pt x="8574" y="69"/>
                  <a:pt x="8574" y="80"/>
                </a:cubicBezTo>
                <a:lnTo>
                  <a:pt x="8574" y="531"/>
                </a:lnTo>
                <a:cubicBezTo>
                  <a:pt x="8574" y="541"/>
                  <a:pt x="8572" y="551"/>
                  <a:pt x="8568" y="561"/>
                </a:cubicBezTo>
                <a:cubicBezTo>
                  <a:pt x="8564" y="571"/>
                  <a:pt x="8558" y="579"/>
                  <a:pt x="8551" y="587"/>
                </a:cubicBezTo>
                <a:cubicBezTo>
                  <a:pt x="8543" y="594"/>
                  <a:pt x="8535" y="600"/>
                  <a:pt x="8525" y="604"/>
                </a:cubicBezTo>
                <a:cubicBezTo>
                  <a:pt x="8515" y="608"/>
                  <a:pt x="8505" y="610"/>
                  <a:pt x="8495" y="610"/>
                </a:cubicBezTo>
                <a:lnTo>
                  <a:pt x="80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40" y="600"/>
                  <a:pt x="31" y="594"/>
                  <a:pt x="24" y="587"/>
                </a:cubicBezTo>
                <a:cubicBezTo>
                  <a:pt x="16" y="579"/>
                  <a:pt x="11" y="571"/>
                  <a:pt x="7" y="561"/>
                </a:cubicBezTo>
                <a:cubicBezTo>
                  <a:pt x="3" y="551"/>
                  <a:pt x="0" y="541"/>
                  <a:pt x="0" y="531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4314240" y="1325880"/>
            <a:ext cx="60915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), 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Moodle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(sección "CP4 — Behavioral Cloning"), en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48 h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Use la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plantilla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 txBox="1"/>
          <p:nvPr/>
        </p:nvSpPr>
        <p:spPr>
          <a:xfrm>
            <a:off x="743040" y="1613880"/>
            <a:ext cx="29808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1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plantilla-respuestas-cp4.docx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4571640" y="1599840"/>
            <a:ext cx="1238760" cy="219600"/>
          </a:xfrm>
          <a:custGeom>
            <a:avLst/>
            <a:gdLst/>
            <a:ahLst/>
            <a:rect l="0" t="0" r="r" b="b"/>
            <a:pathLst>
              <a:path w="3441" h="610">
                <a:moveTo>
                  <a:pt x="0" y="531"/>
                </a:moveTo>
                <a:lnTo>
                  <a:pt x="0" y="80"/>
                </a:lnTo>
                <a:cubicBezTo>
                  <a:pt x="0" y="69"/>
                  <a:pt x="3" y="59"/>
                  <a:pt x="7" y="49"/>
                </a:cubicBezTo>
                <a:cubicBezTo>
                  <a:pt x="11" y="40"/>
                  <a:pt x="16" y="31"/>
                  <a:pt x="24" y="24"/>
                </a:cubicBezTo>
                <a:cubicBezTo>
                  <a:pt x="31" y="16"/>
                  <a:pt x="40" y="11"/>
                  <a:pt x="49" y="7"/>
                </a:cubicBezTo>
                <a:cubicBezTo>
                  <a:pt x="59" y="3"/>
                  <a:pt x="69" y="0"/>
                  <a:pt x="80" y="0"/>
                </a:cubicBezTo>
                <a:lnTo>
                  <a:pt x="3362" y="0"/>
                </a:lnTo>
                <a:cubicBezTo>
                  <a:pt x="3372" y="0"/>
                  <a:pt x="3382" y="3"/>
                  <a:pt x="3392" y="7"/>
                </a:cubicBezTo>
                <a:cubicBezTo>
                  <a:pt x="3402" y="11"/>
                  <a:pt x="3410" y="16"/>
                  <a:pt x="3418" y="24"/>
                </a:cubicBezTo>
                <a:cubicBezTo>
                  <a:pt x="3425" y="31"/>
                  <a:pt x="3431" y="40"/>
                  <a:pt x="3435" y="49"/>
                </a:cubicBezTo>
                <a:cubicBezTo>
                  <a:pt x="3439" y="59"/>
                  <a:pt x="3441" y="69"/>
                  <a:pt x="3441" y="80"/>
                </a:cubicBezTo>
                <a:lnTo>
                  <a:pt x="3441" y="531"/>
                </a:lnTo>
                <a:cubicBezTo>
                  <a:pt x="3441" y="541"/>
                  <a:pt x="3439" y="551"/>
                  <a:pt x="3435" y="561"/>
                </a:cubicBezTo>
                <a:cubicBezTo>
                  <a:pt x="3431" y="571"/>
                  <a:pt x="3425" y="579"/>
                  <a:pt x="3418" y="587"/>
                </a:cubicBezTo>
                <a:cubicBezTo>
                  <a:pt x="3410" y="594"/>
                  <a:pt x="3402" y="600"/>
                  <a:pt x="3392" y="604"/>
                </a:cubicBezTo>
                <a:cubicBezTo>
                  <a:pt x="3382" y="608"/>
                  <a:pt x="3372" y="610"/>
                  <a:pt x="3362" y="610"/>
                </a:cubicBezTo>
                <a:lnTo>
                  <a:pt x="80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40" y="600"/>
                  <a:pt x="31" y="594"/>
                  <a:pt x="24" y="587"/>
                </a:cubicBezTo>
                <a:cubicBezTo>
                  <a:pt x="16" y="579"/>
                  <a:pt x="11" y="571"/>
                  <a:pt x="7" y="561"/>
                </a:cubicBezTo>
                <a:cubicBezTo>
                  <a:pt x="3" y="551"/>
                  <a:pt x="0" y="541"/>
                  <a:pt x="0" y="531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3768480" y="1611720"/>
            <a:ext cx="8031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(carpeta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4629600" y="1613880"/>
            <a:ext cx="11311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entregable/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 txBox="1"/>
          <p:nvPr/>
        </p:nvSpPr>
        <p:spPr>
          <a:xfrm>
            <a:off x="5812920" y="16117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685800" y="2049840"/>
            <a:ext cx="4627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Responde 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5 preguntas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apoyándote en tus resultados: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860400" y="2535480"/>
            <a:ext cx="79542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Sesgo del volante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¿por qué el steering se concentra en 0 y cómo afecta al entrenamiento?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860760" y="2878560"/>
            <a:ext cx="6330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2.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Conocido vs nuevo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compara el error in-dist vs OOD; interpreta el hueco.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4914720" y="3209760"/>
            <a:ext cx="324360" cy="219240"/>
          </a:xfrm>
          <a:custGeom>
            <a:avLst/>
            <a:gdLst/>
            <a:ahLst/>
            <a:rect l="0" t="0" r="r" b="b"/>
            <a:pathLst>
              <a:path w="901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821" y="0"/>
                </a:lnTo>
                <a:cubicBezTo>
                  <a:pt x="832" y="0"/>
                  <a:pt x="842" y="2"/>
                  <a:pt x="852" y="6"/>
                </a:cubicBezTo>
                <a:cubicBezTo>
                  <a:pt x="861" y="10"/>
                  <a:pt x="870" y="16"/>
                  <a:pt x="877" y="23"/>
                </a:cubicBezTo>
                <a:cubicBezTo>
                  <a:pt x="885" y="31"/>
                  <a:pt x="891" y="39"/>
                  <a:pt x="895" y="49"/>
                </a:cubicBezTo>
                <a:cubicBezTo>
                  <a:pt x="899" y="59"/>
                  <a:pt x="901" y="69"/>
                  <a:pt x="901" y="79"/>
                </a:cubicBezTo>
                <a:lnTo>
                  <a:pt x="901" y="530"/>
                </a:lnTo>
                <a:cubicBezTo>
                  <a:pt x="901" y="541"/>
                  <a:pt x="899" y="551"/>
                  <a:pt x="895" y="560"/>
                </a:cubicBezTo>
                <a:cubicBezTo>
                  <a:pt x="891" y="570"/>
                  <a:pt x="885" y="579"/>
                  <a:pt x="877" y="586"/>
                </a:cubicBezTo>
                <a:cubicBezTo>
                  <a:pt x="870" y="594"/>
                  <a:pt x="861" y="599"/>
                  <a:pt x="852" y="603"/>
                </a:cubicBezTo>
                <a:cubicBezTo>
                  <a:pt x="842" y="607"/>
                  <a:pt x="832" y="609"/>
                  <a:pt x="821" y="609"/>
                </a:cubicBezTo>
                <a:lnTo>
                  <a:pt x="79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39" y="599"/>
                  <a:pt x="31" y="594"/>
                  <a:pt x="23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860760" y="3221280"/>
            <a:ext cx="4047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3.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Compounding error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explícalo con tu plot de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4972680" y="322344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06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5234760" y="3221280"/>
            <a:ext cx="3928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¿cuándo diverge?, ¿crece lineal o más rápido?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860760" y="3554640"/>
            <a:ext cx="820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4.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Mitigaciones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2 técnicas concretas (DAgger, data augmentation…) y cómo atacan el problema.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860760" y="3897720"/>
            <a:ext cx="73814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5.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Por qué Tesla puede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¿qué tiene Tesla (datos, hardware, pipeline) que tu BC mini no?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685800" y="632520"/>
            <a:ext cx="13381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Qué se entrega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CP4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1040400" y="6517080"/>
            <a:ext cx="1236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Behavioral Cloning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22759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 txBox="1"/>
          <p:nvPr/>
        </p:nvSpPr>
        <p:spPr>
          <a:xfrm>
            <a:off x="231840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3217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325944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76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7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695160" y="1371240"/>
            <a:ext cx="1276560" cy="362520"/>
          </a:xfrm>
          <a:custGeom>
            <a:avLst/>
            <a:gdLst/>
            <a:ahLst/>
            <a:rect l="0" t="0" r="r" b="b"/>
            <a:pathLst>
              <a:path w="3546" h="1007">
                <a:moveTo>
                  <a:pt x="0" y="0"/>
                </a:moveTo>
                <a:lnTo>
                  <a:pt x="3546" y="0"/>
                </a:lnTo>
                <a:lnTo>
                  <a:pt x="3546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1971360" y="1371240"/>
            <a:ext cx="3762720" cy="362520"/>
          </a:xfrm>
          <a:custGeom>
            <a:avLst/>
            <a:gdLst/>
            <a:ahLst/>
            <a:rect l="0" t="0" r="r" b="b"/>
            <a:pathLst>
              <a:path w="10452" h="1007">
                <a:moveTo>
                  <a:pt x="0" y="0"/>
                </a:moveTo>
                <a:lnTo>
                  <a:pt x="10452" y="0"/>
                </a:lnTo>
                <a:lnTo>
                  <a:pt x="10452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695160" y="1371240"/>
            <a:ext cx="1276560" cy="362520"/>
          </a:xfrm>
          <a:custGeom>
            <a:avLst/>
            <a:gdLst/>
            <a:ahLst/>
            <a:rect l="0" t="0" r="r" b="b"/>
            <a:pathLst>
              <a:path w="3546" h="1007">
                <a:moveTo>
                  <a:pt x="0" y="0"/>
                </a:moveTo>
                <a:lnTo>
                  <a:pt x="3546" y="0"/>
                </a:lnTo>
                <a:lnTo>
                  <a:pt x="3546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1971360" y="1371240"/>
            <a:ext cx="3762720" cy="362520"/>
          </a:xfrm>
          <a:custGeom>
            <a:avLst/>
            <a:gdLst/>
            <a:ahLst/>
            <a:rect l="0" t="0" r="r" b="b"/>
            <a:pathLst>
              <a:path w="10452" h="1007">
                <a:moveTo>
                  <a:pt x="0" y="0"/>
                </a:moveTo>
                <a:lnTo>
                  <a:pt x="10452" y="0"/>
                </a:lnTo>
                <a:lnTo>
                  <a:pt x="10452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695160" y="1733400"/>
            <a:ext cx="1276560" cy="371880"/>
          </a:xfrm>
          <a:custGeom>
            <a:avLst/>
            <a:gdLst/>
            <a:ahLst/>
            <a:rect l="0" t="0" r="r" b="b"/>
            <a:pathLst>
              <a:path w="3546" h="1033">
                <a:moveTo>
                  <a:pt x="0" y="0"/>
                </a:moveTo>
                <a:lnTo>
                  <a:pt x="3546" y="0"/>
                </a:lnTo>
                <a:lnTo>
                  <a:pt x="354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1971360" y="1733400"/>
            <a:ext cx="3762720" cy="371880"/>
          </a:xfrm>
          <a:custGeom>
            <a:avLst/>
            <a:gdLst/>
            <a:ahLst/>
            <a:rect l="0" t="0" r="r" b="b"/>
            <a:pathLst>
              <a:path w="10452" h="1033">
                <a:moveTo>
                  <a:pt x="0" y="0"/>
                </a:moveTo>
                <a:lnTo>
                  <a:pt x="10452" y="0"/>
                </a:lnTo>
                <a:lnTo>
                  <a:pt x="1045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695160" y="2104920"/>
            <a:ext cx="1276560" cy="362160"/>
          </a:xfrm>
          <a:custGeom>
            <a:avLst/>
            <a:gdLst/>
            <a:ahLst/>
            <a:rect l="0" t="0" r="r" b="b"/>
            <a:pathLst>
              <a:path w="3546" h="1006">
                <a:moveTo>
                  <a:pt x="0" y="0"/>
                </a:moveTo>
                <a:lnTo>
                  <a:pt x="3546" y="0"/>
                </a:lnTo>
                <a:lnTo>
                  <a:pt x="3546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1971360" y="2104920"/>
            <a:ext cx="3762720" cy="362160"/>
          </a:xfrm>
          <a:custGeom>
            <a:avLst/>
            <a:gdLst/>
            <a:ahLst/>
            <a:rect l="0" t="0" r="r" b="b"/>
            <a:pathLst>
              <a:path w="10452" h="1006">
                <a:moveTo>
                  <a:pt x="0" y="0"/>
                </a:moveTo>
                <a:lnTo>
                  <a:pt x="10452" y="0"/>
                </a:lnTo>
                <a:lnTo>
                  <a:pt x="10452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695160" y="2466720"/>
            <a:ext cx="1276560" cy="371880"/>
          </a:xfrm>
          <a:custGeom>
            <a:avLst/>
            <a:gdLst/>
            <a:ahLst/>
            <a:rect l="0" t="0" r="r" b="b"/>
            <a:pathLst>
              <a:path w="3546" h="1033">
                <a:moveTo>
                  <a:pt x="0" y="0"/>
                </a:moveTo>
                <a:lnTo>
                  <a:pt x="3546" y="0"/>
                </a:lnTo>
                <a:lnTo>
                  <a:pt x="354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1971360" y="2466720"/>
            <a:ext cx="3762720" cy="371880"/>
          </a:xfrm>
          <a:custGeom>
            <a:avLst/>
            <a:gdLst/>
            <a:ahLst/>
            <a:rect l="0" t="0" r="r" b="b"/>
            <a:pathLst>
              <a:path w="10452" h="1033">
                <a:moveTo>
                  <a:pt x="0" y="0"/>
                </a:moveTo>
                <a:lnTo>
                  <a:pt x="10452" y="0"/>
                </a:lnTo>
                <a:lnTo>
                  <a:pt x="1045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/>
          <p:nvPr/>
        </p:nvSpPr>
        <p:spPr>
          <a:xfrm>
            <a:off x="695160" y="2838240"/>
            <a:ext cx="1276560" cy="362160"/>
          </a:xfrm>
          <a:custGeom>
            <a:avLst/>
            <a:gdLst/>
            <a:ahLst/>
            <a:rect l="0" t="0" r="r" b="b"/>
            <a:pathLst>
              <a:path w="3546" h="1006">
                <a:moveTo>
                  <a:pt x="0" y="0"/>
                </a:moveTo>
                <a:lnTo>
                  <a:pt x="3546" y="0"/>
                </a:lnTo>
                <a:lnTo>
                  <a:pt x="3546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/>
          <p:nvPr/>
        </p:nvSpPr>
        <p:spPr>
          <a:xfrm>
            <a:off x="1971360" y="2838240"/>
            <a:ext cx="3762720" cy="362160"/>
          </a:xfrm>
          <a:custGeom>
            <a:avLst/>
            <a:gdLst/>
            <a:ahLst/>
            <a:rect l="0" t="0" r="r" b="b"/>
            <a:pathLst>
              <a:path w="10452" h="1006">
                <a:moveTo>
                  <a:pt x="0" y="0"/>
                </a:moveTo>
                <a:lnTo>
                  <a:pt x="10452" y="0"/>
                </a:lnTo>
                <a:lnTo>
                  <a:pt x="10452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/>
          <p:nvPr/>
        </p:nvSpPr>
        <p:spPr>
          <a:xfrm>
            <a:off x="685440" y="13618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/>
          <p:nvPr/>
        </p:nvSpPr>
        <p:spPr>
          <a:xfrm>
            <a:off x="685440" y="1361880"/>
            <a:ext cx="1296000" cy="9720"/>
          </a:xfrm>
          <a:custGeom>
            <a:avLst/>
            <a:gdLst/>
            <a:ah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/>
          <p:nvPr/>
        </p:nvSpPr>
        <p:spPr>
          <a:xfrm>
            <a:off x="1971360" y="13618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/>
          <p:nvPr/>
        </p:nvSpPr>
        <p:spPr>
          <a:xfrm>
            <a:off x="1981080" y="1361880"/>
            <a:ext cx="3762720" cy="9720"/>
          </a:xfrm>
          <a:custGeom>
            <a:avLst/>
            <a:gdLst/>
            <a:ahLst/>
            <a:rect l="0" t="0" r="r" b="b"/>
            <a:pathLst>
              <a:path w="10452" h="27">
                <a:moveTo>
                  <a:pt x="0" y="0"/>
                </a:moveTo>
                <a:lnTo>
                  <a:pt x="10452" y="0"/>
                </a:lnTo>
                <a:lnTo>
                  <a:pt x="104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/>
          <p:nvPr/>
        </p:nvSpPr>
        <p:spPr>
          <a:xfrm>
            <a:off x="5733720" y="13618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685440" y="1733400"/>
            <a:ext cx="1296000" cy="9720"/>
          </a:xfrm>
          <a:custGeom>
            <a:avLst/>
            <a:gdLst/>
            <a:ah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/>
          <p:nvPr/>
        </p:nvSpPr>
        <p:spPr>
          <a:xfrm>
            <a:off x="1981080" y="1733400"/>
            <a:ext cx="3762720" cy="9720"/>
          </a:xfrm>
          <a:custGeom>
            <a:avLst/>
            <a:gdLst/>
            <a:ahLst/>
            <a:rect l="0" t="0" r="r" b="b"/>
            <a:pathLst>
              <a:path w="10452" h="27">
                <a:moveTo>
                  <a:pt x="0" y="0"/>
                </a:moveTo>
                <a:lnTo>
                  <a:pt x="10452" y="0"/>
                </a:lnTo>
                <a:lnTo>
                  <a:pt x="104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/>
          <p:nvPr/>
        </p:nvSpPr>
        <p:spPr>
          <a:xfrm>
            <a:off x="685440" y="174276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/>
          <p:nvPr/>
        </p:nvSpPr>
        <p:spPr>
          <a:xfrm>
            <a:off x="1971360" y="174276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5733720" y="174276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685440" y="21049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685440" y="2095200"/>
            <a:ext cx="1296000" cy="10080"/>
          </a:xfrm>
          <a:custGeom>
            <a:avLst/>
            <a:gdLst/>
            <a:ahLst/>
            <a:rect l="0" t="0" r="r" b="b"/>
            <a:pathLst>
              <a:path w="3600" h="28">
                <a:moveTo>
                  <a:pt x="0" y="0"/>
                </a:moveTo>
                <a:lnTo>
                  <a:pt x="3600" y="0"/>
                </a:lnTo>
                <a:lnTo>
                  <a:pt x="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1971360" y="21049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1981080" y="2095200"/>
            <a:ext cx="3762720" cy="10080"/>
          </a:xfrm>
          <a:custGeom>
            <a:avLst/>
            <a:gdLst/>
            <a:ahLst/>
            <a:rect l="0" t="0" r="r" b="b"/>
            <a:pathLst>
              <a:path w="10452" h="28">
                <a:moveTo>
                  <a:pt x="0" y="0"/>
                </a:moveTo>
                <a:lnTo>
                  <a:pt x="10452" y="0"/>
                </a:lnTo>
                <a:lnTo>
                  <a:pt x="104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5733720" y="21049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685440" y="247644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685440" y="2466720"/>
            <a:ext cx="1296000" cy="10080"/>
          </a:xfrm>
          <a:custGeom>
            <a:avLst/>
            <a:gdLst/>
            <a:ahLst/>
            <a:rect l="0" t="0" r="r" b="b"/>
            <a:pathLst>
              <a:path w="3600" h="28">
                <a:moveTo>
                  <a:pt x="0" y="0"/>
                </a:moveTo>
                <a:lnTo>
                  <a:pt x="3600" y="0"/>
                </a:lnTo>
                <a:lnTo>
                  <a:pt x="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1971360" y="247644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1981080" y="2466720"/>
            <a:ext cx="3762720" cy="10080"/>
          </a:xfrm>
          <a:custGeom>
            <a:avLst/>
            <a:gdLst/>
            <a:ahLst/>
            <a:rect l="0" t="0" r="r" b="b"/>
            <a:pathLst>
              <a:path w="10452" h="28">
                <a:moveTo>
                  <a:pt x="0" y="0"/>
                </a:moveTo>
                <a:lnTo>
                  <a:pt x="10452" y="0"/>
                </a:lnTo>
                <a:lnTo>
                  <a:pt x="104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5733720" y="247644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685440" y="28382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685440" y="2828880"/>
            <a:ext cx="1296000" cy="9720"/>
          </a:xfrm>
          <a:custGeom>
            <a:avLst/>
            <a:gdLst/>
            <a:ah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1971360" y="28382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1981080" y="2828880"/>
            <a:ext cx="3762720" cy="9720"/>
          </a:xfrm>
          <a:custGeom>
            <a:avLst/>
            <a:gdLst/>
            <a:ahLst/>
            <a:rect l="0" t="0" r="r" b="b"/>
            <a:pathLst>
              <a:path w="10452" h="27">
                <a:moveTo>
                  <a:pt x="0" y="0"/>
                </a:moveTo>
                <a:lnTo>
                  <a:pt x="10452" y="0"/>
                </a:lnTo>
                <a:lnTo>
                  <a:pt x="104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5733720" y="28382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685440" y="3200040"/>
            <a:ext cx="1296000" cy="10080"/>
          </a:xfrm>
          <a:custGeom>
            <a:avLst/>
            <a:gdLst/>
            <a:ahLst/>
            <a:rect l="0" t="0" r="r" b="b"/>
            <a:pathLst>
              <a:path w="3600" h="28">
                <a:moveTo>
                  <a:pt x="0" y="0"/>
                </a:moveTo>
                <a:lnTo>
                  <a:pt x="3600" y="0"/>
                </a:lnTo>
                <a:lnTo>
                  <a:pt x="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1981080" y="3200040"/>
            <a:ext cx="3762720" cy="10080"/>
          </a:xfrm>
          <a:custGeom>
            <a:avLst/>
            <a:gdLst/>
            <a:ahLst/>
            <a:rect l="0" t="0" r="r" b="b"/>
            <a:pathLst>
              <a:path w="10452" h="28">
                <a:moveTo>
                  <a:pt x="0" y="0"/>
                </a:moveTo>
                <a:lnTo>
                  <a:pt x="10452" y="0"/>
                </a:lnTo>
                <a:lnTo>
                  <a:pt x="104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819000" y="1470600"/>
            <a:ext cx="6465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Se valora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2102760" y="1470600"/>
            <a:ext cx="10944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En qué consiste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 txBox="1"/>
          <p:nvPr/>
        </p:nvSpPr>
        <p:spPr>
          <a:xfrm>
            <a:off x="819000" y="1842120"/>
            <a:ext cx="6544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Ejecución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 txBox="1"/>
          <p:nvPr/>
        </p:nvSpPr>
        <p:spPr>
          <a:xfrm>
            <a:off x="2102760" y="1842120"/>
            <a:ext cx="34956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Generas dataset, entrenas y evalúas correctamente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 txBox="1"/>
          <p:nvPr/>
        </p:nvSpPr>
        <p:spPr>
          <a:xfrm>
            <a:off x="819000" y="2203920"/>
            <a:ext cx="9230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Comprensión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 txBox="1"/>
          <p:nvPr/>
        </p:nvSpPr>
        <p:spPr>
          <a:xfrm>
            <a:off x="2102760" y="2203920"/>
            <a:ext cx="3364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Entiendes el sesgo, el OOD y el compounding error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819000" y="2575440"/>
            <a:ext cx="10245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Análisis crítico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 txBox="1"/>
          <p:nvPr/>
        </p:nvSpPr>
        <p:spPr>
          <a:xfrm>
            <a:off x="2102760" y="2575440"/>
            <a:ext cx="34707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Razonas causas y propones mitigaciones concretas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819000" y="2937600"/>
            <a:ext cx="9709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Comunicación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>
            <a:off x="685440" y="3504960"/>
            <a:ext cx="10820880" cy="429120"/>
          </a:xfrm>
          <a:custGeom>
            <a:avLst/>
            <a:gdLst/>
            <a:ahLst/>
            <a:rect l="0" t="0" r="r" b="b"/>
            <a:pathLst>
              <a:path w="30058" h="1192">
                <a:moveTo>
                  <a:pt x="0" y="0"/>
                </a:moveTo>
                <a:lnTo>
                  <a:pt x="30058" y="0"/>
                </a:lnTo>
                <a:lnTo>
                  <a:pt x="3005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685440" y="3504960"/>
            <a:ext cx="29160" cy="429120"/>
          </a:xfrm>
          <a:custGeom>
            <a:avLst/>
            <a:gdLst/>
            <a:ahLst/>
            <a:rect l="0" t="0" r="r" b="b"/>
            <a:pathLst>
              <a:path w="81" h="1192">
                <a:moveTo>
                  <a:pt x="0" y="0"/>
                </a:moveTo>
                <a:lnTo>
                  <a:pt x="81" y="0"/>
                </a:lnTo>
                <a:lnTo>
                  <a:pt x="8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2102760" y="2937600"/>
            <a:ext cx="32508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PDF ordenado, con plots (loss, MSE, divergencia)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990720" y="3611880"/>
            <a:ext cx="96242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Lo que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más sube la nota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citar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números y steps concretos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 tus plots, y mitigaciones específicas (no "más datos").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685800" y="632520"/>
            <a:ext cx="26582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Cómo se te evalúa (16 puntos)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CP4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 txBox="1"/>
          <p:nvPr/>
        </p:nvSpPr>
        <p:spPr>
          <a:xfrm>
            <a:off x="1040400" y="6517080"/>
            <a:ext cx="1236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Behavioral Cloning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22759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231840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 txBox="1"/>
          <p:nvPr/>
        </p:nvSpPr>
        <p:spPr>
          <a:xfrm>
            <a:off x="3217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 txBox="1"/>
          <p:nvPr/>
        </p:nvSpPr>
        <p:spPr>
          <a:xfrm>
            <a:off x="325944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44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5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904680" y="14475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3" y="24"/>
                </a:cubicBezTo>
                <a:cubicBezTo>
                  <a:pt x="31" y="17"/>
                  <a:pt x="39" y="11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1"/>
                  <a:pt x="129" y="17"/>
                  <a:pt x="137" y="24"/>
                </a:cubicBezTo>
                <a:cubicBezTo>
                  <a:pt x="144" y="32"/>
                  <a:pt x="150" y="40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904680" y="179064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1"/>
                  <a:pt x="49" y="7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7"/>
                </a:cubicBezTo>
                <a:cubicBezTo>
                  <a:pt x="121" y="11"/>
                  <a:pt x="129" y="16"/>
                  <a:pt x="137" y="24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 txBox="1"/>
          <p:nvPr/>
        </p:nvSpPr>
        <p:spPr>
          <a:xfrm>
            <a:off x="1072440" y="1364040"/>
            <a:ext cx="10226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permite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uso de herramientas de IA como apoyo, pero el análisis y las conclusiones deben ser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propios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Copiar penaliza.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>
            <a:off x="904680" y="212400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 txBox="1"/>
          <p:nvPr/>
        </p:nvSpPr>
        <p:spPr>
          <a:xfrm>
            <a:off x="1072440" y="1706760"/>
            <a:ext cx="7107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Si usó una de estas herramientas,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decláralo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una línea. No baja la nota; ocultarlo, sí.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2019240" y="2028600"/>
            <a:ext cx="1238400" cy="219600"/>
          </a:xfrm>
          <a:custGeom>
            <a:avLst/>
            <a:gdLst/>
            <a:ahLst/>
            <a:rect l="0" t="0" r="r" b="b"/>
            <a:pathLst>
              <a:path w="3440" h="610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3361" y="0"/>
                </a:lnTo>
                <a:cubicBezTo>
                  <a:pt x="3371" y="0"/>
                  <a:pt x="3382" y="2"/>
                  <a:pt x="3391" y="6"/>
                </a:cubicBezTo>
                <a:cubicBezTo>
                  <a:pt x="3401" y="10"/>
                  <a:pt x="3410" y="16"/>
                  <a:pt x="3417" y="23"/>
                </a:cubicBezTo>
                <a:cubicBezTo>
                  <a:pt x="3424" y="31"/>
                  <a:pt x="3430" y="39"/>
                  <a:pt x="3434" y="49"/>
                </a:cubicBezTo>
                <a:cubicBezTo>
                  <a:pt x="3438" y="59"/>
                  <a:pt x="3440" y="69"/>
                  <a:pt x="3440" y="79"/>
                </a:cubicBezTo>
                <a:lnTo>
                  <a:pt x="3440" y="530"/>
                </a:lnTo>
                <a:cubicBezTo>
                  <a:pt x="3440" y="541"/>
                  <a:pt x="3438" y="551"/>
                  <a:pt x="3434" y="561"/>
                </a:cubicBezTo>
                <a:cubicBezTo>
                  <a:pt x="3430" y="570"/>
                  <a:pt x="3424" y="579"/>
                  <a:pt x="3417" y="586"/>
                </a:cubicBezTo>
                <a:cubicBezTo>
                  <a:pt x="3410" y="594"/>
                  <a:pt x="3401" y="600"/>
                  <a:pt x="3391" y="604"/>
                </a:cubicBezTo>
                <a:cubicBezTo>
                  <a:pt x="3382" y="608"/>
                  <a:pt x="3371" y="610"/>
                  <a:pt x="3361" y="610"/>
                </a:cubicBezTo>
                <a:lnTo>
                  <a:pt x="79" y="610"/>
                </a:lnTo>
                <a:cubicBezTo>
                  <a:pt x="69" y="610"/>
                  <a:pt x="58" y="608"/>
                  <a:pt x="49" y="604"/>
                </a:cubicBezTo>
                <a:cubicBezTo>
                  <a:pt x="39" y="600"/>
                  <a:pt x="30" y="594"/>
                  <a:pt x="23" y="586"/>
                </a:cubicBezTo>
                <a:cubicBezTo>
                  <a:pt x="15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 txBox="1"/>
          <p:nvPr/>
        </p:nvSpPr>
        <p:spPr>
          <a:xfrm>
            <a:off x="1072440" y="2040120"/>
            <a:ext cx="946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La carpeta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 txBox="1"/>
          <p:nvPr/>
        </p:nvSpPr>
        <p:spPr>
          <a:xfrm>
            <a:off x="2076840" y="2042640"/>
            <a:ext cx="11311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soluciones/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 txBox="1"/>
          <p:nvPr/>
        </p:nvSpPr>
        <p:spPr>
          <a:xfrm>
            <a:off x="3260160" y="2040120"/>
            <a:ext cx="4343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 debe consultarse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hasta haber intentado el caso.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 txBox="1"/>
          <p:nvPr/>
        </p:nvSpPr>
        <p:spPr>
          <a:xfrm>
            <a:off x="685800" y="632520"/>
            <a:ext cx="19839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Normas de la actividad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CP4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 txBox="1"/>
          <p:nvPr/>
        </p:nvSpPr>
        <p:spPr>
          <a:xfrm>
            <a:off x="1040400" y="6517080"/>
            <a:ext cx="1236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Behavioral Cloning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 txBox="1"/>
          <p:nvPr/>
        </p:nvSpPr>
        <p:spPr>
          <a:xfrm>
            <a:off x="22759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 txBox="1"/>
          <p:nvPr/>
        </p:nvSpPr>
        <p:spPr>
          <a:xfrm>
            <a:off x="231840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 txBox="1"/>
          <p:nvPr/>
        </p:nvSpPr>
        <p:spPr>
          <a:xfrm>
            <a:off x="3217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 txBox="1"/>
          <p:nvPr/>
        </p:nvSpPr>
        <p:spPr>
          <a:xfrm>
            <a:off x="325944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69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0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1533240" y="1733400"/>
            <a:ext cx="314640" cy="219240"/>
          </a:xfrm>
          <a:custGeom>
            <a:avLst/>
            <a:gdLst/>
            <a:ahLst/>
            <a:rect l="0" t="0" r="r" b="b"/>
            <a:pathLst>
              <a:path w="874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795" y="0"/>
                </a:lnTo>
                <a:cubicBezTo>
                  <a:pt x="806" y="0"/>
                  <a:pt x="816" y="2"/>
                  <a:pt x="825" y="6"/>
                </a:cubicBezTo>
                <a:cubicBezTo>
                  <a:pt x="835" y="10"/>
                  <a:pt x="844" y="16"/>
                  <a:pt x="851" y="23"/>
                </a:cubicBezTo>
                <a:cubicBezTo>
                  <a:pt x="859" y="31"/>
                  <a:pt x="864" y="39"/>
                  <a:pt x="868" y="49"/>
                </a:cubicBezTo>
                <a:cubicBezTo>
                  <a:pt x="872" y="59"/>
                  <a:pt x="874" y="69"/>
                  <a:pt x="874" y="79"/>
                </a:cubicBezTo>
                <a:lnTo>
                  <a:pt x="874" y="530"/>
                </a:lnTo>
                <a:cubicBezTo>
                  <a:pt x="874" y="541"/>
                  <a:pt x="872" y="551"/>
                  <a:pt x="868" y="560"/>
                </a:cubicBezTo>
                <a:cubicBezTo>
                  <a:pt x="864" y="570"/>
                  <a:pt x="859" y="579"/>
                  <a:pt x="851" y="586"/>
                </a:cubicBezTo>
                <a:cubicBezTo>
                  <a:pt x="844" y="594"/>
                  <a:pt x="835" y="599"/>
                  <a:pt x="825" y="603"/>
                </a:cubicBezTo>
                <a:cubicBezTo>
                  <a:pt x="816" y="607"/>
                  <a:pt x="806" y="609"/>
                  <a:pt x="795" y="609"/>
                </a:cubicBezTo>
                <a:lnTo>
                  <a:pt x="80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40" y="599"/>
                  <a:pt x="31" y="594"/>
                  <a:pt x="24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 txBox="1"/>
          <p:nvPr/>
        </p:nvSpPr>
        <p:spPr>
          <a:xfrm>
            <a:off x="914400" y="1744920"/>
            <a:ext cx="618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Orden: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 txBox="1"/>
          <p:nvPr/>
        </p:nvSpPr>
        <p:spPr>
          <a:xfrm>
            <a:off x="1590480" y="174708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02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 txBox="1"/>
          <p:nvPr/>
        </p:nvSpPr>
        <p:spPr>
          <a:xfrm>
            <a:off x="1852200" y="1744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 txBox="1"/>
          <p:nvPr/>
        </p:nvSpPr>
        <p:spPr>
          <a:xfrm>
            <a:off x="1902240" y="171144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2152440" y="1733400"/>
            <a:ext cx="314640" cy="219240"/>
          </a:xfrm>
          <a:custGeom>
            <a:avLst/>
            <a:gdLst/>
            <a:ahLst/>
            <a:rect l="0" t="0" r="r" b="b"/>
            <a:pathLst>
              <a:path w="874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795" y="0"/>
                </a:lnTo>
                <a:cubicBezTo>
                  <a:pt x="805" y="0"/>
                  <a:pt x="815" y="2"/>
                  <a:pt x="825" y="6"/>
                </a:cubicBezTo>
                <a:cubicBezTo>
                  <a:pt x="835" y="10"/>
                  <a:pt x="844" y="16"/>
                  <a:pt x="851" y="23"/>
                </a:cubicBezTo>
                <a:cubicBezTo>
                  <a:pt x="858" y="31"/>
                  <a:pt x="864" y="39"/>
                  <a:pt x="868" y="49"/>
                </a:cubicBezTo>
                <a:cubicBezTo>
                  <a:pt x="872" y="59"/>
                  <a:pt x="874" y="69"/>
                  <a:pt x="874" y="79"/>
                </a:cubicBezTo>
                <a:lnTo>
                  <a:pt x="874" y="530"/>
                </a:lnTo>
                <a:cubicBezTo>
                  <a:pt x="874" y="541"/>
                  <a:pt x="872" y="551"/>
                  <a:pt x="868" y="560"/>
                </a:cubicBezTo>
                <a:cubicBezTo>
                  <a:pt x="864" y="570"/>
                  <a:pt x="858" y="579"/>
                  <a:pt x="851" y="586"/>
                </a:cubicBezTo>
                <a:cubicBezTo>
                  <a:pt x="844" y="594"/>
                  <a:pt x="835" y="599"/>
                  <a:pt x="825" y="603"/>
                </a:cubicBezTo>
                <a:cubicBezTo>
                  <a:pt x="815" y="607"/>
                  <a:pt x="805" y="609"/>
                  <a:pt x="795" y="609"/>
                </a:cubicBezTo>
                <a:lnTo>
                  <a:pt x="79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39" y="599"/>
                  <a:pt x="31" y="594"/>
                  <a:pt x="23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 txBox="1"/>
          <p:nvPr/>
        </p:nvSpPr>
        <p:spPr>
          <a:xfrm>
            <a:off x="2102400" y="1744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 txBox="1"/>
          <p:nvPr/>
        </p:nvSpPr>
        <p:spPr>
          <a:xfrm>
            <a:off x="2209680" y="174708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03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 txBox="1"/>
          <p:nvPr/>
        </p:nvSpPr>
        <p:spPr>
          <a:xfrm>
            <a:off x="2471400" y="1744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 txBox="1"/>
          <p:nvPr/>
        </p:nvSpPr>
        <p:spPr>
          <a:xfrm>
            <a:off x="2521440" y="171144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2771640" y="1733400"/>
            <a:ext cx="314640" cy="219240"/>
          </a:xfrm>
          <a:custGeom>
            <a:avLst/>
            <a:gdLst/>
            <a:ahLst/>
            <a:rect l="0" t="0" r="r" b="b"/>
            <a:pathLst>
              <a:path w="874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795" y="0"/>
                </a:lnTo>
                <a:cubicBezTo>
                  <a:pt x="805" y="0"/>
                  <a:pt x="815" y="2"/>
                  <a:pt x="825" y="6"/>
                </a:cubicBezTo>
                <a:cubicBezTo>
                  <a:pt x="835" y="10"/>
                  <a:pt x="843" y="16"/>
                  <a:pt x="851" y="23"/>
                </a:cubicBezTo>
                <a:cubicBezTo>
                  <a:pt x="858" y="31"/>
                  <a:pt x="864" y="39"/>
                  <a:pt x="868" y="49"/>
                </a:cubicBezTo>
                <a:cubicBezTo>
                  <a:pt x="872" y="59"/>
                  <a:pt x="874" y="69"/>
                  <a:pt x="874" y="79"/>
                </a:cubicBezTo>
                <a:lnTo>
                  <a:pt x="874" y="530"/>
                </a:lnTo>
                <a:cubicBezTo>
                  <a:pt x="874" y="541"/>
                  <a:pt x="872" y="551"/>
                  <a:pt x="868" y="560"/>
                </a:cubicBezTo>
                <a:cubicBezTo>
                  <a:pt x="864" y="570"/>
                  <a:pt x="858" y="579"/>
                  <a:pt x="851" y="586"/>
                </a:cubicBezTo>
                <a:cubicBezTo>
                  <a:pt x="843" y="594"/>
                  <a:pt x="835" y="599"/>
                  <a:pt x="825" y="603"/>
                </a:cubicBezTo>
                <a:cubicBezTo>
                  <a:pt x="815" y="607"/>
                  <a:pt x="805" y="609"/>
                  <a:pt x="795" y="609"/>
                </a:cubicBezTo>
                <a:lnTo>
                  <a:pt x="79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39" y="599"/>
                  <a:pt x="31" y="594"/>
                  <a:pt x="23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 txBox="1"/>
          <p:nvPr/>
        </p:nvSpPr>
        <p:spPr>
          <a:xfrm>
            <a:off x="2721600" y="1744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 txBox="1"/>
          <p:nvPr/>
        </p:nvSpPr>
        <p:spPr>
          <a:xfrm>
            <a:off x="2828520" y="174708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04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 txBox="1"/>
          <p:nvPr/>
        </p:nvSpPr>
        <p:spPr>
          <a:xfrm>
            <a:off x="3090600" y="1744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 txBox="1"/>
          <p:nvPr/>
        </p:nvSpPr>
        <p:spPr>
          <a:xfrm>
            <a:off x="3140640" y="171144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3390840" y="1733400"/>
            <a:ext cx="314640" cy="219240"/>
          </a:xfrm>
          <a:custGeom>
            <a:avLst/>
            <a:gdLst/>
            <a:ahLst/>
            <a:rect l="0" t="0" r="r" b="b"/>
            <a:pathLst>
              <a:path w="874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794" y="0"/>
                </a:lnTo>
                <a:cubicBezTo>
                  <a:pt x="805" y="0"/>
                  <a:pt x="815" y="2"/>
                  <a:pt x="825" y="6"/>
                </a:cubicBezTo>
                <a:cubicBezTo>
                  <a:pt x="835" y="10"/>
                  <a:pt x="843" y="16"/>
                  <a:pt x="851" y="23"/>
                </a:cubicBezTo>
                <a:cubicBezTo>
                  <a:pt x="858" y="31"/>
                  <a:pt x="864" y="39"/>
                  <a:pt x="868" y="49"/>
                </a:cubicBezTo>
                <a:cubicBezTo>
                  <a:pt x="872" y="59"/>
                  <a:pt x="874" y="69"/>
                  <a:pt x="874" y="79"/>
                </a:cubicBezTo>
                <a:lnTo>
                  <a:pt x="874" y="530"/>
                </a:lnTo>
                <a:cubicBezTo>
                  <a:pt x="874" y="541"/>
                  <a:pt x="872" y="551"/>
                  <a:pt x="868" y="560"/>
                </a:cubicBezTo>
                <a:cubicBezTo>
                  <a:pt x="864" y="570"/>
                  <a:pt x="858" y="579"/>
                  <a:pt x="851" y="586"/>
                </a:cubicBezTo>
                <a:cubicBezTo>
                  <a:pt x="843" y="594"/>
                  <a:pt x="835" y="599"/>
                  <a:pt x="825" y="603"/>
                </a:cubicBezTo>
                <a:cubicBezTo>
                  <a:pt x="815" y="607"/>
                  <a:pt x="805" y="609"/>
                  <a:pt x="794" y="609"/>
                </a:cubicBezTo>
                <a:lnTo>
                  <a:pt x="79" y="609"/>
                </a:lnTo>
                <a:cubicBezTo>
                  <a:pt x="69" y="609"/>
                  <a:pt x="58" y="607"/>
                  <a:pt x="49" y="603"/>
                </a:cubicBezTo>
                <a:cubicBezTo>
                  <a:pt x="39" y="599"/>
                  <a:pt x="30" y="594"/>
                  <a:pt x="23" y="586"/>
                </a:cubicBezTo>
                <a:cubicBezTo>
                  <a:pt x="15" y="579"/>
                  <a:pt x="10" y="570"/>
                  <a:pt x="6" y="560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 txBox="1"/>
          <p:nvPr/>
        </p:nvSpPr>
        <p:spPr>
          <a:xfrm>
            <a:off x="3340440" y="1744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 txBox="1"/>
          <p:nvPr/>
        </p:nvSpPr>
        <p:spPr>
          <a:xfrm>
            <a:off x="3447720" y="174708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05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 txBox="1"/>
          <p:nvPr/>
        </p:nvSpPr>
        <p:spPr>
          <a:xfrm>
            <a:off x="3709800" y="1744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 txBox="1"/>
          <p:nvPr/>
        </p:nvSpPr>
        <p:spPr>
          <a:xfrm>
            <a:off x="3759840" y="171144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4009680" y="1733400"/>
            <a:ext cx="315000" cy="219240"/>
          </a:xfrm>
          <a:custGeom>
            <a:avLst/>
            <a:gdLst/>
            <a:ahLst/>
            <a:rect l="0" t="0" r="r" b="b"/>
            <a:pathLst>
              <a:path w="875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795" y="0"/>
                </a:lnTo>
                <a:cubicBezTo>
                  <a:pt x="806" y="0"/>
                  <a:pt x="816" y="2"/>
                  <a:pt x="826" y="6"/>
                </a:cubicBezTo>
                <a:cubicBezTo>
                  <a:pt x="835" y="10"/>
                  <a:pt x="844" y="16"/>
                  <a:pt x="851" y="23"/>
                </a:cubicBezTo>
                <a:cubicBezTo>
                  <a:pt x="859" y="31"/>
                  <a:pt x="865" y="39"/>
                  <a:pt x="869" y="49"/>
                </a:cubicBezTo>
                <a:cubicBezTo>
                  <a:pt x="873" y="59"/>
                  <a:pt x="875" y="69"/>
                  <a:pt x="875" y="79"/>
                </a:cubicBezTo>
                <a:lnTo>
                  <a:pt x="875" y="530"/>
                </a:lnTo>
                <a:cubicBezTo>
                  <a:pt x="875" y="541"/>
                  <a:pt x="873" y="551"/>
                  <a:pt x="869" y="560"/>
                </a:cubicBezTo>
                <a:cubicBezTo>
                  <a:pt x="865" y="570"/>
                  <a:pt x="859" y="579"/>
                  <a:pt x="851" y="586"/>
                </a:cubicBezTo>
                <a:cubicBezTo>
                  <a:pt x="844" y="594"/>
                  <a:pt x="835" y="599"/>
                  <a:pt x="826" y="603"/>
                </a:cubicBezTo>
                <a:cubicBezTo>
                  <a:pt x="816" y="607"/>
                  <a:pt x="806" y="609"/>
                  <a:pt x="795" y="609"/>
                </a:cubicBezTo>
                <a:lnTo>
                  <a:pt x="80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40" y="599"/>
                  <a:pt x="31" y="594"/>
                  <a:pt x="24" y="586"/>
                </a:cubicBezTo>
                <a:cubicBezTo>
                  <a:pt x="16" y="579"/>
                  <a:pt x="11" y="570"/>
                  <a:pt x="6" y="560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 txBox="1"/>
          <p:nvPr/>
        </p:nvSpPr>
        <p:spPr>
          <a:xfrm>
            <a:off x="3959640" y="1744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 txBox="1"/>
          <p:nvPr/>
        </p:nvSpPr>
        <p:spPr>
          <a:xfrm>
            <a:off x="4066920" y="174708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06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 txBox="1"/>
          <p:nvPr/>
        </p:nvSpPr>
        <p:spPr>
          <a:xfrm>
            <a:off x="4328640" y="1744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 txBox="1"/>
          <p:nvPr/>
        </p:nvSpPr>
        <p:spPr>
          <a:xfrm>
            <a:off x="4378680" y="171144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5543280" y="1733400"/>
            <a:ext cx="314640" cy="219240"/>
          </a:xfrm>
          <a:custGeom>
            <a:avLst/>
            <a:gdLst/>
            <a:ahLst/>
            <a:rect l="0" t="0" r="r" b="b"/>
            <a:pathLst>
              <a:path w="874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795" y="0"/>
                </a:lnTo>
                <a:cubicBezTo>
                  <a:pt x="806" y="0"/>
                  <a:pt x="816" y="2"/>
                  <a:pt x="825" y="6"/>
                </a:cubicBezTo>
                <a:cubicBezTo>
                  <a:pt x="835" y="10"/>
                  <a:pt x="844" y="16"/>
                  <a:pt x="851" y="23"/>
                </a:cubicBezTo>
                <a:cubicBezTo>
                  <a:pt x="859" y="31"/>
                  <a:pt x="864" y="39"/>
                  <a:pt x="868" y="49"/>
                </a:cubicBezTo>
                <a:cubicBezTo>
                  <a:pt x="872" y="59"/>
                  <a:pt x="874" y="69"/>
                  <a:pt x="874" y="79"/>
                </a:cubicBezTo>
                <a:lnTo>
                  <a:pt x="874" y="530"/>
                </a:lnTo>
                <a:cubicBezTo>
                  <a:pt x="874" y="541"/>
                  <a:pt x="872" y="551"/>
                  <a:pt x="868" y="560"/>
                </a:cubicBezTo>
                <a:cubicBezTo>
                  <a:pt x="864" y="570"/>
                  <a:pt x="859" y="579"/>
                  <a:pt x="851" y="586"/>
                </a:cubicBezTo>
                <a:cubicBezTo>
                  <a:pt x="844" y="594"/>
                  <a:pt x="835" y="599"/>
                  <a:pt x="825" y="603"/>
                </a:cubicBezTo>
                <a:cubicBezTo>
                  <a:pt x="816" y="607"/>
                  <a:pt x="806" y="609"/>
                  <a:pt x="795" y="609"/>
                </a:cubicBezTo>
                <a:lnTo>
                  <a:pt x="80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40" y="599"/>
                  <a:pt x="31" y="594"/>
                  <a:pt x="23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 txBox="1"/>
          <p:nvPr/>
        </p:nvSpPr>
        <p:spPr>
          <a:xfrm>
            <a:off x="4578840" y="1744920"/>
            <a:ext cx="962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responder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 txBox="1"/>
          <p:nvPr/>
        </p:nvSpPr>
        <p:spPr>
          <a:xfrm>
            <a:off x="5599800" y="174708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07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 txBox="1"/>
          <p:nvPr/>
        </p:nvSpPr>
        <p:spPr>
          <a:xfrm>
            <a:off x="5861520" y="1744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914040" y="2809800"/>
            <a:ext cx="10363680" cy="714600"/>
          </a:xfrm>
          <a:custGeom>
            <a:avLst/>
            <a:gdLst/>
            <a:ahLst/>
            <a:rect l="0" t="0" r="r" b="b"/>
            <a:pathLst>
              <a:path w="28788" h="1985">
                <a:moveTo>
                  <a:pt x="0" y="0"/>
                </a:moveTo>
                <a:lnTo>
                  <a:pt x="28788" y="0"/>
                </a:lnTo>
                <a:lnTo>
                  <a:pt x="28788" y="1985"/>
                </a:lnTo>
                <a:lnTo>
                  <a:pt x="0" y="19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914040" y="2809800"/>
            <a:ext cx="29160" cy="714600"/>
          </a:xfrm>
          <a:custGeom>
            <a:avLst/>
            <a:gdLst/>
            <a:ahLst/>
            <a:rect l="0" t="0" r="r" b="b"/>
            <a:pathLst>
              <a:path w="81" h="1985">
                <a:moveTo>
                  <a:pt x="0" y="0"/>
                </a:moveTo>
                <a:lnTo>
                  <a:pt x="81" y="0"/>
                </a:lnTo>
                <a:lnTo>
                  <a:pt x="81" y="1985"/>
                </a:lnTo>
                <a:lnTo>
                  <a:pt x="0" y="19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 txBox="1"/>
          <p:nvPr/>
        </p:nvSpPr>
        <p:spPr>
          <a:xfrm>
            <a:off x="914400" y="2183040"/>
            <a:ext cx="91688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El objetivo no es "que el modelo conduzca perfecto" — es </a:t>
            </a:r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vivir por qué es difícil</a:t>
            </a:r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. Ante dudas, el </a:t>
            </a:r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foro del máster</a:t>
            </a:r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 txBox="1"/>
          <p:nvPr/>
        </p:nvSpPr>
        <p:spPr>
          <a:xfrm>
            <a:off x="1219320" y="2916720"/>
            <a:ext cx="99903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"Imitar foto a foto es fácil. El problema es que, cuando conduces tú, cada pequeño error te lleva a un sitio que no viste — y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 txBox="1"/>
          <p:nvPr/>
        </p:nvSpPr>
        <p:spPr>
          <a:xfrm>
            <a:off x="1219320" y="3211920"/>
            <a:ext cx="4402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ahí fallas más. Ese es el muro del Behavioral Cloning."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 txBox="1"/>
          <p:nvPr/>
        </p:nvSpPr>
        <p:spPr>
          <a:xfrm>
            <a:off x="914400" y="975240"/>
            <a:ext cx="39981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PARA COMENZAR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CP4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 txBox="1"/>
          <p:nvPr/>
        </p:nvSpPr>
        <p:spPr>
          <a:xfrm>
            <a:off x="1040400" y="6517080"/>
            <a:ext cx="12362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Behavioral Cloning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 txBox="1"/>
          <p:nvPr/>
        </p:nvSpPr>
        <p:spPr>
          <a:xfrm>
            <a:off x="22759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 txBox="1"/>
          <p:nvPr/>
        </p:nvSpPr>
        <p:spPr>
          <a:xfrm>
            <a:off x="231840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 txBox="1"/>
          <p:nvPr/>
        </p:nvSpPr>
        <p:spPr>
          <a:xfrm>
            <a:off x="321732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 txBox="1"/>
          <p:nvPr/>
        </p:nvSpPr>
        <p:spPr>
          <a:xfrm>
            <a:off x="325944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17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8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LibreOffice/26.2.4.2$MacOSX_AARCH64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