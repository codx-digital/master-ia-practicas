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914400" y="2945160"/>
            <a:ext cx="16657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Máster en IA — AIC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914400" y="3231000"/>
            <a:ext cx="35053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Módulo: IA Aplicada al Vehículo Autónomo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4425840" y="323676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4481280" y="3231000"/>
            <a:ext cx="5403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2026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914400" y="975240"/>
            <a:ext cx="948096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REINFORCEMENT LEARNING: APRENDER A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914400" y="1594440"/>
            <a:ext cx="563292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CONDUCIR EXPLORANDO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914400" y="2354400"/>
            <a:ext cx="172368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Caso Práctico 5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2632320" y="236196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B830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2701080" y="2354400"/>
            <a:ext cx="191988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Dosier del alumno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CP5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1040400" y="6517080"/>
            <a:ext cx="1227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RL en highway-env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2267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2309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3208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3250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6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685800" y="1325880"/>
            <a:ext cx="10581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 este quinto y último caso práctico entrenará un agente de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Reinforcement Learning (RL)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que aprende a conducir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explorando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685800" y="1611720"/>
            <a:ext cx="106844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por ensayo y error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— no imitando a un experto (eso fue CP4). Vivirá los puntos dolorosos clásicos del RL: la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ineficiencia de datos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685800" y="1897200"/>
            <a:ext cx="6135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y el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reward hacking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(cuando el agente "hace trampa" con la recompensa).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685800" y="2345040"/>
            <a:ext cx="10558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Está pensado para realizarse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sin conocimientos previos de programación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 El ordenador ya se preparó en CP1; aquí se reutiliza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685440" y="3257280"/>
            <a:ext cx="10820880" cy="628920"/>
          </a:xfrm>
          <a:custGeom>
            <a:avLst/>
            <a:gdLst/>
            <a:ahLst/>
            <a:rect l="0" t="0" r="r" b="b"/>
            <a:pathLst>
              <a:path w="30058" h="1747">
                <a:moveTo>
                  <a:pt x="0" y="0"/>
                </a:moveTo>
                <a:lnTo>
                  <a:pt x="30058" y="0"/>
                </a:lnTo>
                <a:lnTo>
                  <a:pt x="30058" y="1747"/>
                </a:lnTo>
                <a:lnTo>
                  <a:pt x="0" y="1747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685440" y="3257280"/>
            <a:ext cx="29160" cy="628920"/>
          </a:xfrm>
          <a:custGeom>
            <a:avLst/>
            <a:gdLst/>
            <a:ahLst/>
            <a:rect l="0" t="0" r="r" b="b"/>
            <a:pathLst>
              <a:path w="81" h="1747">
                <a:moveTo>
                  <a:pt x="0" y="0"/>
                </a:moveTo>
                <a:lnTo>
                  <a:pt x="81" y="0"/>
                </a:lnTo>
                <a:lnTo>
                  <a:pt x="81" y="1747"/>
                </a:lnTo>
                <a:lnTo>
                  <a:pt x="0" y="174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1009440" y="3323880"/>
            <a:ext cx="200520" cy="200520"/>
          </a:xfrm>
          <a:custGeom>
            <a:avLst/>
            <a:gdLst/>
            <a:ahLst/>
            <a:rect l="0" t="0" r="r" b="b"/>
            <a:pathLst>
              <a:path w="557" h="557">
                <a:moveTo>
                  <a:pt x="557" y="278"/>
                </a:moveTo>
                <a:cubicBezTo>
                  <a:pt x="557" y="297"/>
                  <a:pt x="555" y="315"/>
                  <a:pt x="551" y="332"/>
                </a:cubicBezTo>
                <a:cubicBezTo>
                  <a:pt x="548" y="350"/>
                  <a:pt x="543" y="368"/>
                  <a:pt x="536" y="385"/>
                </a:cubicBezTo>
                <a:cubicBezTo>
                  <a:pt x="529" y="401"/>
                  <a:pt x="520" y="417"/>
                  <a:pt x="510" y="433"/>
                </a:cubicBezTo>
                <a:cubicBezTo>
                  <a:pt x="500" y="448"/>
                  <a:pt x="488" y="462"/>
                  <a:pt x="475" y="475"/>
                </a:cubicBezTo>
                <a:cubicBezTo>
                  <a:pt x="462" y="489"/>
                  <a:pt x="448" y="500"/>
                  <a:pt x="433" y="510"/>
                </a:cubicBezTo>
                <a:cubicBezTo>
                  <a:pt x="418" y="520"/>
                  <a:pt x="402" y="529"/>
                  <a:pt x="385" y="536"/>
                </a:cubicBezTo>
                <a:cubicBezTo>
                  <a:pt x="368" y="543"/>
                  <a:pt x="351" y="548"/>
                  <a:pt x="333" y="552"/>
                </a:cubicBezTo>
                <a:cubicBezTo>
                  <a:pt x="315" y="555"/>
                  <a:pt x="297" y="557"/>
                  <a:pt x="279" y="557"/>
                </a:cubicBezTo>
                <a:cubicBezTo>
                  <a:pt x="261" y="557"/>
                  <a:pt x="242" y="555"/>
                  <a:pt x="224" y="552"/>
                </a:cubicBezTo>
                <a:cubicBezTo>
                  <a:pt x="206" y="548"/>
                  <a:pt x="188" y="543"/>
                  <a:pt x="172" y="536"/>
                </a:cubicBezTo>
                <a:cubicBezTo>
                  <a:pt x="155" y="529"/>
                  <a:pt x="139" y="520"/>
                  <a:pt x="124" y="510"/>
                </a:cubicBezTo>
                <a:cubicBezTo>
                  <a:pt x="108" y="500"/>
                  <a:pt x="94" y="489"/>
                  <a:pt x="81" y="475"/>
                </a:cubicBezTo>
                <a:cubicBezTo>
                  <a:pt x="69" y="462"/>
                  <a:pt x="57" y="448"/>
                  <a:pt x="47" y="433"/>
                </a:cubicBezTo>
                <a:cubicBezTo>
                  <a:pt x="37" y="417"/>
                  <a:pt x="28" y="401"/>
                  <a:pt x="21" y="385"/>
                </a:cubicBezTo>
                <a:cubicBezTo>
                  <a:pt x="14" y="368"/>
                  <a:pt x="9" y="350"/>
                  <a:pt x="5" y="332"/>
                </a:cubicBezTo>
                <a:cubicBezTo>
                  <a:pt x="2" y="315"/>
                  <a:pt x="0" y="297"/>
                  <a:pt x="0" y="278"/>
                </a:cubicBezTo>
                <a:cubicBezTo>
                  <a:pt x="0" y="260"/>
                  <a:pt x="2" y="242"/>
                  <a:pt x="5" y="224"/>
                </a:cubicBezTo>
                <a:cubicBezTo>
                  <a:pt x="9" y="206"/>
                  <a:pt x="14" y="189"/>
                  <a:pt x="21" y="172"/>
                </a:cubicBezTo>
                <a:cubicBezTo>
                  <a:pt x="28" y="155"/>
                  <a:pt x="37" y="139"/>
                  <a:pt x="47" y="124"/>
                </a:cubicBezTo>
                <a:cubicBezTo>
                  <a:pt x="57" y="109"/>
                  <a:pt x="69" y="95"/>
                  <a:pt x="81" y="82"/>
                </a:cubicBezTo>
                <a:cubicBezTo>
                  <a:pt x="94" y="69"/>
                  <a:pt x="108" y="57"/>
                  <a:pt x="124" y="47"/>
                </a:cubicBezTo>
                <a:cubicBezTo>
                  <a:pt x="139" y="37"/>
                  <a:pt x="155" y="29"/>
                  <a:pt x="172" y="22"/>
                </a:cubicBezTo>
                <a:cubicBezTo>
                  <a:pt x="188" y="15"/>
                  <a:pt x="206" y="9"/>
                  <a:pt x="224" y="6"/>
                </a:cubicBezTo>
                <a:cubicBezTo>
                  <a:pt x="242" y="2"/>
                  <a:pt x="261" y="0"/>
                  <a:pt x="279" y="0"/>
                </a:cubicBezTo>
                <a:cubicBezTo>
                  <a:pt x="297" y="0"/>
                  <a:pt x="315" y="2"/>
                  <a:pt x="333" y="6"/>
                </a:cubicBezTo>
                <a:cubicBezTo>
                  <a:pt x="351" y="9"/>
                  <a:pt x="368" y="15"/>
                  <a:pt x="385" y="22"/>
                </a:cubicBezTo>
                <a:cubicBezTo>
                  <a:pt x="402" y="29"/>
                  <a:pt x="418" y="37"/>
                  <a:pt x="433" y="47"/>
                </a:cubicBezTo>
                <a:cubicBezTo>
                  <a:pt x="448" y="57"/>
                  <a:pt x="462" y="69"/>
                  <a:pt x="475" y="82"/>
                </a:cubicBezTo>
                <a:cubicBezTo>
                  <a:pt x="488" y="95"/>
                  <a:pt x="500" y="109"/>
                  <a:pt x="510" y="124"/>
                </a:cubicBezTo>
                <a:cubicBezTo>
                  <a:pt x="520" y="139"/>
                  <a:pt x="529" y="155"/>
                  <a:pt x="536" y="172"/>
                </a:cubicBezTo>
                <a:cubicBezTo>
                  <a:pt x="543" y="189"/>
                  <a:pt x="548" y="206"/>
                  <a:pt x="551" y="224"/>
                </a:cubicBezTo>
                <a:cubicBezTo>
                  <a:pt x="555" y="242"/>
                  <a:pt x="557" y="260"/>
                  <a:pt x="557" y="278"/>
                </a:cubicBez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1031760" y="3346200"/>
            <a:ext cx="155880" cy="155880"/>
          </a:xfrm>
          <a:custGeom>
            <a:avLst/>
            <a:gdLst/>
            <a:ahLst/>
            <a:rect l="0" t="0" r="r" b="b"/>
            <a:pathLst>
              <a:path w="433" h="433">
                <a:moveTo>
                  <a:pt x="433" y="216"/>
                </a:moveTo>
                <a:cubicBezTo>
                  <a:pt x="433" y="230"/>
                  <a:pt x="432" y="245"/>
                  <a:pt x="429" y="258"/>
                </a:cubicBezTo>
                <a:cubicBezTo>
                  <a:pt x="426" y="272"/>
                  <a:pt x="422" y="286"/>
                  <a:pt x="417" y="299"/>
                </a:cubicBezTo>
                <a:cubicBezTo>
                  <a:pt x="411" y="312"/>
                  <a:pt x="404" y="325"/>
                  <a:pt x="397" y="336"/>
                </a:cubicBezTo>
                <a:cubicBezTo>
                  <a:pt x="389" y="348"/>
                  <a:pt x="380" y="359"/>
                  <a:pt x="369" y="369"/>
                </a:cubicBezTo>
                <a:cubicBezTo>
                  <a:pt x="359" y="379"/>
                  <a:pt x="348" y="388"/>
                  <a:pt x="336" y="396"/>
                </a:cubicBezTo>
                <a:cubicBezTo>
                  <a:pt x="324" y="404"/>
                  <a:pt x="312" y="410"/>
                  <a:pt x="299" y="416"/>
                </a:cubicBezTo>
                <a:cubicBezTo>
                  <a:pt x="285" y="421"/>
                  <a:pt x="272" y="426"/>
                  <a:pt x="258" y="429"/>
                </a:cubicBezTo>
                <a:cubicBezTo>
                  <a:pt x="244" y="432"/>
                  <a:pt x="230" y="433"/>
                  <a:pt x="216" y="433"/>
                </a:cubicBezTo>
                <a:cubicBezTo>
                  <a:pt x="202" y="433"/>
                  <a:pt x="188" y="432"/>
                  <a:pt x="174" y="429"/>
                </a:cubicBezTo>
                <a:cubicBezTo>
                  <a:pt x="160" y="426"/>
                  <a:pt x="146" y="421"/>
                  <a:pt x="133" y="416"/>
                </a:cubicBezTo>
                <a:cubicBezTo>
                  <a:pt x="120" y="410"/>
                  <a:pt x="108" y="404"/>
                  <a:pt x="96" y="396"/>
                </a:cubicBezTo>
                <a:cubicBezTo>
                  <a:pt x="84" y="388"/>
                  <a:pt x="73" y="379"/>
                  <a:pt x="63" y="369"/>
                </a:cubicBezTo>
                <a:cubicBezTo>
                  <a:pt x="53" y="359"/>
                  <a:pt x="44" y="348"/>
                  <a:pt x="36" y="336"/>
                </a:cubicBezTo>
                <a:cubicBezTo>
                  <a:pt x="28" y="325"/>
                  <a:pt x="22" y="312"/>
                  <a:pt x="16" y="299"/>
                </a:cubicBezTo>
                <a:cubicBezTo>
                  <a:pt x="11" y="286"/>
                  <a:pt x="7" y="272"/>
                  <a:pt x="4" y="258"/>
                </a:cubicBezTo>
                <a:cubicBezTo>
                  <a:pt x="1" y="245"/>
                  <a:pt x="0" y="230"/>
                  <a:pt x="0" y="216"/>
                </a:cubicBezTo>
                <a:cubicBezTo>
                  <a:pt x="0" y="202"/>
                  <a:pt x="1" y="188"/>
                  <a:pt x="4" y="174"/>
                </a:cubicBezTo>
                <a:cubicBezTo>
                  <a:pt x="7" y="160"/>
                  <a:pt x="11" y="147"/>
                  <a:pt x="16" y="134"/>
                </a:cubicBezTo>
                <a:cubicBezTo>
                  <a:pt x="22" y="120"/>
                  <a:pt x="28" y="108"/>
                  <a:pt x="36" y="96"/>
                </a:cubicBezTo>
                <a:cubicBezTo>
                  <a:pt x="44" y="84"/>
                  <a:pt x="53" y="74"/>
                  <a:pt x="63" y="63"/>
                </a:cubicBezTo>
                <a:cubicBezTo>
                  <a:pt x="73" y="53"/>
                  <a:pt x="84" y="44"/>
                  <a:pt x="96" y="37"/>
                </a:cubicBezTo>
                <a:cubicBezTo>
                  <a:pt x="108" y="29"/>
                  <a:pt x="120" y="22"/>
                  <a:pt x="133" y="17"/>
                </a:cubicBezTo>
                <a:cubicBezTo>
                  <a:pt x="146" y="11"/>
                  <a:pt x="160" y="7"/>
                  <a:pt x="174" y="4"/>
                </a:cubicBezTo>
                <a:cubicBezTo>
                  <a:pt x="188" y="2"/>
                  <a:pt x="202" y="0"/>
                  <a:pt x="216" y="0"/>
                </a:cubicBezTo>
                <a:cubicBezTo>
                  <a:pt x="230" y="0"/>
                  <a:pt x="244" y="2"/>
                  <a:pt x="258" y="4"/>
                </a:cubicBezTo>
                <a:cubicBezTo>
                  <a:pt x="272" y="7"/>
                  <a:pt x="285" y="11"/>
                  <a:pt x="299" y="17"/>
                </a:cubicBezTo>
                <a:cubicBezTo>
                  <a:pt x="312" y="22"/>
                  <a:pt x="324" y="29"/>
                  <a:pt x="336" y="37"/>
                </a:cubicBezTo>
                <a:cubicBezTo>
                  <a:pt x="348" y="44"/>
                  <a:pt x="359" y="53"/>
                  <a:pt x="369" y="63"/>
                </a:cubicBezTo>
                <a:cubicBezTo>
                  <a:pt x="380" y="74"/>
                  <a:pt x="389" y="84"/>
                  <a:pt x="397" y="96"/>
                </a:cubicBezTo>
                <a:cubicBezTo>
                  <a:pt x="404" y="108"/>
                  <a:pt x="411" y="120"/>
                  <a:pt x="417" y="134"/>
                </a:cubicBezTo>
                <a:cubicBezTo>
                  <a:pt x="422" y="147"/>
                  <a:pt x="426" y="160"/>
                  <a:pt x="429" y="174"/>
                </a:cubicBezTo>
                <a:cubicBezTo>
                  <a:pt x="432" y="188"/>
                  <a:pt x="433" y="202"/>
                  <a:pt x="433" y="216"/>
                </a:cubicBezTo>
                <a:close/>
              </a:path>
            </a:pathLst>
          </a:custGeom>
          <a:solidFill>
            <a:srgbClr val="E1E8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103760" y="3357360"/>
            <a:ext cx="11520" cy="72720"/>
          </a:xfrm>
          <a:custGeom>
            <a:avLst/>
            <a:gdLst/>
            <a:ahLst/>
            <a:rect l="0" t="0" r="r" b="b"/>
            <a:pathLst>
              <a:path w="32" h="202">
                <a:moveTo>
                  <a:pt x="32" y="186"/>
                </a:moveTo>
                <a:cubicBezTo>
                  <a:pt x="32" y="195"/>
                  <a:pt x="25" y="202"/>
                  <a:pt x="17" y="202"/>
                </a:cubicBezTo>
                <a:cubicBezTo>
                  <a:pt x="7" y="202"/>
                  <a:pt x="0" y="195"/>
                  <a:pt x="0" y="186"/>
                </a:cubicBezTo>
                <a:lnTo>
                  <a:pt x="0" y="15"/>
                </a:lnTo>
                <a:cubicBezTo>
                  <a:pt x="0" y="7"/>
                  <a:pt x="7" y="0"/>
                  <a:pt x="17" y="0"/>
                </a:cubicBezTo>
                <a:cubicBezTo>
                  <a:pt x="25" y="0"/>
                  <a:pt x="32" y="7"/>
                  <a:pt x="32" y="15"/>
                </a:cubicBezTo>
                <a:lnTo>
                  <a:pt x="32" y="186"/>
                </a:ln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1105200" y="3374640"/>
            <a:ext cx="36720" cy="54720"/>
          </a:xfrm>
          <a:custGeom>
            <a:avLst/>
            <a:gdLst/>
            <a:ahLst/>
            <a:rect l="0" t="0" r="r" b="b"/>
            <a:pathLst>
              <a:path w="102" h="152">
                <a:moveTo>
                  <a:pt x="94" y="2"/>
                </a:moveTo>
                <a:cubicBezTo>
                  <a:pt x="101" y="6"/>
                  <a:pt x="104" y="16"/>
                  <a:pt x="100" y="23"/>
                </a:cubicBezTo>
                <a:lnTo>
                  <a:pt x="29" y="144"/>
                </a:lnTo>
                <a:cubicBezTo>
                  <a:pt x="25" y="152"/>
                  <a:pt x="15" y="154"/>
                  <a:pt x="8" y="150"/>
                </a:cubicBezTo>
                <a:cubicBezTo>
                  <a:pt x="1" y="146"/>
                  <a:pt x="-2" y="136"/>
                  <a:pt x="2" y="129"/>
                </a:cubicBezTo>
                <a:lnTo>
                  <a:pt x="72" y="8"/>
                </a:lnTo>
                <a:cubicBezTo>
                  <a:pt x="76" y="0"/>
                  <a:pt x="87" y="-2"/>
                  <a:pt x="94" y="2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685800" y="2630880"/>
            <a:ext cx="26420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(con un entorno propio de CP5).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685440" y="10094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990720" y="3564360"/>
            <a:ext cx="87112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Duración estimada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~50–65 min. Sin GPU. 8 GB de RAM. El entrenamiento del agente tarda ~8–10 min.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7181640" y="981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685800" y="632520"/>
            <a:ext cx="23990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Alcance y requisitos previos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CP5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1040400" y="6517080"/>
            <a:ext cx="1227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RL en highway-env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2267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2309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3208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3250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4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4590720" y="1314360"/>
            <a:ext cx="1248120" cy="219240"/>
          </a:xfrm>
          <a:custGeom>
            <a:avLst/>
            <a:gdLst/>
            <a:ahLst/>
            <a:rect l="0" t="0" r="r" b="b"/>
            <a:pathLst>
              <a:path w="3467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3388" y="0"/>
                </a:lnTo>
                <a:cubicBezTo>
                  <a:pt x="3399" y="0"/>
                  <a:pt x="3409" y="2"/>
                  <a:pt x="3418" y="6"/>
                </a:cubicBezTo>
                <a:cubicBezTo>
                  <a:pt x="3428" y="10"/>
                  <a:pt x="3437" y="16"/>
                  <a:pt x="3444" y="23"/>
                </a:cubicBezTo>
                <a:cubicBezTo>
                  <a:pt x="3452" y="30"/>
                  <a:pt x="3457" y="39"/>
                  <a:pt x="3461" y="49"/>
                </a:cubicBezTo>
                <a:cubicBezTo>
                  <a:pt x="3465" y="58"/>
                  <a:pt x="3467" y="69"/>
                  <a:pt x="3467" y="79"/>
                </a:cubicBezTo>
                <a:lnTo>
                  <a:pt x="3467" y="530"/>
                </a:lnTo>
                <a:cubicBezTo>
                  <a:pt x="3467" y="540"/>
                  <a:pt x="3465" y="551"/>
                  <a:pt x="3461" y="560"/>
                </a:cubicBezTo>
                <a:cubicBezTo>
                  <a:pt x="3457" y="570"/>
                  <a:pt x="3452" y="579"/>
                  <a:pt x="3444" y="586"/>
                </a:cubicBezTo>
                <a:cubicBezTo>
                  <a:pt x="3437" y="593"/>
                  <a:pt x="3428" y="599"/>
                  <a:pt x="3418" y="603"/>
                </a:cubicBezTo>
                <a:cubicBezTo>
                  <a:pt x="3409" y="607"/>
                  <a:pt x="3399" y="609"/>
                  <a:pt x="3388" y="609"/>
                </a:cubicBezTo>
                <a:lnTo>
                  <a:pt x="80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40" y="599"/>
                  <a:pt x="31" y="593"/>
                  <a:pt x="24" y="586"/>
                </a:cubicBezTo>
                <a:cubicBezTo>
                  <a:pt x="16" y="579"/>
                  <a:pt x="10" y="570"/>
                  <a:pt x="6" y="560"/>
                </a:cubicBezTo>
                <a:cubicBezTo>
                  <a:pt x="2" y="551"/>
                  <a:pt x="0" y="540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685800" y="1325880"/>
            <a:ext cx="39020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Es el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complemento de CP4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mismo simulador (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4651920" y="1328040"/>
            <a:ext cx="113112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highway-env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5835240" y="1325880"/>
            <a:ext cx="56484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),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paradigma opuesto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 En vez de imitar, el agente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prueba acciones y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685800" y="1611720"/>
            <a:ext cx="23180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aprende de la recompensa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860400" y="2097360"/>
            <a:ext cx="4978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Explorar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el entorno (observación, acciones, recompensa).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860760" y="2440440"/>
            <a:ext cx="49017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2.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Baselines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un agente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aleatorio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y uno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por reglas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simples.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4495680" y="2761920"/>
            <a:ext cx="1857600" cy="219600"/>
          </a:xfrm>
          <a:custGeom>
            <a:avLst/>
            <a:gdLst/>
            <a:ahLst/>
            <a:rect l="0" t="0" r="r" b="b"/>
            <a:pathLst>
              <a:path w="5160" h="610">
                <a:moveTo>
                  <a:pt x="0" y="530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5081" y="0"/>
                </a:lnTo>
                <a:cubicBezTo>
                  <a:pt x="5091" y="0"/>
                  <a:pt x="5101" y="2"/>
                  <a:pt x="5111" y="6"/>
                </a:cubicBezTo>
                <a:cubicBezTo>
                  <a:pt x="5121" y="10"/>
                  <a:pt x="5130" y="16"/>
                  <a:pt x="5137" y="24"/>
                </a:cubicBezTo>
                <a:cubicBezTo>
                  <a:pt x="5144" y="31"/>
                  <a:pt x="5150" y="40"/>
                  <a:pt x="5154" y="49"/>
                </a:cubicBezTo>
                <a:cubicBezTo>
                  <a:pt x="5158" y="59"/>
                  <a:pt x="5160" y="69"/>
                  <a:pt x="5160" y="80"/>
                </a:cubicBezTo>
                <a:lnTo>
                  <a:pt x="5160" y="530"/>
                </a:lnTo>
                <a:cubicBezTo>
                  <a:pt x="5160" y="541"/>
                  <a:pt x="5158" y="551"/>
                  <a:pt x="5154" y="561"/>
                </a:cubicBezTo>
                <a:cubicBezTo>
                  <a:pt x="5150" y="571"/>
                  <a:pt x="5144" y="579"/>
                  <a:pt x="5137" y="587"/>
                </a:cubicBezTo>
                <a:cubicBezTo>
                  <a:pt x="5130" y="594"/>
                  <a:pt x="5121" y="600"/>
                  <a:pt x="5111" y="604"/>
                </a:cubicBezTo>
                <a:cubicBezTo>
                  <a:pt x="5101" y="608"/>
                  <a:pt x="5091" y="610"/>
                  <a:pt x="5081" y="610"/>
                </a:cubicBezTo>
                <a:lnTo>
                  <a:pt x="79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39" y="600"/>
                  <a:pt x="31" y="594"/>
                  <a:pt x="23" y="587"/>
                </a:cubicBezTo>
                <a:cubicBezTo>
                  <a:pt x="16" y="579"/>
                  <a:pt x="10" y="571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860760" y="2773800"/>
            <a:ext cx="36277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3.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Entrenar un DQN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(Deep Q-Network) con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4552200" y="2775960"/>
            <a:ext cx="17478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stable-baselines3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6349320" y="277380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860760" y="3116520"/>
            <a:ext cx="49910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4.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Evaluar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sobre 50 episodios y comparar con los baselines.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685440" y="4124160"/>
            <a:ext cx="10820880" cy="429120"/>
          </a:xfrm>
          <a:custGeom>
            <a:avLst/>
            <a:gdLst/>
            <a:ahLst/>
            <a:rect l="0" t="0" r="r" b="b"/>
            <a:pathLst>
              <a:path w="30058" h="1192">
                <a:moveTo>
                  <a:pt x="0" y="0"/>
                </a:moveTo>
                <a:lnTo>
                  <a:pt x="30058" y="0"/>
                </a:lnTo>
                <a:lnTo>
                  <a:pt x="3005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685440" y="4124160"/>
            <a:ext cx="29160" cy="429120"/>
          </a:xfrm>
          <a:custGeom>
            <a:avLst/>
            <a:gdLst/>
            <a:ahLst/>
            <a:rect l="0" t="0" r="r" b="b"/>
            <a:pathLst>
              <a:path w="81" h="1192">
                <a:moveTo>
                  <a:pt x="0" y="0"/>
                </a:moveTo>
                <a:lnTo>
                  <a:pt x="81" y="0"/>
                </a:lnTo>
                <a:lnTo>
                  <a:pt x="81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860760" y="3459600"/>
            <a:ext cx="62319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5.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Reward shaping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cambiar la recompensa y descubrir el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reward hacking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685440" y="10094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990720" y="4231080"/>
            <a:ext cx="73375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La pregunta del caso: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¿por qué la industria casi nunca despliega RL puro en un coche?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7181640" y="981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685800" y="632520"/>
            <a:ext cx="17791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Objeto de la práctica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CP5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1040400" y="6517080"/>
            <a:ext cx="1227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RL en highway-env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2267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2309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3208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3250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6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685800" y="1325880"/>
            <a:ext cx="3898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Al finalizar la práctica, el alumno será capaz de: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860400" y="1811520"/>
            <a:ext cx="4915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1. Entender la diferencia entre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imitar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(CP4) y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explorar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(RL).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860760" y="2144880"/>
            <a:ext cx="4884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2. Entrenar un agente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DQN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y leer su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curva de aprendizaje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860760" y="2487960"/>
            <a:ext cx="50684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3. Comparar RL frente a baselines simples (aleatorio, reglas).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860760" y="2830680"/>
            <a:ext cx="62942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4. Reconocer la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ineficiencia de datos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del RL (cuánta "experiencia" necesita).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685440" y="10094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860760" y="3164040"/>
            <a:ext cx="9737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5. Provocar y detectar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reward hacking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cómo una recompensa mal diseñada produce un comportamiento indeseado.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7181640" y="981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685800" y="632520"/>
            <a:ext cx="20797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Objetivos de aprendizaje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CP5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1040400" y="6517080"/>
            <a:ext cx="1227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RL en highway-env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2267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2309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3208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3250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8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695160" y="1371240"/>
            <a:ext cx="2029320" cy="362520"/>
          </a:xfrm>
          <a:custGeom>
            <a:avLst/>
            <a:gdLst/>
            <a:ahLst/>
            <a:rect l="0" t="0" r="r" b="b"/>
            <a:pathLst>
              <a:path w="5637" h="1007">
                <a:moveTo>
                  <a:pt x="0" y="0"/>
                </a:moveTo>
                <a:lnTo>
                  <a:pt x="5637" y="0"/>
                </a:lnTo>
                <a:lnTo>
                  <a:pt x="563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2724120" y="1371240"/>
            <a:ext cx="3171960" cy="362520"/>
          </a:xfrm>
          <a:custGeom>
            <a:avLst/>
            <a:gdLst/>
            <a:ahLst/>
            <a:rect l="0" t="0" r="r" b="b"/>
            <a:pathLst>
              <a:path w="8811" h="1007">
                <a:moveTo>
                  <a:pt x="0" y="0"/>
                </a:moveTo>
                <a:lnTo>
                  <a:pt x="8811" y="0"/>
                </a:lnTo>
                <a:lnTo>
                  <a:pt x="8811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5895720" y="1371240"/>
            <a:ext cx="895680" cy="362520"/>
          </a:xfrm>
          <a:custGeom>
            <a:avLst/>
            <a:gdLst/>
            <a:ahLst/>
            <a:rect l="0" t="0" r="r" b="b"/>
            <a:pathLst>
              <a:path w="2488" h="1007">
                <a:moveTo>
                  <a:pt x="0" y="0"/>
                </a:moveTo>
                <a:lnTo>
                  <a:pt x="2488" y="0"/>
                </a:lnTo>
                <a:lnTo>
                  <a:pt x="248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695160" y="1371240"/>
            <a:ext cx="2029320" cy="362520"/>
          </a:xfrm>
          <a:custGeom>
            <a:avLst/>
            <a:gdLst/>
            <a:ahLst/>
            <a:rect l="0" t="0" r="r" b="b"/>
            <a:pathLst>
              <a:path w="5637" h="1007">
                <a:moveTo>
                  <a:pt x="0" y="0"/>
                </a:moveTo>
                <a:lnTo>
                  <a:pt x="5637" y="0"/>
                </a:lnTo>
                <a:lnTo>
                  <a:pt x="563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2724120" y="1371240"/>
            <a:ext cx="3171960" cy="362520"/>
          </a:xfrm>
          <a:custGeom>
            <a:avLst/>
            <a:gdLst/>
            <a:ahLst/>
            <a:rect l="0" t="0" r="r" b="b"/>
            <a:pathLst>
              <a:path w="8811" h="1007">
                <a:moveTo>
                  <a:pt x="0" y="0"/>
                </a:moveTo>
                <a:lnTo>
                  <a:pt x="8811" y="0"/>
                </a:lnTo>
                <a:lnTo>
                  <a:pt x="8811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5895720" y="1371240"/>
            <a:ext cx="895680" cy="362520"/>
          </a:xfrm>
          <a:custGeom>
            <a:avLst/>
            <a:gdLst/>
            <a:ahLst/>
            <a:rect l="0" t="0" r="r" b="b"/>
            <a:pathLst>
              <a:path w="2488" h="1007">
                <a:moveTo>
                  <a:pt x="0" y="0"/>
                </a:moveTo>
                <a:lnTo>
                  <a:pt x="2488" y="0"/>
                </a:lnTo>
                <a:lnTo>
                  <a:pt x="248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695160" y="1733400"/>
            <a:ext cx="2029320" cy="371880"/>
          </a:xfrm>
          <a:custGeom>
            <a:avLst/>
            <a:gdLst/>
            <a:ahLst/>
            <a:rect l="0" t="0" r="r" b="b"/>
            <a:pathLst>
              <a:path w="5637" h="1033">
                <a:moveTo>
                  <a:pt x="0" y="0"/>
                </a:moveTo>
                <a:lnTo>
                  <a:pt x="5637" y="0"/>
                </a:lnTo>
                <a:lnTo>
                  <a:pt x="563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2724120" y="1733400"/>
            <a:ext cx="3171960" cy="371880"/>
          </a:xfrm>
          <a:custGeom>
            <a:avLst/>
            <a:gdLst/>
            <a:ahLst/>
            <a:rect l="0" t="0" r="r" b="b"/>
            <a:pathLst>
              <a:path w="8811" h="1033">
                <a:moveTo>
                  <a:pt x="0" y="0"/>
                </a:moveTo>
                <a:lnTo>
                  <a:pt x="8811" y="0"/>
                </a:lnTo>
                <a:lnTo>
                  <a:pt x="881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5895720" y="1733400"/>
            <a:ext cx="895680" cy="371880"/>
          </a:xfrm>
          <a:custGeom>
            <a:avLst/>
            <a:gdLst/>
            <a:ahLst/>
            <a:rect l="0" t="0" r="r" b="b"/>
            <a:pathLst>
              <a:path w="2488" h="1033">
                <a:moveTo>
                  <a:pt x="0" y="0"/>
                </a:moveTo>
                <a:lnTo>
                  <a:pt x="2488" y="0"/>
                </a:lnTo>
                <a:lnTo>
                  <a:pt x="248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695160" y="2104920"/>
            <a:ext cx="2029320" cy="362160"/>
          </a:xfrm>
          <a:custGeom>
            <a:avLst/>
            <a:gdLst/>
            <a:ahLst/>
            <a:rect l="0" t="0" r="r" b="b"/>
            <a:pathLst>
              <a:path w="5637" h="1006">
                <a:moveTo>
                  <a:pt x="0" y="0"/>
                </a:moveTo>
                <a:lnTo>
                  <a:pt x="5637" y="0"/>
                </a:lnTo>
                <a:lnTo>
                  <a:pt x="563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2724120" y="2104920"/>
            <a:ext cx="3171960" cy="362160"/>
          </a:xfrm>
          <a:custGeom>
            <a:avLst/>
            <a:gdLst/>
            <a:ahLst/>
            <a:rect l="0" t="0" r="r" b="b"/>
            <a:pathLst>
              <a:path w="8811" h="1006">
                <a:moveTo>
                  <a:pt x="0" y="0"/>
                </a:moveTo>
                <a:lnTo>
                  <a:pt x="8811" y="0"/>
                </a:lnTo>
                <a:lnTo>
                  <a:pt x="8811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5895720" y="2104920"/>
            <a:ext cx="895680" cy="362160"/>
          </a:xfrm>
          <a:custGeom>
            <a:avLst/>
            <a:gdLst/>
            <a:ahLst/>
            <a:rect l="0" t="0" r="r" b="b"/>
            <a:pathLst>
              <a:path w="2488" h="1006">
                <a:moveTo>
                  <a:pt x="0" y="0"/>
                </a:moveTo>
                <a:lnTo>
                  <a:pt x="2488" y="0"/>
                </a:lnTo>
                <a:lnTo>
                  <a:pt x="248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695160" y="2466720"/>
            <a:ext cx="2029320" cy="371880"/>
          </a:xfrm>
          <a:custGeom>
            <a:avLst/>
            <a:gdLst/>
            <a:ahLst/>
            <a:rect l="0" t="0" r="r" b="b"/>
            <a:pathLst>
              <a:path w="5637" h="1033">
                <a:moveTo>
                  <a:pt x="0" y="0"/>
                </a:moveTo>
                <a:lnTo>
                  <a:pt x="5637" y="0"/>
                </a:lnTo>
                <a:lnTo>
                  <a:pt x="563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2724120" y="2466720"/>
            <a:ext cx="3171960" cy="371880"/>
          </a:xfrm>
          <a:custGeom>
            <a:avLst/>
            <a:gdLst/>
            <a:ahLst/>
            <a:rect l="0" t="0" r="r" b="b"/>
            <a:pathLst>
              <a:path w="8811" h="1033">
                <a:moveTo>
                  <a:pt x="0" y="0"/>
                </a:moveTo>
                <a:lnTo>
                  <a:pt x="8811" y="0"/>
                </a:lnTo>
                <a:lnTo>
                  <a:pt x="881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5895720" y="2466720"/>
            <a:ext cx="895680" cy="371880"/>
          </a:xfrm>
          <a:custGeom>
            <a:avLst/>
            <a:gdLst/>
            <a:ahLst/>
            <a:rect l="0" t="0" r="r" b="b"/>
            <a:pathLst>
              <a:path w="2488" h="1033">
                <a:moveTo>
                  <a:pt x="0" y="0"/>
                </a:moveTo>
                <a:lnTo>
                  <a:pt x="2488" y="0"/>
                </a:lnTo>
                <a:lnTo>
                  <a:pt x="248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695160" y="2838240"/>
            <a:ext cx="2029320" cy="362160"/>
          </a:xfrm>
          <a:custGeom>
            <a:avLst/>
            <a:gdLst/>
            <a:ahLst/>
            <a:rect l="0" t="0" r="r" b="b"/>
            <a:pathLst>
              <a:path w="5637" h="1006">
                <a:moveTo>
                  <a:pt x="0" y="0"/>
                </a:moveTo>
                <a:lnTo>
                  <a:pt x="5637" y="0"/>
                </a:lnTo>
                <a:lnTo>
                  <a:pt x="563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2724120" y="2838240"/>
            <a:ext cx="3171960" cy="362160"/>
          </a:xfrm>
          <a:custGeom>
            <a:avLst/>
            <a:gdLst/>
            <a:ahLst/>
            <a:rect l="0" t="0" r="r" b="b"/>
            <a:pathLst>
              <a:path w="8811" h="1006">
                <a:moveTo>
                  <a:pt x="0" y="0"/>
                </a:moveTo>
                <a:lnTo>
                  <a:pt x="8811" y="0"/>
                </a:lnTo>
                <a:lnTo>
                  <a:pt x="8811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5895720" y="2838240"/>
            <a:ext cx="895680" cy="362160"/>
          </a:xfrm>
          <a:custGeom>
            <a:avLst/>
            <a:gdLst/>
            <a:ahLst/>
            <a:rect l="0" t="0" r="r" b="b"/>
            <a:pathLst>
              <a:path w="2488" h="1006">
                <a:moveTo>
                  <a:pt x="0" y="0"/>
                </a:moveTo>
                <a:lnTo>
                  <a:pt x="2488" y="0"/>
                </a:lnTo>
                <a:lnTo>
                  <a:pt x="248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695160" y="3200040"/>
            <a:ext cx="2029320" cy="371880"/>
          </a:xfrm>
          <a:custGeom>
            <a:avLst/>
            <a:gdLst/>
            <a:ahLst/>
            <a:rect l="0" t="0" r="r" b="b"/>
            <a:pathLst>
              <a:path w="5637" h="1033">
                <a:moveTo>
                  <a:pt x="0" y="0"/>
                </a:moveTo>
                <a:lnTo>
                  <a:pt x="5637" y="0"/>
                </a:lnTo>
                <a:lnTo>
                  <a:pt x="563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2724120" y="3200040"/>
            <a:ext cx="3171960" cy="371880"/>
          </a:xfrm>
          <a:custGeom>
            <a:avLst/>
            <a:gdLst/>
            <a:ahLst/>
            <a:rect l="0" t="0" r="r" b="b"/>
            <a:pathLst>
              <a:path w="8811" h="1033">
                <a:moveTo>
                  <a:pt x="0" y="0"/>
                </a:moveTo>
                <a:lnTo>
                  <a:pt x="8811" y="0"/>
                </a:lnTo>
                <a:lnTo>
                  <a:pt x="881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5895720" y="3200040"/>
            <a:ext cx="895680" cy="371880"/>
          </a:xfrm>
          <a:custGeom>
            <a:avLst/>
            <a:gdLst/>
            <a:ahLst/>
            <a:rect l="0" t="0" r="r" b="b"/>
            <a:pathLst>
              <a:path w="2488" h="1033">
                <a:moveTo>
                  <a:pt x="0" y="0"/>
                </a:moveTo>
                <a:lnTo>
                  <a:pt x="2488" y="0"/>
                </a:lnTo>
                <a:lnTo>
                  <a:pt x="248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695160" y="3571560"/>
            <a:ext cx="2029320" cy="362520"/>
          </a:xfrm>
          <a:custGeom>
            <a:avLst/>
            <a:gdLst/>
            <a:ahLst/>
            <a:rect l="0" t="0" r="r" b="b"/>
            <a:pathLst>
              <a:path w="5637" h="1007">
                <a:moveTo>
                  <a:pt x="0" y="0"/>
                </a:moveTo>
                <a:lnTo>
                  <a:pt x="5637" y="0"/>
                </a:lnTo>
                <a:lnTo>
                  <a:pt x="563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2724120" y="3571560"/>
            <a:ext cx="3171960" cy="362520"/>
          </a:xfrm>
          <a:custGeom>
            <a:avLst/>
            <a:gdLst/>
            <a:ahLst/>
            <a:rect l="0" t="0" r="r" b="b"/>
            <a:pathLst>
              <a:path w="8811" h="1007">
                <a:moveTo>
                  <a:pt x="0" y="0"/>
                </a:moveTo>
                <a:lnTo>
                  <a:pt x="8811" y="0"/>
                </a:lnTo>
                <a:lnTo>
                  <a:pt x="8811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5895720" y="3571560"/>
            <a:ext cx="895680" cy="362520"/>
          </a:xfrm>
          <a:custGeom>
            <a:avLst/>
            <a:gdLst/>
            <a:ahLst/>
            <a:rect l="0" t="0" r="r" b="b"/>
            <a:pathLst>
              <a:path w="2488" h="1007">
                <a:moveTo>
                  <a:pt x="0" y="0"/>
                </a:moveTo>
                <a:lnTo>
                  <a:pt x="2488" y="0"/>
                </a:lnTo>
                <a:lnTo>
                  <a:pt x="248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695160" y="3933720"/>
            <a:ext cx="2029320" cy="371880"/>
          </a:xfrm>
          <a:custGeom>
            <a:avLst/>
            <a:gdLst/>
            <a:ahLst/>
            <a:rect l="0" t="0" r="r" b="b"/>
            <a:pathLst>
              <a:path w="5637" h="1033">
                <a:moveTo>
                  <a:pt x="0" y="0"/>
                </a:moveTo>
                <a:lnTo>
                  <a:pt x="5637" y="0"/>
                </a:lnTo>
                <a:lnTo>
                  <a:pt x="563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2724120" y="3933720"/>
            <a:ext cx="3171960" cy="371880"/>
          </a:xfrm>
          <a:custGeom>
            <a:avLst/>
            <a:gdLst/>
            <a:ahLst/>
            <a:rect l="0" t="0" r="r" b="b"/>
            <a:pathLst>
              <a:path w="8811" h="1033">
                <a:moveTo>
                  <a:pt x="0" y="0"/>
                </a:moveTo>
                <a:lnTo>
                  <a:pt x="8811" y="0"/>
                </a:lnTo>
                <a:lnTo>
                  <a:pt x="881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5895720" y="3933720"/>
            <a:ext cx="895680" cy="371880"/>
          </a:xfrm>
          <a:custGeom>
            <a:avLst/>
            <a:gdLst/>
            <a:ahLst/>
            <a:rect l="0" t="0" r="r" b="b"/>
            <a:pathLst>
              <a:path w="2488" h="1033">
                <a:moveTo>
                  <a:pt x="0" y="0"/>
                </a:moveTo>
                <a:lnTo>
                  <a:pt x="2488" y="0"/>
                </a:lnTo>
                <a:lnTo>
                  <a:pt x="248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685440" y="13618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685440" y="1361880"/>
            <a:ext cx="2039040" cy="9720"/>
          </a:xfrm>
          <a:custGeom>
            <a:avLst/>
            <a:gdLst/>
            <a:ahLst/>
            <a:rect l="0" t="0" r="r" b="b"/>
            <a:pathLst>
              <a:path w="5664" h="27">
                <a:moveTo>
                  <a:pt x="0" y="0"/>
                </a:moveTo>
                <a:lnTo>
                  <a:pt x="5664" y="0"/>
                </a:lnTo>
                <a:lnTo>
                  <a:pt x="56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2714400" y="13618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2724120" y="1361880"/>
            <a:ext cx="3181680" cy="9720"/>
          </a:xfrm>
          <a:custGeom>
            <a:avLst/>
            <a:gdLst/>
            <a:ahLst/>
            <a:rect l="0" t="0" r="r" b="b"/>
            <a:pathLst>
              <a:path w="8838" h="27">
                <a:moveTo>
                  <a:pt x="0" y="0"/>
                </a:moveTo>
                <a:lnTo>
                  <a:pt x="8838" y="0"/>
                </a:lnTo>
                <a:lnTo>
                  <a:pt x="883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5895720" y="13618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5905440" y="1361880"/>
            <a:ext cx="885960" cy="9720"/>
          </a:xfrm>
          <a:custGeom>
            <a:avLst/>
            <a:gdLst/>
            <a:ahLst/>
            <a:rect l="0" t="0" r="r" b="b"/>
            <a:pathLst>
              <a:path w="2461" h="27">
                <a:moveTo>
                  <a:pt x="0" y="0"/>
                </a:moveTo>
                <a:lnTo>
                  <a:pt x="2461" y="0"/>
                </a:lnTo>
                <a:lnTo>
                  <a:pt x="246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6781680" y="13618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685440" y="1733400"/>
            <a:ext cx="2039040" cy="9720"/>
          </a:xfrm>
          <a:custGeom>
            <a:avLst/>
            <a:gdLst/>
            <a:ahLst/>
            <a:rect l="0" t="0" r="r" b="b"/>
            <a:pathLst>
              <a:path w="5664" h="27">
                <a:moveTo>
                  <a:pt x="0" y="0"/>
                </a:moveTo>
                <a:lnTo>
                  <a:pt x="5664" y="0"/>
                </a:lnTo>
                <a:lnTo>
                  <a:pt x="56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2724120" y="1733400"/>
            <a:ext cx="3181680" cy="9720"/>
          </a:xfrm>
          <a:custGeom>
            <a:avLst/>
            <a:gdLst/>
            <a:ahLst/>
            <a:rect l="0" t="0" r="r" b="b"/>
            <a:pathLst>
              <a:path w="8838" h="27">
                <a:moveTo>
                  <a:pt x="0" y="0"/>
                </a:moveTo>
                <a:lnTo>
                  <a:pt x="8838" y="0"/>
                </a:lnTo>
                <a:lnTo>
                  <a:pt x="883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5905440" y="1733400"/>
            <a:ext cx="885960" cy="9720"/>
          </a:xfrm>
          <a:custGeom>
            <a:avLst/>
            <a:gdLst/>
            <a:ahLst/>
            <a:rect l="0" t="0" r="r" b="b"/>
            <a:pathLst>
              <a:path w="2461" h="27">
                <a:moveTo>
                  <a:pt x="0" y="0"/>
                </a:moveTo>
                <a:lnTo>
                  <a:pt x="2461" y="0"/>
                </a:lnTo>
                <a:lnTo>
                  <a:pt x="246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685440" y="1742760"/>
            <a:ext cx="10080" cy="362520"/>
          </a:xfrm>
          <a:custGeom>
            <a:avLst/>
            <a:gdLst/>
            <a:ahLst/>
            <a:rect l="0" t="0" r="r" b="b"/>
            <a:pathLst>
              <a:path w="28" h="1007">
                <a:moveTo>
                  <a:pt x="0" y="0"/>
                </a:moveTo>
                <a:lnTo>
                  <a:pt x="28" y="0"/>
                </a:lnTo>
                <a:lnTo>
                  <a:pt x="2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2714400" y="1742760"/>
            <a:ext cx="10080" cy="362520"/>
          </a:xfrm>
          <a:custGeom>
            <a:avLst/>
            <a:gdLst/>
            <a:ahLst/>
            <a:rect l="0" t="0" r="r" b="b"/>
            <a:pathLst>
              <a:path w="28" h="1007">
                <a:moveTo>
                  <a:pt x="0" y="0"/>
                </a:moveTo>
                <a:lnTo>
                  <a:pt x="28" y="0"/>
                </a:lnTo>
                <a:lnTo>
                  <a:pt x="2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5895720" y="1742760"/>
            <a:ext cx="10080" cy="362520"/>
          </a:xfrm>
          <a:custGeom>
            <a:avLst/>
            <a:gdLst/>
            <a:ahLst/>
            <a:rect l="0" t="0" r="r" b="b"/>
            <a:pathLst>
              <a:path w="28" h="1007">
                <a:moveTo>
                  <a:pt x="0" y="0"/>
                </a:moveTo>
                <a:lnTo>
                  <a:pt x="28" y="0"/>
                </a:lnTo>
                <a:lnTo>
                  <a:pt x="2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6781680" y="1742760"/>
            <a:ext cx="9720" cy="362520"/>
          </a:xfrm>
          <a:custGeom>
            <a:avLst/>
            <a:gdLst/>
            <a:ahLst/>
            <a:rect l="0" t="0" r="r" b="b"/>
            <a:pathLst>
              <a:path w="27" h="1007">
                <a:moveTo>
                  <a:pt x="0" y="0"/>
                </a:moveTo>
                <a:lnTo>
                  <a:pt x="27" y="0"/>
                </a:lnTo>
                <a:lnTo>
                  <a:pt x="2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685440" y="21049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685440" y="2095200"/>
            <a:ext cx="2039040" cy="10080"/>
          </a:xfrm>
          <a:custGeom>
            <a:avLst/>
            <a:gdLst/>
            <a:ahLst/>
            <a:rect l="0" t="0" r="r" b="b"/>
            <a:pathLst>
              <a:path w="5664" h="28">
                <a:moveTo>
                  <a:pt x="0" y="0"/>
                </a:moveTo>
                <a:lnTo>
                  <a:pt x="5664" y="0"/>
                </a:lnTo>
                <a:lnTo>
                  <a:pt x="56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2714400" y="21049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2724120" y="2095200"/>
            <a:ext cx="3181680" cy="10080"/>
          </a:xfrm>
          <a:custGeom>
            <a:avLst/>
            <a:gdLst/>
            <a:ahLst/>
            <a:rect l="0" t="0" r="r" b="b"/>
            <a:pathLst>
              <a:path w="8838" h="28">
                <a:moveTo>
                  <a:pt x="0" y="0"/>
                </a:moveTo>
                <a:lnTo>
                  <a:pt x="8838" y="0"/>
                </a:lnTo>
                <a:lnTo>
                  <a:pt x="883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5895720" y="21049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5905440" y="2095200"/>
            <a:ext cx="885960" cy="10080"/>
          </a:xfrm>
          <a:custGeom>
            <a:avLst/>
            <a:gdLst/>
            <a:ahLst/>
            <a:rect l="0" t="0" r="r" b="b"/>
            <a:pathLst>
              <a:path w="2461" h="28">
                <a:moveTo>
                  <a:pt x="0" y="0"/>
                </a:moveTo>
                <a:lnTo>
                  <a:pt x="2461" y="0"/>
                </a:lnTo>
                <a:lnTo>
                  <a:pt x="246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6781680" y="21049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685440" y="247644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685440" y="2466720"/>
            <a:ext cx="2039040" cy="10080"/>
          </a:xfrm>
          <a:custGeom>
            <a:avLst/>
            <a:gdLst/>
            <a:ahLst/>
            <a:rect l="0" t="0" r="r" b="b"/>
            <a:pathLst>
              <a:path w="5664" h="28">
                <a:moveTo>
                  <a:pt x="0" y="0"/>
                </a:moveTo>
                <a:lnTo>
                  <a:pt x="5664" y="0"/>
                </a:lnTo>
                <a:lnTo>
                  <a:pt x="56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2714400" y="247644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2724120" y="2466720"/>
            <a:ext cx="3181680" cy="10080"/>
          </a:xfrm>
          <a:custGeom>
            <a:avLst/>
            <a:gdLst/>
            <a:ahLst/>
            <a:rect l="0" t="0" r="r" b="b"/>
            <a:pathLst>
              <a:path w="8838" h="28">
                <a:moveTo>
                  <a:pt x="0" y="0"/>
                </a:moveTo>
                <a:lnTo>
                  <a:pt x="8838" y="0"/>
                </a:lnTo>
                <a:lnTo>
                  <a:pt x="883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5895720" y="247644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5905440" y="2466720"/>
            <a:ext cx="885960" cy="10080"/>
          </a:xfrm>
          <a:custGeom>
            <a:avLst/>
            <a:gdLst/>
            <a:ahLst/>
            <a:rect l="0" t="0" r="r" b="b"/>
            <a:pathLst>
              <a:path w="2461" h="28">
                <a:moveTo>
                  <a:pt x="0" y="0"/>
                </a:moveTo>
                <a:lnTo>
                  <a:pt x="2461" y="0"/>
                </a:lnTo>
                <a:lnTo>
                  <a:pt x="246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6781680" y="2476440"/>
            <a:ext cx="9720" cy="362160"/>
          </a:xfrm>
          <a:custGeom>
            <a:avLst/>
            <a:gdLst/>
            <a:ahLst/>
            <a:rect l="0" t="0" r="r" b="b"/>
            <a:pathLst>
              <a:path w="27" h="1006">
                <a:moveTo>
                  <a:pt x="0" y="0"/>
                </a:moveTo>
                <a:lnTo>
                  <a:pt x="27" y="0"/>
                </a:lnTo>
                <a:lnTo>
                  <a:pt x="2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685440" y="28382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685440" y="2828880"/>
            <a:ext cx="2039040" cy="9720"/>
          </a:xfrm>
          <a:custGeom>
            <a:avLst/>
            <a:gdLst/>
            <a:ahLst/>
            <a:rect l="0" t="0" r="r" b="b"/>
            <a:pathLst>
              <a:path w="5664" h="27">
                <a:moveTo>
                  <a:pt x="0" y="0"/>
                </a:moveTo>
                <a:lnTo>
                  <a:pt x="5664" y="0"/>
                </a:lnTo>
                <a:lnTo>
                  <a:pt x="56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2714400" y="28382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2724120" y="2828880"/>
            <a:ext cx="3181680" cy="9720"/>
          </a:xfrm>
          <a:custGeom>
            <a:avLst/>
            <a:gdLst/>
            <a:ahLst/>
            <a:rect l="0" t="0" r="r" b="b"/>
            <a:pathLst>
              <a:path w="8838" h="27">
                <a:moveTo>
                  <a:pt x="0" y="0"/>
                </a:moveTo>
                <a:lnTo>
                  <a:pt x="8838" y="0"/>
                </a:lnTo>
                <a:lnTo>
                  <a:pt x="883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5895720" y="28382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5905440" y="2828880"/>
            <a:ext cx="885960" cy="9720"/>
          </a:xfrm>
          <a:custGeom>
            <a:avLst/>
            <a:gdLst/>
            <a:ahLst/>
            <a:rect l="0" t="0" r="r" b="b"/>
            <a:pathLst>
              <a:path w="2461" h="27">
                <a:moveTo>
                  <a:pt x="0" y="0"/>
                </a:moveTo>
                <a:lnTo>
                  <a:pt x="2461" y="0"/>
                </a:lnTo>
                <a:lnTo>
                  <a:pt x="246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6781680" y="28382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685440" y="320976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685440" y="3200040"/>
            <a:ext cx="2039040" cy="10080"/>
          </a:xfrm>
          <a:custGeom>
            <a:avLst/>
            <a:gdLst/>
            <a:ahLst/>
            <a:rect l="0" t="0" r="r" b="b"/>
            <a:pathLst>
              <a:path w="5664" h="28">
                <a:moveTo>
                  <a:pt x="0" y="0"/>
                </a:moveTo>
                <a:lnTo>
                  <a:pt x="5664" y="0"/>
                </a:lnTo>
                <a:lnTo>
                  <a:pt x="56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2714400" y="320976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2724120" y="3200040"/>
            <a:ext cx="3181680" cy="10080"/>
          </a:xfrm>
          <a:custGeom>
            <a:avLst/>
            <a:gdLst/>
            <a:ahLst/>
            <a:rect l="0" t="0" r="r" b="b"/>
            <a:pathLst>
              <a:path w="8838" h="28">
                <a:moveTo>
                  <a:pt x="0" y="0"/>
                </a:moveTo>
                <a:lnTo>
                  <a:pt x="8838" y="0"/>
                </a:lnTo>
                <a:lnTo>
                  <a:pt x="883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5895720" y="320976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5905440" y="3200040"/>
            <a:ext cx="885960" cy="10080"/>
          </a:xfrm>
          <a:custGeom>
            <a:avLst/>
            <a:gdLst/>
            <a:ahLst/>
            <a:rect l="0" t="0" r="r" b="b"/>
            <a:pathLst>
              <a:path w="2461" h="28">
                <a:moveTo>
                  <a:pt x="0" y="0"/>
                </a:moveTo>
                <a:lnTo>
                  <a:pt x="2461" y="0"/>
                </a:lnTo>
                <a:lnTo>
                  <a:pt x="246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6781680" y="3209760"/>
            <a:ext cx="9720" cy="362160"/>
          </a:xfrm>
          <a:custGeom>
            <a:avLst/>
            <a:gdLst/>
            <a:ahLst/>
            <a:rect l="0" t="0" r="r" b="b"/>
            <a:pathLst>
              <a:path w="27" h="1006">
                <a:moveTo>
                  <a:pt x="0" y="0"/>
                </a:moveTo>
                <a:lnTo>
                  <a:pt x="27" y="0"/>
                </a:lnTo>
                <a:lnTo>
                  <a:pt x="2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68544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685440" y="3562200"/>
            <a:ext cx="2039040" cy="9720"/>
          </a:xfrm>
          <a:custGeom>
            <a:avLst/>
            <a:gdLst/>
            <a:ahLst/>
            <a:rect l="0" t="0" r="r" b="b"/>
            <a:pathLst>
              <a:path w="5664" h="27">
                <a:moveTo>
                  <a:pt x="0" y="0"/>
                </a:moveTo>
                <a:lnTo>
                  <a:pt x="5664" y="0"/>
                </a:lnTo>
                <a:lnTo>
                  <a:pt x="56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271440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2724120" y="3562200"/>
            <a:ext cx="3181680" cy="9720"/>
          </a:xfrm>
          <a:custGeom>
            <a:avLst/>
            <a:gdLst/>
            <a:ahLst/>
            <a:rect l="0" t="0" r="r" b="b"/>
            <a:pathLst>
              <a:path w="8838" h="27">
                <a:moveTo>
                  <a:pt x="0" y="0"/>
                </a:moveTo>
                <a:lnTo>
                  <a:pt x="8838" y="0"/>
                </a:lnTo>
                <a:lnTo>
                  <a:pt x="883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589572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5905440" y="3562200"/>
            <a:ext cx="885960" cy="9720"/>
          </a:xfrm>
          <a:custGeom>
            <a:avLst/>
            <a:gdLst/>
            <a:ahLst/>
            <a:rect l="0" t="0" r="r" b="b"/>
            <a:pathLst>
              <a:path w="2461" h="27">
                <a:moveTo>
                  <a:pt x="0" y="0"/>
                </a:moveTo>
                <a:lnTo>
                  <a:pt x="2461" y="0"/>
                </a:lnTo>
                <a:lnTo>
                  <a:pt x="246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678168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685440" y="3943080"/>
            <a:ext cx="10080" cy="362520"/>
          </a:xfrm>
          <a:custGeom>
            <a:avLst/>
            <a:gdLst/>
            <a:ahLst/>
            <a:rect l="0" t="0" r="r" b="b"/>
            <a:pathLst>
              <a:path w="28" h="1007">
                <a:moveTo>
                  <a:pt x="0" y="0"/>
                </a:moveTo>
                <a:lnTo>
                  <a:pt x="28" y="0"/>
                </a:lnTo>
                <a:lnTo>
                  <a:pt x="2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685440" y="3933720"/>
            <a:ext cx="2039040" cy="9720"/>
          </a:xfrm>
          <a:custGeom>
            <a:avLst/>
            <a:gdLst/>
            <a:ahLst/>
            <a:rect l="0" t="0" r="r" b="b"/>
            <a:pathLst>
              <a:path w="5664" h="27">
                <a:moveTo>
                  <a:pt x="0" y="0"/>
                </a:moveTo>
                <a:lnTo>
                  <a:pt x="5664" y="0"/>
                </a:lnTo>
                <a:lnTo>
                  <a:pt x="56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2714400" y="3943080"/>
            <a:ext cx="10080" cy="362520"/>
          </a:xfrm>
          <a:custGeom>
            <a:avLst/>
            <a:gdLst/>
            <a:ahLst/>
            <a:rect l="0" t="0" r="r" b="b"/>
            <a:pathLst>
              <a:path w="28" h="1007">
                <a:moveTo>
                  <a:pt x="0" y="0"/>
                </a:moveTo>
                <a:lnTo>
                  <a:pt x="28" y="0"/>
                </a:lnTo>
                <a:lnTo>
                  <a:pt x="2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2724120" y="3933720"/>
            <a:ext cx="3181680" cy="9720"/>
          </a:xfrm>
          <a:custGeom>
            <a:avLst/>
            <a:gdLst/>
            <a:ahLst/>
            <a:rect l="0" t="0" r="r" b="b"/>
            <a:pathLst>
              <a:path w="8838" h="27">
                <a:moveTo>
                  <a:pt x="0" y="0"/>
                </a:moveTo>
                <a:lnTo>
                  <a:pt x="8838" y="0"/>
                </a:lnTo>
                <a:lnTo>
                  <a:pt x="883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5895720" y="3943080"/>
            <a:ext cx="10080" cy="362520"/>
          </a:xfrm>
          <a:custGeom>
            <a:avLst/>
            <a:gdLst/>
            <a:ahLst/>
            <a:rect l="0" t="0" r="r" b="b"/>
            <a:pathLst>
              <a:path w="28" h="1007">
                <a:moveTo>
                  <a:pt x="0" y="0"/>
                </a:moveTo>
                <a:lnTo>
                  <a:pt x="28" y="0"/>
                </a:lnTo>
                <a:lnTo>
                  <a:pt x="2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5905440" y="3933720"/>
            <a:ext cx="885960" cy="9720"/>
          </a:xfrm>
          <a:custGeom>
            <a:avLst/>
            <a:gdLst/>
            <a:ahLst/>
            <a:rect l="0" t="0" r="r" b="b"/>
            <a:pathLst>
              <a:path w="2461" h="27">
                <a:moveTo>
                  <a:pt x="0" y="0"/>
                </a:moveTo>
                <a:lnTo>
                  <a:pt x="2461" y="0"/>
                </a:lnTo>
                <a:lnTo>
                  <a:pt x="246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6781680" y="3943080"/>
            <a:ext cx="9720" cy="362520"/>
          </a:xfrm>
          <a:custGeom>
            <a:avLst/>
            <a:gdLst/>
            <a:ahLst/>
            <a:rect l="0" t="0" r="r" b="b"/>
            <a:pathLst>
              <a:path w="27" h="1007">
                <a:moveTo>
                  <a:pt x="0" y="0"/>
                </a:moveTo>
                <a:lnTo>
                  <a:pt x="27" y="0"/>
                </a:lnTo>
                <a:lnTo>
                  <a:pt x="2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685440" y="4295520"/>
            <a:ext cx="2039040" cy="10080"/>
          </a:xfrm>
          <a:custGeom>
            <a:avLst/>
            <a:gdLst/>
            <a:ahLst/>
            <a:rect l="0" t="0" r="r" b="b"/>
            <a:pathLst>
              <a:path w="5664" h="28">
                <a:moveTo>
                  <a:pt x="0" y="0"/>
                </a:moveTo>
                <a:lnTo>
                  <a:pt x="5664" y="0"/>
                </a:lnTo>
                <a:lnTo>
                  <a:pt x="56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2724120" y="4295520"/>
            <a:ext cx="3181680" cy="10080"/>
          </a:xfrm>
          <a:custGeom>
            <a:avLst/>
            <a:gdLst/>
            <a:ahLst/>
            <a:rect l="0" t="0" r="r" b="b"/>
            <a:pathLst>
              <a:path w="8838" h="28">
                <a:moveTo>
                  <a:pt x="0" y="0"/>
                </a:moveTo>
                <a:lnTo>
                  <a:pt x="8838" y="0"/>
                </a:lnTo>
                <a:lnTo>
                  <a:pt x="883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5905440" y="4295520"/>
            <a:ext cx="885960" cy="10080"/>
          </a:xfrm>
          <a:custGeom>
            <a:avLst/>
            <a:gdLst/>
            <a:ahLst/>
            <a:rect l="0" t="0" r="r" b="b"/>
            <a:pathLst>
              <a:path w="2461" h="28">
                <a:moveTo>
                  <a:pt x="0" y="0"/>
                </a:moveTo>
                <a:lnTo>
                  <a:pt x="2461" y="0"/>
                </a:lnTo>
                <a:lnTo>
                  <a:pt x="246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819000" y="1470600"/>
            <a:ext cx="5266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Archivo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2847960" y="1470600"/>
            <a:ext cx="5396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Función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819000" y="1838160"/>
            <a:ext cx="781200" cy="171720"/>
          </a:xfrm>
          <a:custGeom>
            <a:avLst/>
            <a:gdLst/>
            <a:ahLst/>
            <a:rect l="0" t="0" r="r" b="b"/>
            <a:pathLst>
              <a:path w="2170" h="477">
                <a:moveTo>
                  <a:pt x="0" y="398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2091" y="0"/>
                </a:lnTo>
                <a:cubicBezTo>
                  <a:pt x="2102" y="0"/>
                  <a:pt x="2112" y="2"/>
                  <a:pt x="2121" y="6"/>
                </a:cubicBezTo>
                <a:cubicBezTo>
                  <a:pt x="2131" y="10"/>
                  <a:pt x="2140" y="16"/>
                  <a:pt x="2147" y="23"/>
                </a:cubicBezTo>
                <a:cubicBezTo>
                  <a:pt x="2155" y="31"/>
                  <a:pt x="2160" y="39"/>
                  <a:pt x="2164" y="49"/>
                </a:cubicBezTo>
                <a:cubicBezTo>
                  <a:pt x="2168" y="59"/>
                  <a:pt x="2170" y="69"/>
                  <a:pt x="2170" y="79"/>
                </a:cubicBezTo>
                <a:lnTo>
                  <a:pt x="2170" y="398"/>
                </a:lnTo>
                <a:cubicBezTo>
                  <a:pt x="2170" y="408"/>
                  <a:pt x="2168" y="418"/>
                  <a:pt x="2164" y="428"/>
                </a:cubicBezTo>
                <a:cubicBezTo>
                  <a:pt x="2160" y="438"/>
                  <a:pt x="2155" y="447"/>
                  <a:pt x="2147" y="454"/>
                </a:cubicBezTo>
                <a:cubicBezTo>
                  <a:pt x="2140" y="461"/>
                  <a:pt x="2131" y="467"/>
                  <a:pt x="2121" y="471"/>
                </a:cubicBezTo>
                <a:cubicBezTo>
                  <a:pt x="2112" y="475"/>
                  <a:pt x="2102" y="477"/>
                  <a:pt x="2091" y="477"/>
                </a:cubicBezTo>
                <a:lnTo>
                  <a:pt x="79" y="477"/>
                </a:lnTo>
                <a:cubicBezTo>
                  <a:pt x="69" y="477"/>
                  <a:pt x="59" y="475"/>
                  <a:pt x="49" y="471"/>
                </a:cubicBezTo>
                <a:cubicBezTo>
                  <a:pt x="39" y="467"/>
                  <a:pt x="31" y="461"/>
                  <a:pt x="23" y="454"/>
                </a:cubicBezTo>
                <a:cubicBezTo>
                  <a:pt x="16" y="447"/>
                  <a:pt x="10" y="438"/>
                  <a:pt x="6" y="428"/>
                </a:cubicBezTo>
                <a:cubicBezTo>
                  <a:pt x="2" y="418"/>
                  <a:pt x="0" y="408"/>
                  <a:pt x="0" y="398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6028560" y="1470600"/>
            <a:ext cx="6310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Duración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876240" y="1843920"/>
            <a:ext cx="66132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9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02_setup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2847960" y="1842120"/>
            <a:ext cx="1692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Verifica el entorno + SB3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819000" y="2199960"/>
            <a:ext cx="943200" cy="172080"/>
          </a:xfrm>
          <a:custGeom>
            <a:avLst/>
            <a:gdLst/>
            <a:ahLst/>
            <a:rect l="0" t="0" r="r" b="b"/>
            <a:pathLst>
              <a:path w="2620" h="478">
                <a:moveTo>
                  <a:pt x="0" y="398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2541" y="0"/>
                </a:lnTo>
                <a:cubicBezTo>
                  <a:pt x="2551" y="0"/>
                  <a:pt x="2562" y="2"/>
                  <a:pt x="2571" y="6"/>
                </a:cubicBezTo>
                <a:cubicBezTo>
                  <a:pt x="2581" y="10"/>
                  <a:pt x="2590" y="16"/>
                  <a:pt x="2597" y="24"/>
                </a:cubicBezTo>
                <a:cubicBezTo>
                  <a:pt x="2604" y="31"/>
                  <a:pt x="2610" y="40"/>
                  <a:pt x="2614" y="49"/>
                </a:cubicBezTo>
                <a:cubicBezTo>
                  <a:pt x="2618" y="59"/>
                  <a:pt x="2620" y="69"/>
                  <a:pt x="2620" y="80"/>
                </a:cubicBezTo>
                <a:lnTo>
                  <a:pt x="2620" y="398"/>
                </a:lnTo>
                <a:cubicBezTo>
                  <a:pt x="2620" y="409"/>
                  <a:pt x="2618" y="419"/>
                  <a:pt x="2614" y="429"/>
                </a:cubicBezTo>
                <a:cubicBezTo>
                  <a:pt x="2610" y="438"/>
                  <a:pt x="2604" y="447"/>
                  <a:pt x="2597" y="454"/>
                </a:cubicBezTo>
                <a:cubicBezTo>
                  <a:pt x="2590" y="462"/>
                  <a:pt x="2581" y="468"/>
                  <a:pt x="2571" y="472"/>
                </a:cubicBezTo>
                <a:cubicBezTo>
                  <a:pt x="2562" y="476"/>
                  <a:pt x="2551" y="478"/>
                  <a:pt x="2541" y="478"/>
                </a:cubicBezTo>
                <a:lnTo>
                  <a:pt x="79" y="478"/>
                </a:lnTo>
                <a:cubicBezTo>
                  <a:pt x="69" y="478"/>
                  <a:pt x="59" y="476"/>
                  <a:pt x="49" y="472"/>
                </a:cubicBezTo>
                <a:cubicBezTo>
                  <a:pt x="39" y="468"/>
                  <a:pt x="31" y="462"/>
                  <a:pt x="23" y="454"/>
                </a:cubicBezTo>
                <a:cubicBezTo>
                  <a:pt x="16" y="447"/>
                  <a:pt x="10" y="438"/>
                  <a:pt x="6" y="429"/>
                </a:cubicBezTo>
                <a:cubicBezTo>
                  <a:pt x="2" y="419"/>
                  <a:pt x="0" y="409"/>
                  <a:pt x="0" y="398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6028560" y="1842120"/>
            <a:ext cx="387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5 min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876240" y="2205720"/>
            <a:ext cx="8265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9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03_entorno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2847960" y="2203920"/>
            <a:ext cx="29170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Explora observación, acciones, recompensa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819000" y="2571480"/>
            <a:ext cx="1105200" cy="171720"/>
          </a:xfrm>
          <a:custGeom>
            <a:avLst/>
            <a:gdLst/>
            <a:ahLst/>
            <a:rect l="0" t="0" r="r" b="b"/>
            <a:pathLst>
              <a:path w="3070" h="477">
                <a:moveTo>
                  <a:pt x="0" y="398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2991" y="0"/>
                </a:lnTo>
                <a:cubicBezTo>
                  <a:pt x="3001" y="0"/>
                  <a:pt x="3011" y="2"/>
                  <a:pt x="3021" y="6"/>
                </a:cubicBezTo>
                <a:cubicBezTo>
                  <a:pt x="3031" y="10"/>
                  <a:pt x="3039" y="16"/>
                  <a:pt x="3047" y="23"/>
                </a:cubicBezTo>
                <a:cubicBezTo>
                  <a:pt x="3054" y="31"/>
                  <a:pt x="3060" y="40"/>
                  <a:pt x="3064" y="49"/>
                </a:cubicBezTo>
                <a:cubicBezTo>
                  <a:pt x="3068" y="59"/>
                  <a:pt x="3070" y="69"/>
                  <a:pt x="3070" y="80"/>
                </a:cubicBezTo>
                <a:lnTo>
                  <a:pt x="3070" y="398"/>
                </a:lnTo>
                <a:cubicBezTo>
                  <a:pt x="3070" y="409"/>
                  <a:pt x="3068" y="419"/>
                  <a:pt x="3064" y="428"/>
                </a:cubicBezTo>
                <a:cubicBezTo>
                  <a:pt x="3060" y="438"/>
                  <a:pt x="3054" y="447"/>
                  <a:pt x="3047" y="454"/>
                </a:cubicBezTo>
                <a:cubicBezTo>
                  <a:pt x="3039" y="462"/>
                  <a:pt x="3031" y="467"/>
                  <a:pt x="3021" y="471"/>
                </a:cubicBezTo>
                <a:cubicBezTo>
                  <a:pt x="3011" y="475"/>
                  <a:pt x="3001" y="477"/>
                  <a:pt x="2991" y="477"/>
                </a:cubicBezTo>
                <a:lnTo>
                  <a:pt x="79" y="477"/>
                </a:lnTo>
                <a:cubicBezTo>
                  <a:pt x="69" y="477"/>
                  <a:pt x="59" y="475"/>
                  <a:pt x="49" y="471"/>
                </a:cubicBezTo>
                <a:cubicBezTo>
                  <a:pt x="39" y="467"/>
                  <a:pt x="31" y="462"/>
                  <a:pt x="23" y="454"/>
                </a:cubicBezTo>
                <a:cubicBezTo>
                  <a:pt x="16" y="447"/>
                  <a:pt x="10" y="438"/>
                  <a:pt x="6" y="428"/>
                </a:cubicBezTo>
                <a:cubicBezTo>
                  <a:pt x="2" y="419"/>
                  <a:pt x="0" y="409"/>
                  <a:pt x="0" y="398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6028560" y="2203920"/>
            <a:ext cx="387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8 min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876240" y="2577240"/>
            <a:ext cx="99180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9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04_baselines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2847960" y="2575440"/>
            <a:ext cx="19731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Agente aleatorio + por reglas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819000" y="2933640"/>
            <a:ext cx="1771920" cy="171720"/>
          </a:xfrm>
          <a:custGeom>
            <a:avLst/>
            <a:gdLst/>
            <a:ahLst/>
            <a:rect l="0" t="0" r="r" b="b"/>
            <a:pathLst>
              <a:path w="4922" h="477">
                <a:moveTo>
                  <a:pt x="0" y="398"/>
                </a:moveTo>
                <a:lnTo>
                  <a:pt x="0" y="79"/>
                </a:ln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4843" y="0"/>
                </a:lnTo>
                <a:cubicBezTo>
                  <a:pt x="4853" y="0"/>
                  <a:pt x="4863" y="2"/>
                  <a:pt x="4873" y="6"/>
                </a:cubicBezTo>
                <a:cubicBezTo>
                  <a:pt x="4883" y="10"/>
                  <a:pt x="4891" y="15"/>
                  <a:pt x="4899" y="23"/>
                </a:cubicBezTo>
                <a:cubicBezTo>
                  <a:pt x="4906" y="30"/>
                  <a:pt x="4912" y="39"/>
                  <a:pt x="4916" y="49"/>
                </a:cubicBezTo>
                <a:cubicBezTo>
                  <a:pt x="4920" y="58"/>
                  <a:pt x="4922" y="69"/>
                  <a:pt x="4922" y="79"/>
                </a:cubicBezTo>
                <a:lnTo>
                  <a:pt x="4922" y="398"/>
                </a:lnTo>
                <a:cubicBezTo>
                  <a:pt x="4922" y="408"/>
                  <a:pt x="4920" y="418"/>
                  <a:pt x="4916" y="428"/>
                </a:cubicBezTo>
                <a:cubicBezTo>
                  <a:pt x="4912" y="438"/>
                  <a:pt x="4906" y="446"/>
                  <a:pt x="4899" y="454"/>
                </a:cubicBezTo>
                <a:cubicBezTo>
                  <a:pt x="4891" y="461"/>
                  <a:pt x="4883" y="467"/>
                  <a:pt x="4873" y="471"/>
                </a:cubicBezTo>
                <a:cubicBezTo>
                  <a:pt x="4863" y="475"/>
                  <a:pt x="4853" y="477"/>
                  <a:pt x="4843" y="477"/>
                </a:cubicBezTo>
                <a:lnTo>
                  <a:pt x="79" y="477"/>
                </a:lnTo>
                <a:cubicBezTo>
                  <a:pt x="69" y="477"/>
                  <a:pt x="59" y="475"/>
                  <a:pt x="49" y="471"/>
                </a:cubicBezTo>
                <a:cubicBezTo>
                  <a:pt x="39" y="467"/>
                  <a:pt x="31" y="461"/>
                  <a:pt x="23" y="454"/>
                </a:cubicBezTo>
                <a:cubicBezTo>
                  <a:pt x="16" y="446"/>
                  <a:pt x="10" y="438"/>
                  <a:pt x="6" y="428"/>
                </a:cubicBezTo>
                <a:cubicBezTo>
                  <a:pt x="2" y="418"/>
                  <a:pt x="0" y="408"/>
                  <a:pt x="0" y="398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6028560" y="2575440"/>
            <a:ext cx="387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8 min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876240" y="2939400"/>
            <a:ext cx="165240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9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05_dqn_entrenamiento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2847960" y="2937600"/>
            <a:ext cx="19627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Entrena </a:t>
            </a: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el DQN (~8–10 min)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819000" y="3305160"/>
            <a:ext cx="1190880" cy="171720"/>
          </a:xfrm>
          <a:custGeom>
            <a:avLst/>
            <a:gdLst/>
            <a:ahLst/>
            <a:rect l="0" t="0" r="r" b="b"/>
            <a:pathLst>
              <a:path w="3308" h="477">
                <a:moveTo>
                  <a:pt x="0" y="397"/>
                </a:moveTo>
                <a:lnTo>
                  <a:pt x="0" y="79"/>
                </a:ln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3229" y="0"/>
                </a:lnTo>
                <a:cubicBezTo>
                  <a:pt x="3239" y="0"/>
                  <a:pt x="3249" y="2"/>
                  <a:pt x="3259" y="6"/>
                </a:cubicBezTo>
                <a:cubicBezTo>
                  <a:pt x="3269" y="10"/>
                  <a:pt x="3278" y="15"/>
                  <a:pt x="3285" y="23"/>
                </a:cubicBezTo>
                <a:cubicBezTo>
                  <a:pt x="3292" y="30"/>
                  <a:pt x="3298" y="39"/>
                  <a:pt x="3302" y="49"/>
                </a:cubicBezTo>
                <a:cubicBezTo>
                  <a:pt x="3306" y="58"/>
                  <a:pt x="3308" y="68"/>
                  <a:pt x="3308" y="79"/>
                </a:cubicBezTo>
                <a:lnTo>
                  <a:pt x="3308" y="397"/>
                </a:lnTo>
                <a:cubicBezTo>
                  <a:pt x="3308" y="408"/>
                  <a:pt x="3306" y="418"/>
                  <a:pt x="3302" y="428"/>
                </a:cubicBezTo>
                <a:cubicBezTo>
                  <a:pt x="3298" y="438"/>
                  <a:pt x="3292" y="446"/>
                  <a:pt x="3285" y="454"/>
                </a:cubicBezTo>
                <a:cubicBezTo>
                  <a:pt x="3278" y="461"/>
                  <a:pt x="3269" y="467"/>
                  <a:pt x="3259" y="471"/>
                </a:cubicBezTo>
                <a:cubicBezTo>
                  <a:pt x="3249" y="475"/>
                  <a:pt x="3239" y="477"/>
                  <a:pt x="3229" y="477"/>
                </a:cubicBezTo>
                <a:lnTo>
                  <a:pt x="79" y="477"/>
                </a:lnTo>
                <a:cubicBezTo>
                  <a:pt x="69" y="477"/>
                  <a:pt x="59" y="475"/>
                  <a:pt x="49" y="471"/>
                </a:cubicBezTo>
                <a:cubicBezTo>
                  <a:pt x="39" y="467"/>
                  <a:pt x="31" y="461"/>
                  <a:pt x="23" y="454"/>
                </a:cubicBezTo>
                <a:cubicBezTo>
                  <a:pt x="16" y="446"/>
                  <a:pt x="10" y="438"/>
                  <a:pt x="6" y="428"/>
                </a:cubicBezTo>
                <a:cubicBezTo>
                  <a:pt x="2" y="418"/>
                  <a:pt x="0" y="408"/>
                  <a:pt x="0" y="397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6028560" y="2937600"/>
            <a:ext cx="486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14 min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876240" y="3310920"/>
            <a:ext cx="107424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9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06_evaluacion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2847960" y="3309120"/>
            <a:ext cx="18831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Evalúa (50 episodios) + GIFs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819000" y="3666960"/>
            <a:ext cx="1524240" cy="171720"/>
          </a:xfrm>
          <a:custGeom>
            <a:avLst/>
            <a:gdLst/>
            <a:ahLst/>
            <a:rect l="0" t="0" r="r" b="b"/>
            <a:pathLst>
              <a:path w="4234" h="477">
                <a:moveTo>
                  <a:pt x="0" y="398"/>
                </a:moveTo>
                <a:lnTo>
                  <a:pt x="0" y="80"/>
                </a:lnTo>
                <a:cubicBezTo>
                  <a:pt x="0" y="70"/>
                  <a:pt x="2" y="60"/>
                  <a:pt x="6" y="50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4155" y="0"/>
                </a:lnTo>
                <a:cubicBezTo>
                  <a:pt x="4165" y="0"/>
                  <a:pt x="4176" y="2"/>
                  <a:pt x="4185" y="6"/>
                </a:cubicBezTo>
                <a:cubicBezTo>
                  <a:pt x="4195" y="10"/>
                  <a:pt x="4204" y="16"/>
                  <a:pt x="4211" y="23"/>
                </a:cubicBezTo>
                <a:cubicBezTo>
                  <a:pt x="4218" y="31"/>
                  <a:pt x="4224" y="39"/>
                  <a:pt x="4228" y="50"/>
                </a:cubicBezTo>
                <a:cubicBezTo>
                  <a:pt x="4232" y="60"/>
                  <a:pt x="4234" y="70"/>
                  <a:pt x="4234" y="80"/>
                </a:cubicBezTo>
                <a:lnTo>
                  <a:pt x="4234" y="398"/>
                </a:lnTo>
                <a:cubicBezTo>
                  <a:pt x="4234" y="408"/>
                  <a:pt x="4232" y="418"/>
                  <a:pt x="4228" y="428"/>
                </a:cubicBezTo>
                <a:cubicBezTo>
                  <a:pt x="4224" y="438"/>
                  <a:pt x="4218" y="447"/>
                  <a:pt x="4211" y="454"/>
                </a:cubicBezTo>
                <a:cubicBezTo>
                  <a:pt x="4204" y="461"/>
                  <a:pt x="4195" y="467"/>
                  <a:pt x="4185" y="471"/>
                </a:cubicBezTo>
                <a:cubicBezTo>
                  <a:pt x="4176" y="475"/>
                  <a:pt x="4165" y="477"/>
                  <a:pt x="4155" y="477"/>
                </a:cubicBezTo>
                <a:lnTo>
                  <a:pt x="79" y="477"/>
                </a:lnTo>
                <a:cubicBezTo>
                  <a:pt x="69" y="477"/>
                  <a:pt x="59" y="475"/>
                  <a:pt x="49" y="471"/>
                </a:cubicBezTo>
                <a:cubicBezTo>
                  <a:pt x="39" y="467"/>
                  <a:pt x="31" y="461"/>
                  <a:pt x="23" y="454"/>
                </a:cubicBezTo>
                <a:cubicBezTo>
                  <a:pt x="16" y="447"/>
                  <a:pt x="10" y="438"/>
                  <a:pt x="6" y="428"/>
                </a:cubicBezTo>
                <a:cubicBezTo>
                  <a:pt x="2" y="418"/>
                  <a:pt x="0" y="408"/>
                  <a:pt x="0" y="398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6028560" y="3309120"/>
            <a:ext cx="387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8 min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876240" y="3672720"/>
            <a:ext cx="14043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9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07_reward_shaping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2847960" y="3670920"/>
            <a:ext cx="15868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Cambia la recompensa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4437720" y="3654000"/>
            <a:ext cx="1623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4599720" y="3670920"/>
            <a:ext cx="10738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reward hacking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819000" y="4038480"/>
            <a:ext cx="1105200" cy="171720"/>
          </a:xfrm>
          <a:custGeom>
            <a:avLst/>
            <a:gdLst/>
            <a:ahLst/>
            <a:rect l="0" t="0" r="r" b="b"/>
            <a:pathLst>
              <a:path w="3070" h="477">
                <a:moveTo>
                  <a:pt x="0" y="397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2991" y="0"/>
                </a:lnTo>
                <a:cubicBezTo>
                  <a:pt x="3001" y="0"/>
                  <a:pt x="3011" y="2"/>
                  <a:pt x="3021" y="6"/>
                </a:cubicBezTo>
                <a:cubicBezTo>
                  <a:pt x="3031" y="10"/>
                  <a:pt x="3039" y="16"/>
                  <a:pt x="3047" y="23"/>
                </a:cubicBezTo>
                <a:cubicBezTo>
                  <a:pt x="3054" y="31"/>
                  <a:pt x="3060" y="39"/>
                  <a:pt x="3064" y="49"/>
                </a:cubicBezTo>
                <a:cubicBezTo>
                  <a:pt x="3068" y="59"/>
                  <a:pt x="3070" y="69"/>
                  <a:pt x="3070" y="79"/>
                </a:cubicBezTo>
                <a:lnTo>
                  <a:pt x="3070" y="397"/>
                </a:lnTo>
                <a:cubicBezTo>
                  <a:pt x="3070" y="407"/>
                  <a:pt x="3068" y="417"/>
                  <a:pt x="3064" y="427"/>
                </a:cubicBezTo>
                <a:cubicBezTo>
                  <a:pt x="3060" y="437"/>
                  <a:pt x="3054" y="446"/>
                  <a:pt x="3047" y="454"/>
                </a:cubicBezTo>
                <a:cubicBezTo>
                  <a:pt x="3039" y="461"/>
                  <a:pt x="3031" y="467"/>
                  <a:pt x="3021" y="471"/>
                </a:cubicBezTo>
                <a:cubicBezTo>
                  <a:pt x="3011" y="475"/>
                  <a:pt x="3001" y="477"/>
                  <a:pt x="2991" y="477"/>
                </a:cubicBezTo>
                <a:lnTo>
                  <a:pt x="79" y="477"/>
                </a:lnTo>
                <a:cubicBezTo>
                  <a:pt x="69" y="477"/>
                  <a:pt x="59" y="475"/>
                  <a:pt x="49" y="471"/>
                </a:cubicBezTo>
                <a:cubicBezTo>
                  <a:pt x="39" y="467"/>
                  <a:pt x="31" y="461"/>
                  <a:pt x="23" y="454"/>
                </a:cubicBezTo>
                <a:cubicBezTo>
                  <a:pt x="16" y="446"/>
                  <a:pt x="10" y="437"/>
                  <a:pt x="6" y="427"/>
                </a:cubicBezTo>
                <a:cubicBezTo>
                  <a:pt x="2" y="417"/>
                  <a:pt x="0" y="407"/>
                  <a:pt x="0" y="397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6028560" y="3670920"/>
            <a:ext cx="486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10 min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876240" y="4044240"/>
            <a:ext cx="99180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9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08_preguntas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2847960" y="4042440"/>
            <a:ext cx="16153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Cuestionario de entrega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685440" y="10094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6028560" y="4042440"/>
            <a:ext cx="486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10 min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7181640" y="981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685800" y="632520"/>
            <a:ext cx="18957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Estructura del trabajo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CP5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1040400" y="6517080"/>
            <a:ext cx="1227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RL en highway-env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2267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2309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3208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3250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43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4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914400" y="975240"/>
            <a:ext cx="190152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PARTE 0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B830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914400" y="1735560"/>
            <a:ext cx="127080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Preparación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CP5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1040400" y="6517080"/>
            <a:ext cx="1227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RL en highway-env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2267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2309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3208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3250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58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9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685800" y="1325880"/>
            <a:ext cx="43628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El ordenador ya quedó preparado en CP1. Para CP5: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2543040" y="1800000"/>
            <a:ext cx="1553040" cy="219600"/>
          </a:xfrm>
          <a:custGeom>
            <a:avLst/>
            <a:gdLst/>
            <a:ahLst/>
            <a:rect l="0" t="0" r="r" b="b"/>
            <a:pathLst>
              <a:path w="4314" h="610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4234" y="0"/>
                </a:lnTo>
                <a:cubicBezTo>
                  <a:pt x="4245" y="0"/>
                  <a:pt x="4255" y="2"/>
                  <a:pt x="4265" y="6"/>
                </a:cubicBezTo>
                <a:cubicBezTo>
                  <a:pt x="4274" y="10"/>
                  <a:pt x="4283" y="16"/>
                  <a:pt x="4290" y="23"/>
                </a:cubicBezTo>
                <a:cubicBezTo>
                  <a:pt x="4298" y="31"/>
                  <a:pt x="4304" y="39"/>
                  <a:pt x="4308" y="49"/>
                </a:cubicBezTo>
                <a:cubicBezTo>
                  <a:pt x="4312" y="59"/>
                  <a:pt x="4314" y="69"/>
                  <a:pt x="4314" y="79"/>
                </a:cubicBezTo>
                <a:lnTo>
                  <a:pt x="4314" y="530"/>
                </a:lnTo>
                <a:cubicBezTo>
                  <a:pt x="4314" y="541"/>
                  <a:pt x="4312" y="551"/>
                  <a:pt x="4308" y="561"/>
                </a:cubicBezTo>
                <a:cubicBezTo>
                  <a:pt x="4304" y="570"/>
                  <a:pt x="4298" y="579"/>
                  <a:pt x="4290" y="586"/>
                </a:cubicBezTo>
                <a:cubicBezTo>
                  <a:pt x="4283" y="594"/>
                  <a:pt x="4274" y="600"/>
                  <a:pt x="4265" y="604"/>
                </a:cubicBezTo>
                <a:cubicBezTo>
                  <a:pt x="4255" y="608"/>
                  <a:pt x="4245" y="610"/>
                  <a:pt x="4234" y="610"/>
                </a:cubicBezTo>
                <a:lnTo>
                  <a:pt x="79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39" y="600"/>
                  <a:pt x="31" y="594"/>
                  <a:pt x="23" y="586"/>
                </a:cubicBezTo>
                <a:cubicBezTo>
                  <a:pt x="16" y="579"/>
                  <a:pt x="10" y="570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860400" y="1811520"/>
            <a:ext cx="1682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Tener la carpeta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2603160" y="1814040"/>
            <a:ext cx="1439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1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CP5-highway-rl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4093200" y="1811520"/>
            <a:ext cx="21891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(mismo repositorio: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Code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6285960" y="177840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6486120" y="1811520"/>
            <a:ext cx="2404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Download ZIP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si no la tiene).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685440" y="2809800"/>
            <a:ext cx="10820880" cy="876600"/>
          </a:xfrm>
          <a:custGeom>
            <a:avLst/>
            <a:gdLst/>
            <a:ahLst/>
            <a:rect l="0" t="0" r="r" b="b"/>
            <a:pathLst>
              <a:path w="30058" h="2435">
                <a:moveTo>
                  <a:pt x="0" y="0"/>
                </a:moveTo>
                <a:lnTo>
                  <a:pt x="30058" y="0"/>
                </a:lnTo>
                <a:lnTo>
                  <a:pt x="30058" y="2435"/>
                </a:lnTo>
                <a:lnTo>
                  <a:pt x="0" y="2435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685440" y="2809800"/>
            <a:ext cx="29160" cy="876600"/>
          </a:xfrm>
          <a:custGeom>
            <a:avLst/>
            <a:gdLst/>
            <a:ahLst/>
            <a:rect l="0" t="0" r="r" b="b"/>
            <a:pathLst>
              <a:path w="81" h="2435">
                <a:moveTo>
                  <a:pt x="0" y="0"/>
                </a:moveTo>
                <a:lnTo>
                  <a:pt x="81" y="0"/>
                </a:lnTo>
                <a:lnTo>
                  <a:pt x="81" y="2435"/>
                </a:lnTo>
                <a:lnTo>
                  <a:pt x="0" y="2435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860760" y="2144880"/>
            <a:ext cx="5559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2. Crear un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entorno virtual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propio de CP5 e instalar dependencias.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990720" y="2926080"/>
            <a:ext cx="5617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Repositorio: </a:t>
            </a:r>
            <a:r>
              <a:rPr lang="en-US" sz="1580" b="1" u="none" strike="noStrike">
                <a:solidFill>
                  <a:srgbClr val="0969DA"/>
                </a:solidFill>
                <a:effectLst/>
                <a:uFillTx/>
                <a:latin typeface="Eurostile"/>
                <a:ea typeface="Eurostile"/>
              </a:rPr>
              <a:t>https://github.com/codx-digital/master-ia-practicas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685440" y="10094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990720" y="3364200"/>
            <a:ext cx="58237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No se descarga dataset ni modelo: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todo se genera y entrena en local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7181640" y="981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685800" y="632520"/>
            <a:ext cx="30934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Lo que hace falta antes de empezar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CP5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1040400" y="6517080"/>
            <a:ext cx="1227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RL en highway-env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2267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2309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3208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3250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86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7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2323800" y="1314360"/>
            <a:ext cx="1553040" cy="219240"/>
          </a:xfrm>
          <a:custGeom>
            <a:avLst/>
            <a:gdLst/>
            <a:ahLst/>
            <a:rect l="0" t="0" r="r" b="b"/>
            <a:pathLst>
              <a:path w="4314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7" y="30"/>
                  <a:pt x="25" y="23"/>
                </a:cubicBezTo>
                <a:cubicBezTo>
                  <a:pt x="32" y="16"/>
                  <a:pt x="41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lnTo>
                  <a:pt x="4235" y="0"/>
                </a:lnTo>
                <a:cubicBezTo>
                  <a:pt x="4245" y="0"/>
                  <a:pt x="4255" y="2"/>
                  <a:pt x="4265" y="6"/>
                </a:cubicBezTo>
                <a:cubicBezTo>
                  <a:pt x="4275" y="10"/>
                  <a:pt x="4283" y="16"/>
                  <a:pt x="4291" y="23"/>
                </a:cubicBezTo>
                <a:cubicBezTo>
                  <a:pt x="4298" y="30"/>
                  <a:pt x="4304" y="39"/>
                  <a:pt x="4308" y="49"/>
                </a:cubicBezTo>
                <a:cubicBezTo>
                  <a:pt x="4312" y="58"/>
                  <a:pt x="4314" y="69"/>
                  <a:pt x="4314" y="79"/>
                </a:cubicBezTo>
                <a:lnTo>
                  <a:pt x="4314" y="530"/>
                </a:lnTo>
                <a:cubicBezTo>
                  <a:pt x="4314" y="540"/>
                  <a:pt x="4312" y="551"/>
                  <a:pt x="4308" y="560"/>
                </a:cubicBezTo>
                <a:cubicBezTo>
                  <a:pt x="4304" y="570"/>
                  <a:pt x="4298" y="579"/>
                  <a:pt x="4291" y="586"/>
                </a:cubicBezTo>
                <a:cubicBezTo>
                  <a:pt x="4283" y="593"/>
                  <a:pt x="4275" y="599"/>
                  <a:pt x="4265" y="603"/>
                </a:cubicBezTo>
                <a:cubicBezTo>
                  <a:pt x="4255" y="607"/>
                  <a:pt x="4245" y="609"/>
                  <a:pt x="4235" y="609"/>
                </a:cubicBezTo>
                <a:lnTo>
                  <a:pt x="81" y="609"/>
                </a:lnTo>
                <a:cubicBezTo>
                  <a:pt x="70" y="609"/>
                  <a:pt x="60" y="607"/>
                  <a:pt x="50" y="603"/>
                </a:cubicBezTo>
                <a:cubicBezTo>
                  <a:pt x="41" y="599"/>
                  <a:pt x="32" y="593"/>
                  <a:pt x="25" y="586"/>
                </a:cubicBezTo>
                <a:cubicBezTo>
                  <a:pt x="17" y="579"/>
                  <a:pt x="10" y="570"/>
                  <a:pt x="6" y="560"/>
                </a:cubicBezTo>
                <a:cubicBezTo>
                  <a:pt x="2" y="551"/>
                  <a:pt x="0" y="540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685800" y="1325880"/>
            <a:ext cx="16372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Entre en la carpeta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2382840" y="1328040"/>
            <a:ext cx="1439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CP5-highway-rl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690480" y="172872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8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1"/>
                  <a:pt x="29995" y="18"/>
                  <a:pt x="30004" y="27"/>
                </a:cubicBezTo>
                <a:cubicBezTo>
                  <a:pt x="30012" y="35"/>
                  <a:pt x="30019" y="46"/>
                  <a:pt x="30024" y="57"/>
                </a:cubicBezTo>
                <a:cubicBezTo>
                  <a:pt x="30029" y="68"/>
                  <a:pt x="30031" y="80"/>
                  <a:pt x="30031" y="92"/>
                </a:cubicBezTo>
                <a:lnTo>
                  <a:pt x="30031" y="1178"/>
                </a:lnTo>
                <a:cubicBezTo>
                  <a:pt x="30031" y="1190"/>
                  <a:pt x="30029" y="1202"/>
                  <a:pt x="30024" y="1214"/>
                </a:cubicBezTo>
                <a:cubicBezTo>
                  <a:pt x="30019" y="1225"/>
                  <a:pt x="30012" y="1235"/>
                  <a:pt x="30004" y="1244"/>
                </a:cubicBezTo>
                <a:cubicBezTo>
                  <a:pt x="29995" y="1252"/>
                  <a:pt x="29985" y="1259"/>
                  <a:pt x="29974" y="1264"/>
                </a:cubicBezTo>
                <a:cubicBezTo>
                  <a:pt x="29962" y="1268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8"/>
                  <a:pt x="57" y="1264"/>
                </a:cubicBezTo>
                <a:cubicBezTo>
                  <a:pt x="46" y="1259"/>
                  <a:pt x="36" y="1252"/>
                  <a:pt x="27" y="1244"/>
                </a:cubicBezTo>
                <a:cubicBezTo>
                  <a:pt x="18" y="1235"/>
                  <a:pt x="11" y="1225"/>
                  <a:pt x="7" y="1214"/>
                </a:cubicBezTo>
                <a:cubicBezTo>
                  <a:pt x="2" y="1202"/>
                  <a:pt x="0" y="1190"/>
                  <a:pt x="0" y="1178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690480" y="172872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8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1"/>
                  <a:pt x="29995" y="18"/>
                  <a:pt x="30004" y="27"/>
                </a:cubicBezTo>
                <a:cubicBezTo>
                  <a:pt x="30012" y="35"/>
                  <a:pt x="30019" y="46"/>
                  <a:pt x="30024" y="57"/>
                </a:cubicBezTo>
                <a:cubicBezTo>
                  <a:pt x="30029" y="68"/>
                  <a:pt x="30031" y="80"/>
                  <a:pt x="30031" y="92"/>
                </a:cubicBezTo>
                <a:lnTo>
                  <a:pt x="30031" y="1178"/>
                </a:lnTo>
                <a:cubicBezTo>
                  <a:pt x="30031" y="1190"/>
                  <a:pt x="30029" y="1202"/>
                  <a:pt x="30024" y="1214"/>
                </a:cubicBezTo>
                <a:cubicBezTo>
                  <a:pt x="30019" y="1225"/>
                  <a:pt x="30012" y="1235"/>
                  <a:pt x="30004" y="1244"/>
                </a:cubicBezTo>
                <a:cubicBezTo>
                  <a:pt x="29995" y="1252"/>
                  <a:pt x="29985" y="1259"/>
                  <a:pt x="29974" y="1264"/>
                </a:cubicBezTo>
                <a:cubicBezTo>
                  <a:pt x="29962" y="1268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8"/>
                  <a:pt x="57" y="1264"/>
                </a:cubicBezTo>
                <a:cubicBezTo>
                  <a:pt x="46" y="1259"/>
                  <a:pt x="36" y="1252"/>
                  <a:pt x="27" y="1244"/>
                </a:cubicBezTo>
                <a:cubicBezTo>
                  <a:pt x="18" y="1235"/>
                  <a:pt x="11" y="1225"/>
                  <a:pt x="7" y="1214"/>
                </a:cubicBezTo>
                <a:cubicBezTo>
                  <a:pt x="2" y="1202"/>
                  <a:pt x="0" y="1190"/>
                  <a:pt x="0" y="117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3872880" y="132588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y: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690480" y="2347560"/>
            <a:ext cx="10811160" cy="638640"/>
          </a:xfrm>
          <a:custGeom>
            <a:avLst/>
            <a:gdLst/>
            <a:ahLst/>
            <a:rect l="0" t="0" r="r" b="b"/>
            <a:pathLst>
              <a:path w="30031" h="1774">
                <a:moveTo>
                  <a:pt x="0" y="1682"/>
                </a:moveTo>
                <a:lnTo>
                  <a:pt x="0" y="93"/>
                </a:ln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8" y="3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3"/>
                  <a:pt x="29974" y="8"/>
                </a:cubicBezTo>
                <a:cubicBezTo>
                  <a:pt x="29985" y="12"/>
                  <a:pt x="29995" y="19"/>
                  <a:pt x="30004" y="28"/>
                </a:cubicBezTo>
                <a:cubicBezTo>
                  <a:pt x="30012" y="36"/>
                  <a:pt x="30019" y="46"/>
                  <a:pt x="30024" y="58"/>
                </a:cubicBezTo>
                <a:cubicBezTo>
                  <a:pt x="30029" y="69"/>
                  <a:pt x="30031" y="81"/>
                  <a:pt x="30031" y="93"/>
                </a:cubicBezTo>
                <a:lnTo>
                  <a:pt x="30031" y="1682"/>
                </a:lnTo>
                <a:cubicBezTo>
                  <a:pt x="30031" y="1694"/>
                  <a:pt x="30029" y="1706"/>
                  <a:pt x="30024" y="1717"/>
                </a:cubicBezTo>
                <a:cubicBezTo>
                  <a:pt x="30019" y="1728"/>
                  <a:pt x="30012" y="1738"/>
                  <a:pt x="30004" y="1747"/>
                </a:cubicBezTo>
                <a:cubicBezTo>
                  <a:pt x="29995" y="1756"/>
                  <a:pt x="29985" y="1762"/>
                  <a:pt x="29974" y="1767"/>
                </a:cubicBezTo>
                <a:cubicBezTo>
                  <a:pt x="29962" y="1772"/>
                  <a:pt x="29951" y="1774"/>
                  <a:pt x="29938" y="1774"/>
                </a:cubicBezTo>
                <a:lnTo>
                  <a:pt x="92" y="1774"/>
                </a:lnTo>
                <a:cubicBezTo>
                  <a:pt x="80" y="1774"/>
                  <a:pt x="68" y="1772"/>
                  <a:pt x="57" y="1767"/>
                </a:cubicBezTo>
                <a:cubicBezTo>
                  <a:pt x="46" y="1762"/>
                  <a:pt x="36" y="1756"/>
                  <a:pt x="27" y="1747"/>
                </a:cubicBezTo>
                <a:cubicBezTo>
                  <a:pt x="18" y="1738"/>
                  <a:pt x="11" y="1728"/>
                  <a:pt x="7" y="1717"/>
                </a:cubicBezTo>
                <a:cubicBezTo>
                  <a:pt x="2" y="1706"/>
                  <a:pt x="0" y="1694"/>
                  <a:pt x="0" y="1682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690480" y="2347560"/>
            <a:ext cx="10811160" cy="638640"/>
          </a:xfrm>
          <a:custGeom>
            <a:avLst/>
            <a:gdLst/>
            <a:ahLst/>
            <a:rect l="0" t="0" r="r" b="b"/>
            <a:pathLst>
              <a:path w="30031" h="1774">
                <a:moveTo>
                  <a:pt x="0" y="1682"/>
                </a:moveTo>
                <a:lnTo>
                  <a:pt x="0" y="93"/>
                </a:ln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8" y="3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3"/>
                  <a:pt x="29974" y="8"/>
                </a:cubicBezTo>
                <a:cubicBezTo>
                  <a:pt x="29985" y="12"/>
                  <a:pt x="29995" y="19"/>
                  <a:pt x="30004" y="28"/>
                </a:cubicBezTo>
                <a:cubicBezTo>
                  <a:pt x="30012" y="36"/>
                  <a:pt x="30019" y="46"/>
                  <a:pt x="30024" y="58"/>
                </a:cubicBezTo>
                <a:cubicBezTo>
                  <a:pt x="30029" y="69"/>
                  <a:pt x="30031" y="81"/>
                  <a:pt x="30031" y="93"/>
                </a:cubicBezTo>
                <a:lnTo>
                  <a:pt x="30031" y="1682"/>
                </a:lnTo>
                <a:cubicBezTo>
                  <a:pt x="30031" y="1694"/>
                  <a:pt x="30029" y="1706"/>
                  <a:pt x="30024" y="1717"/>
                </a:cubicBezTo>
                <a:cubicBezTo>
                  <a:pt x="30019" y="1728"/>
                  <a:pt x="30012" y="1738"/>
                  <a:pt x="30004" y="1747"/>
                </a:cubicBezTo>
                <a:cubicBezTo>
                  <a:pt x="29995" y="1756"/>
                  <a:pt x="29985" y="1762"/>
                  <a:pt x="29974" y="1767"/>
                </a:cubicBezTo>
                <a:cubicBezTo>
                  <a:pt x="29962" y="1772"/>
                  <a:pt x="29951" y="1774"/>
                  <a:pt x="29938" y="1774"/>
                </a:cubicBezTo>
                <a:lnTo>
                  <a:pt x="92" y="1774"/>
                </a:lnTo>
                <a:cubicBezTo>
                  <a:pt x="80" y="1774"/>
                  <a:pt x="68" y="1772"/>
                  <a:pt x="57" y="1767"/>
                </a:cubicBezTo>
                <a:cubicBezTo>
                  <a:pt x="46" y="1762"/>
                  <a:pt x="36" y="1756"/>
                  <a:pt x="27" y="1747"/>
                </a:cubicBezTo>
                <a:cubicBezTo>
                  <a:pt x="18" y="1738"/>
                  <a:pt x="11" y="1728"/>
                  <a:pt x="7" y="1717"/>
                </a:cubicBezTo>
                <a:cubicBezTo>
                  <a:pt x="2" y="1706"/>
                  <a:pt x="0" y="1694"/>
                  <a:pt x="0" y="168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866880" y="1881000"/>
            <a:ext cx="156060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python -m venv .venv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866880" y="2500200"/>
            <a:ext cx="288648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.venv\Scripts\activate      ← Windows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685440" y="3362040"/>
            <a:ext cx="10820880" cy="629280"/>
          </a:xfrm>
          <a:custGeom>
            <a:avLst/>
            <a:gdLst/>
            <a:ahLst/>
            <a:rect l="0" t="0" r="r" b="b"/>
            <a:pathLst>
              <a:path w="30058" h="1748">
                <a:moveTo>
                  <a:pt x="0" y="0"/>
                </a:moveTo>
                <a:lnTo>
                  <a:pt x="30058" y="0"/>
                </a:lnTo>
                <a:lnTo>
                  <a:pt x="30058" y="1748"/>
                </a:lnTo>
                <a:lnTo>
                  <a:pt x="0" y="1748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685440" y="3362040"/>
            <a:ext cx="29160" cy="629280"/>
          </a:xfrm>
          <a:custGeom>
            <a:avLst/>
            <a:gdLst/>
            <a:ahLst/>
            <a:rect l="0" t="0" r="r" b="b"/>
            <a:pathLst>
              <a:path w="81" h="1748">
                <a:moveTo>
                  <a:pt x="0" y="0"/>
                </a:moveTo>
                <a:lnTo>
                  <a:pt x="81" y="0"/>
                </a:lnTo>
                <a:lnTo>
                  <a:pt x="81" y="1748"/>
                </a:lnTo>
                <a:lnTo>
                  <a:pt x="0" y="174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1009440" y="3428640"/>
            <a:ext cx="200520" cy="200520"/>
          </a:xfrm>
          <a:custGeom>
            <a:avLst/>
            <a:gdLst/>
            <a:ahLst/>
            <a:rect l="0" t="0" r="r" b="b"/>
            <a:pathLst>
              <a:path w="557" h="557">
                <a:moveTo>
                  <a:pt x="557" y="495"/>
                </a:moveTo>
                <a:cubicBezTo>
                  <a:pt x="557" y="529"/>
                  <a:pt x="529" y="557"/>
                  <a:pt x="495" y="557"/>
                </a:cubicBezTo>
                <a:lnTo>
                  <a:pt x="62" y="557"/>
                </a:lnTo>
                <a:cubicBezTo>
                  <a:pt x="28" y="557"/>
                  <a:pt x="0" y="529"/>
                  <a:pt x="0" y="495"/>
                </a:cubicBezTo>
                <a:lnTo>
                  <a:pt x="0" y="62"/>
                </a:lnTo>
                <a:cubicBezTo>
                  <a:pt x="0" y="28"/>
                  <a:pt x="28" y="0"/>
                  <a:pt x="62" y="0"/>
                </a:cubicBezTo>
                <a:lnTo>
                  <a:pt x="495" y="0"/>
                </a:lnTo>
                <a:cubicBezTo>
                  <a:pt x="529" y="0"/>
                  <a:pt x="557" y="28"/>
                  <a:pt x="557" y="62"/>
                </a:cubicBezTo>
                <a:lnTo>
                  <a:pt x="557" y="495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1041120" y="3461760"/>
            <a:ext cx="137520" cy="135360"/>
          </a:xfrm>
          <a:custGeom>
            <a:avLst/>
            <a:gdLst/>
            <a:ahLst/>
            <a:rect l="0" t="0" r="r" b="b"/>
            <a:pathLst>
              <a:path w="382" h="376">
                <a:moveTo>
                  <a:pt x="365" y="7"/>
                </a:moveTo>
                <a:cubicBezTo>
                  <a:pt x="346" y="-5"/>
                  <a:pt x="322" y="0"/>
                  <a:pt x="311" y="18"/>
                </a:cubicBezTo>
                <a:lnTo>
                  <a:pt x="143" y="277"/>
                </a:lnTo>
                <a:lnTo>
                  <a:pt x="65" y="205"/>
                </a:lnTo>
                <a:cubicBezTo>
                  <a:pt x="49" y="191"/>
                  <a:pt x="25" y="192"/>
                  <a:pt x="10" y="207"/>
                </a:cubicBezTo>
                <a:cubicBezTo>
                  <a:pt x="-4" y="223"/>
                  <a:pt x="-3" y="247"/>
                  <a:pt x="13" y="262"/>
                </a:cubicBezTo>
                <a:lnTo>
                  <a:pt x="124" y="366"/>
                </a:lnTo>
                <a:cubicBezTo>
                  <a:pt x="131" y="373"/>
                  <a:pt x="141" y="376"/>
                  <a:pt x="150" y="376"/>
                </a:cubicBezTo>
                <a:cubicBezTo>
                  <a:pt x="160" y="376"/>
                  <a:pt x="174" y="372"/>
                  <a:pt x="182" y="358"/>
                </a:cubicBezTo>
                <a:cubicBezTo>
                  <a:pt x="188" y="351"/>
                  <a:pt x="376" y="60"/>
                  <a:pt x="376" y="60"/>
                </a:cubicBezTo>
                <a:cubicBezTo>
                  <a:pt x="388" y="42"/>
                  <a:pt x="383" y="18"/>
                  <a:pt x="365" y="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866880" y="2680920"/>
            <a:ext cx="257436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source .venv/bin/activate   ← Mac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2285640" y="3657240"/>
            <a:ext cx="829080" cy="219600"/>
          </a:xfrm>
          <a:custGeom>
            <a:avLst/>
            <a:gdLst/>
            <a:ahLst/>
            <a:rect l="0" t="0" r="r" b="b"/>
            <a:pathLst>
              <a:path w="2303" h="610">
                <a:moveTo>
                  <a:pt x="0" y="531"/>
                </a:moveTo>
                <a:lnTo>
                  <a:pt x="0" y="80"/>
                </a:lnTo>
                <a:cubicBezTo>
                  <a:pt x="0" y="69"/>
                  <a:pt x="3" y="59"/>
                  <a:pt x="7" y="49"/>
                </a:cubicBezTo>
                <a:cubicBezTo>
                  <a:pt x="11" y="40"/>
                  <a:pt x="16" y="31"/>
                  <a:pt x="24" y="24"/>
                </a:cubicBezTo>
                <a:cubicBezTo>
                  <a:pt x="31" y="16"/>
                  <a:pt x="40" y="11"/>
                  <a:pt x="49" y="7"/>
                </a:cubicBezTo>
                <a:cubicBezTo>
                  <a:pt x="59" y="3"/>
                  <a:pt x="69" y="0"/>
                  <a:pt x="80" y="0"/>
                </a:cubicBezTo>
                <a:lnTo>
                  <a:pt x="2224" y="0"/>
                </a:lnTo>
                <a:cubicBezTo>
                  <a:pt x="2235" y="0"/>
                  <a:pt x="2245" y="3"/>
                  <a:pt x="2254" y="7"/>
                </a:cubicBezTo>
                <a:cubicBezTo>
                  <a:pt x="2264" y="11"/>
                  <a:pt x="2273" y="16"/>
                  <a:pt x="2280" y="24"/>
                </a:cubicBezTo>
                <a:cubicBezTo>
                  <a:pt x="2288" y="31"/>
                  <a:pt x="2293" y="40"/>
                  <a:pt x="2297" y="49"/>
                </a:cubicBezTo>
                <a:cubicBezTo>
                  <a:pt x="2301" y="59"/>
                  <a:pt x="2303" y="69"/>
                  <a:pt x="2303" y="80"/>
                </a:cubicBezTo>
                <a:lnTo>
                  <a:pt x="2303" y="531"/>
                </a:lnTo>
                <a:cubicBezTo>
                  <a:pt x="2303" y="541"/>
                  <a:pt x="2301" y="551"/>
                  <a:pt x="2297" y="561"/>
                </a:cubicBezTo>
                <a:cubicBezTo>
                  <a:pt x="2293" y="571"/>
                  <a:pt x="2288" y="579"/>
                  <a:pt x="2280" y="587"/>
                </a:cubicBezTo>
                <a:cubicBezTo>
                  <a:pt x="2273" y="594"/>
                  <a:pt x="2264" y="600"/>
                  <a:pt x="2254" y="604"/>
                </a:cubicBezTo>
                <a:cubicBezTo>
                  <a:pt x="2245" y="608"/>
                  <a:pt x="2235" y="610"/>
                  <a:pt x="2224" y="610"/>
                </a:cubicBezTo>
                <a:lnTo>
                  <a:pt x="80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40" y="600"/>
                  <a:pt x="31" y="594"/>
                  <a:pt x="24" y="587"/>
                </a:cubicBezTo>
                <a:cubicBezTo>
                  <a:pt x="16" y="579"/>
                  <a:pt x="11" y="571"/>
                  <a:pt x="7" y="561"/>
                </a:cubicBezTo>
                <a:cubicBezTo>
                  <a:pt x="3" y="551"/>
                  <a:pt x="0" y="541"/>
                  <a:pt x="0" y="531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990720" y="3669120"/>
            <a:ext cx="1295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Debe aparecer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2345040" y="3671280"/>
            <a:ext cx="7200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1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(.venv)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690480" y="4214520"/>
            <a:ext cx="10811160" cy="638640"/>
          </a:xfrm>
          <a:custGeom>
            <a:avLst/>
            <a:gdLst/>
            <a:ahLst/>
            <a:rect l="0" t="0" r="r" b="b"/>
            <a:pathLst>
              <a:path w="30031" h="1774">
                <a:moveTo>
                  <a:pt x="0" y="1681"/>
                </a:moveTo>
                <a:lnTo>
                  <a:pt x="0" y="93"/>
                </a:lnTo>
                <a:cubicBezTo>
                  <a:pt x="0" y="81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3"/>
                  <a:pt x="29974" y="7"/>
                </a:cubicBezTo>
                <a:cubicBezTo>
                  <a:pt x="29985" y="12"/>
                  <a:pt x="29995" y="19"/>
                  <a:pt x="30004" y="27"/>
                </a:cubicBezTo>
                <a:cubicBezTo>
                  <a:pt x="30012" y="36"/>
                  <a:pt x="30019" y="46"/>
                  <a:pt x="30024" y="57"/>
                </a:cubicBezTo>
                <a:cubicBezTo>
                  <a:pt x="30029" y="69"/>
                  <a:pt x="30031" y="81"/>
                  <a:pt x="30031" y="93"/>
                </a:cubicBezTo>
                <a:lnTo>
                  <a:pt x="30031" y="1681"/>
                </a:lnTo>
                <a:cubicBezTo>
                  <a:pt x="30031" y="1694"/>
                  <a:pt x="30029" y="1706"/>
                  <a:pt x="30024" y="1717"/>
                </a:cubicBezTo>
                <a:cubicBezTo>
                  <a:pt x="30019" y="1728"/>
                  <a:pt x="30012" y="1738"/>
                  <a:pt x="30004" y="1747"/>
                </a:cubicBezTo>
                <a:cubicBezTo>
                  <a:pt x="29995" y="1756"/>
                  <a:pt x="29985" y="1762"/>
                  <a:pt x="29974" y="1767"/>
                </a:cubicBezTo>
                <a:cubicBezTo>
                  <a:pt x="29962" y="1772"/>
                  <a:pt x="29951" y="1774"/>
                  <a:pt x="29938" y="1774"/>
                </a:cubicBezTo>
                <a:lnTo>
                  <a:pt x="92" y="1774"/>
                </a:lnTo>
                <a:cubicBezTo>
                  <a:pt x="80" y="1774"/>
                  <a:pt x="68" y="1772"/>
                  <a:pt x="57" y="1767"/>
                </a:cubicBezTo>
                <a:cubicBezTo>
                  <a:pt x="46" y="1762"/>
                  <a:pt x="36" y="1756"/>
                  <a:pt x="27" y="1747"/>
                </a:cubicBezTo>
                <a:cubicBezTo>
                  <a:pt x="18" y="1738"/>
                  <a:pt x="11" y="1728"/>
                  <a:pt x="7" y="1717"/>
                </a:cubicBezTo>
                <a:cubicBezTo>
                  <a:pt x="2" y="1706"/>
                  <a:pt x="0" y="1694"/>
                  <a:pt x="0" y="1681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690480" y="4214520"/>
            <a:ext cx="10811160" cy="638640"/>
          </a:xfrm>
          <a:custGeom>
            <a:avLst/>
            <a:gdLst/>
            <a:ahLst/>
            <a:rect l="0" t="0" r="r" b="b"/>
            <a:pathLst>
              <a:path w="30031" h="1774">
                <a:moveTo>
                  <a:pt x="0" y="1681"/>
                </a:moveTo>
                <a:lnTo>
                  <a:pt x="0" y="93"/>
                </a:lnTo>
                <a:cubicBezTo>
                  <a:pt x="0" y="81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3"/>
                  <a:pt x="29974" y="7"/>
                </a:cubicBezTo>
                <a:cubicBezTo>
                  <a:pt x="29985" y="12"/>
                  <a:pt x="29995" y="19"/>
                  <a:pt x="30004" y="27"/>
                </a:cubicBezTo>
                <a:cubicBezTo>
                  <a:pt x="30012" y="36"/>
                  <a:pt x="30019" y="46"/>
                  <a:pt x="30024" y="57"/>
                </a:cubicBezTo>
                <a:cubicBezTo>
                  <a:pt x="30029" y="69"/>
                  <a:pt x="30031" y="81"/>
                  <a:pt x="30031" y="93"/>
                </a:cubicBezTo>
                <a:lnTo>
                  <a:pt x="30031" y="1681"/>
                </a:lnTo>
                <a:cubicBezTo>
                  <a:pt x="30031" y="1694"/>
                  <a:pt x="30029" y="1706"/>
                  <a:pt x="30024" y="1717"/>
                </a:cubicBezTo>
                <a:cubicBezTo>
                  <a:pt x="30019" y="1728"/>
                  <a:pt x="30012" y="1738"/>
                  <a:pt x="30004" y="1747"/>
                </a:cubicBezTo>
                <a:cubicBezTo>
                  <a:pt x="29995" y="1756"/>
                  <a:pt x="29985" y="1762"/>
                  <a:pt x="29974" y="1767"/>
                </a:cubicBezTo>
                <a:cubicBezTo>
                  <a:pt x="29962" y="1772"/>
                  <a:pt x="29951" y="1774"/>
                  <a:pt x="29938" y="1774"/>
                </a:cubicBezTo>
                <a:lnTo>
                  <a:pt x="92" y="1774"/>
                </a:lnTo>
                <a:cubicBezTo>
                  <a:pt x="80" y="1774"/>
                  <a:pt x="68" y="1772"/>
                  <a:pt x="57" y="1767"/>
                </a:cubicBezTo>
                <a:cubicBezTo>
                  <a:pt x="46" y="1762"/>
                  <a:pt x="36" y="1756"/>
                  <a:pt x="27" y="1747"/>
                </a:cubicBezTo>
                <a:cubicBezTo>
                  <a:pt x="18" y="1738"/>
                  <a:pt x="11" y="1728"/>
                  <a:pt x="7" y="1717"/>
                </a:cubicBezTo>
                <a:cubicBezTo>
                  <a:pt x="2" y="1706"/>
                  <a:pt x="0" y="1694"/>
                  <a:pt x="0" y="1681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3118680" y="36691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866880" y="4366800"/>
            <a:ext cx="195048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pip install --upgrade pip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685440" y="5229000"/>
            <a:ext cx="10820880" cy="429120"/>
          </a:xfrm>
          <a:custGeom>
            <a:avLst/>
            <a:gdLst/>
            <a:ahLst/>
            <a:rect l="0" t="0" r="r" b="b"/>
            <a:pathLst>
              <a:path w="30058" h="1192">
                <a:moveTo>
                  <a:pt x="0" y="0"/>
                </a:moveTo>
                <a:lnTo>
                  <a:pt x="30058" y="0"/>
                </a:lnTo>
                <a:lnTo>
                  <a:pt x="3005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685440" y="5229000"/>
            <a:ext cx="29160" cy="429120"/>
          </a:xfrm>
          <a:custGeom>
            <a:avLst/>
            <a:gdLst/>
            <a:ahLst/>
            <a:rect l="0" t="0" r="r" b="b"/>
            <a:pathLst>
              <a:path w="81" h="1192">
                <a:moveTo>
                  <a:pt x="0" y="0"/>
                </a:moveTo>
                <a:lnTo>
                  <a:pt x="81" y="0"/>
                </a:lnTo>
                <a:lnTo>
                  <a:pt x="81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866880" y="4547880"/>
            <a:ext cx="241848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pip install -r requirements.txt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2705040" y="5333760"/>
            <a:ext cx="1238400" cy="219600"/>
          </a:xfrm>
          <a:custGeom>
            <a:avLst/>
            <a:gdLst/>
            <a:ahLst/>
            <a:rect l="0" t="0" r="r" b="b"/>
            <a:pathLst>
              <a:path w="3440" h="610">
                <a:moveTo>
                  <a:pt x="0" y="530"/>
                </a:moveTo>
                <a:lnTo>
                  <a:pt x="0" y="81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lnTo>
                  <a:pt x="3361" y="0"/>
                </a:lnTo>
                <a:cubicBezTo>
                  <a:pt x="3371" y="0"/>
                  <a:pt x="3382" y="2"/>
                  <a:pt x="3391" y="6"/>
                </a:cubicBezTo>
                <a:cubicBezTo>
                  <a:pt x="3401" y="10"/>
                  <a:pt x="3410" y="16"/>
                  <a:pt x="3417" y="23"/>
                </a:cubicBezTo>
                <a:cubicBezTo>
                  <a:pt x="3424" y="31"/>
                  <a:pt x="3430" y="39"/>
                  <a:pt x="3434" y="49"/>
                </a:cubicBezTo>
                <a:cubicBezTo>
                  <a:pt x="3438" y="59"/>
                  <a:pt x="3440" y="69"/>
                  <a:pt x="3440" y="81"/>
                </a:cubicBezTo>
                <a:lnTo>
                  <a:pt x="3440" y="530"/>
                </a:lnTo>
                <a:cubicBezTo>
                  <a:pt x="3440" y="541"/>
                  <a:pt x="3438" y="551"/>
                  <a:pt x="3434" y="561"/>
                </a:cubicBezTo>
                <a:cubicBezTo>
                  <a:pt x="3430" y="570"/>
                  <a:pt x="3424" y="579"/>
                  <a:pt x="3417" y="586"/>
                </a:cubicBezTo>
                <a:cubicBezTo>
                  <a:pt x="3410" y="594"/>
                  <a:pt x="3401" y="600"/>
                  <a:pt x="3391" y="604"/>
                </a:cubicBezTo>
                <a:cubicBezTo>
                  <a:pt x="3382" y="608"/>
                  <a:pt x="3371" y="610"/>
                  <a:pt x="3361" y="610"/>
                </a:cubicBezTo>
                <a:lnTo>
                  <a:pt x="79" y="610"/>
                </a:lnTo>
                <a:cubicBezTo>
                  <a:pt x="69" y="610"/>
                  <a:pt x="58" y="608"/>
                  <a:pt x="49" y="604"/>
                </a:cubicBezTo>
                <a:cubicBezTo>
                  <a:pt x="39" y="600"/>
                  <a:pt x="30" y="594"/>
                  <a:pt x="23" y="586"/>
                </a:cubicBezTo>
                <a:cubicBezTo>
                  <a:pt x="15" y="579"/>
                  <a:pt x="10" y="570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990720" y="5345280"/>
            <a:ext cx="17082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Instala el simulador (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2758680" y="5347800"/>
            <a:ext cx="113112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highway-env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5486040" y="5333760"/>
            <a:ext cx="1848240" cy="219600"/>
          </a:xfrm>
          <a:custGeom>
            <a:avLst/>
            <a:gdLst/>
            <a:ahLst/>
            <a:rect l="0" t="0" r="r" b="b"/>
            <a:pathLst>
              <a:path w="5134" h="610">
                <a:moveTo>
                  <a:pt x="0" y="530"/>
                </a:moveTo>
                <a:lnTo>
                  <a:pt x="0" y="81"/>
                </a:lnTo>
                <a:cubicBezTo>
                  <a:pt x="0" y="69"/>
                  <a:pt x="3" y="59"/>
                  <a:pt x="7" y="49"/>
                </a:cubicBezTo>
                <a:cubicBezTo>
                  <a:pt x="11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5055" y="0"/>
                </a:lnTo>
                <a:cubicBezTo>
                  <a:pt x="5066" y="0"/>
                  <a:pt x="5076" y="2"/>
                  <a:pt x="5085" y="6"/>
                </a:cubicBezTo>
                <a:cubicBezTo>
                  <a:pt x="5095" y="10"/>
                  <a:pt x="5104" y="16"/>
                  <a:pt x="5111" y="23"/>
                </a:cubicBezTo>
                <a:cubicBezTo>
                  <a:pt x="5119" y="31"/>
                  <a:pt x="5124" y="39"/>
                  <a:pt x="5128" y="49"/>
                </a:cubicBezTo>
                <a:cubicBezTo>
                  <a:pt x="5132" y="59"/>
                  <a:pt x="5134" y="69"/>
                  <a:pt x="5134" y="81"/>
                </a:cubicBezTo>
                <a:lnTo>
                  <a:pt x="5134" y="530"/>
                </a:lnTo>
                <a:cubicBezTo>
                  <a:pt x="5134" y="541"/>
                  <a:pt x="5132" y="551"/>
                  <a:pt x="5128" y="561"/>
                </a:cubicBezTo>
                <a:cubicBezTo>
                  <a:pt x="5124" y="570"/>
                  <a:pt x="5119" y="579"/>
                  <a:pt x="5111" y="586"/>
                </a:cubicBezTo>
                <a:cubicBezTo>
                  <a:pt x="5104" y="594"/>
                  <a:pt x="5095" y="600"/>
                  <a:pt x="5085" y="604"/>
                </a:cubicBezTo>
                <a:cubicBezTo>
                  <a:pt x="5076" y="608"/>
                  <a:pt x="5066" y="610"/>
                  <a:pt x="5055" y="610"/>
                </a:cubicBezTo>
                <a:lnTo>
                  <a:pt x="80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40" y="600"/>
                  <a:pt x="31" y="594"/>
                  <a:pt x="24" y="586"/>
                </a:cubicBezTo>
                <a:cubicBezTo>
                  <a:pt x="16" y="579"/>
                  <a:pt x="11" y="570"/>
                  <a:pt x="7" y="561"/>
                </a:cubicBezTo>
                <a:cubicBezTo>
                  <a:pt x="3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3941640" y="5345280"/>
            <a:ext cx="15393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), la librería de RL (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5540400" y="5347800"/>
            <a:ext cx="17478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stable-baselines3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685440" y="10094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7337880" y="5345280"/>
            <a:ext cx="26938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) y PyTorch. Tarda unos minutos.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685800" y="632520"/>
            <a:ext cx="6674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Paso 1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1355040" y="638640"/>
            <a:ext cx="2091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7181640" y="981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1413000" y="632520"/>
            <a:ext cx="28540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 Entorno de CP5 + dependencias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CP5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1040400" y="6517080"/>
            <a:ext cx="1227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RL en highway-env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2267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2309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3208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3250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36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7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690480" y="129996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8"/>
                </a:moveTo>
                <a:lnTo>
                  <a:pt x="0" y="93"/>
                </a:lnTo>
                <a:cubicBezTo>
                  <a:pt x="0" y="80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2"/>
                  <a:pt x="29995" y="19"/>
                  <a:pt x="30004" y="27"/>
                </a:cubicBezTo>
                <a:cubicBezTo>
                  <a:pt x="30012" y="36"/>
                  <a:pt x="30019" y="46"/>
                  <a:pt x="30024" y="57"/>
                </a:cubicBezTo>
                <a:cubicBezTo>
                  <a:pt x="30029" y="69"/>
                  <a:pt x="30031" y="80"/>
                  <a:pt x="30031" y="93"/>
                </a:cubicBezTo>
                <a:lnTo>
                  <a:pt x="30031" y="1178"/>
                </a:lnTo>
                <a:cubicBezTo>
                  <a:pt x="30031" y="1191"/>
                  <a:pt x="30029" y="1203"/>
                  <a:pt x="30024" y="1214"/>
                </a:cubicBezTo>
                <a:cubicBezTo>
                  <a:pt x="30019" y="1225"/>
                  <a:pt x="30012" y="1235"/>
                  <a:pt x="30004" y="1244"/>
                </a:cubicBezTo>
                <a:cubicBezTo>
                  <a:pt x="29995" y="1253"/>
                  <a:pt x="29985" y="1259"/>
                  <a:pt x="29974" y="1264"/>
                </a:cubicBezTo>
                <a:cubicBezTo>
                  <a:pt x="29962" y="1269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9"/>
                  <a:pt x="57" y="1264"/>
                </a:cubicBezTo>
                <a:cubicBezTo>
                  <a:pt x="46" y="1259"/>
                  <a:pt x="36" y="1253"/>
                  <a:pt x="27" y="1244"/>
                </a:cubicBezTo>
                <a:cubicBezTo>
                  <a:pt x="18" y="1235"/>
                  <a:pt x="11" y="1225"/>
                  <a:pt x="7" y="1214"/>
                </a:cubicBezTo>
                <a:cubicBezTo>
                  <a:pt x="2" y="1203"/>
                  <a:pt x="0" y="1191"/>
                  <a:pt x="0" y="1178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690480" y="129996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8"/>
                </a:moveTo>
                <a:lnTo>
                  <a:pt x="0" y="93"/>
                </a:lnTo>
                <a:cubicBezTo>
                  <a:pt x="0" y="80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2"/>
                  <a:pt x="29995" y="19"/>
                  <a:pt x="30004" y="27"/>
                </a:cubicBezTo>
                <a:cubicBezTo>
                  <a:pt x="30012" y="36"/>
                  <a:pt x="30019" y="46"/>
                  <a:pt x="30024" y="57"/>
                </a:cubicBezTo>
                <a:cubicBezTo>
                  <a:pt x="30029" y="69"/>
                  <a:pt x="30031" y="80"/>
                  <a:pt x="30031" y="93"/>
                </a:cubicBezTo>
                <a:lnTo>
                  <a:pt x="30031" y="1178"/>
                </a:lnTo>
                <a:cubicBezTo>
                  <a:pt x="30031" y="1191"/>
                  <a:pt x="30029" y="1203"/>
                  <a:pt x="30024" y="1214"/>
                </a:cubicBezTo>
                <a:cubicBezTo>
                  <a:pt x="30019" y="1225"/>
                  <a:pt x="30012" y="1235"/>
                  <a:pt x="30004" y="1244"/>
                </a:cubicBezTo>
                <a:cubicBezTo>
                  <a:pt x="29995" y="1253"/>
                  <a:pt x="29985" y="1259"/>
                  <a:pt x="29974" y="1264"/>
                </a:cubicBezTo>
                <a:cubicBezTo>
                  <a:pt x="29962" y="1269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9"/>
                  <a:pt x="57" y="1264"/>
                </a:cubicBezTo>
                <a:cubicBezTo>
                  <a:pt x="46" y="1259"/>
                  <a:pt x="36" y="1253"/>
                  <a:pt x="27" y="1244"/>
                </a:cubicBezTo>
                <a:cubicBezTo>
                  <a:pt x="18" y="1235"/>
                  <a:pt x="11" y="1225"/>
                  <a:pt x="7" y="1214"/>
                </a:cubicBezTo>
                <a:cubicBezTo>
                  <a:pt x="2" y="1203"/>
                  <a:pt x="0" y="1191"/>
                  <a:pt x="0" y="117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866880" y="1452240"/>
            <a:ext cx="124848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jupyter notebook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1333440" y="1942920"/>
            <a:ext cx="1552680" cy="219600"/>
          </a:xfrm>
          <a:custGeom>
            <a:avLst/>
            <a:gdLst/>
            <a:ahLst/>
            <a:rect l="0" t="0" r="r" b="b"/>
            <a:pathLst>
              <a:path w="4313" h="610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lnTo>
                  <a:pt x="4234" y="0"/>
                </a:lnTo>
                <a:cubicBezTo>
                  <a:pt x="4245" y="0"/>
                  <a:pt x="4255" y="2"/>
                  <a:pt x="4264" y="6"/>
                </a:cubicBezTo>
                <a:cubicBezTo>
                  <a:pt x="4274" y="10"/>
                  <a:pt x="4283" y="16"/>
                  <a:pt x="4290" y="23"/>
                </a:cubicBezTo>
                <a:cubicBezTo>
                  <a:pt x="4298" y="31"/>
                  <a:pt x="4303" y="39"/>
                  <a:pt x="4307" y="49"/>
                </a:cubicBezTo>
                <a:cubicBezTo>
                  <a:pt x="4311" y="59"/>
                  <a:pt x="4313" y="69"/>
                  <a:pt x="4313" y="79"/>
                </a:cubicBezTo>
                <a:lnTo>
                  <a:pt x="4313" y="530"/>
                </a:lnTo>
                <a:cubicBezTo>
                  <a:pt x="4313" y="541"/>
                  <a:pt x="4311" y="551"/>
                  <a:pt x="4307" y="561"/>
                </a:cubicBezTo>
                <a:cubicBezTo>
                  <a:pt x="4303" y="570"/>
                  <a:pt x="4298" y="579"/>
                  <a:pt x="4290" y="586"/>
                </a:cubicBezTo>
                <a:cubicBezTo>
                  <a:pt x="4283" y="594"/>
                  <a:pt x="4274" y="599"/>
                  <a:pt x="4264" y="603"/>
                </a:cubicBezTo>
                <a:cubicBezTo>
                  <a:pt x="4255" y="608"/>
                  <a:pt x="4245" y="610"/>
                  <a:pt x="4234" y="610"/>
                </a:cubicBezTo>
                <a:lnTo>
                  <a:pt x="79" y="610"/>
                </a:lnTo>
                <a:cubicBezTo>
                  <a:pt x="69" y="610"/>
                  <a:pt x="58" y="608"/>
                  <a:pt x="49" y="603"/>
                </a:cubicBezTo>
                <a:cubicBezTo>
                  <a:pt x="39" y="599"/>
                  <a:pt x="30" y="594"/>
                  <a:pt x="23" y="586"/>
                </a:cubicBezTo>
                <a:cubicBezTo>
                  <a:pt x="15" y="579"/>
                  <a:pt x="10" y="570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685800" y="1954440"/>
            <a:ext cx="6508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Ejecute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1394640" y="1956600"/>
            <a:ext cx="1439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02_setup.ipynb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6143400" y="1942920"/>
            <a:ext cx="1848240" cy="219600"/>
          </a:xfrm>
          <a:custGeom>
            <a:avLst/>
            <a:gdLst/>
            <a:ahLst/>
            <a:rect l="0" t="0" r="r" b="b"/>
            <a:pathLst>
              <a:path w="5134" h="610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5055" y="0"/>
                </a:lnTo>
                <a:cubicBezTo>
                  <a:pt x="5065" y="0"/>
                  <a:pt x="5075" y="2"/>
                  <a:pt x="5085" y="6"/>
                </a:cubicBezTo>
                <a:cubicBezTo>
                  <a:pt x="5095" y="10"/>
                  <a:pt x="5103" y="16"/>
                  <a:pt x="5111" y="23"/>
                </a:cubicBezTo>
                <a:cubicBezTo>
                  <a:pt x="5118" y="31"/>
                  <a:pt x="5124" y="39"/>
                  <a:pt x="5128" y="49"/>
                </a:cubicBezTo>
                <a:cubicBezTo>
                  <a:pt x="5132" y="59"/>
                  <a:pt x="5134" y="69"/>
                  <a:pt x="5134" y="79"/>
                </a:cubicBezTo>
                <a:lnTo>
                  <a:pt x="5134" y="530"/>
                </a:lnTo>
                <a:cubicBezTo>
                  <a:pt x="5134" y="541"/>
                  <a:pt x="5132" y="551"/>
                  <a:pt x="5128" y="561"/>
                </a:cubicBezTo>
                <a:cubicBezTo>
                  <a:pt x="5124" y="570"/>
                  <a:pt x="5118" y="579"/>
                  <a:pt x="5111" y="586"/>
                </a:cubicBezTo>
                <a:cubicBezTo>
                  <a:pt x="5103" y="594"/>
                  <a:pt x="5095" y="599"/>
                  <a:pt x="5085" y="603"/>
                </a:cubicBezTo>
                <a:cubicBezTo>
                  <a:pt x="5075" y="608"/>
                  <a:pt x="5065" y="610"/>
                  <a:pt x="5055" y="610"/>
                </a:cubicBezTo>
                <a:lnTo>
                  <a:pt x="79" y="610"/>
                </a:lnTo>
                <a:cubicBezTo>
                  <a:pt x="69" y="610"/>
                  <a:pt x="59" y="608"/>
                  <a:pt x="49" y="603"/>
                </a:cubicBezTo>
                <a:cubicBezTo>
                  <a:pt x="39" y="599"/>
                  <a:pt x="31" y="594"/>
                  <a:pt x="23" y="586"/>
                </a:cubicBezTo>
                <a:cubicBezTo>
                  <a:pt x="16" y="579"/>
                  <a:pt x="10" y="570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2884680" y="1954440"/>
            <a:ext cx="3249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entero. Comprueba que el simulador y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6196320" y="1956600"/>
            <a:ext cx="17478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stable-baselines3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7993800" y="1954440"/>
            <a:ext cx="34801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están bien (incluye un mini-entrenamiento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3286080" y="2228760"/>
            <a:ext cx="1238400" cy="219240"/>
          </a:xfrm>
          <a:custGeom>
            <a:avLst/>
            <a:gdLst/>
            <a:ahLst/>
            <a:rect l="0" t="0" r="r" b="b"/>
            <a:pathLst>
              <a:path w="3440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5" y="30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lnTo>
                  <a:pt x="3361" y="0"/>
                </a:lnTo>
                <a:cubicBezTo>
                  <a:pt x="3371" y="0"/>
                  <a:pt x="3381" y="2"/>
                  <a:pt x="3391" y="6"/>
                </a:cubicBezTo>
                <a:cubicBezTo>
                  <a:pt x="3401" y="10"/>
                  <a:pt x="3410" y="16"/>
                  <a:pt x="3417" y="23"/>
                </a:cubicBezTo>
                <a:cubicBezTo>
                  <a:pt x="3424" y="30"/>
                  <a:pt x="3430" y="39"/>
                  <a:pt x="3434" y="49"/>
                </a:cubicBezTo>
                <a:cubicBezTo>
                  <a:pt x="3438" y="58"/>
                  <a:pt x="3440" y="69"/>
                  <a:pt x="3440" y="79"/>
                </a:cubicBezTo>
                <a:lnTo>
                  <a:pt x="3440" y="530"/>
                </a:lnTo>
                <a:cubicBezTo>
                  <a:pt x="3440" y="540"/>
                  <a:pt x="3438" y="551"/>
                  <a:pt x="3434" y="560"/>
                </a:cubicBezTo>
                <a:cubicBezTo>
                  <a:pt x="3430" y="570"/>
                  <a:pt x="3424" y="579"/>
                  <a:pt x="3417" y="586"/>
                </a:cubicBezTo>
                <a:cubicBezTo>
                  <a:pt x="3410" y="593"/>
                  <a:pt x="3401" y="599"/>
                  <a:pt x="3391" y="603"/>
                </a:cubicBezTo>
                <a:cubicBezTo>
                  <a:pt x="3381" y="607"/>
                  <a:pt x="3371" y="609"/>
                  <a:pt x="3361" y="609"/>
                </a:cubicBezTo>
                <a:lnTo>
                  <a:pt x="79" y="609"/>
                </a:lnTo>
                <a:cubicBezTo>
                  <a:pt x="68" y="609"/>
                  <a:pt x="58" y="607"/>
                  <a:pt x="49" y="603"/>
                </a:cubicBezTo>
                <a:cubicBezTo>
                  <a:pt x="39" y="599"/>
                  <a:pt x="30" y="593"/>
                  <a:pt x="23" y="586"/>
                </a:cubicBezTo>
                <a:cubicBezTo>
                  <a:pt x="15" y="579"/>
                  <a:pt x="10" y="570"/>
                  <a:pt x="6" y="560"/>
                </a:cubicBezTo>
                <a:cubicBezTo>
                  <a:pt x="2" y="551"/>
                  <a:pt x="0" y="540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3362040" y="2247840"/>
            <a:ext cx="172080" cy="171720"/>
          </a:xfrm>
          <a:custGeom>
            <a:avLst/>
            <a:gdLst/>
            <a:ahLst/>
            <a:rect l="0" t="0" r="r" b="b"/>
            <a:pathLst>
              <a:path w="478" h="477">
                <a:moveTo>
                  <a:pt x="478" y="424"/>
                </a:moveTo>
                <a:cubicBezTo>
                  <a:pt x="478" y="453"/>
                  <a:pt x="454" y="477"/>
                  <a:pt x="425" y="477"/>
                </a:cubicBezTo>
                <a:lnTo>
                  <a:pt x="53" y="477"/>
                </a:lnTo>
                <a:cubicBezTo>
                  <a:pt x="24" y="477"/>
                  <a:pt x="0" y="453"/>
                  <a:pt x="0" y="424"/>
                </a:cubicBezTo>
                <a:lnTo>
                  <a:pt x="0" y="53"/>
                </a:lnTo>
                <a:cubicBezTo>
                  <a:pt x="0" y="23"/>
                  <a:pt x="24" y="0"/>
                  <a:pt x="53" y="0"/>
                </a:cubicBezTo>
                <a:lnTo>
                  <a:pt x="425" y="0"/>
                </a:lnTo>
                <a:cubicBezTo>
                  <a:pt x="454" y="0"/>
                  <a:pt x="478" y="23"/>
                  <a:pt x="478" y="53"/>
                </a:cubicBezTo>
                <a:lnTo>
                  <a:pt x="478" y="424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3389400" y="2276280"/>
            <a:ext cx="118080" cy="115920"/>
          </a:xfrm>
          <a:custGeom>
            <a:avLst/>
            <a:gdLst/>
            <a:ahLst/>
            <a:rect l="0" t="0" r="r" b="b"/>
            <a:pathLst>
              <a:path w="328" h="322">
                <a:moveTo>
                  <a:pt x="313" y="5"/>
                </a:moveTo>
                <a:cubicBezTo>
                  <a:pt x="297" y="-5"/>
                  <a:pt x="277" y="-1"/>
                  <a:pt x="267" y="15"/>
                </a:cubicBezTo>
                <a:lnTo>
                  <a:pt x="122" y="237"/>
                </a:lnTo>
                <a:lnTo>
                  <a:pt x="55" y="175"/>
                </a:lnTo>
                <a:cubicBezTo>
                  <a:pt x="42" y="163"/>
                  <a:pt x="21" y="163"/>
                  <a:pt x="9" y="177"/>
                </a:cubicBezTo>
                <a:cubicBezTo>
                  <a:pt x="-4" y="190"/>
                  <a:pt x="-3" y="211"/>
                  <a:pt x="10" y="224"/>
                </a:cubicBezTo>
                <a:lnTo>
                  <a:pt x="106" y="313"/>
                </a:lnTo>
                <a:cubicBezTo>
                  <a:pt x="112" y="319"/>
                  <a:pt x="120" y="322"/>
                  <a:pt x="128" y="322"/>
                </a:cubicBezTo>
                <a:cubicBezTo>
                  <a:pt x="137" y="322"/>
                  <a:pt x="149" y="318"/>
                  <a:pt x="156" y="307"/>
                </a:cubicBezTo>
                <a:cubicBezTo>
                  <a:pt x="160" y="300"/>
                  <a:pt x="322" y="51"/>
                  <a:pt x="322" y="51"/>
                </a:cubicBezTo>
                <a:cubicBezTo>
                  <a:pt x="332" y="35"/>
                  <a:pt x="328" y="15"/>
                  <a:pt x="313" y="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685800" y="2240280"/>
            <a:ext cx="25988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 prueba). Debe terminar con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3541680" y="2242440"/>
            <a:ext cx="92556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 Setup OK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685440" y="2866680"/>
            <a:ext cx="10820880" cy="629280"/>
          </a:xfrm>
          <a:custGeom>
            <a:avLst/>
            <a:gdLst/>
            <a:ahLst/>
            <a:rect l="0" t="0" r="r" b="b"/>
            <a:pathLst>
              <a:path w="30058" h="1748">
                <a:moveTo>
                  <a:pt x="0" y="0"/>
                </a:moveTo>
                <a:lnTo>
                  <a:pt x="30058" y="0"/>
                </a:lnTo>
                <a:lnTo>
                  <a:pt x="30058" y="1748"/>
                </a:lnTo>
                <a:lnTo>
                  <a:pt x="0" y="1748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685440" y="2866680"/>
            <a:ext cx="29160" cy="629280"/>
          </a:xfrm>
          <a:custGeom>
            <a:avLst/>
            <a:gdLst/>
            <a:ahLst/>
            <a:rect l="0" t="0" r="r" b="b"/>
            <a:pathLst>
              <a:path w="81" h="1748">
                <a:moveTo>
                  <a:pt x="0" y="0"/>
                </a:moveTo>
                <a:lnTo>
                  <a:pt x="81" y="0"/>
                </a:lnTo>
                <a:lnTo>
                  <a:pt x="81" y="1748"/>
                </a:lnTo>
                <a:lnTo>
                  <a:pt x="0" y="174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1026000" y="2972520"/>
            <a:ext cx="167040" cy="161280"/>
          </a:xfrm>
          <a:custGeom>
            <a:avLst/>
            <a:gdLst/>
            <a:ahLst/>
            <a:rect l="0" t="0" r="r" b="b"/>
            <a:pathLst>
              <a:path w="464" h="448">
                <a:moveTo>
                  <a:pt x="325" y="0"/>
                </a:moveTo>
                <a:cubicBezTo>
                  <a:pt x="279" y="0"/>
                  <a:pt x="279" y="16"/>
                  <a:pt x="233" y="16"/>
                </a:cubicBezTo>
                <a:cubicBezTo>
                  <a:pt x="187" y="16"/>
                  <a:pt x="187" y="0"/>
                  <a:pt x="139" y="0"/>
                </a:cubicBezTo>
                <a:cubicBezTo>
                  <a:pt x="78" y="0"/>
                  <a:pt x="0" y="32"/>
                  <a:pt x="0" y="140"/>
                </a:cubicBezTo>
                <a:cubicBezTo>
                  <a:pt x="0" y="309"/>
                  <a:pt x="93" y="448"/>
                  <a:pt x="155" y="448"/>
                </a:cubicBezTo>
                <a:cubicBezTo>
                  <a:pt x="202" y="448"/>
                  <a:pt x="202" y="433"/>
                  <a:pt x="233" y="433"/>
                </a:cubicBezTo>
                <a:cubicBezTo>
                  <a:pt x="264" y="433"/>
                  <a:pt x="264" y="448"/>
                  <a:pt x="310" y="448"/>
                </a:cubicBezTo>
                <a:cubicBezTo>
                  <a:pt x="372" y="448"/>
                  <a:pt x="464" y="309"/>
                  <a:pt x="464" y="140"/>
                </a:cubicBezTo>
                <a:cubicBezTo>
                  <a:pt x="464" y="32"/>
                  <a:pt x="387" y="0"/>
                  <a:pt x="325" y="0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1114920" y="2950200"/>
            <a:ext cx="78120" cy="28080"/>
          </a:xfrm>
          <a:custGeom>
            <a:avLst/>
            <a:gdLst/>
            <a:ahLst/>
            <a:rect l="0" t="0" r="r" b="b"/>
            <a:pathLst>
              <a:path w="217" h="78">
                <a:moveTo>
                  <a:pt x="0" y="63"/>
                </a:moveTo>
                <a:cubicBezTo>
                  <a:pt x="0" y="63"/>
                  <a:pt x="48" y="0"/>
                  <a:pt x="125" y="0"/>
                </a:cubicBezTo>
                <a:cubicBezTo>
                  <a:pt x="187" y="0"/>
                  <a:pt x="217" y="32"/>
                  <a:pt x="217" y="32"/>
                </a:cubicBezTo>
                <a:cubicBezTo>
                  <a:pt x="217" y="32"/>
                  <a:pt x="156" y="78"/>
                  <a:pt x="109" y="78"/>
                </a:cubicBezTo>
                <a:cubicBezTo>
                  <a:pt x="63" y="78"/>
                  <a:pt x="0" y="63"/>
                  <a:pt x="0" y="63"/>
                </a:cubicBez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1103760" y="2933640"/>
            <a:ext cx="28440" cy="55800"/>
          </a:xfrm>
          <a:custGeom>
            <a:avLst/>
            <a:gdLst/>
            <a:ahLst/>
            <a:rect l="0" t="0" r="r" b="b"/>
            <a:pathLst>
              <a:path w="79" h="155">
                <a:moveTo>
                  <a:pt x="16" y="155"/>
                </a:moveTo>
                <a:cubicBezTo>
                  <a:pt x="7" y="155"/>
                  <a:pt x="0" y="148"/>
                  <a:pt x="0" y="140"/>
                </a:cubicBezTo>
                <a:cubicBezTo>
                  <a:pt x="0" y="85"/>
                  <a:pt x="19" y="36"/>
                  <a:pt x="51" y="4"/>
                </a:cubicBezTo>
                <a:cubicBezTo>
                  <a:pt x="55" y="1"/>
                  <a:pt x="59" y="0"/>
                  <a:pt x="63" y="0"/>
                </a:cubicBezTo>
                <a:lnTo>
                  <a:pt x="64" y="0"/>
                </a:lnTo>
                <a:cubicBezTo>
                  <a:pt x="67" y="0"/>
                  <a:pt x="71" y="1"/>
                  <a:pt x="74" y="4"/>
                </a:cubicBezTo>
                <a:cubicBezTo>
                  <a:pt x="80" y="10"/>
                  <a:pt x="80" y="20"/>
                  <a:pt x="74" y="26"/>
                </a:cubicBezTo>
                <a:cubicBezTo>
                  <a:pt x="47" y="53"/>
                  <a:pt x="31" y="95"/>
                  <a:pt x="31" y="140"/>
                </a:cubicBezTo>
                <a:cubicBezTo>
                  <a:pt x="31" y="148"/>
                  <a:pt x="24" y="155"/>
                  <a:pt x="16" y="155"/>
                </a:cubicBezTo>
                <a:close/>
              </a:path>
            </a:pathLst>
          </a:custGeom>
          <a:solidFill>
            <a:srgbClr val="66211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4520160" y="224028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2333520" y="3162240"/>
            <a:ext cx="3905640" cy="219240"/>
          </a:xfrm>
          <a:custGeom>
            <a:avLst/>
            <a:gdLst/>
            <a:ahLst/>
            <a:rect l="0" t="0" r="r" b="b"/>
            <a:pathLst>
              <a:path w="10849" h="609">
                <a:moveTo>
                  <a:pt x="0" y="530"/>
                </a:moveTo>
                <a:lnTo>
                  <a:pt x="0" y="80"/>
                </a:ln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6" y="30"/>
                  <a:pt x="23" y="23"/>
                </a:cubicBezTo>
                <a:cubicBezTo>
                  <a:pt x="30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10769" y="0"/>
                </a:lnTo>
                <a:cubicBezTo>
                  <a:pt x="10780" y="0"/>
                  <a:pt x="10790" y="2"/>
                  <a:pt x="10800" y="6"/>
                </a:cubicBezTo>
                <a:cubicBezTo>
                  <a:pt x="10809" y="10"/>
                  <a:pt x="10818" y="15"/>
                  <a:pt x="10825" y="23"/>
                </a:cubicBezTo>
                <a:cubicBezTo>
                  <a:pt x="10833" y="30"/>
                  <a:pt x="10839" y="40"/>
                  <a:pt x="10843" y="50"/>
                </a:cubicBezTo>
                <a:cubicBezTo>
                  <a:pt x="10847" y="59"/>
                  <a:pt x="10849" y="70"/>
                  <a:pt x="10849" y="80"/>
                </a:cubicBezTo>
                <a:lnTo>
                  <a:pt x="10849" y="530"/>
                </a:lnTo>
                <a:cubicBezTo>
                  <a:pt x="10849" y="540"/>
                  <a:pt x="10847" y="550"/>
                  <a:pt x="10843" y="560"/>
                </a:cubicBezTo>
                <a:cubicBezTo>
                  <a:pt x="10839" y="570"/>
                  <a:pt x="10833" y="579"/>
                  <a:pt x="10825" y="586"/>
                </a:cubicBezTo>
                <a:cubicBezTo>
                  <a:pt x="10818" y="593"/>
                  <a:pt x="10809" y="599"/>
                  <a:pt x="10800" y="603"/>
                </a:cubicBezTo>
                <a:cubicBezTo>
                  <a:pt x="10790" y="607"/>
                  <a:pt x="10780" y="609"/>
                  <a:pt x="10769" y="609"/>
                </a:cubicBezTo>
                <a:lnTo>
                  <a:pt x="79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39" y="599"/>
                  <a:pt x="30" y="593"/>
                  <a:pt x="23" y="586"/>
                </a:cubicBezTo>
                <a:cubicBezTo>
                  <a:pt x="16" y="579"/>
                  <a:pt x="10" y="570"/>
                  <a:pt x="6" y="560"/>
                </a:cubicBezTo>
                <a:cubicBezTo>
                  <a:pt x="2" y="550"/>
                  <a:pt x="0" y="540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990720" y="3173760"/>
            <a:ext cx="13453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Si ve avisos tipo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2395080" y="3175920"/>
            <a:ext cx="38030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objc[...] SDL ... implemented in both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685440" y="1019160"/>
            <a:ext cx="10820880" cy="9720"/>
          </a:xfrm>
          <a:custGeom>
            <a:avLst/>
            <a:gdLst/>
            <a:ahLst/>
            <a:rect l="0" t="0" r="r" b="b"/>
            <a:pathLst>
              <a:path w="30058" h="27">
                <a:moveTo>
                  <a:pt x="0" y="0"/>
                </a:moveTo>
                <a:lnTo>
                  <a:pt x="30058" y="0"/>
                </a:lnTo>
                <a:lnTo>
                  <a:pt x="300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6239520" y="3173760"/>
            <a:ext cx="2411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ignórelos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— son inofensivos.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685800" y="641880"/>
            <a:ext cx="6670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Paso 2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1354680" y="648360"/>
            <a:ext cx="2091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3609720" y="618840"/>
            <a:ext cx="1095840" cy="238680"/>
          </a:xfrm>
          <a:custGeom>
            <a:avLst/>
            <a:gdLst/>
            <a:ahLst/>
            <a:rect l="0" t="0" r="r" b="b"/>
            <a:pathLst>
              <a:path w="3044" h="663">
                <a:moveTo>
                  <a:pt x="0" y="582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2965" y="0"/>
                </a:lnTo>
                <a:cubicBezTo>
                  <a:pt x="2975" y="0"/>
                  <a:pt x="2985" y="2"/>
                  <a:pt x="2995" y="6"/>
                </a:cubicBezTo>
                <a:cubicBezTo>
                  <a:pt x="3005" y="10"/>
                  <a:pt x="3013" y="16"/>
                  <a:pt x="3021" y="24"/>
                </a:cubicBezTo>
                <a:cubicBezTo>
                  <a:pt x="3028" y="31"/>
                  <a:pt x="3034" y="40"/>
                  <a:pt x="3038" y="49"/>
                </a:cubicBezTo>
                <a:cubicBezTo>
                  <a:pt x="3042" y="59"/>
                  <a:pt x="3044" y="69"/>
                  <a:pt x="3044" y="80"/>
                </a:cubicBezTo>
                <a:lnTo>
                  <a:pt x="3044" y="582"/>
                </a:lnTo>
                <a:cubicBezTo>
                  <a:pt x="3044" y="593"/>
                  <a:pt x="3042" y="604"/>
                  <a:pt x="3038" y="614"/>
                </a:cubicBezTo>
                <a:cubicBezTo>
                  <a:pt x="3034" y="623"/>
                  <a:pt x="3028" y="632"/>
                  <a:pt x="3021" y="640"/>
                </a:cubicBezTo>
                <a:cubicBezTo>
                  <a:pt x="3013" y="647"/>
                  <a:pt x="3005" y="653"/>
                  <a:pt x="2995" y="657"/>
                </a:cubicBezTo>
                <a:cubicBezTo>
                  <a:pt x="2985" y="661"/>
                  <a:pt x="2975" y="663"/>
                  <a:pt x="2965" y="663"/>
                </a:cubicBezTo>
                <a:lnTo>
                  <a:pt x="80" y="663"/>
                </a:lnTo>
                <a:cubicBezTo>
                  <a:pt x="69" y="663"/>
                  <a:pt x="59" y="661"/>
                  <a:pt x="49" y="657"/>
                </a:cubicBezTo>
                <a:cubicBezTo>
                  <a:pt x="39" y="653"/>
                  <a:pt x="31" y="647"/>
                  <a:pt x="23" y="640"/>
                </a:cubicBezTo>
                <a:cubicBezTo>
                  <a:pt x="16" y="632"/>
                  <a:pt x="10" y="623"/>
                  <a:pt x="6" y="614"/>
                </a:cubicBezTo>
                <a:cubicBezTo>
                  <a:pt x="2" y="604"/>
                  <a:pt x="0" y="593"/>
                  <a:pt x="0" y="582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1413000" y="641880"/>
            <a:ext cx="21913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 Abrir Jupyter y verificar (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3653640" y="615240"/>
            <a:ext cx="10062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02_setup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7181640" y="9903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79"/>
                  <a:pt x="215" y="192"/>
                  <a:pt x="204" y="203"/>
                </a:cubicBezTo>
                <a:cubicBezTo>
                  <a:pt x="193" y="215"/>
                  <a:pt x="180" y="223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3"/>
                  <a:pt x="46" y="215"/>
                  <a:pt x="35" y="203"/>
                </a:cubicBezTo>
                <a:cubicBezTo>
                  <a:pt x="24" y="192"/>
                  <a:pt x="15" y="179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4704840" y="641880"/>
            <a:ext cx="2091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CP5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1040400" y="6517080"/>
            <a:ext cx="1227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RL en highway-env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2267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2309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3208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3250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82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3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9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914400" y="975240"/>
            <a:ext cx="202536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PARTE 1 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3015360" y="990360"/>
            <a:ext cx="49500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3162600" y="975240"/>
            <a:ext cx="701532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EL ENTORNO Y LOS BASELINES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2076120" y="1714320"/>
            <a:ext cx="1591200" cy="286200"/>
          </a:xfrm>
          <a:custGeom>
            <a:avLst/>
            <a:gdLst/>
            <a:ahLst/>
            <a:rect l="0" t="0" r="r" b="b"/>
            <a:pathLst>
              <a:path w="4420" h="795">
                <a:moveTo>
                  <a:pt x="0" y="715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4341" y="0"/>
                </a:lnTo>
                <a:cubicBezTo>
                  <a:pt x="4351" y="0"/>
                  <a:pt x="4361" y="2"/>
                  <a:pt x="4371" y="6"/>
                </a:cubicBezTo>
                <a:cubicBezTo>
                  <a:pt x="4381" y="10"/>
                  <a:pt x="4389" y="16"/>
                  <a:pt x="4397" y="23"/>
                </a:cubicBezTo>
                <a:cubicBezTo>
                  <a:pt x="4404" y="31"/>
                  <a:pt x="4410" y="39"/>
                  <a:pt x="4414" y="49"/>
                </a:cubicBezTo>
                <a:cubicBezTo>
                  <a:pt x="4418" y="59"/>
                  <a:pt x="4420" y="69"/>
                  <a:pt x="4420" y="79"/>
                </a:cubicBezTo>
                <a:lnTo>
                  <a:pt x="4420" y="715"/>
                </a:lnTo>
                <a:cubicBezTo>
                  <a:pt x="4420" y="726"/>
                  <a:pt x="4418" y="736"/>
                  <a:pt x="4414" y="746"/>
                </a:cubicBezTo>
                <a:cubicBezTo>
                  <a:pt x="4410" y="755"/>
                  <a:pt x="4404" y="764"/>
                  <a:pt x="4397" y="772"/>
                </a:cubicBezTo>
                <a:cubicBezTo>
                  <a:pt x="4389" y="779"/>
                  <a:pt x="4381" y="785"/>
                  <a:pt x="4371" y="789"/>
                </a:cubicBezTo>
                <a:cubicBezTo>
                  <a:pt x="4361" y="793"/>
                  <a:pt x="4351" y="795"/>
                  <a:pt x="4341" y="795"/>
                </a:cubicBezTo>
                <a:lnTo>
                  <a:pt x="80" y="795"/>
                </a:lnTo>
                <a:cubicBezTo>
                  <a:pt x="69" y="795"/>
                  <a:pt x="59" y="793"/>
                  <a:pt x="49" y="789"/>
                </a:cubicBezTo>
                <a:cubicBezTo>
                  <a:pt x="40" y="785"/>
                  <a:pt x="31" y="779"/>
                  <a:pt x="24" y="772"/>
                </a:cubicBezTo>
                <a:cubicBezTo>
                  <a:pt x="16" y="764"/>
                  <a:pt x="10" y="755"/>
                  <a:pt x="6" y="746"/>
                </a:cubicBezTo>
                <a:cubicBezTo>
                  <a:pt x="2" y="736"/>
                  <a:pt x="0" y="726"/>
                  <a:pt x="0" y="715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914400" y="1744920"/>
            <a:ext cx="117000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Notebooks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2129760" y="1713240"/>
            <a:ext cx="149616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03_entorno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3885840" y="1714320"/>
            <a:ext cx="1896120" cy="286200"/>
          </a:xfrm>
          <a:custGeom>
            <a:avLst/>
            <a:gdLst/>
            <a:ahLst/>
            <a:rect l="0" t="0" r="r" b="b"/>
            <a:pathLst>
              <a:path w="5267" h="795">
                <a:moveTo>
                  <a:pt x="0" y="715"/>
                </a:moveTo>
                <a:lnTo>
                  <a:pt x="0" y="79"/>
                </a:lnTo>
                <a:cubicBezTo>
                  <a:pt x="0" y="69"/>
                  <a:pt x="3" y="59"/>
                  <a:pt x="7" y="49"/>
                </a:cubicBezTo>
                <a:cubicBezTo>
                  <a:pt x="11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5187" y="0"/>
                </a:lnTo>
                <a:cubicBezTo>
                  <a:pt x="5198" y="0"/>
                  <a:pt x="5208" y="2"/>
                  <a:pt x="5218" y="6"/>
                </a:cubicBezTo>
                <a:cubicBezTo>
                  <a:pt x="5227" y="10"/>
                  <a:pt x="5236" y="16"/>
                  <a:pt x="5243" y="23"/>
                </a:cubicBezTo>
                <a:cubicBezTo>
                  <a:pt x="5251" y="31"/>
                  <a:pt x="5257" y="39"/>
                  <a:pt x="5261" y="49"/>
                </a:cubicBezTo>
                <a:cubicBezTo>
                  <a:pt x="5265" y="59"/>
                  <a:pt x="5267" y="69"/>
                  <a:pt x="5267" y="79"/>
                </a:cubicBezTo>
                <a:lnTo>
                  <a:pt x="5267" y="715"/>
                </a:lnTo>
                <a:cubicBezTo>
                  <a:pt x="5267" y="726"/>
                  <a:pt x="5265" y="736"/>
                  <a:pt x="5261" y="746"/>
                </a:cubicBezTo>
                <a:cubicBezTo>
                  <a:pt x="5257" y="755"/>
                  <a:pt x="5251" y="764"/>
                  <a:pt x="5243" y="772"/>
                </a:cubicBezTo>
                <a:cubicBezTo>
                  <a:pt x="5236" y="779"/>
                  <a:pt x="5227" y="785"/>
                  <a:pt x="5218" y="789"/>
                </a:cubicBezTo>
                <a:cubicBezTo>
                  <a:pt x="5208" y="793"/>
                  <a:pt x="5198" y="795"/>
                  <a:pt x="5187" y="795"/>
                </a:cubicBezTo>
                <a:lnTo>
                  <a:pt x="80" y="795"/>
                </a:lnTo>
                <a:cubicBezTo>
                  <a:pt x="69" y="795"/>
                  <a:pt x="59" y="793"/>
                  <a:pt x="49" y="789"/>
                </a:cubicBezTo>
                <a:cubicBezTo>
                  <a:pt x="40" y="785"/>
                  <a:pt x="31" y="779"/>
                  <a:pt x="24" y="772"/>
                </a:cubicBezTo>
                <a:cubicBezTo>
                  <a:pt x="16" y="764"/>
                  <a:pt x="11" y="755"/>
                  <a:pt x="7" y="746"/>
                </a:cubicBezTo>
                <a:cubicBezTo>
                  <a:pt x="3" y="736"/>
                  <a:pt x="0" y="726"/>
                  <a:pt x="0" y="715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3670200" y="174492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y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3939480" y="1713240"/>
            <a:ext cx="179532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04_baselines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5778360" y="174492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5840280" y="175248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B830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5909040" y="1744920"/>
            <a:ext cx="92880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~16 min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CP5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1040400" y="6517080"/>
            <a:ext cx="1227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RL en highway-env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2267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2309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3208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3250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07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8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685440" y="1314360"/>
            <a:ext cx="1134000" cy="219240"/>
          </a:xfrm>
          <a:custGeom>
            <a:avLst/>
            <a:gdLst/>
            <a:ahLst/>
            <a:rect l="0" t="0" r="r" b="b"/>
            <a:pathLst>
              <a:path w="3150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3" y="58"/>
                  <a:pt x="7" y="49"/>
                </a:cubicBezTo>
                <a:cubicBezTo>
                  <a:pt x="11" y="39"/>
                  <a:pt x="16" y="30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3071" y="0"/>
                </a:lnTo>
                <a:cubicBezTo>
                  <a:pt x="3081" y="0"/>
                  <a:pt x="3091" y="2"/>
                  <a:pt x="3101" y="6"/>
                </a:cubicBezTo>
                <a:cubicBezTo>
                  <a:pt x="3111" y="10"/>
                  <a:pt x="3119" y="16"/>
                  <a:pt x="3127" y="23"/>
                </a:cubicBezTo>
                <a:cubicBezTo>
                  <a:pt x="3134" y="30"/>
                  <a:pt x="3140" y="39"/>
                  <a:pt x="3144" y="49"/>
                </a:cubicBezTo>
                <a:cubicBezTo>
                  <a:pt x="3148" y="58"/>
                  <a:pt x="3150" y="69"/>
                  <a:pt x="3150" y="79"/>
                </a:cubicBezTo>
                <a:lnTo>
                  <a:pt x="3150" y="530"/>
                </a:lnTo>
                <a:cubicBezTo>
                  <a:pt x="3150" y="540"/>
                  <a:pt x="3148" y="551"/>
                  <a:pt x="3144" y="560"/>
                </a:cubicBezTo>
                <a:cubicBezTo>
                  <a:pt x="3140" y="570"/>
                  <a:pt x="3134" y="579"/>
                  <a:pt x="3127" y="586"/>
                </a:cubicBezTo>
                <a:cubicBezTo>
                  <a:pt x="3119" y="593"/>
                  <a:pt x="3111" y="599"/>
                  <a:pt x="3101" y="603"/>
                </a:cubicBezTo>
                <a:cubicBezTo>
                  <a:pt x="3091" y="607"/>
                  <a:pt x="3081" y="609"/>
                  <a:pt x="3071" y="609"/>
                </a:cubicBezTo>
                <a:lnTo>
                  <a:pt x="80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40" y="599"/>
                  <a:pt x="31" y="593"/>
                  <a:pt x="24" y="586"/>
                </a:cubicBezTo>
                <a:cubicBezTo>
                  <a:pt x="16" y="579"/>
                  <a:pt x="11" y="570"/>
                  <a:pt x="7" y="560"/>
                </a:cubicBezTo>
                <a:cubicBezTo>
                  <a:pt x="3" y="551"/>
                  <a:pt x="0" y="540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743040" y="1328040"/>
            <a:ext cx="102852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03_entorno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904680" y="189540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1823760" y="1325880"/>
            <a:ext cx="4285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te enseña las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tres piezas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del RL en este simulador: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904680" y="222876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1072440" y="1811520"/>
            <a:ext cx="54824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Observación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qué ve el agente (posición y velocidad de los coches).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904680" y="25714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1072440" y="2144880"/>
            <a:ext cx="53870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Acciones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qué puede hacer (acelerar, frenar, cambiar de carril…).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685440" y="2962080"/>
            <a:ext cx="1343520" cy="219600"/>
          </a:xfrm>
          <a:custGeom>
            <a:avLst/>
            <a:gdLst/>
            <a:ahLst/>
            <a:rect l="0" t="0" r="r" b="b"/>
            <a:pathLst>
              <a:path w="3732" h="610">
                <a:moveTo>
                  <a:pt x="0" y="529"/>
                </a:moveTo>
                <a:lnTo>
                  <a:pt x="0" y="79"/>
                </a:lnTo>
                <a:cubicBezTo>
                  <a:pt x="0" y="69"/>
                  <a:pt x="3" y="59"/>
                  <a:pt x="7" y="49"/>
                </a:cubicBezTo>
                <a:cubicBezTo>
                  <a:pt x="11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3652" y="0"/>
                </a:lnTo>
                <a:cubicBezTo>
                  <a:pt x="3662" y="0"/>
                  <a:pt x="3672" y="2"/>
                  <a:pt x="3682" y="6"/>
                </a:cubicBezTo>
                <a:cubicBezTo>
                  <a:pt x="3693" y="10"/>
                  <a:pt x="3701" y="16"/>
                  <a:pt x="3709" y="23"/>
                </a:cubicBezTo>
                <a:cubicBezTo>
                  <a:pt x="3716" y="31"/>
                  <a:pt x="3722" y="39"/>
                  <a:pt x="3726" y="49"/>
                </a:cubicBezTo>
                <a:cubicBezTo>
                  <a:pt x="3730" y="59"/>
                  <a:pt x="3732" y="69"/>
                  <a:pt x="3732" y="79"/>
                </a:cubicBezTo>
                <a:lnTo>
                  <a:pt x="3732" y="529"/>
                </a:lnTo>
                <a:cubicBezTo>
                  <a:pt x="3732" y="540"/>
                  <a:pt x="3730" y="550"/>
                  <a:pt x="3726" y="560"/>
                </a:cubicBezTo>
                <a:cubicBezTo>
                  <a:pt x="3722" y="569"/>
                  <a:pt x="3716" y="578"/>
                  <a:pt x="3709" y="585"/>
                </a:cubicBezTo>
                <a:cubicBezTo>
                  <a:pt x="3701" y="594"/>
                  <a:pt x="3693" y="600"/>
                  <a:pt x="3682" y="604"/>
                </a:cubicBezTo>
                <a:cubicBezTo>
                  <a:pt x="3672" y="608"/>
                  <a:pt x="3662" y="610"/>
                  <a:pt x="3652" y="610"/>
                </a:cubicBezTo>
                <a:lnTo>
                  <a:pt x="80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40" y="600"/>
                  <a:pt x="31" y="594"/>
                  <a:pt x="24" y="585"/>
                </a:cubicBezTo>
                <a:cubicBezTo>
                  <a:pt x="16" y="578"/>
                  <a:pt x="11" y="569"/>
                  <a:pt x="7" y="560"/>
                </a:cubicBezTo>
                <a:cubicBezTo>
                  <a:pt x="3" y="550"/>
                  <a:pt x="0" y="540"/>
                  <a:pt x="0" y="529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1072440" y="2487960"/>
            <a:ext cx="48337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Recompensa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qué premia el entorno (ir rápido sin chocar).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743040" y="2976120"/>
            <a:ext cx="123372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04_baselines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904680" y="35431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2028600" y="2973600"/>
            <a:ext cx="49190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ejecuta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dos agentes tontos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para tener con qué comparar: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904680" y="38858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2"/>
                  <a:pt x="154" y="111"/>
                </a:cubicBezTo>
                <a:cubicBezTo>
                  <a:pt x="150" y="121"/>
                  <a:pt x="144" y="130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4"/>
                </a:cubicBezTo>
                <a:cubicBezTo>
                  <a:pt x="31" y="16"/>
                  <a:pt x="39" y="11"/>
                  <a:pt x="49" y="7"/>
                </a:cubicBezTo>
                <a:cubicBezTo>
                  <a:pt x="59" y="3"/>
                  <a:pt x="69" y="0"/>
                  <a:pt x="79" y="0"/>
                </a:cubicBezTo>
                <a:cubicBezTo>
                  <a:pt x="90" y="0"/>
                  <a:pt x="101" y="3"/>
                  <a:pt x="111" y="7"/>
                </a:cubicBezTo>
                <a:cubicBezTo>
                  <a:pt x="121" y="11"/>
                  <a:pt x="129" y="16"/>
                  <a:pt x="137" y="24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1072440" y="3459600"/>
            <a:ext cx="26784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Aleatorio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elige acciones al azar.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685440" y="4466880"/>
            <a:ext cx="10820880" cy="429120"/>
          </a:xfrm>
          <a:custGeom>
            <a:avLst/>
            <a:gdLst/>
            <a:ahLst/>
            <a:rect l="0" t="0" r="r" b="b"/>
            <a:pathLst>
              <a:path w="30058" h="1192">
                <a:moveTo>
                  <a:pt x="0" y="0"/>
                </a:moveTo>
                <a:lnTo>
                  <a:pt x="30058" y="0"/>
                </a:lnTo>
                <a:lnTo>
                  <a:pt x="3005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685440" y="4466880"/>
            <a:ext cx="29160" cy="429120"/>
          </a:xfrm>
          <a:custGeom>
            <a:avLst/>
            <a:gdLst/>
            <a:ahLst/>
            <a:rect l="0" t="0" r="r" b="b"/>
            <a:pathLst>
              <a:path w="81" h="1192">
                <a:moveTo>
                  <a:pt x="0" y="0"/>
                </a:moveTo>
                <a:lnTo>
                  <a:pt x="81" y="0"/>
                </a:lnTo>
                <a:lnTo>
                  <a:pt x="81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1072440" y="3802320"/>
            <a:ext cx="27853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Por reglas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una heurística simple.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990720" y="4533840"/>
            <a:ext cx="200520" cy="26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AppleColorEmoji"/>
                <a:ea typeface="AppleColorEmoji"/>
              </a:rPr>
              <a:t>✍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1209600" y="4573800"/>
            <a:ext cx="8017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Anote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el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2052360" y="4573800"/>
            <a:ext cx="54540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0" b="0" u="none" strike="noStrike">
                <a:solidFill>
                  <a:srgbClr val="555555"/>
                </a:solidFill>
                <a:effectLst/>
                <a:uFillTx/>
                <a:latin typeface="Eurostile"/>
                <a:ea typeface="Eurostile"/>
              </a:rPr>
              <a:t>return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685440" y="10094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2541960" y="4573800"/>
            <a:ext cx="66013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(recompensa acumulada) medio de cada baseline. Es la vara de medir del DQN.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7181640" y="981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 txBox="1"/>
          <p:nvPr/>
        </p:nvSpPr>
        <p:spPr>
          <a:xfrm>
            <a:off x="685800" y="632520"/>
            <a:ext cx="24015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Qué hacen estos notebooks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CP5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 txBox="1"/>
          <p:nvPr/>
        </p:nvSpPr>
        <p:spPr>
          <a:xfrm>
            <a:off x="1040400" y="6517080"/>
            <a:ext cx="1227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RL en highway-env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 txBox="1"/>
          <p:nvPr/>
        </p:nvSpPr>
        <p:spPr>
          <a:xfrm>
            <a:off x="2267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 txBox="1"/>
          <p:nvPr/>
        </p:nvSpPr>
        <p:spPr>
          <a:xfrm>
            <a:off x="2309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 txBox="1"/>
          <p:nvPr/>
        </p:nvSpPr>
        <p:spPr>
          <a:xfrm>
            <a:off x="3208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 txBox="1"/>
          <p:nvPr/>
        </p:nvSpPr>
        <p:spPr>
          <a:xfrm>
            <a:off x="3250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45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6" name=""/>
          <p:cNvSpPr txBox="1"/>
          <p:nvPr/>
        </p:nvSpPr>
        <p:spPr>
          <a:xfrm>
            <a:off x="11757600" y="6513120"/>
            <a:ext cx="16740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914400" y="975240"/>
            <a:ext cx="202536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PARTE 2 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3015000" y="990360"/>
            <a:ext cx="49500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 txBox="1"/>
          <p:nvPr/>
        </p:nvSpPr>
        <p:spPr>
          <a:xfrm>
            <a:off x="3162240" y="975240"/>
            <a:ext cx="516348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ENTRENAR EL AGENTE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1962000" y="1714320"/>
            <a:ext cx="3086280" cy="286200"/>
          </a:xfrm>
          <a:custGeom>
            <a:avLst/>
            <a:gdLst/>
            <a:ahLst/>
            <a:rect l="0" t="0" r="r" b="b"/>
            <a:pathLst>
              <a:path w="8573" h="795">
                <a:moveTo>
                  <a:pt x="0" y="715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8494" y="0"/>
                </a:lnTo>
                <a:cubicBezTo>
                  <a:pt x="8505" y="0"/>
                  <a:pt x="8515" y="2"/>
                  <a:pt x="8524" y="6"/>
                </a:cubicBezTo>
                <a:cubicBezTo>
                  <a:pt x="8534" y="10"/>
                  <a:pt x="8543" y="16"/>
                  <a:pt x="8550" y="23"/>
                </a:cubicBezTo>
                <a:cubicBezTo>
                  <a:pt x="8558" y="31"/>
                  <a:pt x="8563" y="39"/>
                  <a:pt x="8567" y="49"/>
                </a:cubicBezTo>
                <a:cubicBezTo>
                  <a:pt x="8571" y="59"/>
                  <a:pt x="8573" y="69"/>
                  <a:pt x="8573" y="79"/>
                </a:cubicBezTo>
                <a:lnTo>
                  <a:pt x="8573" y="715"/>
                </a:lnTo>
                <a:cubicBezTo>
                  <a:pt x="8573" y="726"/>
                  <a:pt x="8571" y="736"/>
                  <a:pt x="8567" y="746"/>
                </a:cubicBezTo>
                <a:cubicBezTo>
                  <a:pt x="8563" y="755"/>
                  <a:pt x="8558" y="764"/>
                  <a:pt x="8550" y="772"/>
                </a:cubicBezTo>
                <a:cubicBezTo>
                  <a:pt x="8543" y="779"/>
                  <a:pt x="8534" y="785"/>
                  <a:pt x="8524" y="789"/>
                </a:cubicBezTo>
                <a:cubicBezTo>
                  <a:pt x="8515" y="793"/>
                  <a:pt x="8505" y="795"/>
                  <a:pt x="8494" y="795"/>
                </a:cubicBezTo>
                <a:lnTo>
                  <a:pt x="79" y="795"/>
                </a:lnTo>
                <a:cubicBezTo>
                  <a:pt x="69" y="795"/>
                  <a:pt x="59" y="793"/>
                  <a:pt x="49" y="789"/>
                </a:cubicBezTo>
                <a:cubicBezTo>
                  <a:pt x="39" y="785"/>
                  <a:pt x="31" y="779"/>
                  <a:pt x="23" y="772"/>
                </a:cubicBezTo>
                <a:cubicBezTo>
                  <a:pt x="16" y="764"/>
                  <a:pt x="10" y="755"/>
                  <a:pt x="6" y="746"/>
                </a:cubicBezTo>
                <a:cubicBezTo>
                  <a:pt x="2" y="736"/>
                  <a:pt x="0" y="726"/>
                  <a:pt x="0" y="715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 txBox="1"/>
          <p:nvPr/>
        </p:nvSpPr>
        <p:spPr>
          <a:xfrm>
            <a:off x="914400" y="1744920"/>
            <a:ext cx="105228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Notebook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2012400" y="1713240"/>
            <a:ext cx="299196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05_dqn_entrenamiento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5043960" y="174492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5105520" y="175248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5174640" y="1744920"/>
            <a:ext cx="99108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~12 min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6161760" y="175248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B830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6230520" y="1744920"/>
            <a:ext cx="11221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el corazón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CP5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1040400" y="6517080"/>
            <a:ext cx="1227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RL en highway-env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2267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2309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3208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3250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69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0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685800" y="1325880"/>
            <a:ext cx="106070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Entrena un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DQN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(Deep Q-Network): un agente que aprende,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probando acciones y viendo la recompensa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qué conviene hacer en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685440" y="2238120"/>
            <a:ext cx="10820880" cy="914760"/>
          </a:xfrm>
          <a:custGeom>
            <a:avLst/>
            <a:gdLst/>
            <a:ahLst/>
            <a:rect l="0" t="0" r="r" b="b"/>
            <a:pathLst>
              <a:path w="30058" h="2541">
                <a:moveTo>
                  <a:pt x="0" y="0"/>
                </a:moveTo>
                <a:lnTo>
                  <a:pt x="30058" y="0"/>
                </a:lnTo>
                <a:lnTo>
                  <a:pt x="30058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685440" y="2238120"/>
            <a:ext cx="29160" cy="914760"/>
          </a:xfrm>
          <a:custGeom>
            <a:avLst/>
            <a:gdLst/>
            <a:ahLst/>
            <a:rect l="0" t="0" r="r" b="b"/>
            <a:pathLst>
              <a:path w="81" h="2541">
                <a:moveTo>
                  <a:pt x="0" y="0"/>
                </a:moveTo>
                <a:lnTo>
                  <a:pt x="81" y="0"/>
                </a:lnTo>
                <a:lnTo>
                  <a:pt x="81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1056960" y="2414160"/>
            <a:ext cx="43560" cy="43560"/>
          </a:xfrm>
          <a:custGeom>
            <a:avLst/>
            <a:gdLst/>
            <a:ahLst/>
            <a:rect l="0" t="0" r="r" b="b"/>
            <a:pathLst>
              <a:path w="121" h="121">
                <a:moveTo>
                  <a:pt x="77" y="0"/>
                </a:moveTo>
                <a:lnTo>
                  <a:pt x="121" y="44"/>
                </a:lnTo>
                <a:lnTo>
                  <a:pt x="45" y="121"/>
                </a:lnTo>
                <a:lnTo>
                  <a:pt x="0" y="78"/>
                </a:lnTo>
                <a:lnTo>
                  <a:pt x="77" y="0"/>
                </a:lnTo>
                <a:close/>
              </a:path>
            </a:pathLst>
          </a:custGeom>
          <a:solidFill>
            <a:srgbClr val="9AAAB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1009800" y="2430720"/>
            <a:ext cx="74520" cy="74160"/>
          </a:xfrm>
          <a:custGeom>
            <a:avLst/>
            <a:gdLst/>
            <a:ahLst/>
            <a:rect l="0" t="0" r="r" b="b"/>
            <a:pathLst>
              <a:path w="207" h="206">
                <a:moveTo>
                  <a:pt x="18" y="100"/>
                </a:moveTo>
                <a:lnTo>
                  <a:pt x="109" y="9"/>
                </a:lnTo>
                <a:cubicBezTo>
                  <a:pt x="121" y="-3"/>
                  <a:pt x="141" y="-3"/>
                  <a:pt x="153" y="9"/>
                </a:cubicBezTo>
                <a:lnTo>
                  <a:pt x="198" y="53"/>
                </a:lnTo>
                <a:cubicBezTo>
                  <a:pt x="210" y="65"/>
                  <a:pt x="210" y="84"/>
                  <a:pt x="198" y="96"/>
                </a:cubicBezTo>
                <a:lnTo>
                  <a:pt x="106" y="188"/>
                </a:lnTo>
                <a:cubicBezTo>
                  <a:pt x="82" y="212"/>
                  <a:pt x="43" y="212"/>
                  <a:pt x="18" y="188"/>
                </a:cubicBezTo>
                <a:cubicBezTo>
                  <a:pt x="-6" y="164"/>
                  <a:pt x="-6" y="125"/>
                  <a:pt x="18" y="100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1058760" y="2305800"/>
            <a:ext cx="150120" cy="150480"/>
          </a:xfrm>
          <a:custGeom>
            <a:avLst/>
            <a:gdLst/>
            <a:ahLst/>
            <a:rect l="0" t="0" r="r" b="b"/>
            <a:pathLst>
              <a:path w="417" h="418">
                <a:moveTo>
                  <a:pt x="417" y="209"/>
                </a:moveTo>
                <a:cubicBezTo>
                  <a:pt x="417" y="223"/>
                  <a:pt x="416" y="237"/>
                  <a:pt x="413" y="250"/>
                </a:cubicBezTo>
                <a:cubicBezTo>
                  <a:pt x="411" y="263"/>
                  <a:pt x="407" y="276"/>
                  <a:pt x="402" y="289"/>
                </a:cubicBezTo>
                <a:cubicBezTo>
                  <a:pt x="396" y="302"/>
                  <a:pt x="390" y="314"/>
                  <a:pt x="382" y="325"/>
                </a:cubicBezTo>
                <a:cubicBezTo>
                  <a:pt x="375" y="337"/>
                  <a:pt x="366" y="347"/>
                  <a:pt x="356" y="357"/>
                </a:cubicBezTo>
                <a:cubicBezTo>
                  <a:pt x="347" y="366"/>
                  <a:pt x="336" y="375"/>
                  <a:pt x="325" y="383"/>
                </a:cubicBezTo>
                <a:cubicBezTo>
                  <a:pt x="313" y="390"/>
                  <a:pt x="301" y="397"/>
                  <a:pt x="289" y="402"/>
                </a:cubicBezTo>
                <a:cubicBezTo>
                  <a:pt x="276" y="407"/>
                  <a:pt x="263" y="411"/>
                  <a:pt x="250" y="414"/>
                </a:cubicBezTo>
                <a:cubicBezTo>
                  <a:pt x="236" y="416"/>
                  <a:pt x="223" y="418"/>
                  <a:pt x="209" y="418"/>
                </a:cubicBezTo>
                <a:cubicBezTo>
                  <a:pt x="195" y="418"/>
                  <a:pt x="182" y="416"/>
                  <a:pt x="167" y="414"/>
                </a:cubicBezTo>
                <a:cubicBezTo>
                  <a:pt x="154" y="411"/>
                  <a:pt x="141" y="407"/>
                  <a:pt x="128" y="402"/>
                </a:cubicBezTo>
                <a:cubicBezTo>
                  <a:pt x="116" y="397"/>
                  <a:pt x="104" y="390"/>
                  <a:pt x="92" y="383"/>
                </a:cubicBezTo>
                <a:cubicBezTo>
                  <a:pt x="81" y="375"/>
                  <a:pt x="70" y="366"/>
                  <a:pt x="61" y="357"/>
                </a:cubicBezTo>
                <a:cubicBezTo>
                  <a:pt x="51" y="347"/>
                  <a:pt x="42" y="337"/>
                  <a:pt x="35" y="325"/>
                </a:cubicBezTo>
                <a:cubicBezTo>
                  <a:pt x="27" y="314"/>
                  <a:pt x="21" y="302"/>
                  <a:pt x="16" y="289"/>
                </a:cubicBezTo>
                <a:cubicBezTo>
                  <a:pt x="10" y="276"/>
                  <a:pt x="6" y="263"/>
                  <a:pt x="4" y="250"/>
                </a:cubicBezTo>
                <a:cubicBezTo>
                  <a:pt x="1" y="237"/>
                  <a:pt x="0" y="223"/>
                  <a:pt x="0" y="209"/>
                </a:cubicBezTo>
                <a:cubicBezTo>
                  <a:pt x="0" y="196"/>
                  <a:pt x="1" y="182"/>
                  <a:pt x="4" y="169"/>
                </a:cubicBezTo>
                <a:cubicBezTo>
                  <a:pt x="6" y="155"/>
                  <a:pt x="10" y="142"/>
                  <a:pt x="16" y="130"/>
                </a:cubicBezTo>
                <a:cubicBezTo>
                  <a:pt x="21" y="117"/>
                  <a:pt x="27" y="105"/>
                  <a:pt x="35" y="94"/>
                </a:cubicBezTo>
                <a:cubicBezTo>
                  <a:pt x="42" y="82"/>
                  <a:pt x="51" y="72"/>
                  <a:pt x="61" y="62"/>
                </a:cubicBezTo>
                <a:cubicBezTo>
                  <a:pt x="70" y="52"/>
                  <a:pt x="81" y="44"/>
                  <a:pt x="92" y="35"/>
                </a:cubicBezTo>
                <a:cubicBezTo>
                  <a:pt x="104" y="28"/>
                  <a:pt x="116" y="21"/>
                  <a:pt x="128" y="16"/>
                </a:cubicBezTo>
                <a:cubicBezTo>
                  <a:pt x="141" y="11"/>
                  <a:pt x="154" y="7"/>
                  <a:pt x="167" y="4"/>
                </a:cubicBezTo>
                <a:cubicBezTo>
                  <a:pt x="182" y="1"/>
                  <a:pt x="195" y="0"/>
                  <a:pt x="209" y="0"/>
                </a:cubicBezTo>
                <a:cubicBezTo>
                  <a:pt x="223" y="0"/>
                  <a:pt x="236" y="1"/>
                  <a:pt x="250" y="4"/>
                </a:cubicBezTo>
                <a:cubicBezTo>
                  <a:pt x="263" y="7"/>
                  <a:pt x="276" y="11"/>
                  <a:pt x="289" y="16"/>
                </a:cubicBezTo>
                <a:cubicBezTo>
                  <a:pt x="301" y="21"/>
                  <a:pt x="313" y="28"/>
                  <a:pt x="325" y="35"/>
                </a:cubicBezTo>
                <a:cubicBezTo>
                  <a:pt x="336" y="44"/>
                  <a:pt x="347" y="52"/>
                  <a:pt x="356" y="62"/>
                </a:cubicBezTo>
                <a:cubicBezTo>
                  <a:pt x="366" y="72"/>
                  <a:pt x="375" y="82"/>
                  <a:pt x="382" y="94"/>
                </a:cubicBezTo>
                <a:cubicBezTo>
                  <a:pt x="390" y="105"/>
                  <a:pt x="396" y="117"/>
                  <a:pt x="402" y="130"/>
                </a:cubicBezTo>
                <a:cubicBezTo>
                  <a:pt x="407" y="142"/>
                  <a:pt x="411" y="155"/>
                  <a:pt x="413" y="169"/>
                </a:cubicBezTo>
                <a:cubicBezTo>
                  <a:pt x="416" y="182"/>
                  <a:pt x="417" y="196"/>
                  <a:pt x="417" y="209"/>
                </a:cubicBezTo>
                <a:close/>
              </a:path>
            </a:pathLst>
          </a:custGeom>
          <a:solidFill>
            <a:srgbClr val="8899A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1080720" y="2328120"/>
            <a:ext cx="106200" cy="105840"/>
          </a:xfrm>
          <a:custGeom>
            <a:avLst/>
            <a:gdLst/>
            <a:ahLst/>
            <a:rect l="0" t="0" r="r" b="b"/>
            <a:pathLst>
              <a:path w="295" h="294">
                <a:moveTo>
                  <a:pt x="295" y="147"/>
                </a:moveTo>
                <a:cubicBezTo>
                  <a:pt x="295" y="157"/>
                  <a:pt x="294" y="167"/>
                  <a:pt x="292" y="176"/>
                </a:cubicBezTo>
                <a:cubicBezTo>
                  <a:pt x="290" y="185"/>
                  <a:pt x="287" y="195"/>
                  <a:pt x="284" y="203"/>
                </a:cubicBezTo>
                <a:cubicBezTo>
                  <a:pt x="280" y="212"/>
                  <a:pt x="275" y="221"/>
                  <a:pt x="270" y="229"/>
                </a:cubicBezTo>
                <a:cubicBezTo>
                  <a:pt x="265" y="237"/>
                  <a:pt x="259" y="244"/>
                  <a:pt x="252" y="251"/>
                </a:cubicBezTo>
                <a:cubicBezTo>
                  <a:pt x="245" y="258"/>
                  <a:pt x="238" y="264"/>
                  <a:pt x="230" y="269"/>
                </a:cubicBezTo>
                <a:cubicBezTo>
                  <a:pt x="222" y="275"/>
                  <a:pt x="213" y="279"/>
                  <a:pt x="204" y="283"/>
                </a:cubicBezTo>
                <a:cubicBezTo>
                  <a:pt x="195" y="287"/>
                  <a:pt x="186" y="289"/>
                  <a:pt x="177" y="291"/>
                </a:cubicBezTo>
                <a:cubicBezTo>
                  <a:pt x="167" y="293"/>
                  <a:pt x="158" y="294"/>
                  <a:pt x="148" y="294"/>
                </a:cubicBezTo>
                <a:cubicBezTo>
                  <a:pt x="138" y="294"/>
                  <a:pt x="129" y="293"/>
                  <a:pt x="120" y="291"/>
                </a:cubicBezTo>
                <a:cubicBezTo>
                  <a:pt x="110" y="289"/>
                  <a:pt x="101" y="287"/>
                  <a:pt x="92" y="283"/>
                </a:cubicBezTo>
                <a:cubicBezTo>
                  <a:pt x="83" y="279"/>
                  <a:pt x="74" y="275"/>
                  <a:pt x="66" y="269"/>
                </a:cubicBezTo>
                <a:cubicBezTo>
                  <a:pt x="58" y="264"/>
                  <a:pt x="50" y="258"/>
                  <a:pt x="43" y="251"/>
                </a:cubicBezTo>
                <a:cubicBezTo>
                  <a:pt x="37" y="244"/>
                  <a:pt x="31" y="237"/>
                  <a:pt x="25" y="229"/>
                </a:cubicBezTo>
                <a:cubicBezTo>
                  <a:pt x="20" y="221"/>
                  <a:pt x="15" y="212"/>
                  <a:pt x="12" y="203"/>
                </a:cubicBezTo>
                <a:cubicBezTo>
                  <a:pt x="8" y="195"/>
                  <a:pt x="5" y="185"/>
                  <a:pt x="3" y="176"/>
                </a:cubicBezTo>
                <a:cubicBezTo>
                  <a:pt x="1" y="167"/>
                  <a:pt x="0" y="157"/>
                  <a:pt x="0" y="147"/>
                </a:cubicBezTo>
                <a:cubicBezTo>
                  <a:pt x="0" y="138"/>
                  <a:pt x="1" y="128"/>
                  <a:pt x="3" y="118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1" y="57"/>
                  <a:pt x="37" y="50"/>
                  <a:pt x="43" y="43"/>
                </a:cubicBezTo>
                <a:cubicBezTo>
                  <a:pt x="50" y="36"/>
                  <a:pt x="58" y="30"/>
                  <a:pt x="66" y="24"/>
                </a:cubicBezTo>
                <a:cubicBezTo>
                  <a:pt x="74" y="19"/>
                  <a:pt x="83" y="15"/>
                  <a:pt x="92" y="11"/>
                </a:cubicBezTo>
                <a:cubicBezTo>
                  <a:pt x="101" y="7"/>
                  <a:pt x="110" y="4"/>
                  <a:pt x="120" y="3"/>
                </a:cubicBezTo>
                <a:cubicBezTo>
                  <a:pt x="129" y="1"/>
                  <a:pt x="138" y="0"/>
                  <a:pt x="148" y="0"/>
                </a:cubicBezTo>
                <a:cubicBezTo>
                  <a:pt x="158" y="0"/>
                  <a:pt x="167" y="1"/>
                  <a:pt x="177" y="3"/>
                </a:cubicBezTo>
                <a:cubicBezTo>
                  <a:pt x="186" y="4"/>
                  <a:pt x="195" y="7"/>
                  <a:pt x="204" y="11"/>
                </a:cubicBezTo>
                <a:cubicBezTo>
                  <a:pt x="213" y="15"/>
                  <a:pt x="222" y="19"/>
                  <a:pt x="230" y="24"/>
                </a:cubicBezTo>
                <a:cubicBezTo>
                  <a:pt x="238" y="30"/>
                  <a:pt x="245" y="36"/>
                  <a:pt x="252" y="43"/>
                </a:cubicBezTo>
                <a:cubicBezTo>
                  <a:pt x="259" y="50"/>
                  <a:pt x="265" y="57"/>
                  <a:pt x="270" y="65"/>
                </a:cubicBezTo>
                <a:cubicBezTo>
                  <a:pt x="275" y="73"/>
                  <a:pt x="280" y="81"/>
                  <a:pt x="284" y="90"/>
                </a:cubicBezTo>
                <a:cubicBezTo>
                  <a:pt x="287" y="99"/>
                  <a:pt x="290" y="108"/>
                  <a:pt x="292" y="118"/>
                </a:cubicBezTo>
                <a:cubicBezTo>
                  <a:pt x="294" y="128"/>
                  <a:pt x="295" y="138"/>
                  <a:pt x="295" y="147"/>
                </a:cubicBezTo>
                <a:close/>
              </a:path>
            </a:pathLst>
          </a:custGeom>
          <a:solidFill>
            <a:srgbClr val="BBDD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685800" y="1611720"/>
            <a:ext cx="58694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cada situación. En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CPU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~8–10 minutos, 40.000 pasos de experiencia.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990720" y="2545200"/>
            <a:ext cx="10278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Observa la curva de aprendizaje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al principio el agente es malo (return bajo, como el aleatorio); con el tiempo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sube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 medida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685440" y="3590640"/>
            <a:ext cx="10820880" cy="724320"/>
          </a:xfrm>
          <a:custGeom>
            <a:avLst/>
            <a:gdLst/>
            <a:ahLst/>
            <a:rect l="0" t="0" r="r" b="b"/>
            <a:pathLst>
              <a:path w="30058" h="2012">
                <a:moveTo>
                  <a:pt x="0" y="0"/>
                </a:moveTo>
                <a:lnTo>
                  <a:pt x="30058" y="0"/>
                </a:lnTo>
                <a:lnTo>
                  <a:pt x="30058" y="2012"/>
                </a:lnTo>
                <a:lnTo>
                  <a:pt x="0" y="2012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685440" y="3590640"/>
            <a:ext cx="29160" cy="724320"/>
          </a:xfrm>
          <a:custGeom>
            <a:avLst/>
            <a:gdLst/>
            <a:ahLst/>
            <a:rect l="0" t="0" r="r" b="b"/>
            <a:pathLst>
              <a:path w="81" h="2012">
                <a:moveTo>
                  <a:pt x="0" y="0"/>
                </a:moveTo>
                <a:lnTo>
                  <a:pt x="81" y="0"/>
                </a:lnTo>
                <a:lnTo>
                  <a:pt x="81" y="2012"/>
                </a:lnTo>
                <a:lnTo>
                  <a:pt x="0" y="201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990720" y="2830680"/>
            <a:ext cx="5597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que aprende. Ese ascenso es el aprendizaje por refuerzo en directo.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 txBox="1"/>
          <p:nvPr/>
        </p:nvSpPr>
        <p:spPr>
          <a:xfrm>
            <a:off x="990720" y="3666960"/>
            <a:ext cx="200520" cy="26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AppleColorEmoji"/>
                <a:ea typeface="AppleColorEmoji"/>
              </a:rPr>
              <a:t>✍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 txBox="1"/>
          <p:nvPr/>
        </p:nvSpPr>
        <p:spPr>
          <a:xfrm>
            <a:off x="1209600" y="3707280"/>
            <a:ext cx="98938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Anote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 qué momento (timestep) el DQN empieza 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superar al baseline por reglas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— lo necesitas para la Pregunta 2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685440" y="4752720"/>
            <a:ext cx="10820880" cy="628920"/>
          </a:xfrm>
          <a:custGeom>
            <a:avLst/>
            <a:gdLst/>
            <a:ahLst/>
            <a:rect l="0" t="0" r="r" b="b"/>
            <a:pathLst>
              <a:path w="30058" h="1747">
                <a:moveTo>
                  <a:pt x="0" y="0"/>
                </a:moveTo>
                <a:lnTo>
                  <a:pt x="30058" y="0"/>
                </a:lnTo>
                <a:lnTo>
                  <a:pt x="30058" y="1747"/>
                </a:lnTo>
                <a:lnTo>
                  <a:pt x="0" y="1747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685440" y="4752720"/>
            <a:ext cx="29160" cy="628920"/>
          </a:xfrm>
          <a:custGeom>
            <a:avLst/>
            <a:gdLst/>
            <a:ahLst/>
            <a:rect l="0" t="0" r="r" b="b"/>
            <a:pathLst>
              <a:path w="81" h="1747">
                <a:moveTo>
                  <a:pt x="0" y="0"/>
                </a:moveTo>
                <a:lnTo>
                  <a:pt x="81" y="0"/>
                </a:lnTo>
                <a:lnTo>
                  <a:pt x="81" y="1747"/>
                </a:lnTo>
                <a:lnTo>
                  <a:pt x="0" y="174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1054080" y="4830480"/>
            <a:ext cx="111240" cy="178200"/>
          </a:xfrm>
          <a:custGeom>
            <a:avLst/>
            <a:gdLst/>
            <a:ahLst/>
            <a:rect l="0" t="0" r="r" b="b"/>
            <a:pathLst>
              <a:path w="309" h="495">
                <a:moveTo>
                  <a:pt x="200" y="248"/>
                </a:moveTo>
                <a:cubicBezTo>
                  <a:pt x="200" y="217"/>
                  <a:pt x="250" y="196"/>
                  <a:pt x="277" y="156"/>
                </a:cubicBezTo>
                <a:cubicBezTo>
                  <a:pt x="309" y="108"/>
                  <a:pt x="309" y="0"/>
                  <a:pt x="309" y="0"/>
                </a:cubicBezTo>
                <a:lnTo>
                  <a:pt x="0" y="0"/>
                </a:lnTo>
                <a:cubicBezTo>
                  <a:pt x="0" y="0"/>
                  <a:pt x="0" y="108"/>
                  <a:pt x="30" y="156"/>
                </a:cubicBezTo>
                <a:cubicBezTo>
                  <a:pt x="57" y="196"/>
                  <a:pt x="108" y="217"/>
                  <a:pt x="108" y="248"/>
                </a:cubicBezTo>
                <a:cubicBezTo>
                  <a:pt x="108" y="279"/>
                  <a:pt x="57" y="300"/>
                  <a:pt x="30" y="341"/>
                </a:cubicBezTo>
                <a:cubicBezTo>
                  <a:pt x="0" y="387"/>
                  <a:pt x="0" y="495"/>
                  <a:pt x="0" y="495"/>
                </a:cubicBezTo>
                <a:lnTo>
                  <a:pt x="309" y="495"/>
                </a:lnTo>
                <a:cubicBezTo>
                  <a:pt x="309" y="495"/>
                  <a:pt x="309" y="387"/>
                  <a:pt x="277" y="341"/>
                </a:cubicBezTo>
                <a:cubicBezTo>
                  <a:pt x="250" y="300"/>
                  <a:pt x="200" y="279"/>
                  <a:pt x="200" y="248"/>
                </a:cubicBezTo>
                <a:close/>
              </a:path>
            </a:pathLst>
          </a:custGeom>
          <a:solidFill>
            <a:srgbClr val="FFE8B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/>
          <p:nvPr/>
        </p:nvSpPr>
        <p:spPr>
          <a:xfrm>
            <a:off x="1064880" y="4830480"/>
            <a:ext cx="89280" cy="161640"/>
          </a:xfrm>
          <a:custGeom>
            <a:avLst/>
            <a:gdLst/>
            <a:ahLst/>
            <a:rect l="0" t="0" r="r" b="b"/>
            <a:pathLst>
              <a:path w="248" h="449">
                <a:moveTo>
                  <a:pt x="125" y="0"/>
                </a:moveTo>
                <a:lnTo>
                  <a:pt x="0" y="0"/>
                </a:lnTo>
                <a:cubicBezTo>
                  <a:pt x="0" y="0"/>
                  <a:pt x="0" y="62"/>
                  <a:pt x="16" y="108"/>
                </a:cubicBezTo>
                <a:cubicBezTo>
                  <a:pt x="36" y="169"/>
                  <a:pt x="108" y="185"/>
                  <a:pt x="108" y="248"/>
                </a:cubicBezTo>
                <a:cubicBezTo>
                  <a:pt x="108" y="310"/>
                  <a:pt x="108" y="449"/>
                  <a:pt x="125" y="449"/>
                </a:cubicBezTo>
                <a:cubicBezTo>
                  <a:pt x="140" y="449"/>
                  <a:pt x="140" y="310"/>
                  <a:pt x="140" y="248"/>
                </a:cubicBezTo>
                <a:cubicBezTo>
                  <a:pt x="140" y="185"/>
                  <a:pt x="213" y="169"/>
                  <a:pt x="233" y="108"/>
                </a:cubicBezTo>
                <a:cubicBezTo>
                  <a:pt x="248" y="62"/>
                  <a:pt x="248" y="0"/>
                  <a:pt x="248" y="0"/>
                </a:cubicBezTo>
                <a:lnTo>
                  <a:pt x="125" y="0"/>
                </a:ln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1042920" y="4819320"/>
            <a:ext cx="133560" cy="200520"/>
          </a:xfrm>
          <a:custGeom>
            <a:avLst/>
            <a:gdLst/>
            <a:ahLst/>
            <a:rect l="0" t="0" r="r" b="b"/>
            <a:pathLst>
              <a:path w="371" h="557">
                <a:moveTo>
                  <a:pt x="371" y="526"/>
                </a:moveTo>
                <a:cubicBezTo>
                  <a:pt x="371" y="543"/>
                  <a:pt x="357" y="557"/>
                  <a:pt x="340" y="557"/>
                </a:cubicBezTo>
                <a:lnTo>
                  <a:pt x="31" y="557"/>
                </a:lnTo>
                <a:cubicBezTo>
                  <a:pt x="14" y="557"/>
                  <a:pt x="0" y="543"/>
                  <a:pt x="0" y="526"/>
                </a:cubicBezTo>
                <a:cubicBezTo>
                  <a:pt x="0" y="509"/>
                  <a:pt x="14" y="495"/>
                  <a:pt x="31" y="495"/>
                </a:cubicBezTo>
                <a:lnTo>
                  <a:pt x="340" y="495"/>
                </a:lnTo>
                <a:cubicBezTo>
                  <a:pt x="357" y="495"/>
                  <a:pt x="371" y="509"/>
                  <a:pt x="371" y="526"/>
                </a:cubicBezTo>
                <a:moveTo>
                  <a:pt x="371" y="31"/>
                </a:moveTo>
                <a:cubicBezTo>
                  <a:pt x="371" y="48"/>
                  <a:pt x="357" y="62"/>
                  <a:pt x="340" y="62"/>
                </a:cubicBezTo>
                <a:lnTo>
                  <a:pt x="31" y="62"/>
                </a:ln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lnTo>
                  <a:pt x="340" y="0"/>
                </a:lnTo>
                <a:cubicBezTo>
                  <a:pt x="357" y="0"/>
                  <a:pt x="371" y="14"/>
                  <a:pt x="371" y="31"/>
                </a:cubicBez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990720" y="3992760"/>
            <a:ext cx="16812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(eficiencia de datos).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685440" y="10094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990720" y="5059800"/>
            <a:ext cx="74527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El entrenamiento tarda; es normal que la barra de progreso avance despacio. No lo pares.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7181640" y="981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685800" y="632520"/>
            <a:ext cx="20955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Qué hace este notebook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CP5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1040400" y="6517080"/>
            <a:ext cx="1227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RL en highway-env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2267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2309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3208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3250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06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7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914400" y="975240"/>
            <a:ext cx="202536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PARTE 3 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3015000" y="990360"/>
            <a:ext cx="49500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3162240" y="975240"/>
            <a:ext cx="302076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EVALUACIÓN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/>
          <p:nvPr/>
        </p:nvSpPr>
        <p:spPr>
          <a:xfrm>
            <a:off x="1962000" y="1714320"/>
            <a:ext cx="2038680" cy="286200"/>
          </a:xfrm>
          <a:custGeom>
            <a:avLst/>
            <a:gdLst/>
            <a:ahLst/>
            <a:rect l="0" t="0" r="r" b="b"/>
            <a:pathLst>
              <a:path w="5663" h="795">
                <a:moveTo>
                  <a:pt x="0" y="715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5584" y="0"/>
                </a:lnTo>
                <a:cubicBezTo>
                  <a:pt x="5594" y="0"/>
                  <a:pt x="5604" y="2"/>
                  <a:pt x="5614" y="6"/>
                </a:cubicBezTo>
                <a:cubicBezTo>
                  <a:pt x="5624" y="10"/>
                  <a:pt x="5632" y="16"/>
                  <a:pt x="5640" y="23"/>
                </a:cubicBezTo>
                <a:cubicBezTo>
                  <a:pt x="5647" y="31"/>
                  <a:pt x="5653" y="39"/>
                  <a:pt x="5657" y="49"/>
                </a:cubicBezTo>
                <a:cubicBezTo>
                  <a:pt x="5661" y="59"/>
                  <a:pt x="5663" y="69"/>
                  <a:pt x="5663" y="79"/>
                </a:cubicBezTo>
                <a:lnTo>
                  <a:pt x="5663" y="715"/>
                </a:lnTo>
                <a:cubicBezTo>
                  <a:pt x="5663" y="726"/>
                  <a:pt x="5661" y="736"/>
                  <a:pt x="5657" y="746"/>
                </a:cubicBezTo>
                <a:cubicBezTo>
                  <a:pt x="5653" y="755"/>
                  <a:pt x="5647" y="764"/>
                  <a:pt x="5640" y="772"/>
                </a:cubicBezTo>
                <a:cubicBezTo>
                  <a:pt x="5632" y="779"/>
                  <a:pt x="5624" y="785"/>
                  <a:pt x="5614" y="789"/>
                </a:cubicBezTo>
                <a:cubicBezTo>
                  <a:pt x="5604" y="793"/>
                  <a:pt x="5594" y="795"/>
                  <a:pt x="5584" y="795"/>
                </a:cubicBezTo>
                <a:lnTo>
                  <a:pt x="79" y="795"/>
                </a:lnTo>
                <a:cubicBezTo>
                  <a:pt x="69" y="795"/>
                  <a:pt x="59" y="793"/>
                  <a:pt x="49" y="789"/>
                </a:cubicBezTo>
                <a:cubicBezTo>
                  <a:pt x="39" y="785"/>
                  <a:pt x="31" y="779"/>
                  <a:pt x="23" y="772"/>
                </a:cubicBezTo>
                <a:cubicBezTo>
                  <a:pt x="16" y="764"/>
                  <a:pt x="10" y="755"/>
                  <a:pt x="6" y="746"/>
                </a:cubicBezTo>
                <a:cubicBezTo>
                  <a:pt x="2" y="736"/>
                  <a:pt x="0" y="726"/>
                  <a:pt x="0" y="715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914400" y="1744920"/>
            <a:ext cx="105228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Notebook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2012400" y="1713240"/>
            <a:ext cx="194508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06_evaluacion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 txBox="1"/>
          <p:nvPr/>
        </p:nvSpPr>
        <p:spPr>
          <a:xfrm>
            <a:off x="3999960" y="174492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4061880" y="175248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B830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 txBox="1"/>
          <p:nvPr/>
        </p:nvSpPr>
        <p:spPr>
          <a:xfrm>
            <a:off x="4130640" y="1744920"/>
            <a:ext cx="7765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~8 min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CP5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 txBox="1"/>
          <p:nvPr/>
        </p:nvSpPr>
        <p:spPr>
          <a:xfrm>
            <a:off x="1040400" y="6517080"/>
            <a:ext cx="1227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RL en highway-env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2267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2309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3208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 txBox="1"/>
          <p:nvPr/>
        </p:nvSpPr>
        <p:spPr>
          <a:xfrm>
            <a:off x="3250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28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9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 txBox="1"/>
          <p:nvPr/>
        </p:nvSpPr>
        <p:spPr>
          <a:xfrm>
            <a:off x="685800" y="1325880"/>
            <a:ext cx="10567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Evalúa el DQN entrenado sobre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50 episodios nuevos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(semillas distintas a las de entrenamiento) y lo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compara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con los baselines.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/>
          <p:nvPr/>
        </p:nvSpPr>
        <p:spPr>
          <a:xfrm>
            <a:off x="685440" y="2238120"/>
            <a:ext cx="10820880" cy="714960"/>
          </a:xfrm>
          <a:custGeom>
            <a:avLst/>
            <a:gdLst/>
            <a:ahLst/>
            <a:rect l="0" t="0" r="r" b="b"/>
            <a:pathLst>
              <a:path w="30058" h="1986">
                <a:moveTo>
                  <a:pt x="0" y="0"/>
                </a:moveTo>
                <a:lnTo>
                  <a:pt x="30058" y="0"/>
                </a:lnTo>
                <a:lnTo>
                  <a:pt x="30058" y="1986"/>
                </a:lnTo>
                <a:lnTo>
                  <a:pt x="0" y="1986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685440" y="2238120"/>
            <a:ext cx="29160" cy="714960"/>
          </a:xfrm>
          <a:custGeom>
            <a:avLst/>
            <a:gdLst/>
            <a:ahLst/>
            <a:rect l="0" t="0" r="r" b="b"/>
            <a:pathLst>
              <a:path w="81" h="1986">
                <a:moveTo>
                  <a:pt x="0" y="0"/>
                </a:moveTo>
                <a:lnTo>
                  <a:pt x="81" y="0"/>
                </a:lnTo>
                <a:lnTo>
                  <a:pt x="81" y="1986"/>
                </a:lnTo>
                <a:lnTo>
                  <a:pt x="0" y="1986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 txBox="1"/>
          <p:nvPr/>
        </p:nvSpPr>
        <p:spPr>
          <a:xfrm>
            <a:off x="685800" y="1611720"/>
            <a:ext cx="52077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Genera además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GIFs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 algunos episodios para verlo conducir.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 txBox="1"/>
          <p:nvPr/>
        </p:nvSpPr>
        <p:spPr>
          <a:xfrm>
            <a:off x="990720" y="2345040"/>
            <a:ext cx="104346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Casi siempre el DQN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supera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al aleatorio, y con suerte al de reglas. Si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lo supera, no pasa nada: es material para la Pregunta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685440" y="3390840"/>
            <a:ext cx="10820880" cy="428760"/>
          </a:xfrm>
          <a:custGeom>
            <a:avLst/>
            <a:gdLst/>
            <a:ahLst/>
            <a:rect l="0" t="0" r="r" b="b"/>
            <a:pathLst>
              <a:path w="30058" h="1191">
                <a:moveTo>
                  <a:pt x="0" y="0"/>
                </a:moveTo>
                <a:lnTo>
                  <a:pt x="30058" y="0"/>
                </a:lnTo>
                <a:lnTo>
                  <a:pt x="3005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685440" y="3390840"/>
            <a:ext cx="29160" cy="428760"/>
          </a:xfrm>
          <a:custGeom>
            <a:avLst/>
            <a:gdLst/>
            <a:ahLst/>
            <a:rect l="0" t="0" r="r" b="b"/>
            <a:pathLst>
              <a:path w="81" h="1191">
                <a:moveTo>
                  <a:pt x="0" y="0"/>
                </a:moveTo>
                <a:lnTo>
                  <a:pt x="81" y="0"/>
                </a:lnTo>
                <a:lnTo>
                  <a:pt x="81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 txBox="1"/>
          <p:nvPr/>
        </p:nvSpPr>
        <p:spPr>
          <a:xfrm>
            <a:off x="990720" y="2630880"/>
            <a:ext cx="27925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 (¿por qué? ¿pocos timesteps?).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990720" y="3467160"/>
            <a:ext cx="200520" cy="26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AppleColorEmoji"/>
                <a:ea typeface="AppleColorEmoji"/>
              </a:rPr>
              <a:t>✍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685440" y="10094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1209600" y="3507120"/>
            <a:ext cx="55447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Anote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los tres returns (aleatorio, reglas, DQN) — es la Pregunta 1.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7181640" y="981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 txBox="1"/>
          <p:nvPr/>
        </p:nvSpPr>
        <p:spPr>
          <a:xfrm>
            <a:off x="685800" y="632520"/>
            <a:ext cx="20955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Qué hace este notebook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CP5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 txBox="1"/>
          <p:nvPr/>
        </p:nvSpPr>
        <p:spPr>
          <a:xfrm>
            <a:off x="1040400" y="6517080"/>
            <a:ext cx="1227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RL en highway-env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 txBox="1"/>
          <p:nvPr/>
        </p:nvSpPr>
        <p:spPr>
          <a:xfrm>
            <a:off x="2267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 txBox="1"/>
          <p:nvPr/>
        </p:nvSpPr>
        <p:spPr>
          <a:xfrm>
            <a:off x="2309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 txBox="1"/>
          <p:nvPr/>
        </p:nvSpPr>
        <p:spPr>
          <a:xfrm>
            <a:off x="3208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 txBox="1"/>
          <p:nvPr/>
        </p:nvSpPr>
        <p:spPr>
          <a:xfrm>
            <a:off x="3250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54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5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 txBox="1"/>
          <p:nvPr/>
        </p:nvSpPr>
        <p:spPr>
          <a:xfrm>
            <a:off x="914400" y="975240"/>
            <a:ext cx="202536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PARTE 4 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3015000" y="990360"/>
            <a:ext cx="49500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 txBox="1"/>
          <p:nvPr/>
        </p:nvSpPr>
        <p:spPr>
          <a:xfrm>
            <a:off x="3162240" y="975240"/>
            <a:ext cx="437832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REWARD HACKING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1962000" y="1714320"/>
            <a:ext cx="2638800" cy="286200"/>
          </a:xfrm>
          <a:custGeom>
            <a:avLst/>
            <a:gdLst/>
            <a:ahLst/>
            <a:rect l="0" t="0" r="r" b="b"/>
            <a:pathLst>
              <a:path w="7330" h="795">
                <a:moveTo>
                  <a:pt x="0" y="715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7250" y="0"/>
                </a:lnTo>
                <a:cubicBezTo>
                  <a:pt x="7261" y="0"/>
                  <a:pt x="7271" y="2"/>
                  <a:pt x="7281" y="6"/>
                </a:cubicBezTo>
                <a:cubicBezTo>
                  <a:pt x="7291" y="10"/>
                  <a:pt x="7299" y="16"/>
                  <a:pt x="7307" y="23"/>
                </a:cubicBezTo>
                <a:cubicBezTo>
                  <a:pt x="7314" y="31"/>
                  <a:pt x="7320" y="39"/>
                  <a:pt x="7324" y="49"/>
                </a:cubicBezTo>
                <a:cubicBezTo>
                  <a:pt x="7328" y="59"/>
                  <a:pt x="7330" y="69"/>
                  <a:pt x="7330" y="79"/>
                </a:cubicBezTo>
                <a:lnTo>
                  <a:pt x="7330" y="715"/>
                </a:lnTo>
                <a:cubicBezTo>
                  <a:pt x="7330" y="726"/>
                  <a:pt x="7328" y="736"/>
                  <a:pt x="7324" y="746"/>
                </a:cubicBezTo>
                <a:cubicBezTo>
                  <a:pt x="7320" y="755"/>
                  <a:pt x="7314" y="764"/>
                  <a:pt x="7307" y="772"/>
                </a:cubicBezTo>
                <a:cubicBezTo>
                  <a:pt x="7299" y="779"/>
                  <a:pt x="7291" y="785"/>
                  <a:pt x="7281" y="789"/>
                </a:cubicBezTo>
                <a:cubicBezTo>
                  <a:pt x="7271" y="793"/>
                  <a:pt x="7261" y="795"/>
                  <a:pt x="7250" y="795"/>
                </a:cubicBezTo>
                <a:lnTo>
                  <a:pt x="79" y="795"/>
                </a:lnTo>
                <a:cubicBezTo>
                  <a:pt x="69" y="795"/>
                  <a:pt x="59" y="793"/>
                  <a:pt x="49" y="789"/>
                </a:cubicBezTo>
                <a:cubicBezTo>
                  <a:pt x="39" y="785"/>
                  <a:pt x="31" y="779"/>
                  <a:pt x="23" y="772"/>
                </a:cubicBezTo>
                <a:cubicBezTo>
                  <a:pt x="16" y="764"/>
                  <a:pt x="10" y="755"/>
                  <a:pt x="6" y="746"/>
                </a:cubicBezTo>
                <a:cubicBezTo>
                  <a:pt x="2" y="736"/>
                  <a:pt x="0" y="726"/>
                  <a:pt x="0" y="715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914400" y="1744920"/>
            <a:ext cx="105228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Notebook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2012400" y="1713240"/>
            <a:ext cx="25430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07_reward_shaping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4596480" y="174492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4658400" y="175248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 txBox="1"/>
          <p:nvPr/>
        </p:nvSpPr>
        <p:spPr>
          <a:xfrm>
            <a:off x="4727160" y="1744920"/>
            <a:ext cx="99108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~10 min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5714640" y="175248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B830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 txBox="1"/>
          <p:nvPr/>
        </p:nvSpPr>
        <p:spPr>
          <a:xfrm>
            <a:off x="5783400" y="1744920"/>
            <a:ext cx="159228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la lección clave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CP5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1040400" y="6517080"/>
            <a:ext cx="1227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RL en highway-env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 txBox="1"/>
          <p:nvPr/>
        </p:nvSpPr>
        <p:spPr>
          <a:xfrm>
            <a:off x="2267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2309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3208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 txBox="1"/>
          <p:nvPr/>
        </p:nvSpPr>
        <p:spPr>
          <a:xfrm>
            <a:off x="3250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78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9" name=""/>
          <p:cNvSpPr txBox="1"/>
          <p:nvPr/>
        </p:nvSpPr>
        <p:spPr>
          <a:xfrm>
            <a:off x="11757600" y="6513120"/>
            <a:ext cx="16740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685800" y="1325880"/>
            <a:ext cx="107406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Aquí cambias la recompensa: le añades una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penalización por cambiar de carril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(para que conduzca "más tranquilo") y reentrenas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685440" y="2238120"/>
            <a:ext cx="10820880" cy="914760"/>
          </a:xfrm>
          <a:custGeom>
            <a:avLst/>
            <a:gdLst/>
            <a:ahLst/>
            <a:rect l="0" t="0" r="r" b="b"/>
            <a:pathLst>
              <a:path w="30058" h="2541">
                <a:moveTo>
                  <a:pt x="0" y="0"/>
                </a:moveTo>
                <a:lnTo>
                  <a:pt x="30058" y="0"/>
                </a:lnTo>
                <a:lnTo>
                  <a:pt x="30058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/>
          <p:nvPr/>
        </p:nvSpPr>
        <p:spPr>
          <a:xfrm>
            <a:off x="685440" y="2238120"/>
            <a:ext cx="29160" cy="914760"/>
          </a:xfrm>
          <a:custGeom>
            <a:avLst/>
            <a:gdLst/>
            <a:ahLst/>
            <a:rect l="0" t="0" r="r" b="b"/>
            <a:pathLst>
              <a:path w="81" h="2541">
                <a:moveTo>
                  <a:pt x="0" y="0"/>
                </a:moveTo>
                <a:lnTo>
                  <a:pt x="81" y="0"/>
                </a:lnTo>
                <a:lnTo>
                  <a:pt x="81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/>
          <p:nvPr/>
        </p:nvSpPr>
        <p:spPr>
          <a:xfrm>
            <a:off x="1014840" y="2305800"/>
            <a:ext cx="194040" cy="198720"/>
          </a:xfrm>
          <a:custGeom>
            <a:avLst/>
            <a:gdLst/>
            <a:ahLst/>
            <a:rect l="0" t="0" r="r" b="b"/>
            <a:pathLst>
              <a:path w="539" h="552">
                <a:moveTo>
                  <a:pt x="489" y="50"/>
                </a:moveTo>
                <a:cubicBezTo>
                  <a:pt x="423" y="-16"/>
                  <a:pt x="315" y="-16"/>
                  <a:pt x="249" y="50"/>
                </a:cubicBezTo>
                <a:cubicBezTo>
                  <a:pt x="197" y="102"/>
                  <a:pt x="186" y="180"/>
                  <a:pt x="216" y="244"/>
                </a:cubicBezTo>
                <a:lnTo>
                  <a:pt x="155" y="304"/>
                </a:lnTo>
                <a:cubicBezTo>
                  <a:pt x="145" y="314"/>
                  <a:pt x="142" y="328"/>
                  <a:pt x="146" y="340"/>
                </a:cubicBezTo>
                <a:lnTo>
                  <a:pt x="114" y="371"/>
                </a:lnTo>
                <a:cubicBezTo>
                  <a:pt x="107" y="363"/>
                  <a:pt x="95" y="363"/>
                  <a:pt x="88" y="371"/>
                </a:cubicBezTo>
                <a:lnTo>
                  <a:pt x="61" y="398"/>
                </a:lnTo>
                <a:cubicBezTo>
                  <a:pt x="53" y="405"/>
                  <a:pt x="53" y="417"/>
                  <a:pt x="61" y="424"/>
                </a:cubicBezTo>
                <a:lnTo>
                  <a:pt x="47" y="438"/>
                </a:lnTo>
                <a:cubicBezTo>
                  <a:pt x="40" y="430"/>
                  <a:pt x="28" y="430"/>
                  <a:pt x="21" y="438"/>
                </a:cubicBezTo>
                <a:lnTo>
                  <a:pt x="7" y="451"/>
                </a:lnTo>
                <a:cubicBezTo>
                  <a:pt x="0" y="458"/>
                  <a:pt x="0" y="470"/>
                  <a:pt x="7" y="478"/>
                </a:cubicBezTo>
                <a:cubicBezTo>
                  <a:pt x="8" y="478"/>
                  <a:pt x="8" y="478"/>
                  <a:pt x="8" y="478"/>
                </a:cubicBezTo>
                <a:cubicBezTo>
                  <a:pt x="-4" y="498"/>
                  <a:pt x="-2" y="523"/>
                  <a:pt x="14" y="539"/>
                </a:cubicBezTo>
                <a:cubicBezTo>
                  <a:pt x="32" y="557"/>
                  <a:pt x="62" y="557"/>
                  <a:pt x="81" y="539"/>
                </a:cubicBezTo>
                <a:lnTo>
                  <a:pt x="296" y="324"/>
                </a:lnTo>
                <a:cubicBezTo>
                  <a:pt x="359" y="354"/>
                  <a:pt x="437" y="343"/>
                  <a:pt x="489" y="291"/>
                </a:cubicBezTo>
                <a:cubicBezTo>
                  <a:pt x="556" y="224"/>
                  <a:pt x="556" y="117"/>
                  <a:pt x="489" y="50"/>
                </a:cubicBezTo>
                <a:moveTo>
                  <a:pt x="463" y="130"/>
                </a:moveTo>
                <a:cubicBezTo>
                  <a:pt x="448" y="145"/>
                  <a:pt x="424" y="145"/>
                  <a:pt x="409" y="130"/>
                </a:cubicBezTo>
                <a:cubicBezTo>
                  <a:pt x="395" y="116"/>
                  <a:pt x="395" y="92"/>
                  <a:pt x="409" y="77"/>
                </a:cubicBezTo>
                <a:cubicBezTo>
                  <a:pt x="424" y="62"/>
                  <a:pt x="448" y="62"/>
                  <a:pt x="463" y="77"/>
                </a:cubicBezTo>
                <a:cubicBezTo>
                  <a:pt x="477" y="92"/>
                  <a:pt x="477" y="116"/>
                  <a:pt x="463" y="130"/>
                </a:cubicBezTo>
                <a:close/>
              </a:path>
            </a:pathLst>
          </a:custGeom>
          <a:solidFill>
            <a:srgbClr val="C1694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685800" y="1611720"/>
            <a:ext cx="6944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un poco.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990720" y="2545200"/>
            <a:ext cx="102650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Lo que vas a descubrir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el agente, para evitar la penalización,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deja de cambiar de carril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… pero puede acabar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chocando más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 txBox="1"/>
          <p:nvPr/>
        </p:nvSpPr>
        <p:spPr>
          <a:xfrm>
            <a:off x="990720" y="2830680"/>
            <a:ext cx="89938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(no esquiva). Ha aprendido a "ganar puntos" de una forma que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no era la intención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 Eso es el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reward hacking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685800" y="3411720"/>
            <a:ext cx="104032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Es la lección central del RL: el agente optimiza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exactamente lo que le pides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no lo que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quieres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 Diseñar bien la recompensa es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/>
          <p:nvPr/>
        </p:nvSpPr>
        <p:spPr>
          <a:xfrm>
            <a:off x="685440" y="4324320"/>
            <a:ext cx="10820880" cy="428760"/>
          </a:xfrm>
          <a:custGeom>
            <a:avLst/>
            <a:gdLst/>
            <a:ahLst/>
            <a:rect l="0" t="0" r="r" b="b"/>
            <a:pathLst>
              <a:path w="30058" h="1191">
                <a:moveTo>
                  <a:pt x="0" y="0"/>
                </a:moveTo>
                <a:lnTo>
                  <a:pt x="30058" y="0"/>
                </a:lnTo>
                <a:lnTo>
                  <a:pt x="3005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/>
          <p:nvPr/>
        </p:nvSpPr>
        <p:spPr>
          <a:xfrm>
            <a:off x="685440" y="4324320"/>
            <a:ext cx="29160" cy="428760"/>
          </a:xfrm>
          <a:custGeom>
            <a:avLst/>
            <a:gdLst/>
            <a:ahLst/>
            <a:rect l="0" t="0" r="r" b="b"/>
            <a:pathLst>
              <a:path w="81" h="1191">
                <a:moveTo>
                  <a:pt x="0" y="0"/>
                </a:moveTo>
                <a:lnTo>
                  <a:pt x="81" y="0"/>
                </a:lnTo>
                <a:lnTo>
                  <a:pt x="81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685800" y="3707280"/>
            <a:ext cx="47196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dificilísimo, y por eso el RL puro es peligroso en un coche.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 txBox="1"/>
          <p:nvPr/>
        </p:nvSpPr>
        <p:spPr>
          <a:xfrm>
            <a:off x="990720" y="4390920"/>
            <a:ext cx="200520" cy="26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AppleColorEmoji"/>
                <a:ea typeface="AppleColorEmoji"/>
              </a:rPr>
              <a:t>✍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/>
          <p:nvPr/>
        </p:nvSpPr>
        <p:spPr>
          <a:xfrm>
            <a:off x="685440" y="10094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/>
          <p:nvPr/>
        </p:nvSpPr>
        <p:spPr>
          <a:xfrm>
            <a:off x="745560" y="610200"/>
            <a:ext cx="128160" cy="161640"/>
          </a:xfrm>
          <a:custGeom>
            <a:avLst/>
            <a:gdLst/>
            <a:ahLst/>
            <a:rect l="0" t="0" r="r" b="b"/>
            <a:pathLst>
              <a:path w="356" h="449">
                <a:moveTo>
                  <a:pt x="356" y="177"/>
                </a:moveTo>
                <a:cubicBezTo>
                  <a:pt x="356" y="281"/>
                  <a:pt x="275" y="297"/>
                  <a:pt x="275" y="395"/>
                </a:cubicBezTo>
                <a:cubicBezTo>
                  <a:pt x="275" y="445"/>
                  <a:pt x="224" y="449"/>
                  <a:pt x="186" y="449"/>
                </a:cubicBezTo>
                <a:cubicBezTo>
                  <a:pt x="152" y="449"/>
                  <a:pt x="79" y="437"/>
                  <a:pt x="79" y="395"/>
                </a:cubicBezTo>
                <a:cubicBezTo>
                  <a:pt x="79" y="297"/>
                  <a:pt x="0" y="281"/>
                  <a:pt x="0" y="177"/>
                </a:cubicBezTo>
                <a:cubicBezTo>
                  <a:pt x="0" y="79"/>
                  <a:pt x="85" y="0"/>
                  <a:pt x="179" y="0"/>
                </a:cubicBezTo>
                <a:cubicBezTo>
                  <a:pt x="274" y="0"/>
                  <a:pt x="356" y="79"/>
                  <a:pt x="356" y="177"/>
                </a:cubicBezTo>
                <a:close/>
              </a:path>
            </a:pathLst>
          </a:custGeom>
          <a:solidFill>
            <a:srgbClr val="FFD98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/>
          <p:nvPr/>
        </p:nvSpPr>
        <p:spPr>
          <a:xfrm>
            <a:off x="785160" y="795240"/>
            <a:ext cx="48960" cy="18360"/>
          </a:xfrm>
          <a:custGeom>
            <a:avLst/>
            <a:gdLst/>
            <a:ahLst/>
            <a:rect l="0" t="0" r="r" b="b"/>
            <a:pathLst>
              <a:path w="136" h="51">
                <a:moveTo>
                  <a:pt x="136" y="9"/>
                </a:moveTo>
                <a:cubicBezTo>
                  <a:pt x="136" y="24"/>
                  <a:pt x="100" y="51"/>
                  <a:pt x="68" y="51"/>
                </a:cubicBezTo>
                <a:cubicBezTo>
                  <a:pt x="37" y="51"/>
                  <a:pt x="0" y="24"/>
                  <a:pt x="0" y="9"/>
                </a:cubicBezTo>
                <a:cubicBezTo>
                  <a:pt x="0" y="-4"/>
                  <a:pt x="37" y="1"/>
                  <a:pt x="68" y="1"/>
                </a:cubicBezTo>
                <a:cubicBezTo>
                  <a:pt x="100" y="1"/>
                  <a:pt x="136" y="-4"/>
                  <a:pt x="136" y="9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/>
          <p:nvPr/>
        </p:nvSpPr>
        <p:spPr>
          <a:xfrm>
            <a:off x="780480" y="667800"/>
            <a:ext cx="58680" cy="99360"/>
          </a:xfrm>
          <a:custGeom>
            <a:avLst/>
            <a:gdLst/>
            <a:ahLst/>
            <a:rect l="0" t="0" r="r" b="b"/>
            <a:pathLst>
              <a:path w="163" h="276">
                <a:moveTo>
                  <a:pt x="159" y="5"/>
                </a:moveTo>
                <a:cubicBezTo>
                  <a:pt x="152" y="-1"/>
                  <a:pt x="142" y="-1"/>
                  <a:pt x="136" y="5"/>
                </a:cubicBezTo>
                <a:lnTo>
                  <a:pt x="82" y="59"/>
                </a:lnTo>
                <a:lnTo>
                  <a:pt x="29" y="5"/>
                </a:lnTo>
                <a:cubicBezTo>
                  <a:pt x="23" y="-1"/>
                  <a:pt x="13" y="-1"/>
                  <a:pt x="5" y="5"/>
                </a:cubicBezTo>
                <a:cubicBezTo>
                  <a:pt x="-1" y="12"/>
                  <a:pt x="-1" y="22"/>
                  <a:pt x="5" y="28"/>
                </a:cubicBezTo>
                <a:lnTo>
                  <a:pt x="66" y="88"/>
                </a:lnTo>
                <a:lnTo>
                  <a:pt x="66" y="260"/>
                </a:lnTo>
                <a:cubicBezTo>
                  <a:pt x="66" y="269"/>
                  <a:pt x="74" y="276"/>
                  <a:pt x="82" y="276"/>
                </a:cubicBezTo>
                <a:cubicBezTo>
                  <a:pt x="91" y="276"/>
                  <a:pt x="99" y="269"/>
                  <a:pt x="99" y="260"/>
                </a:cubicBezTo>
                <a:lnTo>
                  <a:pt x="99" y="88"/>
                </a:lnTo>
                <a:lnTo>
                  <a:pt x="159" y="28"/>
                </a:lnTo>
                <a:cubicBezTo>
                  <a:pt x="165" y="22"/>
                  <a:pt x="165" y="12"/>
                  <a:pt x="159" y="5"/>
                </a:cubicBez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/>
          <p:nvPr/>
        </p:nvSpPr>
        <p:spPr>
          <a:xfrm>
            <a:off x="774360" y="754920"/>
            <a:ext cx="70200" cy="46800"/>
          </a:xfrm>
          <a:custGeom>
            <a:avLst/>
            <a:gdLst/>
            <a:ahLst/>
            <a:rect l="0" t="0" r="r" b="b"/>
            <a:pathLst>
              <a:path w="195" h="130">
                <a:moveTo>
                  <a:pt x="195" y="98"/>
                </a:moveTo>
                <a:cubicBezTo>
                  <a:pt x="195" y="116"/>
                  <a:pt x="181" y="130"/>
                  <a:pt x="163" y="130"/>
                </a:cubicBezTo>
                <a:lnTo>
                  <a:pt x="33" y="130"/>
                </a:lnTo>
                <a:cubicBezTo>
                  <a:pt x="15" y="130"/>
                  <a:pt x="0" y="116"/>
                  <a:pt x="0" y="98"/>
                </a:cubicBezTo>
                <a:lnTo>
                  <a:pt x="0" y="0"/>
                </a:lnTo>
                <a:lnTo>
                  <a:pt x="195" y="0"/>
                </a:lnTo>
                <a:lnTo>
                  <a:pt x="195" y="98"/>
                </a:ln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/>
          <p:nvPr/>
        </p:nvSpPr>
        <p:spPr>
          <a:xfrm>
            <a:off x="768600" y="749160"/>
            <a:ext cx="81720" cy="46800"/>
          </a:xfrm>
          <a:custGeom>
            <a:avLst/>
            <a:gdLst/>
            <a:ahLst/>
            <a:rect l="0" t="0" r="r" b="b"/>
            <a:pathLst>
              <a:path w="227" h="130">
                <a:moveTo>
                  <a:pt x="0" y="117"/>
                </a:moveTo>
                <a:cubicBezTo>
                  <a:pt x="-2" y="108"/>
                  <a:pt x="4" y="100"/>
                  <a:pt x="14" y="98"/>
                </a:cubicBezTo>
                <a:lnTo>
                  <a:pt x="208" y="66"/>
                </a:lnTo>
                <a:cubicBezTo>
                  <a:pt x="217" y="64"/>
                  <a:pt x="225" y="70"/>
                  <a:pt x="226" y="79"/>
                </a:cubicBezTo>
                <a:cubicBezTo>
                  <a:pt x="228" y="88"/>
                  <a:pt x="222" y="96"/>
                  <a:pt x="213" y="98"/>
                </a:cubicBezTo>
                <a:lnTo>
                  <a:pt x="19" y="130"/>
                </a:lnTo>
                <a:cubicBezTo>
                  <a:pt x="18" y="130"/>
                  <a:pt x="17" y="130"/>
                  <a:pt x="16" y="130"/>
                </a:cubicBezTo>
                <a:cubicBezTo>
                  <a:pt x="8" y="130"/>
                  <a:pt x="1" y="125"/>
                  <a:pt x="0" y="117"/>
                </a:cubicBezTo>
                <a:moveTo>
                  <a:pt x="0" y="52"/>
                </a:moveTo>
                <a:cubicBezTo>
                  <a:pt x="-2" y="42"/>
                  <a:pt x="4" y="34"/>
                  <a:pt x="14" y="32"/>
                </a:cubicBezTo>
                <a:lnTo>
                  <a:pt x="208" y="0"/>
                </a:lnTo>
                <a:cubicBezTo>
                  <a:pt x="217" y="-1"/>
                  <a:pt x="225" y="5"/>
                  <a:pt x="226" y="13"/>
                </a:cubicBezTo>
                <a:cubicBezTo>
                  <a:pt x="228" y="22"/>
                  <a:pt x="222" y="31"/>
                  <a:pt x="213" y="32"/>
                </a:cubicBezTo>
                <a:lnTo>
                  <a:pt x="19" y="65"/>
                </a:lnTo>
                <a:cubicBezTo>
                  <a:pt x="18" y="66"/>
                  <a:pt x="17" y="66"/>
                  <a:pt x="16" y="66"/>
                </a:cubicBezTo>
                <a:cubicBezTo>
                  <a:pt x="8" y="66"/>
                  <a:pt x="1" y="60"/>
                  <a:pt x="0" y="52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1209600" y="4430880"/>
            <a:ext cx="68004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Observa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¿bajaron los cambios de carril? ¿subió la tasa de colisión? (Pregunta 3.)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/>
          <p:nvPr/>
        </p:nvSpPr>
        <p:spPr>
          <a:xfrm>
            <a:off x="7181640" y="981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 txBox="1"/>
          <p:nvPr/>
        </p:nvSpPr>
        <p:spPr>
          <a:xfrm>
            <a:off x="926640" y="632520"/>
            <a:ext cx="24447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 Cuidado con lo que premias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CP5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 txBox="1"/>
          <p:nvPr/>
        </p:nvSpPr>
        <p:spPr>
          <a:xfrm>
            <a:off x="1040400" y="6517080"/>
            <a:ext cx="1227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RL en highway-env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 txBox="1"/>
          <p:nvPr/>
        </p:nvSpPr>
        <p:spPr>
          <a:xfrm>
            <a:off x="2267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 txBox="1"/>
          <p:nvPr/>
        </p:nvSpPr>
        <p:spPr>
          <a:xfrm>
            <a:off x="2309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3208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 txBox="1"/>
          <p:nvPr/>
        </p:nvSpPr>
        <p:spPr>
          <a:xfrm>
            <a:off x="3250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12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3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914400" y="975240"/>
            <a:ext cx="202536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PARTE 5 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3015000" y="990360"/>
            <a:ext cx="49500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3162240" y="975240"/>
            <a:ext cx="371088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EL ENTREGABLE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B830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 txBox="1"/>
          <p:nvPr/>
        </p:nvSpPr>
        <p:spPr>
          <a:xfrm>
            <a:off x="914400" y="1735560"/>
            <a:ext cx="298044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Documento a subir a Moodle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CP5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1040400" y="6517080"/>
            <a:ext cx="1227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RL en highway-env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 txBox="1"/>
          <p:nvPr/>
        </p:nvSpPr>
        <p:spPr>
          <a:xfrm>
            <a:off x="2267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2309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 txBox="1"/>
          <p:nvPr/>
        </p:nvSpPr>
        <p:spPr>
          <a:xfrm>
            <a:off x="3208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 txBox="1"/>
          <p:nvPr/>
        </p:nvSpPr>
        <p:spPr>
          <a:xfrm>
            <a:off x="3250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29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0" name=""/>
          <p:cNvSpPr txBox="1"/>
          <p:nvPr/>
        </p:nvSpPr>
        <p:spPr>
          <a:xfrm>
            <a:off x="11757600" y="6513120"/>
            <a:ext cx="16740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/>
          <p:nvPr/>
        </p:nvSpPr>
        <p:spPr>
          <a:xfrm>
            <a:off x="1438200" y="1314360"/>
            <a:ext cx="2877120" cy="219240"/>
          </a:xfrm>
          <a:custGeom>
            <a:avLst/>
            <a:gdLst/>
            <a:ahLst/>
            <a:rect l="0" t="0" r="r" b="b"/>
            <a:pathLst>
              <a:path w="7992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3" y="58"/>
                  <a:pt x="7" y="49"/>
                </a:cubicBezTo>
                <a:cubicBezTo>
                  <a:pt x="11" y="39"/>
                  <a:pt x="17" y="30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lnTo>
                  <a:pt x="7912" y="0"/>
                </a:lnTo>
                <a:cubicBezTo>
                  <a:pt x="7922" y="0"/>
                  <a:pt x="7932" y="2"/>
                  <a:pt x="7942" y="6"/>
                </a:cubicBezTo>
                <a:cubicBezTo>
                  <a:pt x="7952" y="10"/>
                  <a:pt x="7960" y="16"/>
                  <a:pt x="7968" y="23"/>
                </a:cubicBezTo>
                <a:cubicBezTo>
                  <a:pt x="7975" y="30"/>
                  <a:pt x="7981" y="39"/>
                  <a:pt x="7985" y="49"/>
                </a:cubicBezTo>
                <a:cubicBezTo>
                  <a:pt x="7989" y="58"/>
                  <a:pt x="7992" y="69"/>
                  <a:pt x="7992" y="79"/>
                </a:cubicBezTo>
                <a:lnTo>
                  <a:pt x="7992" y="530"/>
                </a:lnTo>
                <a:cubicBezTo>
                  <a:pt x="7992" y="540"/>
                  <a:pt x="7989" y="551"/>
                  <a:pt x="7985" y="560"/>
                </a:cubicBezTo>
                <a:cubicBezTo>
                  <a:pt x="7981" y="570"/>
                  <a:pt x="7975" y="579"/>
                  <a:pt x="7968" y="586"/>
                </a:cubicBezTo>
                <a:cubicBezTo>
                  <a:pt x="7960" y="593"/>
                  <a:pt x="7952" y="599"/>
                  <a:pt x="7942" y="603"/>
                </a:cubicBezTo>
                <a:cubicBezTo>
                  <a:pt x="7932" y="607"/>
                  <a:pt x="7922" y="609"/>
                  <a:pt x="7912" y="609"/>
                </a:cubicBezTo>
                <a:lnTo>
                  <a:pt x="80" y="609"/>
                </a:lnTo>
                <a:cubicBezTo>
                  <a:pt x="70" y="609"/>
                  <a:pt x="59" y="607"/>
                  <a:pt x="50" y="603"/>
                </a:cubicBezTo>
                <a:cubicBezTo>
                  <a:pt x="40" y="599"/>
                  <a:pt x="31" y="593"/>
                  <a:pt x="24" y="586"/>
                </a:cubicBezTo>
                <a:cubicBezTo>
                  <a:pt x="17" y="579"/>
                  <a:pt x="11" y="570"/>
                  <a:pt x="7" y="560"/>
                </a:cubicBezTo>
                <a:cubicBezTo>
                  <a:pt x="3" y="551"/>
                  <a:pt x="0" y="540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 txBox="1"/>
          <p:nvPr/>
        </p:nvSpPr>
        <p:spPr>
          <a:xfrm>
            <a:off x="685800" y="1325880"/>
            <a:ext cx="7495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Un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PDF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 txBox="1"/>
          <p:nvPr/>
        </p:nvSpPr>
        <p:spPr>
          <a:xfrm>
            <a:off x="1493280" y="1328040"/>
            <a:ext cx="27752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cp5_&lt;apellido&gt;_&lt;nombre&gt;.pdf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/>
          <p:nvPr/>
        </p:nvSpPr>
        <p:spPr>
          <a:xfrm>
            <a:off x="9162720" y="1314360"/>
            <a:ext cx="2210400" cy="219240"/>
          </a:xfrm>
          <a:custGeom>
            <a:avLst/>
            <a:gdLst/>
            <a:ahLst/>
            <a:rect l="0" t="0" r="r" b="b"/>
            <a:pathLst>
              <a:path w="6140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6140" y="0"/>
                </a:lnTo>
                <a:lnTo>
                  <a:pt x="6140" y="609"/>
                </a:lnTo>
                <a:lnTo>
                  <a:pt x="80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40" y="599"/>
                  <a:pt x="31" y="593"/>
                  <a:pt x="24" y="586"/>
                </a:cubicBezTo>
                <a:cubicBezTo>
                  <a:pt x="16" y="579"/>
                  <a:pt x="10" y="570"/>
                  <a:pt x="6" y="560"/>
                </a:cubicBezTo>
                <a:cubicBezTo>
                  <a:pt x="2" y="551"/>
                  <a:pt x="0" y="540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 txBox="1"/>
          <p:nvPr/>
        </p:nvSpPr>
        <p:spPr>
          <a:xfrm>
            <a:off x="4314240" y="1325880"/>
            <a:ext cx="4843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), 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Moodle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(sección "CP5 — RL"), en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48 h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 Use la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plantilla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685440" y="1599840"/>
            <a:ext cx="876960" cy="219600"/>
          </a:xfrm>
          <a:custGeom>
            <a:avLst/>
            <a:gdLst/>
            <a:ahLst/>
            <a:rect l="0" t="0" r="r" b="b"/>
            <a:pathLst>
              <a:path w="2436" h="610">
                <a:moveTo>
                  <a:pt x="0" y="0"/>
                </a:moveTo>
                <a:lnTo>
                  <a:pt x="2356" y="0"/>
                </a:lnTo>
                <a:cubicBezTo>
                  <a:pt x="2367" y="0"/>
                  <a:pt x="2377" y="3"/>
                  <a:pt x="2387" y="7"/>
                </a:cubicBezTo>
                <a:cubicBezTo>
                  <a:pt x="2396" y="11"/>
                  <a:pt x="2405" y="16"/>
                  <a:pt x="2412" y="24"/>
                </a:cubicBezTo>
                <a:cubicBezTo>
                  <a:pt x="2420" y="31"/>
                  <a:pt x="2426" y="40"/>
                  <a:pt x="2430" y="49"/>
                </a:cubicBezTo>
                <a:cubicBezTo>
                  <a:pt x="2434" y="59"/>
                  <a:pt x="2436" y="69"/>
                  <a:pt x="2436" y="80"/>
                </a:cubicBezTo>
                <a:lnTo>
                  <a:pt x="2436" y="531"/>
                </a:lnTo>
                <a:cubicBezTo>
                  <a:pt x="2436" y="541"/>
                  <a:pt x="2434" y="551"/>
                  <a:pt x="2430" y="561"/>
                </a:cubicBezTo>
                <a:cubicBezTo>
                  <a:pt x="2426" y="571"/>
                  <a:pt x="2420" y="579"/>
                  <a:pt x="2412" y="587"/>
                </a:cubicBezTo>
                <a:cubicBezTo>
                  <a:pt x="2405" y="594"/>
                  <a:pt x="2396" y="600"/>
                  <a:pt x="2387" y="604"/>
                </a:cubicBezTo>
                <a:cubicBezTo>
                  <a:pt x="2377" y="608"/>
                  <a:pt x="2367" y="610"/>
                  <a:pt x="2356" y="610"/>
                </a:cubicBezTo>
                <a:lnTo>
                  <a:pt x="0" y="610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 txBox="1"/>
          <p:nvPr/>
        </p:nvSpPr>
        <p:spPr>
          <a:xfrm>
            <a:off x="9224280" y="1328040"/>
            <a:ext cx="215856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1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plantilla-respuestas-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 txBox="1"/>
          <p:nvPr/>
        </p:nvSpPr>
        <p:spPr>
          <a:xfrm>
            <a:off x="685800" y="1613880"/>
            <a:ext cx="82296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1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cp5.docx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/>
          <p:nvPr/>
        </p:nvSpPr>
        <p:spPr>
          <a:xfrm>
            <a:off x="2361960" y="1599840"/>
            <a:ext cx="1248120" cy="219600"/>
          </a:xfrm>
          <a:custGeom>
            <a:avLst/>
            <a:gdLst/>
            <a:ahLst/>
            <a:rect l="0" t="0" r="r" b="b"/>
            <a:pathLst>
              <a:path w="3467" h="610">
                <a:moveTo>
                  <a:pt x="0" y="531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1"/>
                  <a:pt x="49" y="7"/>
                </a:cubicBezTo>
                <a:cubicBezTo>
                  <a:pt x="59" y="3"/>
                  <a:pt x="69" y="0"/>
                  <a:pt x="80" y="0"/>
                </a:cubicBezTo>
                <a:lnTo>
                  <a:pt x="3388" y="0"/>
                </a:lnTo>
                <a:cubicBezTo>
                  <a:pt x="3398" y="0"/>
                  <a:pt x="3408" y="3"/>
                  <a:pt x="3418" y="7"/>
                </a:cubicBezTo>
                <a:cubicBezTo>
                  <a:pt x="3428" y="11"/>
                  <a:pt x="3437" y="16"/>
                  <a:pt x="3444" y="24"/>
                </a:cubicBezTo>
                <a:cubicBezTo>
                  <a:pt x="3451" y="31"/>
                  <a:pt x="3457" y="40"/>
                  <a:pt x="3461" y="49"/>
                </a:cubicBezTo>
                <a:cubicBezTo>
                  <a:pt x="3465" y="59"/>
                  <a:pt x="3467" y="69"/>
                  <a:pt x="3467" y="80"/>
                </a:cubicBezTo>
                <a:lnTo>
                  <a:pt x="3467" y="531"/>
                </a:lnTo>
                <a:cubicBezTo>
                  <a:pt x="3467" y="541"/>
                  <a:pt x="3465" y="551"/>
                  <a:pt x="3461" y="561"/>
                </a:cubicBezTo>
                <a:cubicBezTo>
                  <a:pt x="3457" y="571"/>
                  <a:pt x="3451" y="579"/>
                  <a:pt x="3444" y="587"/>
                </a:cubicBezTo>
                <a:cubicBezTo>
                  <a:pt x="3437" y="594"/>
                  <a:pt x="3428" y="600"/>
                  <a:pt x="3418" y="604"/>
                </a:cubicBezTo>
                <a:cubicBezTo>
                  <a:pt x="3408" y="608"/>
                  <a:pt x="3398" y="610"/>
                  <a:pt x="3388" y="610"/>
                </a:cubicBezTo>
                <a:lnTo>
                  <a:pt x="80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39" y="600"/>
                  <a:pt x="31" y="594"/>
                  <a:pt x="23" y="587"/>
                </a:cubicBezTo>
                <a:cubicBezTo>
                  <a:pt x="16" y="579"/>
                  <a:pt x="10" y="571"/>
                  <a:pt x="6" y="561"/>
                </a:cubicBezTo>
                <a:cubicBezTo>
                  <a:pt x="2" y="551"/>
                  <a:pt x="0" y="541"/>
                  <a:pt x="0" y="531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 txBox="1"/>
          <p:nvPr/>
        </p:nvSpPr>
        <p:spPr>
          <a:xfrm>
            <a:off x="1562040" y="1611720"/>
            <a:ext cx="8031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(carpeta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2422800" y="1613880"/>
            <a:ext cx="113112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entregable/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 txBox="1"/>
          <p:nvPr/>
        </p:nvSpPr>
        <p:spPr>
          <a:xfrm>
            <a:off x="3606120" y="16117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 txBox="1"/>
          <p:nvPr/>
        </p:nvSpPr>
        <p:spPr>
          <a:xfrm>
            <a:off x="685800" y="2049840"/>
            <a:ext cx="4627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Responde 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5 preguntas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apoyándote en tus resultados: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 txBox="1"/>
          <p:nvPr/>
        </p:nvSpPr>
        <p:spPr>
          <a:xfrm>
            <a:off x="860400" y="2535480"/>
            <a:ext cx="57096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Random vs Reglas vs DQN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— los 3 returns; ¿cuál gana y por qué?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 txBox="1"/>
          <p:nvPr/>
        </p:nvSpPr>
        <p:spPr>
          <a:xfrm>
            <a:off x="860760" y="2878560"/>
            <a:ext cx="76957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2.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Eficiencia de datos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— ¿cuánta experiencia necesitó el DQN? Compáralo con el BC de CP4.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 txBox="1"/>
          <p:nvPr/>
        </p:nvSpPr>
        <p:spPr>
          <a:xfrm>
            <a:off x="860760" y="3221280"/>
            <a:ext cx="72414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3.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Reward hacking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— ¿qué pasó al penalizar el cambio de carril? ¿Cómo lo arreglarías?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 txBox="1"/>
          <p:nvPr/>
        </p:nvSpPr>
        <p:spPr>
          <a:xfrm>
            <a:off x="860760" y="3554640"/>
            <a:ext cx="53679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4.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Simulador vs mundo real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— 3 simplificaciones de highway-env.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>
            <a:off x="685440" y="10094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 txBox="1"/>
          <p:nvPr/>
        </p:nvSpPr>
        <p:spPr>
          <a:xfrm>
            <a:off x="860760" y="3897720"/>
            <a:ext cx="56559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5.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Sim-to-real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— ¿qué pasos darías para llevar esto a un coche real?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7181640" y="981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 txBox="1"/>
          <p:nvPr/>
        </p:nvSpPr>
        <p:spPr>
          <a:xfrm>
            <a:off x="685800" y="632520"/>
            <a:ext cx="13381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Qué se entrega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CP5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 txBox="1"/>
          <p:nvPr/>
        </p:nvSpPr>
        <p:spPr>
          <a:xfrm>
            <a:off x="1040400" y="6517080"/>
            <a:ext cx="1227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RL en highway-env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 txBox="1"/>
          <p:nvPr/>
        </p:nvSpPr>
        <p:spPr>
          <a:xfrm>
            <a:off x="2267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 txBox="1"/>
          <p:nvPr/>
        </p:nvSpPr>
        <p:spPr>
          <a:xfrm>
            <a:off x="2309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 txBox="1"/>
          <p:nvPr/>
        </p:nvSpPr>
        <p:spPr>
          <a:xfrm>
            <a:off x="3208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 txBox="1"/>
          <p:nvPr/>
        </p:nvSpPr>
        <p:spPr>
          <a:xfrm>
            <a:off x="3250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63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4" name=""/>
          <p:cNvSpPr txBox="1"/>
          <p:nvPr/>
        </p:nvSpPr>
        <p:spPr>
          <a:xfrm>
            <a:off x="11757600" y="6513120"/>
            <a:ext cx="16740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19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/>
          <p:nvPr/>
        </p:nvSpPr>
        <p:spPr>
          <a:xfrm>
            <a:off x="695160" y="1371240"/>
            <a:ext cx="1276560" cy="362520"/>
          </a:xfrm>
          <a:custGeom>
            <a:avLst/>
            <a:gdLst/>
            <a:ahLst/>
            <a:rect l="0" t="0" r="r" b="b"/>
            <a:pathLst>
              <a:path w="3546" h="1007">
                <a:moveTo>
                  <a:pt x="0" y="0"/>
                </a:moveTo>
                <a:lnTo>
                  <a:pt x="3546" y="0"/>
                </a:lnTo>
                <a:lnTo>
                  <a:pt x="3546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/>
          <p:nvPr/>
        </p:nvSpPr>
        <p:spPr>
          <a:xfrm>
            <a:off x="1971360" y="1371240"/>
            <a:ext cx="4248720" cy="362520"/>
          </a:xfrm>
          <a:custGeom>
            <a:avLst/>
            <a:gdLst/>
            <a:ahLst/>
            <a:rect l="0" t="0" r="r" b="b"/>
            <a:pathLst>
              <a:path w="11802" h="1007">
                <a:moveTo>
                  <a:pt x="0" y="0"/>
                </a:moveTo>
                <a:lnTo>
                  <a:pt x="11802" y="0"/>
                </a:lnTo>
                <a:lnTo>
                  <a:pt x="11802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/>
          <p:nvPr/>
        </p:nvSpPr>
        <p:spPr>
          <a:xfrm>
            <a:off x="695160" y="1371240"/>
            <a:ext cx="1276560" cy="362520"/>
          </a:xfrm>
          <a:custGeom>
            <a:avLst/>
            <a:gdLst/>
            <a:ahLst/>
            <a:rect l="0" t="0" r="r" b="b"/>
            <a:pathLst>
              <a:path w="3546" h="1007">
                <a:moveTo>
                  <a:pt x="0" y="0"/>
                </a:moveTo>
                <a:lnTo>
                  <a:pt x="3546" y="0"/>
                </a:lnTo>
                <a:lnTo>
                  <a:pt x="3546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/>
          <p:nvPr/>
        </p:nvSpPr>
        <p:spPr>
          <a:xfrm>
            <a:off x="1971360" y="1371240"/>
            <a:ext cx="4248720" cy="362520"/>
          </a:xfrm>
          <a:custGeom>
            <a:avLst/>
            <a:gdLst/>
            <a:ahLst/>
            <a:rect l="0" t="0" r="r" b="b"/>
            <a:pathLst>
              <a:path w="11802" h="1007">
                <a:moveTo>
                  <a:pt x="0" y="0"/>
                </a:moveTo>
                <a:lnTo>
                  <a:pt x="11802" y="0"/>
                </a:lnTo>
                <a:lnTo>
                  <a:pt x="11802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/>
          <p:nvPr/>
        </p:nvSpPr>
        <p:spPr>
          <a:xfrm>
            <a:off x="695160" y="1733400"/>
            <a:ext cx="1276560" cy="371880"/>
          </a:xfrm>
          <a:custGeom>
            <a:avLst/>
            <a:gdLst/>
            <a:ahLst/>
            <a:rect l="0" t="0" r="r" b="b"/>
            <a:pathLst>
              <a:path w="3546" h="1033">
                <a:moveTo>
                  <a:pt x="0" y="0"/>
                </a:moveTo>
                <a:lnTo>
                  <a:pt x="3546" y="0"/>
                </a:lnTo>
                <a:lnTo>
                  <a:pt x="354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/>
          <p:nvPr/>
        </p:nvSpPr>
        <p:spPr>
          <a:xfrm>
            <a:off x="1971360" y="1733400"/>
            <a:ext cx="4248720" cy="371880"/>
          </a:xfrm>
          <a:custGeom>
            <a:avLst/>
            <a:gdLst/>
            <a:ahLst/>
            <a:rect l="0" t="0" r="r" b="b"/>
            <a:pathLst>
              <a:path w="11802" h="1033">
                <a:moveTo>
                  <a:pt x="0" y="0"/>
                </a:moveTo>
                <a:lnTo>
                  <a:pt x="11802" y="0"/>
                </a:lnTo>
                <a:lnTo>
                  <a:pt x="1180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/>
          <p:nvPr/>
        </p:nvSpPr>
        <p:spPr>
          <a:xfrm>
            <a:off x="695160" y="2104920"/>
            <a:ext cx="1276560" cy="362160"/>
          </a:xfrm>
          <a:custGeom>
            <a:avLst/>
            <a:gdLst/>
            <a:ahLst/>
            <a:rect l="0" t="0" r="r" b="b"/>
            <a:pathLst>
              <a:path w="3546" h="1006">
                <a:moveTo>
                  <a:pt x="0" y="0"/>
                </a:moveTo>
                <a:lnTo>
                  <a:pt x="3546" y="0"/>
                </a:lnTo>
                <a:lnTo>
                  <a:pt x="3546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/>
          <p:nvPr/>
        </p:nvSpPr>
        <p:spPr>
          <a:xfrm>
            <a:off x="1971360" y="2104920"/>
            <a:ext cx="4248720" cy="362160"/>
          </a:xfrm>
          <a:custGeom>
            <a:avLst/>
            <a:gdLst/>
            <a:ahLst/>
            <a:rect l="0" t="0" r="r" b="b"/>
            <a:pathLst>
              <a:path w="11802" h="1006">
                <a:moveTo>
                  <a:pt x="0" y="0"/>
                </a:moveTo>
                <a:lnTo>
                  <a:pt x="11802" y="0"/>
                </a:lnTo>
                <a:lnTo>
                  <a:pt x="11802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/>
          <p:nvPr/>
        </p:nvSpPr>
        <p:spPr>
          <a:xfrm>
            <a:off x="695160" y="2466720"/>
            <a:ext cx="1276560" cy="371880"/>
          </a:xfrm>
          <a:custGeom>
            <a:avLst/>
            <a:gdLst/>
            <a:ahLst/>
            <a:rect l="0" t="0" r="r" b="b"/>
            <a:pathLst>
              <a:path w="3546" h="1033">
                <a:moveTo>
                  <a:pt x="0" y="0"/>
                </a:moveTo>
                <a:lnTo>
                  <a:pt x="3546" y="0"/>
                </a:lnTo>
                <a:lnTo>
                  <a:pt x="354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/>
          <p:nvPr/>
        </p:nvSpPr>
        <p:spPr>
          <a:xfrm>
            <a:off x="1971360" y="2466720"/>
            <a:ext cx="4248720" cy="371880"/>
          </a:xfrm>
          <a:custGeom>
            <a:avLst/>
            <a:gdLst/>
            <a:ahLst/>
            <a:rect l="0" t="0" r="r" b="b"/>
            <a:pathLst>
              <a:path w="11802" h="1033">
                <a:moveTo>
                  <a:pt x="0" y="0"/>
                </a:moveTo>
                <a:lnTo>
                  <a:pt x="11802" y="0"/>
                </a:lnTo>
                <a:lnTo>
                  <a:pt x="1180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/>
          <p:nvPr/>
        </p:nvSpPr>
        <p:spPr>
          <a:xfrm>
            <a:off x="695160" y="2838240"/>
            <a:ext cx="1276560" cy="362160"/>
          </a:xfrm>
          <a:custGeom>
            <a:avLst/>
            <a:gdLst/>
            <a:ahLst/>
            <a:rect l="0" t="0" r="r" b="b"/>
            <a:pathLst>
              <a:path w="3546" h="1006">
                <a:moveTo>
                  <a:pt x="0" y="0"/>
                </a:moveTo>
                <a:lnTo>
                  <a:pt x="3546" y="0"/>
                </a:lnTo>
                <a:lnTo>
                  <a:pt x="3546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/>
          <p:nvPr/>
        </p:nvSpPr>
        <p:spPr>
          <a:xfrm>
            <a:off x="1971360" y="2838240"/>
            <a:ext cx="4248720" cy="362160"/>
          </a:xfrm>
          <a:custGeom>
            <a:avLst/>
            <a:gdLst/>
            <a:ahLst/>
            <a:rect l="0" t="0" r="r" b="b"/>
            <a:pathLst>
              <a:path w="11802" h="1006">
                <a:moveTo>
                  <a:pt x="0" y="0"/>
                </a:moveTo>
                <a:lnTo>
                  <a:pt x="11802" y="0"/>
                </a:lnTo>
                <a:lnTo>
                  <a:pt x="11802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/>
          <p:nvPr/>
        </p:nvSpPr>
        <p:spPr>
          <a:xfrm>
            <a:off x="685440" y="13618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/>
          <p:nvPr/>
        </p:nvSpPr>
        <p:spPr>
          <a:xfrm>
            <a:off x="685440" y="1361880"/>
            <a:ext cx="1296000" cy="9720"/>
          </a:xfrm>
          <a:custGeom>
            <a:avLst/>
            <a:gdLst/>
            <a:ahLst/>
            <a:rect l="0" t="0" r="r" b="b"/>
            <a:pathLst>
              <a:path w="3600" h="27">
                <a:moveTo>
                  <a:pt x="0" y="0"/>
                </a:moveTo>
                <a:lnTo>
                  <a:pt x="3600" y="0"/>
                </a:lnTo>
                <a:lnTo>
                  <a:pt x="3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/>
          <p:nvPr/>
        </p:nvSpPr>
        <p:spPr>
          <a:xfrm>
            <a:off x="1971360" y="13618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/>
          <p:nvPr/>
        </p:nvSpPr>
        <p:spPr>
          <a:xfrm>
            <a:off x="1981080" y="1361880"/>
            <a:ext cx="4248360" cy="9720"/>
          </a:xfrm>
          <a:custGeom>
            <a:avLst/>
            <a:gdLst/>
            <a:ahLst/>
            <a:rect l="0" t="0" r="r" b="b"/>
            <a:pathLst>
              <a:path w="11801" h="27">
                <a:moveTo>
                  <a:pt x="0" y="0"/>
                </a:moveTo>
                <a:lnTo>
                  <a:pt x="11801" y="0"/>
                </a:lnTo>
                <a:lnTo>
                  <a:pt x="118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/>
          <p:nvPr/>
        </p:nvSpPr>
        <p:spPr>
          <a:xfrm>
            <a:off x="6219720" y="13618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/>
          <p:nvPr/>
        </p:nvSpPr>
        <p:spPr>
          <a:xfrm>
            <a:off x="685440" y="1733400"/>
            <a:ext cx="1296000" cy="9720"/>
          </a:xfrm>
          <a:custGeom>
            <a:avLst/>
            <a:gdLst/>
            <a:ahLst/>
            <a:rect l="0" t="0" r="r" b="b"/>
            <a:pathLst>
              <a:path w="3600" h="27">
                <a:moveTo>
                  <a:pt x="0" y="0"/>
                </a:moveTo>
                <a:lnTo>
                  <a:pt x="3600" y="0"/>
                </a:lnTo>
                <a:lnTo>
                  <a:pt x="3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"/>
          <p:cNvSpPr/>
          <p:nvPr/>
        </p:nvSpPr>
        <p:spPr>
          <a:xfrm>
            <a:off x="1981080" y="1733400"/>
            <a:ext cx="4248360" cy="9720"/>
          </a:xfrm>
          <a:custGeom>
            <a:avLst/>
            <a:gdLst/>
            <a:ahLst/>
            <a:rect l="0" t="0" r="r" b="b"/>
            <a:pathLst>
              <a:path w="11801" h="27">
                <a:moveTo>
                  <a:pt x="0" y="0"/>
                </a:moveTo>
                <a:lnTo>
                  <a:pt x="11801" y="0"/>
                </a:lnTo>
                <a:lnTo>
                  <a:pt x="118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"/>
          <p:cNvSpPr/>
          <p:nvPr/>
        </p:nvSpPr>
        <p:spPr>
          <a:xfrm>
            <a:off x="685440" y="1742760"/>
            <a:ext cx="10080" cy="362520"/>
          </a:xfrm>
          <a:custGeom>
            <a:avLst/>
            <a:gdLst/>
            <a:ahLst/>
            <a:rect l="0" t="0" r="r" b="b"/>
            <a:pathLst>
              <a:path w="28" h="1007">
                <a:moveTo>
                  <a:pt x="0" y="0"/>
                </a:moveTo>
                <a:lnTo>
                  <a:pt x="28" y="0"/>
                </a:lnTo>
                <a:lnTo>
                  <a:pt x="2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"/>
          <p:cNvSpPr/>
          <p:nvPr/>
        </p:nvSpPr>
        <p:spPr>
          <a:xfrm>
            <a:off x="1971360" y="1742760"/>
            <a:ext cx="10080" cy="362520"/>
          </a:xfrm>
          <a:custGeom>
            <a:avLst/>
            <a:gdLst/>
            <a:ahLst/>
            <a:rect l="0" t="0" r="r" b="b"/>
            <a:pathLst>
              <a:path w="28" h="1007">
                <a:moveTo>
                  <a:pt x="0" y="0"/>
                </a:moveTo>
                <a:lnTo>
                  <a:pt x="28" y="0"/>
                </a:lnTo>
                <a:lnTo>
                  <a:pt x="2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/>
          <p:nvPr/>
        </p:nvSpPr>
        <p:spPr>
          <a:xfrm>
            <a:off x="6219720" y="1742760"/>
            <a:ext cx="9720" cy="362520"/>
          </a:xfrm>
          <a:custGeom>
            <a:avLst/>
            <a:gdLst/>
            <a:ahLst/>
            <a:rect l="0" t="0" r="r" b="b"/>
            <a:pathLst>
              <a:path w="27" h="1007">
                <a:moveTo>
                  <a:pt x="0" y="0"/>
                </a:moveTo>
                <a:lnTo>
                  <a:pt x="27" y="0"/>
                </a:lnTo>
                <a:lnTo>
                  <a:pt x="2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/>
          <p:nvPr/>
        </p:nvSpPr>
        <p:spPr>
          <a:xfrm>
            <a:off x="685440" y="21049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/>
          <p:nvPr/>
        </p:nvSpPr>
        <p:spPr>
          <a:xfrm>
            <a:off x="685440" y="2095200"/>
            <a:ext cx="1296000" cy="10080"/>
          </a:xfrm>
          <a:custGeom>
            <a:avLst/>
            <a:gdLst/>
            <a:ahLst/>
            <a:rect l="0" t="0" r="r" b="b"/>
            <a:pathLst>
              <a:path w="3600" h="28">
                <a:moveTo>
                  <a:pt x="0" y="0"/>
                </a:moveTo>
                <a:lnTo>
                  <a:pt x="3600" y="0"/>
                </a:lnTo>
                <a:lnTo>
                  <a:pt x="36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/>
          <p:nvPr/>
        </p:nvSpPr>
        <p:spPr>
          <a:xfrm>
            <a:off x="1971360" y="21049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/>
          <p:nvPr/>
        </p:nvSpPr>
        <p:spPr>
          <a:xfrm>
            <a:off x="1981080" y="2095200"/>
            <a:ext cx="4248360" cy="10080"/>
          </a:xfrm>
          <a:custGeom>
            <a:avLst/>
            <a:gdLst/>
            <a:ahLst/>
            <a:rect l="0" t="0" r="r" b="b"/>
            <a:pathLst>
              <a:path w="11801" h="28">
                <a:moveTo>
                  <a:pt x="0" y="0"/>
                </a:moveTo>
                <a:lnTo>
                  <a:pt x="11801" y="0"/>
                </a:lnTo>
                <a:lnTo>
                  <a:pt x="1180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/>
          <p:nvPr/>
        </p:nvSpPr>
        <p:spPr>
          <a:xfrm>
            <a:off x="6219720" y="21049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"/>
          <p:cNvSpPr/>
          <p:nvPr/>
        </p:nvSpPr>
        <p:spPr>
          <a:xfrm>
            <a:off x="685440" y="247644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"/>
          <p:cNvSpPr/>
          <p:nvPr/>
        </p:nvSpPr>
        <p:spPr>
          <a:xfrm>
            <a:off x="685440" y="2466720"/>
            <a:ext cx="1296000" cy="10080"/>
          </a:xfrm>
          <a:custGeom>
            <a:avLst/>
            <a:gdLst/>
            <a:ahLst/>
            <a:rect l="0" t="0" r="r" b="b"/>
            <a:pathLst>
              <a:path w="3600" h="28">
                <a:moveTo>
                  <a:pt x="0" y="0"/>
                </a:moveTo>
                <a:lnTo>
                  <a:pt x="3600" y="0"/>
                </a:lnTo>
                <a:lnTo>
                  <a:pt x="36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"/>
          <p:cNvSpPr/>
          <p:nvPr/>
        </p:nvSpPr>
        <p:spPr>
          <a:xfrm>
            <a:off x="1971360" y="247644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/>
          <p:nvPr/>
        </p:nvSpPr>
        <p:spPr>
          <a:xfrm>
            <a:off x="1981080" y="2466720"/>
            <a:ext cx="4248360" cy="10080"/>
          </a:xfrm>
          <a:custGeom>
            <a:avLst/>
            <a:gdLst/>
            <a:ahLst/>
            <a:rect l="0" t="0" r="r" b="b"/>
            <a:pathLst>
              <a:path w="11801" h="28">
                <a:moveTo>
                  <a:pt x="0" y="0"/>
                </a:moveTo>
                <a:lnTo>
                  <a:pt x="11801" y="0"/>
                </a:lnTo>
                <a:lnTo>
                  <a:pt x="1180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/>
          <p:nvPr/>
        </p:nvSpPr>
        <p:spPr>
          <a:xfrm>
            <a:off x="6219720" y="2476440"/>
            <a:ext cx="9720" cy="362160"/>
          </a:xfrm>
          <a:custGeom>
            <a:avLst/>
            <a:gdLst/>
            <a:ahLst/>
            <a:rect l="0" t="0" r="r" b="b"/>
            <a:pathLst>
              <a:path w="27" h="1006">
                <a:moveTo>
                  <a:pt x="0" y="0"/>
                </a:moveTo>
                <a:lnTo>
                  <a:pt x="27" y="0"/>
                </a:lnTo>
                <a:lnTo>
                  <a:pt x="2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"/>
          <p:cNvSpPr/>
          <p:nvPr/>
        </p:nvSpPr>
        <p:spPr>
          <a:xfrm>
            <a:off x="685440" y="28382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/>
          <p:nvPr/>
        </p:nvSpPr>
        <p:spPr>
          <a:xfrm>
            <a:off x="685440" y="2828880"/>
            <a:ext cx="1296000" cy="9720"/>
          </a:xfrm>
          <a:custGeom>
            <a:avLst/>
            <a:gdLst/>
            <a:ahLst/>
            <a:rect l="0" t="0" r="r" b="b"/>
            <a:pathLst>
              <a:path w="3600" h="27">
                <a:moveTo>
                  <a:pt x="0" y="0"/>
                </a:moveTo>
                <a:lnTo>
                  <a:pt x="3600" y="0"/>
                </a:lnTo>
                <a:lnTo>
                  <a:pt x="3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"/>
          <p:cNvSpPr/>
          <p:nvPr/>
        </p:nvSpPr>
        <p:spPr>
          <a:xfrm>
            <a:off x="1971360" y="28382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/>
          <p:nvPr/>
        </p:nvSpPr>
        <p:spPr>
          <a:xfrm>
            <a:off x="1981080" y="2828880"/>
            <a:ext cx="4248360" cy="9720"/>
          </a:xfrm>
          <a:custGeom>
            <a:avLst/>
            <a:gdLst/>
            <a:ahLst/>
            <a:rect l="0" t="0" r="r" b="b"/>
            <a:pathLst>
              <a:path w="11801" h="27">
                <a:moveTo>
                  <a:pt x="0" y="0"/>
                </a:moveTo>
                <a:lnTo>
                  <a:pt x="11801" y="0"/>
                </a:lnTo>
                <a:lnTo>
                  <a:pt x="118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/>
          <p:nvPr/>
        </p:nvSpPr>
        <p:spPr>
          <a:xfrm>
            <a:off x="6219720" y="28382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"/>
          <p:cNvSpPr/>
          <p:nvPr/>
        </p:nvSpPr>
        <p:spPr>
          <a:xfrm>
            <a:off x="685440" y="3200040"/>
            <a:ext cx="1296000" cy="10080"/>
          </a:xfrm>
          <a:custGeom>
            <a:avLst/>
            <a:gdLst/>
            <a:ahLst/>
            <a:rect l="0" t="0" r="r" b="b"/>
            <a:pathLst>
              <a:path w="3600" h="28">
                <a:moveTo>
                  <a:pt x="0" y="0"/>
                </a:moveTo>
                <a:lnTo>
                  <a:pt x="3600" y="0"/>
                </a:lnTo>
                <a:lnTo>
                  <a:pt x="36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/>
          <p:nvPr/>
        </p:nvSpPr>
        <p:spPr>
          <a:xfrm>
            <a:off x="1981080" y="3200040"/>
            <a:ext cx="4248360" cy="10080"/>
          </a:xfrm>
          <a:custGeom>
            <a:avLst/>
            <a:gdLst/>
            <a:ahLst/>
            <a:rect l="0" t="0" r="r" b="b"/>
            <a:pathLst>
              <a:path w="11801" h="28">
                <a:moveTo>
                  <a:pt x="0" y="0"/>
                </a:moveTo>
                <a:lnTo>
                  <a:pt x="11801" y="0"/>
                </a:lnTo>
                <a:lnTo>
                  <a:pt x="1180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 txBox="1"/>
          <p:nvPr/>
        </p:nvSpPr>
        <p:spPr>
          <a:xfrm>
            <a:off x="819000" y="1470600"/>
            <a:ext cx="6465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Se valora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"/>
          <p:cNvSpPr txBox="1"/>
          <p:nvPr/>
        </p:nvSpPr>
        <p:spPr>
          <a:xfrm>
            <a:off x="2102760" y="1470600"/>
            <a:ext cx="10944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En qué consiste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 txBox="1"/>
          <p:nvPr/>
        </p:nvSpPr>
        <p:spPr>
          <a:xfrm>
            <a:off x="819000" y="1842120"/>
            <a:ext cx="6544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Ejecución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 txBox="1"/>
          <p:nvPr/>
        </p:nvSpPr>
        <p:spPr>
          <a:xfrm>
            <a:off x="2102760" y="1842120"/>
            <a:ext cx="3474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Entrenas el DQN, evalúas y haces el reward shaping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 txBox="1"/>
          <p:nvPr/>
        </p:nvSpPr>
        <p:spPr>
          <a:xfrm>
            <a:off x="819000" y="2203920"/>
            <a:ext cx="9230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Comprensión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 txBox="1"/>
          <p:nvPr/>
        </p:nvSpPr>
        <p:spPr>
          <a:xfrm>
            <a:off x="2102760" y="2203920"/>
            <a:ext cx="32533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Entiendes RL vs baselines y la eficiencia de datos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 txBox="1"/>
          <p:nvPr/>
        </p:nvSpPr>
        <p:spPr>
          <a:xfrm>
            <a:off x="819000" y="2575440"/>
            <a:ext cx="10245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Análisis crítico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 txBox="1"/>
          <p:nvPr/>
        </p:nvSpPr>
        <p:spPr>
          <a:xfrm>
            <a:off x="2102760" y="2575440"/>
            <a:ext cx="33390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Detectas el reward hacking y propones mitigación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 txBox="1"/>
          <p:nvPr/>
        </p:nvSpPr>
        <p:spPr>
          <a:xfrm>
            <a:off x="819000" y="2937600"/>
            <a:ext cx="9709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Comunicación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/>
          <p:nvPr/>
        </p:nvSpPr>
        <p:spPr>
          <a:xfrm>
            <a:off x="685440" y="3504960"/>
            <a:ext cx="10820880" cy="724320"/>
          </a:xfrm>
          <a:custGeom>
            <a:avLst/>
            <a:gdLst/>
            <a:ahLst/>
            <a:rect l="0" t="0" r="r" b="b"/>
            <a:pathLst>
              <a:path w="30058" h="2012">
                <a:moveTo>
                  <a:pt x="0" y="0"/>
                </a:moveTo>
                <a:lnTo>
                  <a:pt x="30058" y="0"/>
                </a:lnTo>
                <a:lnTo>
                  <a:pt x="30058" y="2012"/>
                </a:lnTo>
                <a:lnTo>
                  <a:pt x="0" y="2012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/>
          <p:nvPr/>
        </p:nvSpPr>
        <p:spPr>
          <a:xfrm>
            <a:off x="685440" y="3504960"/>
            <a:ext cx="29160" cy="724320"/>
          </a:xfrm>
          <a:custGeom>
            <a:avLst/>
            <a:gdLst/>
            <a:ahLst/>
            <a:rect l="0" t="0" r="r" b="b"/>
            <a:pathLst>
              <a:path w="81" h="2012">
                <a:moveTo>
                  <a:pt x="0" y="0"/>
                </a:moveTo>
                <a:lnTo>
                  <a:pt x="81" y="0"/>
                </a:lnTo>
                <a:lnTo>
                  <a:pt x="81" y="2012"/>
                </a:lnTo>
                <a:lnTo>
                  <a:pt x="0" y="201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 txBox="1"/>
          <p:nvPr/>
        </p:nvSpPr>
        <p:spPr>
          <a:xfrm>
            <a:off x="2102760" y="2937600"/>
            <a:ext cx="39830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PDF ordenado, con la curva de aprendizaje y la comparativa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 txBox="1"/>
          <p:nvPr/>
        </p:nvSpPr>
        <p:spPr>
          <a:xfrm>
            <a:off x="990720" y="3611880"/>
            <a:ext cx="10322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Lo que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más sube la nota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números concretos (returns, timesteps), y un análisis honesto del reward hacking + una mitigación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/>
          <p:nvPr/>
        </p:nvSpPr>
        <p:spPr>
          <a:xfrm>
            <a:off x="685440" y="10094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 txBox="1"/>
          <p:nvPr/>
        </p:nvSpPr>
        <p:spPr>
          <a:xfrm>
            <a:off x="990720" y="3907080"/>
            <a:ext cx="8600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específica.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"/>
          <p:cNvSpPr/>
          <p:nvPr/>
        </p:nvSpPr>
        <p:spPr>
          <a:xfrm>
            <a:off x="7181640" y="981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"/>
          <p:cNvSpPr txBox="1"/>
          <p:nvPr/>
        </p:nvSpPr>
        <p:spPr>
          <a:xfrm>
            <a:off x="685800" y="632520"/>
            <a:ext cx="26582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Cómo se te evalúa (16 puntos)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CP5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 txBox="1"/>
          <p:nvPr/>
        </p:nvSpPr>
        <p:spPr>
          <a:xfrm>
            <a:off x="1040400" y="6517080"/>
            <a:ext cx="1227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RL en highway-env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 txBox="1"/>
          <p:nvPr/>
        </p:nvSpPr>
        <p:spPr>
          <a:xfrm>
            <a:off x="2267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 txBox="1"/>
          <p:nvPr/>
        </p:nvSpPr>
        <p:spPr>
          <a:xfrm>
            <a:off x="2309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"/>
          <p:cNvSpPr txBox="1"/>
          <p:nvPr/>
        </p:nvSpPr>
        <p:spPr>
          <a:xfrm>
            <a:off x="3208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 txBox="1"/>
          <p:nvPr/>
        </p:nvSpPr>
        <p:spPr>
          <a:xfrm>
            <a:off x="3250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32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3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20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"/>
          <p:cNvSpPr/>
          <p:nvPr/>
        </p:nvSpPr>
        <p:spPr>
          <a:xfrm>
            <a:off x="904680" y="14475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3" y="24"/>
                </a:cubicBezTo>
                <a:cubicBezTo>
                  <a:pt x="31" y="17"/>
                  <a:pt x="39" y="11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1"/>
                  <a:pt x="129" y="17"/>
                  <a:pt x="137" y="24"/>
                </a:cubicBezTo>
                <a:cubicBezTo>
                  <a:pt x="144" y="32"/>
                  <a:pt x="150" y="40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"/>
          <p:cNvSpPr/>
          <p:nvPr/>
        </p:nvSpPr>
        <p:spPr>
          <a:xfrm>
            <a:off x="904680" y="179064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1"/>
                  <a:pt x="49" y="7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7"/>
                </a:cubicBezTo>
                <a:cubicBezTo>
                  <a:pt x="121" y="11"/>
                  <a:pt x="129" y="16"/>
                  <a:pt x="137" y="24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"/>
          <p:cNvSpPr txBox="1"/>
          <p:nvPr/>
        </p:nvSpPr>
        <p:spPr>
          <a:xfrm>
            <a:off x="1072440" y="1364040"/>
            <a:ext cx="102265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permite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el uso de herramientas de IA como apoyo, pero el análisis y las conclusiones deben ser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propios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 Copiar penaliza.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"/>
          <p:cNvSpPr/>
          <p:nvPr/>
        </p:nvSpPr>
        <p:spPr>
          <a:xfrm>
            <a:off x="904680" y="212400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"/>
          <p:cNvSpPr txBox="1"/>
          <p:nvPr/>
        </p:nvSpPr>
        <p:spPr>
          <a:xfrm>
            <a:off x="1072440" y="1706760"/>
            <a:ext cx="7107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Si usó una de estas herramientas,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decláralo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 una línea. No baja la nota; ocultarlo, sí.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"/>
          <p:cNvSpPr/>
          <p:nvPr/>
        </p:nvSpPr>
        <p:spPr>
          <a:xfrm>
            <a:off x="2019240" y="2028600"/>
            <a:ext cx="1238400" cy="219600"/>
          </a:xfrm>
          <a:custGeom>
            <a:avLst/>
            <a:gdLst/>
            <a:ahLst/>
            <a:rect l="0" t="0" r="r" b="b"/>
            <a:pathLst>
              <a:path w="3440" h="610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lnTo>
                  <a:pt x="3361" y="0"/>
                </a:lnTo>
                <a:cubicBezTo>
                  <a:pt x="3371" y="0"/>
                  <a:pt x="3382" y="2"/>
                  <a:pt x="3391" y="6"/>
                </a:cubicBezTo>
                <a:cubicBezTo>
                  <a:pt x="3401" y="10"/>
                  <a:pt x="3410" y="16"/>
                  <a:pt x="3417" y="23"/>
                </a:cubicBezTo>
                <a:cubicBezTo>
                  <a:pt x="3424" y="31"/>
                  <a:pt x="3430" y="39"/>
                  <a:pt x="3434" y="49"/>
                </a:cubicBezTo>
                <a:cubicBezTo>
                  <a:pt x="3438" y="59"/>
                  <a:pt x="3440" y="69"/>
                  <a:pt x="3440" y="79"/>
                </a:cubicBezTo>
                <a:lnTo>
                  <a:pt x="3440" y="530"/>
                </a:lnTo>
                <a:cubicBezTo>
                  <a:pt x="3440" y="541"/>
                  <a:pt x="3438" y="551"/>
                  <a:pt x="3434" y="561"/>
                </a:cubicBezTo>
                <a:cubicBezTo>
                  <a:pt x="3430" y="570"/>
                  <a:pt x="3424" y="579"/>
                  <a:pt x="3417" y="586"/>
                </a:cubicBezTo>
                <a:cubicBezTo>
                  <a:pt x="3410" y="594"/>
                  <a:pt x="3401" y="600"/>
                  <a:pt x="3391" y="604"/>
                </a:cubicBezTo>
                <a:cubicBezTo>
                  <a:pt x="3382" y="608"/>
                  <a:pt x="3371" y="610"/>
                  <a:pt x="3361" y="610"/>
                </a:cubicBezTo>
                <a:lnTo>
                  <a:pt x="79" y="610"/>
                </a:lnTo>
                <a:cubicBezTo>
                  <a:pt x="69" y="610"/>
                  <a:pt x="58" y="608"/>
                  <a:pt x="49" y="604"/>
                </a:cubicBezTo>
                <a:cubicBezTo>
                  <a:pt x="39" y="600"/>
                  <a:pt x="30" y="594"/>
                  <a:pt x="23" y="586"/>
                </a:cubicBezTo>
                <a:cubicBezTo>
                  <a:pt x="15" y="579"/>
                  <a:pt x="10" y="570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 txBox="1"/>
          <p:nvPr/>
        </p:nvSpPr>
        <p:spPr>
          <a:xfrm>
            <a:off x="1072440" y="2040120"/>
            <a:ext cx="946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La carpeta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"/>
          <p:cNvSpPr txBox="1"/>
          <p:nvPr/>
        </p:nvSpPr>
        <p:spPr>
          <a:xfrm>
            <a:off x="2076840" y="2042640"/>
            <a:ext cx="113112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soluciones/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"/>
          <p:cNvSpPr/>
          <p:nvPr/>
        </p:nvSpPr>
        <p:spPr>
          <a:xfrm>
            <a:off x="685440" y="10094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"/>
          <p:cNvSpPr txBox="1"/>
          <p:nvPr/>
        </p:nvSpPr>
        <p:spPr>
          <a:xfrm>
            <a:off x="3260160" y="2040120"/>
            <a:ext cx="43434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no debe consultarse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hasta haber intentado el caso.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"/>
          <p:cNvSpPr/>
          <p:nvPr/>
        </p:nvSpPr>
        <p:spPr>
          <a:xfrm>
            <a:off x="7181640" y="981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"/>
          <p:cNvSpPr txBox="1"/>
          <p:nvPr/>
        </p:nvSpPr>
        <p:spPr>
          <a:xfrm>
            <a:off x="685800" y="632520"/>
            <a:ext cx="19839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Normas de la actividad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CP5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"/>
          <p:cNvSpPr txBox="1"/>
          <p:nvPr/>
        </p:nvSpPr>
        <p:spPr>
          <a:xfrm>
            <a:off x="1040400" y="6517080"/>
            <a:ext cx="1227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RL en highway-env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"/>
          <p:cNvSpPr txBox="1"/>
          <p:nvPr/>
        </p:nvSpPr>
        <p:spPr>
          <a:xfrm>
            <a:off x="2267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"/>
          <p:cNvSpPr txBox="1"/>
          <p:nvPr/>
        </p:nvSpPr>
        <p:spPr>
          <a:xfrm>
            <a:off x="2309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"/>
          <p:cNvSpPr txBox="1"/>
          <p:nvPr/>
        </p:nvSpPr>
        <p:spPr>
          <a:xfrm>
            <a:off x="3208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"/>
          <p:cNvSpPr txBox="1"/>
          <p:nvPr/>
        </p:nvSpPr>
        <p:spPr>
          <a:xfrm>
            <a:off x="3250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57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8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"/>
          <p:cNvSpPr/>
          <p:nvPr/>
        </p:nvSpPr>
        <p:spPr>
          <a:xfrm>
            <a:off x="1533240" y="1733400"/>
            <a:ext cx="314640" cy="219240"/>
          </a:xfrm>
          <a:custGeom>
            <a:avLst/>
            <a:gdLst/>
            <a:ahLst/>
            <a:rect l="0" t="0" r="r" b="b"/>
            <a:pathLst>
              <a:path w="874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795" y="0"/>
                </a:lnTo>
                <a:cubicBezTo>
                  <a:pt x="806" y="0"/>
                  <a:pt x="816" y="2"/>
                  <a:pt x="825" y="6"/>
                </a:cubicBezTo>
                <a:cubicBezTo>
                  <a:pt x="835" y="10"/>
                  <a:pt x="844" y="16"/>
                  <a:pt x="851" y="23"/>
                </a:cubicBezTo>
                <a:cubicBezTo>
                  <a:pt x="859" y="31"/>
                  <a:pt x="864" y="39"/>
                  <a:pt x="868" y="49"/>
                </a:cubicBezTo>
                <a:cubicBezTo>
                  <a:pt x="872" y="59"/>
                  <a:pt x="874" y="69"/>
                  <a:pt x="874" y="79"/>
                </a:cubicBezTo>
                <a:lnTo>
                  <a:pt x="874" y="530"/>
                </a:lnTo>
                <a:cubicBezTo>
                  <a:pt x="874" y="541"/>
                  <a:pt x="872" y="551"/>
                  <a:pt x="868" y="560"/>
                </a:cubicBezTo>
                <a:cubicBezTo>
                  <a:pt x="864" y="570"/>
                  <a:pt x="859" y="579"/>
                  <a:pt x="851" y="586"/>
                </a:cubicBezTo>
                <a:cubicBezTo>
                  <a:pt x="844" y="594"/>
                  <a:pt x="835" y="599"/>
                  <a:pt x="825" y="603"/>
                </a:cubicBezTo>
                <a:cubicBezTo>
                  <a:pt x="816" y="607"/>
                  <a:pt x="806" y="609"/>
                  <a:pt x="795" y="609"/>
                </a:cubicBezTo>
                <a:lnTo>
                  <a:pt x="80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40" y="599"/>
                  <a:pt x="31" y="594"/>
                  <a:pt x="24" y="586"/>
                </a:cubicBezTo>
                <a:cubicBezTo>
                  <a:pt x="16" y="579"/>
                  <a:pt x="10" y="570"/>
                  <a:pt x="6" y="560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"/>
          <p:cNvSpPr txBox="1"/>
          <p:nvPr/>
        </p:nvSpPr>
        <p:spPr>
          <a:xfrm>
            <a:off x="914400" y="1744920"/>
            <a:ext cx="618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Orden: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"/>
          <p:cNvSpPr txBox="1"/>
          <p:nvPr/>
        </p:nvSpPr>
        <p:spPr>
          <a:xfrm>
            <a:off x="1590480" y="1747080"/>
            <a:ext cx="206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02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"/>
          <p:cNvSpPr txBox="1"/>
          <p:nvPr/>
        </p:nvSpPr>
        <p:spPr>
          <a:xfrm>
            <a:off x="1852200" y="17449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"/>
          <p:cNvSpPr txBox="1"/>
          <p:nvPr/>
        </p:nvSpPr>
        <p:spPr>
          <a:xfrm>
            <a:off x="1902240" y="171144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"/>
          <p:cNvSpPr/>
          <p:nvPr/>
        </p:nvSpPr>
        <p:spPr>
          <a:xfrm>
            <a:off x="2152440" y="1733400"/>
            <a:ext cx="314640" cy="219240"/>
          </a:xfrm>
          <a:custGeom>
            <a:avLst/>
            <a:gdLst/>
            <a:ahLst/>
            <a:rect l="0" t="0" r="r" b="b"/>
            <a:pathLst>
              <a:path w="874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795" y="0"/>
                </a:lnTo>
                <a:cubicBezTo>
                  <a:pt x="805" y="0"/>
                  <a:pt x="815" y="2"/>
                  <a:pt x="825" y="6"/>
                </a:cubicBezTo>
                <a:cubicBezTo>
                  <a:pt x="835" y="10"/>
                  <a:pt x="844" y="16"/>
                  <a:pt x="851" y="23"/>
                </a:cubicBezTo>
                <a:cubicBezTo>
                  <a:pt x="858" y="31"/>
                  <a:pt x="864" y="39"/>
                  <a:pt x="868" y="49"/>
                </a:cubicBezTo>
                <a:cubicBezTo>
                  <a:pt x="872" y="59"/>
                  <a:pt x="874" y="69"/>
                  <a:pt x="874" y="79"/>
                </a:cubicBezTo>
                <a:lnTo>
                  <a:pt x="874" y="530"/>
                </a:lnTo>
                <a:cubicBezTo>
                  <a:pt x="874" y="541"/>
                  <a:pt x="872" y="551"/>
                  <a:pt x="868" y="560"/>
                </a:cubicBezTo>
                <a:cubicBezTo>
                  <a:pt x="864" y="570"/>
                  <a:pt x="858" y="579"/>
                  <a:pt x="851" y="586"/>
                </a:cubicBezTo>
                <a:cubicBezTo>
                  <a:pt x="844" y="594"/>
                  <a:pt x="835" y="599"/>
                  <a:pt x="825" y="603"/>
                </a:cubicBezTo>
                <a:cubicBezTo>
                  <a:pt x="815" y="607"/>
                  <a:pt x="805" y="609"/>
                  <a:pt x="795" y="609"/>
                </a:cubicBezTo>
                <a:lnTo>
                  <a:pt x="79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39" y="599"/>
                  <a:pt x="31" y="594"/>
                  <a:pt x="23" y="586"/>
                </a:cubicBezTo>
                <a:cubicBezTo>
                  <a:pt x="16" y="579"/>
                  <a:pt x="10" y="570"/>
                  <a:pt x="6" y="560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"/>
          <p:cNvSpPr txBox="1"/>
          <p:nvPr/>
        </p:nvSpPr>
        <p:spPr>
          <a:xfrm>
            <a:off x="2102400" y="17449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"/>
          <p:cNvSpPr txBox="1"/>
          <p:nvPr/>
        </p:nvSpPr>
        <p:spPr>
          <a:xfrm>
            <a:off x="2209680" y="1747080"/>
            <a:ext cx="206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03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"/>
          <p:cNvSpPr txBox="1"/>
          <p:nvPr/>
        </p:nvSpPr>
        <p:spPr>
          <a:xfrm>
            <a:off x="2471400" y="17449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"/>
          <p:cNvSpPr txBox="1"/>
          <p:nvPr/>
        </p:nvSpPr>
        <p:spPr>
          <a:xfrm>
            <a:off x="2521440" y="171144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"/>
          <p:cNvSpPr/>
          <p:nvPr/>
        </p:nvSpPr>
        <p:spPr>
          <a:xfrm>
            <a:off x="2771640" y="1733400"/>
            <a:ext cx="314640" cy="219240"/>
          </a:xfrm>
          <a:custGeom>
            <a:avLst/>
            <a:gdLst/>
            <a:ahLst/>
            <a:rect l="0" t="0" r="r" b="b"/>
            <a:pathLst>
              <a:path w="874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795" y="0"/>
                </a:lnTo>
                <a:cubicBezTo>
                  <a:pt x="805" y="0"/>
                  <a:pt x="815" y="2"/>
                  <a:pt x="825" y="6"/>
                </a:cubicBezTo>
                <a:cubicBezTo>
                  <a:pt x="835" y="10"/>
                  <a:pt x="843" y="16"/>
                  <a:pt x="851" y="23"/>
                </a:cubicBezTo>
                <a:cubicBezTo>
                  <a:pt x="858" y="31"/>
                  <a:pt x="864" y="39"/>
                  <a:pt x="868" y="49"/>
                </a:cubicBezTo>
                <a:cubicBezTo>
                  <a:pt x="872" y="59"/>
                  <a:pt x="874" y="69"/>
                  <a:pt x="874" y="79"/>
                </a:cubicBezTo>
                <a:lnTo>
                  <a:pt x="874" y="530"/>
                </a:lnTo>
                <a:cubicBezTo>
                  <a:pt x="874" y="541"/>
                  <a:pt x="872" y="551"/>
                  <a:pt x="868" y="560"/>
                </a:cubicBezTo>
                <a:cubicBezTo>
                  <a:pt x="864" y="570"/>
                  <a:pt x="858" y="579"/>
                  <a:pt x="851" y="586"/>
                </a:cubicBezTo>
                <a:cubicBezTo>
                  <a:pt x="843" y="594"/>
                  <a:pt x="835" y="599"/>
                  <a:pt x="825" y="603"/>
                </a:cubicBezTo>
                <a:cubicBezTo>
                  <a:pt x="815" y="607"/>
                  <a:pt x="805" y="609"/>
                  <a:pt x="795" y="609"/>
                </a:cubicBezTo>
                <a:lnTo>
                  <a:pt x="79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39" y="599"/>
                  <a:pt x="31" y="594"/>
                  <a:pt x="23" y="586"/>
                </a:cubicBezTo>
                <a:cubicBezTo>
                  <a:pt x="16" y="579"/>
                  <a:pt x="10" y="570"/>
                  <a:pt x="6" y="560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"/>
          <p:cNvSpPr txBox="1"/>
          <p:nvPr/>
        </p:nvSpPr>
        <p:spPr>
          <a:xfrm>
            <a:off x="2721600" y="17449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"/>
          <p:cNvSpPr txBox="1"/>
          <p:nvPr/>
        </p:nvSpPr>
        <p:spPr>
          <a:xfrm>
            <a:off x="2828520" y="1747080"/>
            <a:ext cx="206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04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"/>
          <p:cNvSpPr txBox="1"/>
          <p:nvPr/>
        </p:nvSpPr>
        <p:spPr>
          <a:xfrm>
            <a:off x="3090600" y="17449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"/>
          <p:cNvSpPr txBox="1"/>
          <p:nvPr/>
        </p:nvSpPr>
        <p:spPr>
          <a:xfrm>
            <a:off x="3140640" y="171144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"/>
          <p:cNvSpPr/>
          <p:nvPr/>
        </p:nvSpPr>
        <p:spPr>
          <a:xfrm>
            <a:off x="3390840" y="1733400"/>
            <a:ext cx="314640" cy="219240"/>
          </a:xfrm>
          <a:custGeom>
            <a:avLst/>
            <a:gdLst/>
            <a:ahLst/>
            <a:rect l="0" t="0" r="r" b="b"/>
            <a:pathLst>
              <a:path w="874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lnTo>
                  <a:pt x="794" y="0"/>
                </a:lnTo>
                <a:cubicBezTo>
                  <a:pt x="805" y="0"/>
                  <a:pt x="815" y="2"/>
                  <a:pt x="825" y="6"/>
                </a:cubicBezTo>
                <a:cubicBezTo>
                  <a:pt x="835" y="10"/>
                  <a:pt x="843" y="16"/>
                  <a:pt x="851" y="23"/>
                </a:cubicBezTo>
                <a:cubicBezTo>
                  <a:pt x="858" y="31"/>
                  <a:pt x="864" y="39"/>
                  <a:pt x="868" y="49"/>
                </a:cubicBezTo>
                <a:cubicBezTo>
                  <a:pt x="872" y="59"/>
                  <a:pt x="874" y="69"/>
                  <a:pt x="874" y="79"/>
                </a:cubicBezTo>
                <a:lnTo>
                  <a:pt x="874" y="530"/>
                </a:lnTo>
                <a:cubicBezTo>
                  <a:pt x="874" y="541"/>
                  <a:pt x="872" y="551"/>
                  <a:pt x="868" y="560"/>
                </a:cubicBezTo>
                <a:cubicBezTo>
                  <a:pt x="864" y="570"/>
                  <a:pt x="858" y="579"/>
                  <a:pt x="851" y="586"/>
                </a:cubicBezTo>
                <a:cubicBezTo>
                  <a:pt x="843" y="594"/>
                  <a:pt x="835" y="599"/>
                  <a:pt x="825" y="603"/>
                </a:cubicBezTo>
                <a:cubicBezTo>
                  <a:pt x="815" y="607"/>
                  <a:pt x="805" y="609"/>
                  <a:pt x="794" y="609"/>
                </a:cubicBezTo>
                <a:lnTo>
                  <a:pt x="79" y="609"/>
                </a:lnTo>
                <a:cubicBezTo>
                  <a:pt x="69" y="609"/>
                  <a:pt x="58" y="607"/>
                  <a:pt x="49" y="603"/>
                </a:cubicBezTo>
                <a:cubicBezTo>
                  <a:pt x="39" y="599"/>
                  <a:pt x="30" y="594"/>
                  <a:pt x="23" y="586"/>
                </a:cubicBezTo>
                <a:cubicBezTo>
                  <a:pt x="15" y="579"/>
                  <a:pt x="10" y="570"/>
                  <a:pt x="6" y="560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"/>
          <p:cNvSpPr txBox="1"/>
          <p:nvPr/>
        </p:nvSpPr>
        <p:spPr>
          <a:xfrm>
            <a:off x="3340440" y="17449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"/>
          <p:cNvSpPr txBox="1"/>
          <p:nvPr/>
        </p:nvSpPr>
        <p:spPr>
          <a:xfrm>
            <a:off x="3447720" y="1747080"/>
            <a:ext cx="206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05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"/>
          <p:cNvSpPr txBox="1"/>
          <p:nvPr/>
        </p:nvSpPr>
        <p:spPr>
          <a:xfrm>
            <a:off x="3709800" y="17449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"/>
          <p:cNvSpPr txBox="1"/>
          <p:nvPr/>
        </p:nvSpPr>
        <p:spPr>
          <a:xfrm>
            <a:off x="3759840" y="171144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"/>
          <p:cNvSpPr/>
          <p:nvPr/>
        </p:nvSpPr>
        <p:spPr>
          <a:xfrm>
            <a:off x="4009680" y="1733400"/>
            <a:ext cx="315000" cy="219240"/>
          </a:xfrm>
          <a:custGeom>
            <a:avLst/>
            <a:gdLst/>
            <a:ahLst/>
            <a:rect l="0" t="0" r="r" b="b"/>
            <a:pathLst>
              <a:path w="875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1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795" y="0"/>
                </a:lnTo>
                <a:cubicBezTo>
                  <a:pt x="806" y="0"/>
                  <a:pt x="816" y="2"/>
                  <a:pt x="826" y="6"/>
                </a:cubicBezTo>
                <a:cubicBezTo>
                  <a:pt x="835" y="10"/>
                  <a:pt x="844" y="16"/>
                  <a:pt x="851" y="23"/>
                </a:cubicBezTo>
                <a:cubicBezTo>
                  <a:pt x="859" y="31"/>
                  <a:pt x="865" y="39"/>
                  <a:pt x="869" y="49"/>
                </a:cubicBezTo>
                <a:cubicBezTo>
                  <a:pt x="873" y="59"/>
                  <a:pt x="875" y="69"/>
                  <a:pt x="875" y="79"/>
                </a:cubicBezTo>
                <a:lnTo>
                  <a:pt x="875" y="530"/>
                </a:lnTo>
                <a:cubicBezTo>
                  <a:pt x="875" y="541"/>
                  <a:pt x="873" y="551"/>
                  <a:pt x="869" y="560"/>
                </a:cubicBezTo>
                <a:cubicBezTo>
                  <a:pt x="865" y="570"/>
                  <a:pt x="859" y="579"/>
                  <a:pt x="851" y="586"/>
                </a:cubicBezTo>
                <a:cubicBezTo>
                  <a:pt x="844" y="594"/>
                  <a:pt x="835" y="599"/>
                  <a:pt x="826" y="603"/>
                </a:cubicBezTo>
                <a:cubicBezTo>
                  <a:pt x="816" y="607"/>
                  <a:pt x="806" y="609"/>
                  <a:pt x="795" y="609"/>
                </a:cubicBezTo>
                <a:lnTo>
                  <a:pt x="80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40" y="599"/>
                  <a:pt x="31" y="594"/>
                  <a:pt x="24" y="586"/>
                </a:cubicBezTo>
                <a:cubicBezTo>
                  <a:pt x="16" y="579"/>
                  <a:pt x="11" y="570"/>
                  <a:pt x="6" y="560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"/>
          <p:cNvSpPr txBox="1"/>
          <p:nvPr/>
        </p:nvSpPr>
        <p:spPr>
          <a:xfrm>
            <a:off x="3959640" y="17449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"/>
          <p:cNvSpPr txBox="1"/>
          <p:nvPr/>
        </p:nvSpPr>
        <p:spPr>
          <a:xfrm>
            <a:off x="4066920" y="1747080"/>
            <a:ext cx="206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06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5" name=""/>
          <p:cNvSpPr txBox="1"/>
          <p:nvPr/>
        </p:nvSpPr>
        <p:spPr>
          <a:xfrm>
            <a:off x="4328640" y="17449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"/>
          <p:cNvSpPr txBox="1"/>
          <p:nvPr/>
        </p:nvSpPr>
        <p:spPr>
          <a:xfrm>
            <a:off x="4378680" y="171144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"/>
          <p:cNvSpPr/>
          <p:nvPr/>
        </p:nvSpPr>
        <p:spPr>
          <a:xfrm>
            <a:off x="4628880" y="1733400"/>
            <a:ext cx="314640" cy="219240"/>
          </a:xfrm>
          <a:custGeom>
            <a:avLst/>
            <a:gdLst/>
            <a:ahLst/>
            <a:rect l="0" t="0" r="r" b="b"/>
            <a:pathLst>
              <a:path w="874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795" y="0"/>
                </a:lnTo>
                <a:cubicBezTo>
                  <a:pt x="806" y="0"/>
                  <a:pt x="816" y="2"/>
                  <a:pt x="825" y="6"/>
                </a:cubicBezTo>
                <a:cubicBezTo>
                  <a:pt x="835" y="10"/>
                  <a:pt x="844" y="16"/>
                  <a:pt x="851" y="23"/>
                </a:cubicBezTo>
                <a:cubicBezTo>
                  <a:pt x="859" y="31"/>
                  <a:pt x="864" y="39"/>
                  <a:pt x="868" y="49"/>
                </a:cubicBezTo>
                <a:cubicBezTo>
                  <a:pt x="872" y="59"/>
                  <a:pt x="874" y="69"/>
                  <a:pt x="874" y="79"/>
                </a:cubicBezTo>
                <a:lnTo>
                  <a:pt x="874" y="530"/>
                </a:lnTo>
                <a:cubicBezTo>
                  <a:pt x="874" y="541"/>
                  <a:pt x="872" y="551"/>
                  <a:pt x="868" y="560"/>
                </a:cubicBezTo>
                <a:cubicBezTo>
                  <a:pt x="864" y="570"/>
                  <a:pt x="859" y="579"/>
                  <a:pt x="851" y="586"/>
                </a:cubicBezTo>
                <a:cubicBezTo>
                  <a:pt x="844" y="594"/>
                  <a:pt x="835" y="599"/>
                  <a:pt x="825" y="603"/>
                </a:cubicBezTo>
                <a:cubicBezTo>
                  <a:pt x="816" y="607"/>
                  <a:pt x="806" y="609"/>
                  <a:pt x="795" y="609"/>
                </a:cubicBezTo>
                <a:lnTo>
                  <a:pt x="80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40" y="599"/>
                  <a:pt x="31" y="594"/>
                  <a:pt x="23" y="586"/>
                </a:cubicBezTo>
                <a:cubicBezTo>
                  <a:pt x="16" y="579"/>
                  <a:pt x="10" y="570"/>
                  <a:pt x="6" y="560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"/>
          <p:cNvSpPr txBox="1"/>
          <p:nvPr/>
        </p:nvSpPr>
        <p:spPr>
          <a:xfrm>
            <a:off x="4578840" y="17449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"/>
          <p:cNvSpPr txBox="1"/>
          <p:nvPr/>
        </p:nvSpPr>
        <p:spPr>
          <a:xfrm>
            <a:off x="4686120" y="1747080"/>
            <a:ext cx="206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07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"/>
          <p:cNvSpPr txBox="1"/>
          <p:nvPr/>
        </p:nvSpPr>
        <p:spPr>
          <a:xfrm>
            <a:off x="4947840" y="17449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"/>
          <p:cNvSpPr txBox="1"/>
          <p:nvPr/>
        </p:nvSpPr>
        <p:spPr>
          <a:xfrm>
            <a:off x="4997880" y="171144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"/>
          <p:cNvSpPr/>
          <p:nvPr/>
        </p:nvSpPr>
        <p:spPr>
          <a:xfrm>
            <a:off x="6162480" y="1733400"/>
            <a:ext cx="314640" cy="219240"/>
          </a:xfrm>
          <a:custGeom>
            <a:avLst/>
            <a:gdLst/>
            <a:ahLst/>
            <a:rect l="0" t="0" r="r" b="b"/>
            <a:pathLst>
              <a:path w="874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795" y="0"/>
                </a:lnTo>
                <a:cubicBezTo>
                  <a:pt x="805" y="0"/>
                  <a:pt x="815" y="2"/>
                  <a:pt x="825" y="6"/>
                </a:cubicBezTo>
                <a:cubicBezTo>
                  <a:pt x="835" y="10"/>
                  <a:pt x="843" y="16"/>
                  <a:pt x="851" y="23"/>
                </a:cubicBezTo>
                <a:cubicBezTo>
                  <a:pt x="858" y="31"/>
                  <a:pt x="864" y="39"/>
                  <a:pt x="868" y="49"/>
                </a:cubicBezTo>
                <a:cubicBezTo>
                  <a:pt x="872" y="59"/>
                  <a:pt x="874" y="69"/>
                  <a:pt x="874" y="79"/>
                </a:cubicBezTo>
                <a:lnTo>
                  <a:pt x="874" y="530"/>
                </a:lnTo>
                <a:cubicBezTo>
                  <a:pt x="874" y="541"/>
                  <a:pt x="872" y="551"/>
                  <a:pt x="868" y="560"/>
                </a:cubicBezTo>
                <a:cubicBezTo>
                  <a:pt x="864" y="570"/>
                  <a:pt x="858" y="579"/>
                  <a:pt x="851" y="586"/>
                </a:cubicBezTo>
                <a:cubicBezTo>
                  <a:pt x="843" y="594"/>
                  <a:pt x="835" y="599"/>
                  <a:pt x="825" y="603"/>
                </a:cubicBezTo>
                <a:cubicBezTo>
                  <a:pt x="815" y="607"/>
                  <a:pt x="805" y="609"/>
                  <a:pt x="795" y="609"/>
                </a:cubicBezTo>
                <a:lnTo>
                  <a:pt x="79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39" y="599"/>
                  <a:pt x="31" y="594"/>
                  <a:pt x="23" y="586"/>
                </a:cubicBezTo>
                <a:cubicBezTo>
                  <a:pt x="16" y="579"/>
                  <a:pt x="10" y="570"/>
                  <a:pt x="6" y="560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"/>
          <p:cNvSpPr txBox="1"/>
          <p:nvPr/>
        </p:nvSpPr>
        <p:spPr>
          <a:xfrm>
            <a:off x="5198040" y="1744920"/>
            <a:ext cx="962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responder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"/>
          <p:cNvSpPr txBox="1"/>
          <p:nvPr/>
        </p:nvSpPr>
        <p:spPr>
          <a:xfrm>
            <a:off x="6218640" y="1747080"/>
            <a:ext cx="206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08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"/>
          <p:cNvSpPr txBox="1"/>
          <p:nvPr/>
        </p:nvSpPr>
        <p:spPr>
          <a:xfrm>
            <a:off x="6480720" y="17449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"/>
          <p:cNvSpPr txBox="1"/>
          <p:nvPr/>
        </p:nvSpPr>
        <p:spPr>
          <a:xfrm>
            <a:off x="914400" y="2183040"/>
            <a:ext cx="101905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El objetivo no es un agente perfecto — es </a:t>
            </a:r>
            <a:r>
              <a:rPr lang="en-US" sz="15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entender por qué el RL es poderoso pero difícil de controlar</a:t>
            </a:r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. Ante dudas, el </a:t>
            </a:r>
            <a:r>
              <a:rPr lang="en-US" sz="15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foro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"/>
          <p:cNvSpPr/>
          <p:nvPr/>
        </p:nvSpPr>
        <p:spPr>
          <a:xfrm>
            <a:off x="914040" y="3105000"/>
            <a:ext cx="10363680" cy="714600"/>
          </a:xfrm>
          <a:custGeom>
            <a:avLst/>
            <a:gdLst/>
            <a:ahLst/>
            <a:rect l="0" t="0" r="r" b="b"/>
            <a:pathLst>
              <a:path w="28788" h="1985">
                <a:moveTo>
                  <a:pt x="0" y="0"/>
                </a:moveTo>
                <a:lnTo>
                  <a:pt x="28788" y="0"/>
                </a:lnTo>
                <a:lnTo>
                  <a:pt x="28788" y="1985"/>
                </a:lnTo>
                <a:lnTo>
                  <a:pt x="0" y="19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"/>
          <p:cNvSpPr/>
          <p:nvPr/>
        </p:nvSpPr>
        <p:spPr>
          <a:xfrm>
            <a:off x="914040" y="3105000"/>
            <a:ext cx="29160" cy="714600"/>
          </a:xfrm>
          <a:custGeom>
            <a:avLst/>
            <a:gdLst/>
            <a:ahLst/>
            <a:rect l="0" t="0" r="r" b="b"/>
            <a:pathLst>
              <a:path w="81" h="1985">
                <a:moveTo>
                  <a:pt x="0" y="0"/>
                </a:moveTo>
                <a:lnTo>
                  <a:pt x="81" y="0"/>
                </a:lnTo>
                <a:lnTo>
                  <a:pt x="81" y="1985"/>
                </a:lnTo>
                <a:lnTo>
                  <a:pt x="0" y="19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"/>
          <p:cNvSpPr txBox="1"/>
          <p:nvPr/>
        </p:nvSpPr>
        <p:spPr>
          <a:xfrm>
            <a:off x="914400" y="2478240"/>
            <a:ext cx="9673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del máster</a:t>
            </a:r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"/>
          <p:cNvSpPr txBox="1"/>
          <p:nvPr/>
        </p:nvSpPr>
        <p:spPr>
          <a:xfrm>
            <a:off x="1219320" y="3211920"/>
            <a:ext cx="94726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"En Behavioral Cloning el problema era imitar. En RL el problema es </a:t>
            </a:r>
            <a:r>
              <a:rPr lang="en-US" sz="15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decirle a la máquina qué quieres </a:t>
            </a:r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sin que haga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"/>
          <p:cNvSpPr txBox="1"/>
          <p:nvPr/>
        </p:nvSpPr>
        <p:spPr>
          <a:xfrm>
            <a:off x="1219320" y="3497400"/>
            <a:ext cx="61506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trampa. Diseñar la recompensa correcta es medio arte, medio ingeniería."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B830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"/>
          <p:cNvSpPr txBox="1"/>
          <p:nvPr/>
        </p:nvSpPr>
        <p:spPr>
          <a:xfrm>
            <a:off x="914400" y="975240"/>
            <a:ext cx="399816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PARA COMENZAR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CP5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"/>
          <p:cNvSpPr txBox="1"/>
          <p:nvPr/>
        </p:nvSpPr>
        <p:spPr>
          <a:xfrm>
            <a:off x="1040400" y="6517080"/>
            <a:ext cx="12276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RL en highway-env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"/>
          <p:cNvSpPr txBox="1"/>
          <p:nvPr/>
        </p:nvSpPr>
        <p:spPr>
          <a:xfrm>
            <a:off x="2267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"/>
          <p:cNvSpPr txBox="1"/>
          <p:nvPr/>
        </p:nvSpPr>
        <p:spPr>
          <a:xfrm>
            <a:off x="23097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"/>
          <p:cNvSpPr txBox="1"/>
          <p:nvPr/>
        </p:nvSpPr>
        <p:spPr>
          <a:xfrm>
            <a:off x="3208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"/>
          <p:cNvSpPr txBox="1"/>
          <p:nvPr/>
        </p:nvSpPr>
        <p:spPr>
          <a:xfrm>
            <a:off x="32508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11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2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22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LibreOffice/26.2.4.2$MacOSX_AARCH64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