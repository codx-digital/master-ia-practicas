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35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8.xml" ContentType="application/vnd.openxmlformats-officedocument.presentationml.slide+xml"/>
  <Override PartName="/ppt/slides/slide29.xml" ContentType="application/vnd.openxmlformats-officedocument.presentationml.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14400" y="4059720"/>
            <a:ext cx="166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Máster en IA — AIC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14400" y="4345200"/>
            <a:ext cx="350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Módulo: IA Aplicada al Vehículo Autónomo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425840" y="43513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481280" y="4345200"/>
            <a:ext cx="540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2026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14400" y="2089800"/>
            <a:ext cx="97534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DETECCIÓN DE CARRILES: CLÁSICO VS DEEP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14400" y="2709000"/>
            <a:ext cx="23212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LEARNING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14400" y="3468960"/>
            <a:ext cx="172404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Caso Práctico 1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632320" y="34765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701080" y="3468960"/>
            <a:ext cx="19198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Dosier del alumno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685440" y="494316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85440" y="494316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85800" y="1897200"/>
            <a:ext cx="9911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Este es el primer caso práctico del módulo. Está diseñado para poder realizarse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sin conocimientos previos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el uso 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85800" y="2183040"/>
            <a:ext cx="1075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herramientas de programación como la terminal, los sistemas de control de versiones (GitHub) o los entornos de desarrollo. Cada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904680" y="3000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85800" y="2478240"/>
            <a:ext cx="4906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concepto y cada instrucción se explican de forma detallada.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072440" y="2916720"/>
            <a:ext cx="9816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primera parte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(preparación del entorno de trabajo) es la más extensa. Se realiza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única vez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; los casos prácticos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04680" y="3628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072440" y="3211920"/>
            <a:ext cx="7662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posteriores serán considerablemente más breves, dado que el equipo ya estará configurado.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072440" y="3545280"/>
            <a:ext cx="9753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recomienda copiar los comandos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literalmente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de uno en uno. No es necesario comprenderlos para que funcionen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904680" y="4267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72440" y="3840480"/>
            <a:ext cx="1293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correctamente.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072440" y="4183200"/>
            <a:ext cx="959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el resultado obtenido no coincide con el descrito, se aconseja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continuar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consultar el apartado "Resolución 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009440" y="502884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9"/>
                </a:moveTo>
                <a:cubicBezTo>
                  <a:pt x="557" y="298"/>
                  <a:pt x="555" y="316"/>
                  <a:pt x="551" y="334"/>
                </a:cubicBezTo>
                <a:cubicBezTo>
                  <a:pt x="548" y="351"/>
                  <a:pt x="543" y="369"/>
                  <a:pt x="536" y="386"/>
                </a:cubicBezTo>
                <a:cubicBezTo>
                  <a:pt x="529" y="402"/>
                  <a:pt x="520" y="418"/>
                  <a:pt x="510" y="434"/>
                </a:cubicBezTo>
                <a:cubicBezTo>
                  <a:pt x="500" y="449"/>
                  <a:pt x="488" y="463"/>
                  <a:pt x="475" y="476"/>
                </a:cubicBezTo>
                <a:cubicBezTo>
                  <a:pt x="462" y="489"/>
                  <a:pt x="448" y="500"/>
                  <a:pt x="433" y="510"/>
                </a:cubicBezTo>
                <a:cubicBezTo>
                  <a:pt x="418" y="520"/>
                  <a:pt x="402" y="529"/>
                  <a:pt x="385" y="536"/>
                </a:cubicBezTo>
                <a:cubicBezTo>
                  <a:pt x="368" y="543"/>
                  <a:pt x="351" y="548"/>
                  <a:pt x="333" y="552"/>
                </a:cubicBezTo>
                <a:cubicBezTo>
                  <a:pt x="315" y="555"/>
                  <a:pt x="297" y="557"/>
                  <a:pt x="279" y="557"/>
                </a:cubicBezTo>
                <a:cubicBezTo>
                  <a:pt x="261" y="557"/>
                  <a:pt x="242" y="555"/>
                  <a:pt x="224" y="552"/>
                </a:cubicBezTo>
                <a:cubicBezTo>
                  <a:pt x="206" y="548"/>
                  <a:pt x="188" y="543"/>
                  <a:pt x="172" y="536"/>
                </a:cubicBezTo>
                <a:cubicBezTo>
                  <a:pt x="155" y="529"/>
                  <a:pt x="139" y="520"/>
                  <a:pt x="124" y="510"/>
                </a:cubicBezTo>
                <a:cubicBezTo>
                  <a:pt x="108" y="500"/>
                  <a:pt x="94" y="489"/>
                  <a:pt x="81" y="476"/>
                </a:cubicBezTo>
                <a:cubicBezTo>
                  <a:pt x="69" y="463"/>
                  <a:pt x="57" y="449"/>
                  <a:pt x="47" y="434"/>
                </a:cubicBezTo>
                <a:cubicBezTo>
                  <a:pt x="37" y="418"/>
                  <a:pt x="28" y="402"/>
                  <a:pt x="21" y="386"/>
                </a:cubicBezTo>
                <a:cubicBezTo>
                  <a:pt x="14" y="369"/>
                  <a:pt x="9" y="351"/>
                  <a:pt x="5" y="334"/>
                </a:cubicBezTo>
                <a:cubicBezTo>
                  <a:pt x="2" y="316"/>
                  <a:pt x="0" y="298"/>
                  <a:pt x="0" y="279"/>
                </a:cubicBezTo>
                <a:cubicBezTo>
                  <a:pt x="0" y="261"/>
                  <a:pt x="2" y="243"/>
                  <a:pt x="5" y="225"/>
                </a:cubicBezTo>
                <a:cubicBezTo>
                  <a:pt x="9" y="207"/>
                  <a:pt x="14" y="190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1" y="82"/>
                </a:cubicBezTo>
                <a:cubicBezTo>
                  <a:pt x="94" y="69"/>
                  <a:pt x="108" y="57"/>
                  <a:pt x="124" y="47"/>
                </a:cubicBezTo>
                <a:cubicBezTo>
                  <a:pt x="139" y="37"/>
                  <a:pt x="155" y="29"/>
                  <a:pt x="172" y="22"/>
                </a:cubicBezTo>
                <a:cubicBezTo>
                  <a:pt x="188" y="15"/>
                  <a:pt x="206" y="9"/>
                  <a:pt x="224" y="6"/>
                </a:cubicBezTo>
                <a:cubicBezTo>
                  <a:pt x="242" y="2"/>
                  <a:pt x="261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5"/>
                  <a:pt x="385" y="22"/>
                </a:cubicBezTo>
                <a:cubicBezTo>
                  <a:pt x="402" y="29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90"/>
                  <a:pt x="548" y="207"/>
                  <a:pt x="551" y="225"/>
                </a:cubicBezTo>
                <a:cubicBezTo>
                  <a:pt x="555" y="243"/>
                  <a:pt x="557" y="261"/>
                  <a:pt x="557" y="279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031760" y="5051160"/>
            <a:ext cx="155880" cy="155880"/>
          </a:xfrm>
          <a:custGeom>
            <a:avLst/>
            <a:gdLst/>
            <a:ahLst/>
            <a:rect l="0" t="0" r="r" b="b"/>
            <a:pathLst>
              <a:path w="433" h="433">
                <a:moveTo>
                  <a:pt x="433" y="217"/>
                </a:moveTo>
                <a:cubicBezTo>
                  <a:pt x="433" y="231"/>
                  <a:pt x="432" y="246"/>
                  <a:pt x="429" y="259"/>
                </a:cubicBezTo>
                <a:cubicBezTo>
                  <a:pt x="426" y="273"/>
                  <a:pt x="422" y="287"/>
                  <a:pt x="417" y="300"/>
                </a:cubicBezTo>
                <a:cubicBezTo>
                  <a:pt x="411" y="313"/>
                  <a:pt x="404" y="326"/>
                  <a:pt x="397" y="337"/>
                </a:cubicBezTo>
                <a:cubicBezTo>
                  <a:pt x="389" y="349"/>
                  <a:pt x="380" y="360"/>
                  <a:pt x="369" y="370"/>
                </a:cubicBezTo>
                <a:cubicBezTo>
                  <a:pt x="359" y="380"/>
                  <a:pt x="348" y="389"/>
                  <a:pt x="336" y="397"/>
                </a:cubicBezTo>
                <a:cubicBezTo>
                  <a:pt x="324" y="405"/>
                  <a:pt x="312" y="412"/>
                  <a:pt x="299" y="417"/>
                </a:cubicBezTo>
                <a:cubicBezTo>
                  <a:pt x="285" y="422"/>
                  <a:pt x="272" y="426"/>
                  <a:pt x="258" y="429"/>
                </a:cubicBezTo>
                <a:cubicBezTo>
                  <a:pt x="244" y="432"/>
                  <a:pt x="230" y="433"/>
                  <a:pt x="216" y="433"/>
                </a:cubicBezTo>
                <a:cubicBezTo>
                  <a:pt x="202" y="433"/>
                  <a:pt x="188" y="432"/>
                  <a:pt x="174" y="429"/>
                </a:cubicBezTo>
                <a:cubicBezTo>
                  <a:pt x="160" y="426"/>
                  <a:pt x="146" y="422"/>
                  <a:pt x="133" y="417"/>
                </a:cubicBezTo>
                <a:cubicBezTo>
                  <a:pt x="120" y="412"/>
                  <a:pt x="108" y="405"/>
                  <a:pt x="96" y="397"/>
                </a:cubicBezTo>
                <a:cubicBezTo>
                  <a:pt x="84" y="389"/>
                  <a:pt x="73" y="380"/>
                  <a:pt x="63" y="370"/>
                </a:cubicBezTo>
                <a:cubicBezTo>
                  <a:pt x="53" y="360"/>
                  <a:pt x="44" y="349"/>
                  <a:pt x="36" y="337"/>
                </a:cubicBezTo>
                <a:cubicBezTo>
                  <a:pt x="28" y="326"/>
                  <a:pt x="22" y="313"/>
                  <a:pt x="16" y="300"/>
                </a:cubicBezTo>
                <a:cubicBezTo>
                  <a:pt x="11" y="287"/>
                  <a:pt x="7" y="273"/>
                  <a:pt x="4" y="259"/>
                </a:cubicBezTo>
                <a:cubicBezTo>
                  <a:pt x="1" y="246"/>
                  <a:pt x="0" y="231"/>
                  <a:pt x="0" y="217"/>
                </a:cubicBezTo>
                <a:cubicBezTo>
                  <a:pt x="0" y="203"/>
                  <a:pt x="1" y="189"/>
                  <a:pt x="4" y="175"/>
                </a:cubicBezTo>
                <a:cubicBezTo>
                  <a:pt x="7" y="161"/>
                  <a:pt x="11" y="148"/>
                  <a:pt x="16" y="135"/>
                </a:cubicBezTo>
                <a:cubicBezTo>
                  <a:pt x="22" y="122"/>
                  <a:pt x="28" y="109"/>
                  <a:pt x="36" y="97"/>
                </a:cubicBezTo>
                <a:cubicBezTo>
                  <a:pt x="44" y="85"/>
                  <a:pt x="53" y="75"/>
                  <a:pt x="63" y="65"/>
                </a:cubicBezTo>
                <a:cubicBezTo>
                  <a:pt x="73" y="54"/>
                  <a:pt x="84" y="46"/>
                  <a:pt x="96" y="38"/>
                </a:cubicBezTo>
                <a:cubicBezTo>
                  <a:pt x="108" y="30"/>
                  <a:pt x="120" y="23"/>
                  <a:pt x="133" y="18"/>
                </a:cubicBezTo>
                <a:cubicBezTo>
                  <a:pt x="146" y="12"/>
                  <a:pt x="160" y="7"/>
                  <a:pt x="174" y="4"/>
                </a:cubicBezTo>
                <a:cubicBezTo>
                  <a:pt x="188" y="2"/>
                  <a:pt x="202" y="0"/>
                  <a:pt x="216" y="0"/>
                </a:cubicBezTo>
                <a:cubicBezTo>
                  <a:pt x="230" y="0"/>
                  <a:pt x="244" y="2"/>
                  <a:pt x="258" y="4"/>
                </a:cubicBezTo>
                <a:cubicBezTo>
                  <a:pt x="272" y="7"/>
                  <a:pt x="285" y="12"/>
                  <a:pt x="299" y="18"/>
                </a:cubicBezTo>
                <a:cubicBezTo>
                  <a:pt x="312" y="23"/>
                  <a:pt x="324" y="30"/>
                  <a:pt x="336" y="38"/>
                </a:cubicBezTo>
                <a:cubicBezTo>
                  <a:pt x="348" y="46"/>
                  <a:pt x="359" y="54"/>
                  <a:pt x="369" y="65"/>
                </a:cubicBezTo>
                <a:cubicBezTo>
                  <a:pt x="380" y="75"/>
                  <a:pt x="389" y="85"/>
                  <a:pt x="397" y="97"/>
                </a:cubicBezTo>
                <a:cubicBezTo>
                  <a:pt x="404" y="109"/>
                  <a:pt x="411" y="122"/>
                  <a:pt x="417" y="135"/>
                </a:cubicBezTo>
                <a:cubicBezTo>
                  <a:pt x="422" y="148"/>
                  <a:pt x="426" y="161"/>
                  <a:pt x="429" y="175"/>
                </a:cubicBezTo>
                <a:cubicBezTo>
                  <a:pt x="432" y="189"/>
                  <a:pt x="433" y="203"/>
                  <a:pt x="433" y="217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103760" y="5062320"/>
            <a:ext cx="11520" cy="72720"/>
          </a:xfrm>
          <a:custGeom>
            <a:avLst/>
            <a:gdLst/>
            <a:ahLst/>
            <a:rect l="0" t="0" r="r" b="b"/>
            <a:pathLst>
              <a:path w="32" h="202">
                <a:moveTo>
                  <a:pt x="32" y="186"/>
                </a:moveTo>
                <a:cubicBezTo>
                  <a:pt x="32" y="195"/>
                  <a:pt x="25" y="202"/>
                  <a:pt x="17" y="202"/>
                </a:cubicBezTo>
                <a:cubicBezTo>
                  <a:pt x="7" y="202"/>
                  <a:pt x="0" y="195"/>
                  <a:pt x="0" y="186"/>
                </a:cubicBezTo>
                <a:lnTo>
                  <a:pt x="0" y="16"/>
                </a:lnTo>
                <a:cubicBezTo>
                  <a:pt x="0" y="7"/>
                  <a:pt x="7" y="0"/>
                  <a:pt x="17" y="0"/>
                </a:cubicBezTo>
                <a:cubicBezTo>
                  <a:pt x="25" y="0"/>
                  <a:pt x="32" y="7"/>
                  <a:pt x="32" y="16"/>
                </a:cubicBezTo>
                <a:lnTo>
                  <a:pt x="32" y="186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105200" y="5079600"/>
            <a:ext cx="36720" cy="54720"/>
          </a:xfrm>
          <a:custGeom>
            <a:avLst/>
            <a:gdLst/>
            <a:ahLst/>
            <a:rect l="0" t="0" r="r" b="b"/>
            <a:pathLst>
              <a:path w="102" h="152">
                <a:moveTo>
                  <a:pt x="94" y="2"/>
                </a:moveTo>
                <a:cubicBezTo>
                  <a:pt x="101" y="6"/>
                  <a:pt x="104" y="17"/>
                  <a:pt x="100" y="24"/>
                </a:cubicBezTo>
                <a:lnTo>
                  <a:pt x="29" y="144"/>
                </a:lnTo>
                <a:cubicBezTo>
                  <a:pt x="25" y="152"/>
                  <a:pt x="15" y="154"/>
                  <a:pt x="8" y="150"/>
                </a:cubicBezTo>
                <a:cubicBezTo>
                  <a:pt x="1" y="146"/>
                  <a:pt x="-2" y="136"/>
                  <a:pt x="2" y="129"/>
                </a:cubicBezTo>
                <a:lnTo>
                  <a:pt x="72" y="8"/>
                </a:lnTo>
                <a:cubicBezTo>
                  <a:pt x="76" y="0"/>
                  <a:pt x="87" y="-2"/>
                  <a:pt x="94" y="2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072440" y="4469040"/>
            <a:ext cx="2681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incidencias" o el foro del máster.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85440" y="15811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220400" y="5050080"/>
            <a:ext cx="8996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Duración estimada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preparación del entorno ~45 min (solo la primera vez). Ejecución de la práctica ~1 hora.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7181640" y="15523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85800" y="1203840"/>
            <a:ext cx="2399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Alcance y requisitos previos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85440" y="415260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85440" y="415260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85800" y="1878480"/>
            <a:ext cx="10281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pondrán en funcionamiento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dos detectores de carriles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sobre un mismo conjunto de imágenes de carretera, con el fin 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85800" y="2173680"/>
            <a:ext cx="1133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compararlos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60400" y="2611800"/>
            <a:ext cx="10538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Un método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clásico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propio de la visión por computador de los años 90, basado en operaciones matemáticas sobre la imagen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072440" y="2907000"/>
            <a:ext cx="2857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(sin inteligencia artificial moderna).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60760" y="3240360"/>
            <a:ext cx="9182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Un método basado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inteligencia artificial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una red neuronal previamente entrenada por el equipo docente.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85800" y="3688200"/>
            <a:ext cx="3611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se dará respuesta a una cuestión central: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990720" y="4269240"/>
            <a:ext cx="8136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¿Qué método ofrece mejores resultados y en qué situaciones resulta más adecuado cada uno?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85800" y="4840560"/>
            <a:ext cx="9974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es necesario programar los detectores: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ambos se proporcionan ya implementados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La labor del alumno consiste 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685440" y="156204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85800" y="5135760"/>
            <a:ext cx="536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ejecutarlos, observar su comportamiento y extraer conclusiones.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7181640" y="1533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85800" y="1194480"/>
            <a:ext cx="1779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Objeto de la práctica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85800" y="2440440"/>
            <a:ext cx="389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finalizar la práctica, el alumno será capaz de: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60400" y="2878560"/>
            <a:ext cx="8497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Ejecutar un procedimiento de visión clásica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paso a paso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comprender la función de cada operación.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60760" y="3221280"/>
            <a:ext cx="9429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Cargar y aplicar un modelo de inteligencia artificial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ya entrenado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respetando sus requisitos de entrada y salida.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60760" y="3564360"/>
            <a:ext cx="9935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Medir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tiempo de cómputo real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cada método y valorarlo frente a las exigencias de tiempo real (30 imágenes por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072440" y="3849840"/>
            <a:ext cx="754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segundo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827720" y="381672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027520" y="3849840"/>
            <a:ext cx="2507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33 milisegundos por imagen).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860760" y="4192920"/>
            <a:ext cx="7485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Comparar ambos enfoques mediante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evidencia cuantitativa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no impresiones subjetivas.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85440" y="212400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60760" y="4535640"/>
            <a:ext cx="6380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Identificar las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limitaciones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cada método y proponer mejoras concretas.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181640" y="2095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685800" y="1746720"/>
            <a:ext cx="2079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Objetivos de aprendizaje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95160" y="2409480"/>
            <a:ext cx="2190960" cy="362520"/>
          </a:xfrm>
          <a:custGeom>
            <a:avLst/>
            <a:gdLst/>
            <a:ahLst/>
            <a:rect l="0" t="0" r="r" b="b"/>
            <a:pathLst>
              <a:path w="6086" h="1007">
                <a:moveTo>
                  <a:pt x="0" y="0"/>
                </a:moveTo>
                <a:lnTo>
                  <a:pt x="6086" y="0"/>
                </a:lnTo>
                <a:lnTo>
                  <a:pt x="60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885760" y="2409480"/>
            <a:ext cx="2781720" cy="362520"/>
          </a:xfrm>
          <a:custGeom>
            <a:avLst/>
            <a:gdLst/>
            <a:ahLst/>
            <a:rect l="0" t="0" r="r" b="b"/>
            <a:pathLst>
              <a:path w="7727" h="1007">
                <a:moveTo>
                  <a:pt x="0" y="0"/>
                </a:moveTo>
                <a:lnTo>
                  <a:pt x="7727" y="0"/>
                </a:lnTo>
                <a:lnTo>
                  <a:pt x="77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667120" y="2409480"/>
            <a:ext cx="886320" cy="362520"/>
          </a:xfrm>
          <a:custGeom>
            <a:avLst/>
            <a:gdLst/>
            <a:ahLst/>
            <a:rect l="0" t="0" r="r" b="b"/>
            <a:pathLst>
              <a:path w="2462" h="1007">
                <a:moveTo>
                  <a:pt x="0" y="0"/>
                </a:moveTo>
                <a:lnTo>
                  <a:pt x="2462" y="0"/>
                </a:lnTo>
                <a:lnTo>
                  <a:pt x="246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95160" y="2409480"/>
            <a:ext cx="2190960" cy="362520"/>
          </a:xfrm>
          <a:custGeom>
            <a:avLst/>
            <a:gdLst/>
            <a:ahLst/>
            <a:rect l="0" t="0" r="r" b="b"/>
            <a:pathLst>
              <a:path w="6086" h="1007">
                <a:moveTo>
                  <a:pt x="0" y="0"/>
                </a:moveTo>
                <a:lnTo>
                  <a:pt x="6086" y="0"/>
                </a:lnTo>
                <a:lnTo>
                  <a:pt x="60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885760" y="2409480"/>
            <a:ext cx="2781720" cy="362520"/>
          </a:xfrm>
          <a:custGeom>
            <a:avLst/>
            <a:gdLst/>
            <a:ahLst/>
            <a:rect l="0" t="0" r="r" b="b"/>
            <a:pathLst>
              <a:path w="7727" h="1007">
                <a:moveTo>
                  <a:pt x="0" y="0"/>
                </a:moveTo>
                <a:lnTo>
                  <a:pt x="7727" y="0"/>
                </a:lnTo>
                <a:lnTo>
                  <a:pt x="77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667120" y="2409480"/>
            <a:ext cx="886320" cy="362520"/>
          </a:xfrm>
          <a:custGeom>
            <a:avLst/>
            <a:gdLst/>
            <a:ahLst/>
            <a:rect l="0" t="0" r="r" b="b"/>
            <a:pathLst>
              <a:path w="2462" h="1007">
                <a:moveTo>
                  <a:pt x="0" y="0"/>
                </a:moveTo>
                <a:lnTo>
                  <a:pt x="2462" y="0"/>
                </a:lnTo>
                <a:lnTo>
                  <a:pt x="2462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95160" y="2771640"/>
            <a:ext cx="2190960" cy="371880"/>
          </a:xfrm>
          <a:custGeom>
            <a:avLst/>
            <a:gdLst/>
            <a:ahLst/>
            <a:rect l="0" t="0" r="r" b="b"/>
            <a:pathLst>
              <a:path w="6086" h="1033">
                <a:moveTo>
                  <a:pt x="0" y="0"/>
                </a:moveTo>
                <a:lnTo>
                  <a:pt x="6086" y="0"/>
                </a:lnTo>
                <a:lnTo>
                  <a:pt x="60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885760" y="2771640"/>
            <a:ext cx="2781720" cy="371880"/>
          </a:xfrm>
          <a:custGeom>
            <a:avLst/>
            <a:gdLst/>
            <a:ahLst/>
            <a:rect l="0" t="0" r="r" b="b"/>
            <a:pathLst>
              <a:path w="7727" h="1033">
                <a:moveTo>
                  <a:pt x="0" y="0"/>
                </a:moveTo>
                <a:lnTo>
                  <a:pt x="7727" y="0"/>
                </a:lnTo>
                <a:lnTo>
                  <a:pt x="77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667120" y="277164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95160" y="314316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885760" y="3143160"/>
            <a:ext cx="2781720" cy="362160"/>
          </a:xfrm>
          <a:custGeom>
            <a:avLst/>
            <a:gdLst/>
            <a:ahLst/>
            <a:rect l="0" t="0" r="r" b="b"/>
            <a:pathLst>
              <a:path w="7727" h="1006">
                <a:moveTo>
                  <a:pt x="0" y="0"/>
                </a:moveTo>
                <a:lnTo>
                  <a:pt x="7727" y="0"/>
                </a:lnTo>
                <a:lnTo>
                  <a:pt x="77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667120" y="314316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0"/>
                </a:moveTo>
                <a:lnTo>
                  <a:pt x="2462" y="0"/>
                </a:lnTo>
                <a:lnTo>
                  <a:pt x="246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95160" y="3504960"/>
            <a:ext cx="2190960" cy="371880"/>
          </a:xfrm>
          <a:custGeom>
            <a:avLst/>
            <a:gdLst/>
            <a:ahLst/>
            <a:rect l="0" t="0" r="r" b="b"/>
            <a:pathLst>
              <a:path w="6086" h="1033">
                <a:moveTo>
                  <a:pt x="0" y="0"/>
                </a:moveTo>
                <a:lnTo>
                  <a:pt x="6086" y="0"/>
                </a:lnTo>
                <a:lnTo>
                  <a:pt x="60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2885760" y="3504960"/>
            <a:ext cx="2781720" cy="371880"/>
          </a:xfrm>
          <a:custGeom>
            <a:avLst/>
            <a:gdLst/>
            <a:ahLst/>
            <a:rect l="0" t="0" r="r" b="b"/>
            <a:pathLst>
              <a:path w="7727" h="1033">
                <a:moveTo>
                  <a:pt x="0" y="0"/>
                </a:moveTo>
                <a:lnTo>
                  <a:pt x="7727" y="0"/>
                </a:lnTo>
                <a:lnTo>
                  <a:pt x="77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667120" y="350496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95160" y="3876480"/>
            <a:ext cx="2190960" cy="362160"/>
          </a:xfrm>
          <a:custGeom>
            <a:avLst/>
            <a:gdLst/>
            <a:ahLst/>
            <a:rect l="0" t="0" r="r" b="b"/>
            <a:pathLst>
              <a:path w="6086" h="1006">
                <a:moveTo>
                  <a:pt x="0" y="0"/>
                </a:moveTo>
                <a:lnTo>
                  <a:pt x="6086" y="0"/>
                </a:lnTo>
                <a:lnTo>
                  <a:pt x="60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885760" y="3876480"/>
            <a:ext cx="2781720" cy="362160"/>
          </a:xfrm>
          <a:custGeom>
            <a:avLst/>
            <a:gdLst/>
            <a:ahLst/>
            <a:rect l="0" t="0" r="r" b="b"/>
            <a:pathLst>
              <a:path w="7727" h="1006">
                <a:moveTo>
                  <a:pt x="0" y="0"/>
                </a:moveTo>
                <a:lnTo>
                  <a:pt x="7727" y="0"/>
                </a:lnTo>
                <a:lnTo>
                  <a:pt x="77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667120" y="3876480"/>
            <a:ext cx="886320" cy="362160"/>
          </a:xfrm>
          <a:custGeom>
            <a:avLst/>
            <a:gdLst/>
            <a:ahLst/>
            <a:rect l="0" t="0" r="r" b="b"/>
            <a:pathLst>
              <a:path w="2462" h="1006">
                <a:moveTo>
                  <a:pt x="0" y="0"/>
                </a:moveTo>
                <a:lnTo>
                  <a:pt x="2462" y="0"/>
                </a:lnTo>
                <a:lnTo>
                  <a:pt x="2462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95160" y="4238280"/>
            <a:ext cx="2190960" cy="371880"/>
          </a:xfrm>
          <a:custGeom>
            <a:avLst/>
            <a:gdLst/>
            <a:ahLst/>
            <a:rect l="0" t="0" r="r" b="b"/>
            <a:pathLst>
              <a:path w="6086" h="1033">
                <a:moveTo>
                  <a:pt x="0" y="0"/>
                </a:moveTo>
                <a:lnTo>
                  <a:pt x="6086" y="0"/>
                </a:lnTo>
                <a:lnTo>
                  <a:pt x="60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2885760" y="4238280"/>
            <a:ext cx="2781720" cy="371880"/>
          </a:xfrm>
          <a:custGeom>
            <a:avLst/>
            <a:gdLst/>
            <a:ahLst/>
            <a:rect l="0" t="0" r="r" b="b"/>
            <a:pathLst>
              <a:path w="7727" h="1033">
                <a:moveTo>
                  <a:pt x="0" y="0"/>
                </a:moveTo>
                <a:lnTo>
                  <a:pt x="7727" y="0"/>
                </a:lnTo>
                <a:lnTo>
                  <a:pt x="77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5667120" y="4238280"/>
            <a:ext cx="886320" cy="371880"/>
          </a:xfrm>
          <a:custGeom>
            <a:avLst/>
            <a:gdLst/>
            <a:ahLst/>
            <a:rect l="0" t="0" r="r" b="b"/>
            <a:pathLst>
              <a:path w="2462" h="1033">
                <a:moveTo>
                  <a:pt x="0" y="0"/>
                </a:moveTo>
                <a:lnTo>
                  <a:pt x="2462" y="0"/>
                </a:lnTo>
                <a:lnTo>
                  <a:pt x="246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685440" y="24001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85440" y="240012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2876400" y="2400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2885760" y="240012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657760" y="24001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667120" y="2400120"/>
            <a:ext cx="886320" cy="9720"/>
          </a:xfrm>
          <a:custGeom>
            <a:avLst/>
            <a:gdLst/>
            <a:ahLst/>
            <a:rect l="0" t="0" r="r" b="b"/>
            <a:pathLst>
              <a:path w="2462" h="27">
                <a:moveTo>
                  <a:pt x="0" y="0"/>
                </a:moveTo>
                <a:lnTo>
                  <a:pt x="2462" y="0"/>
                </a:lnTo>
                <a:lnTo>
                  <a:pt x="2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543360" y="24001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85440" y="277164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885760" y="277164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5667120" y="2771640"/>
            <a:ext cx="886320" cy="9720"/>
          </a:xfrm>
          <a:custGeom>
            <a:avLst/>
            <a:gdLst/>
            <a:ahLst/>
            <a:rect l="0" t="0" r="r" b="b"/>
            <a:pathLst>
              <a:path w="2462" h="27">
                <a:moveTo>
                  <a:pt x="0" y="0"/>
                </a:moveTo>
                <a:lnTo>
                  <a:pt x="2462" y="0"/>
                </a:lnTo>
                <a:lnTo>
                  <a:pt x="2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685440" y="278100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876400" y="27810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657760" y="27810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543360" y="278100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685440" y="3143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685440" y="313344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87640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885760" y="313344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65776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667120" y="3133440"/>
            <a:ext cx="886320" cy="10080"/>
          </a:xfrm>
          <a:custGeom>
            <a:avLst/>
            <a:gdLst/>
            <a:ahLst/>
            <a:rect l="0" t="0" r="r" b="b"/>
            <a:pathLst>
              <a:path w="2462" h="28">
                <a:moveTo>
                  <a:pt x="0" y="0"/>
                </a:moveTo>
                <a:lnTo>
                  <a:pt x="2462" y="0"/>
                </a:lnTo>
                <a:lnTo>
                  <a:pt x="2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543360" y="3143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685440" y="35146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685440" y="3504960"/>
            <a:ext cx="2200680" cy="10440"/>
          </a:xfrm>
          <a:custGeom>
            <a:avLst/>
            <a:gdLst/>
            <a:ahLst/>
            <a:rect l="0" t="0" r="r" b="b"/>
            <a:pathLst>
              <a:path w="6113" h="29">
                <a:moveTo>
                  <a:pt x="0" y="0"/>
                </a:moveTo>
                <a:lnTo>
                  <a:pt x="6113" y="0"/>
                </a:lnTo>
                <a:lnTo>
                  <a:pt x="611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876400" y="351468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885760" y="3504960"/>
            <a:ext cx="2781720" cy="10440"/>
          </a:xfrm>
          <a:custGeom>
            <a:avLst/>
            <a:gdLst/>
            <a:ahLst/>
            <a:rect l="0" t="0" r="r" b="b"/>
            <a:pathLst>
              <a:path w="7727" h="29">
                <a:moveTo>
                  <a:pt x="0" y="0"/>
                </a:moveTo>
                <a:lnTo>
                  <a:pt x="7727" y="0"/>
                </a:lnTo>
                <a:lnTo>
                  <a:pt x="7727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5657760" y="351468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667120" y="3504960"/>
            <a:ext cx="886320" cy="10440"/>
          </a:xfrm>
          <a:custGeom>
            <a:avLst/>
            <a:gdLst/>
            <a:ahLst/>
            <a:rect l="0" t="0" r="r" b="b"/>
            <a:pathLst>
              <a:path w="2462" h="29">
                <a:moveTo>
                  <a:pt x="0" y="0"/>
                </a:moveTo>
                <a:lnTo>
                  <a:pt x="2462" y="0"/>
                </a:lnTo>
                <a:lnTo>
                  <a:pt x="2462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543360" y="35146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85440" y="3876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85440" y="386712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876400" y="38764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885760" y="386712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657760" y="38764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667120" y="3867120"/>
            <a:ext cx="886320" cy="9720"/>
          </a:xfrm>
          <a:custGeom>
            <a:avLst/>
            <a:gdLst/>
            <a:ahLst/>
            <a:rect l="0" t="0" r="r" b="b"/>
            <a:pathLst>
              <a:path w="2462" h="27">
                <a:moveTo>
                  <a:pt x="0" y="0"/>
                </a:moveTo>
                <a:lnTo>
                  <a:pt x="2462" y="0"/>
                </a:lnTo>
                <a:lnTo>
                  <a:pt x="2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6543360" y="3876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685440" y="42480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685440" y="4238280"/>
            <a:ext cx="2200680" cy="10080"/>
          </a:xfrm>
          <a:custGeom>
            <a:avLst/>
            <a:gdLst/>
            <a:ahLst/>
            <a:rect l="0" t="0" r="r" b="b"/>
            <a:pathLst>
              <a:path w="6113" h="28">
                <a:moveTo>
                  <a:pt x="0" y="0"/>
                </a:moveTo>
                <a:lnTo>
                  <a:pt x="6113" y="0"/>
                </a:lnTo>
                <a:lnTo>
                  <a:pt x="6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876400" y="424800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885760" y="4238280"/>
            <a:ext cx="2781720" cy="10080"/>
          </a:xfrm>
          <a:custGeom>
            <a:avLst/>
            <a:gdLst/>
            <a:ahLst/>
            <a:rect l="0" t="0" r="r" b="b"/>
            <a:pathLst>
              <a:path w="7727" h="28">
                <a:moveTo>
                  <a:pt x="0" y="0"/>
                </a:moveTo>
                <a:lnTo>
                  <a:pt x="7727" y="0"/>
                </a:lnTo>
                <a:lnTo>
                  <a:pt x="77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657760" y="424800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667120" y="4238280"/>
            <a:ext cx="886320" cy="10080"/>
          </a:xfrm>
          <a:custGeom>
            <a:avLst/>
            <a:gdLst/>
            <a:ahLst/>
            <a:rect l="0" t="0" r="r" b="b"/>
            <a:pathLst>
              <a:path w="2462" h="28">
                <a:moveTo>
                  <a:pt x="0" y="0"/>
                </a:moveTo>
                <a:lnTo>
                  <a:pt x="2462" y="0"/>
                </a:lnTo>
                <a:lnTo>
                  <a:pt x="24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6543360" y="42480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685440" y="4600440"/>
            <a:ext cx="2200680" cy="9720"/>
          </a:xfrm>
          <a:custGeom>
            <a:avLst/>
            <a:gdLst/>
            <a:ahLst/>
            <a:rect l="0" t="0" r="r" b="b"/>
            <a:pathLst>
              <a:path w="6113" h="27">
                <a:moveTo>
                  <a:pt x="0" y="0"/>
                </a:moveTo>
                <a:lnTo>
                  <a:pt x="6113" y="0"/>
                </a:lnTo>
                <a:lnTo>
                  <a:pt x="6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885760" y="4600440"/>
            <a:ext cx="2781720" cy="9720"/>
          </a:xfrm>
          <a:custGeom>
            <a:avLst/>
            <a:gdLst/>
            <a:ahLst/>
            <a:rect l="0" t="0" r="r" b="b"/>
            <a:pathLst>
              <a:path w="7727" h="27">
                <a:moveTo>
                  <a:pt x="0" y="0"/>
                </a:moveTo>
                <a:lnTo>
                  <a:pt x="7727" y="0"/>
                </a:lnTo>
                <a:lnTo>
                  <a:pt x="77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5667120" y="4600440"/>
            <a:ext cx="886320" cy="9720"/>
          </a:xfrm>
          <a:custGeom>
            <a:avLst/>
            <a:gdLst/>
            <a:ahLst/>
            <a:rect l="0" t="0" r="r" b="b"/>
            <a:pathLst>
              <a:path w="2462" h="27">
                <a:moveTo>
                  <a:pt x="0" y="0"/>
                </a:moveTo>
                <a:lnTo>
                  <a:pt x="2462" y="0"/>
                </a:lnTo>
                <a:lnTo>
                  <a:pt x="24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85440" y="483840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685440" y="483840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85800" y="1716480"/>
            <a:ext cx="10660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desarrollo se organiza en varios archivos denominados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notebooks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(se explican más adelante), que deberán abrirse en el orden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685800" y="2002320"/>
            <a:ext cx="721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indicado: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819000" y="2508840"/>
            <a:ext cx="526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Archivo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013920" y="2508840"/>
            <a:ext cx="539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Función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819000" y="2876400"/>
            <a:ext cx="781200" cy="171720"/>
          </a:xfrm>
          <a:custGeom>
            <a:avLst/>
            <a:gdLst/>
            <a:ahLst/>
            <a:rect l="0" t="0" r="r" b="b"/>
            <a:pathLst>
              <a:path w="2170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091" y="0"/>
                </a:lnTo>
                <a:cubicBezTo>
                  <a:pt x="2102" y="0"/>
                  <a:pt x="2112" y="2"/>
                  <a:pt x="2121" y="6"/>
                </a:cubicBezTo>
                <a:cubicBezTo>
                  <a:pt x="2131" y="10"/>
                  <a:pt x="2140" y="16"/>
                  <a:pt x="2147" y="23"/>
                </a:cubicBezTo>
                <a:cubicBezTo>
                  <a:pt x="2155" y="31"/>
                  <a:pt x="2160" y="39"/>
                  <a:pt x="2164" y="49"/>
                </a:cubicBezTo>
                <a:cubicBezTo>
                  <a:pt x="2168" y="59"/>
                  <a:pt x="2170" y="69"/>
                  <a:pt x="2170" y="79"/>
                </a:cubicBezTo>
                <a:lnTo>
                  <a:pt x="2170" y="398"/>
                </a:lnTo>
                <a:cubicBezTo>
                  <a:pt x="2170" y="408"/>
                  <a:pt x="2168" y="418"/>
                  <a:pt x="2164" y="428"/>
                </a:cubicBezTo>
                <a:cubicBezTo>
                  <a:pt x="2160" y="438"/>
                  <a:pt x="2155" y="446"/>
                  <a:pt x="2147" y="454"/>
                </a:cubicBezTo>
                <a:cubicBezTo>
                  <a:pt x="2140" y="461"/>
                  <a:pt x="2131" y="467"/>
                  <a:pt x="2121" y="471"/>
                </a:cubicBezTo>
                <a:cubicBezTo>
                  <a:pt x="2112" y="475"/>
                  <a:pt x="2102" y="477"/>
                  <a:pt x="20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5791680" y="2508840"/>
            <a:ext cx="631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Duración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876240" y="2882160"/>
            <a:ext cx="661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01_setup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013920" y="2880360"/>
            <a:ext cx="2515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Verifica que la instalación es correcta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819000" y="3238200"/>
            <a:ext cx="1933920" cy="172080"/>
          </a:xfrm>
          <a:custGeom>
            <a:avLst/>
            <a:gdLst/>
            <a:ahLst/>
            <a:rect l="0" t="0" r="r" b="b"/>
            <a:pathLst>
              <a:path w="5372" h="478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293" y="0"/>
                </a:lnTo>
                <a:cubicBezTo>
                  <a:pt x="5303" y="0"/>
                  <a:pt x="5313" y="2"/>
                  <a:pt x="5323" y="6"/>
                </a:cubicBezTo>
                <a:cubicBezTo>
                  <a:pt x="5333" y="10"/>
                  <a:pt x="5341" y="16"/>
                  <a:pt x="5349" y="24"/>
                </a:cubicBezTo>
                <a:cubicBezTo>
                  <a:pt x="5356" y="31"/>
                  <a:pt x="5362" y="40"/>
                  <a:pt x="5366" y="49"/>
                </a:cubicBezTo>
                <a:cubicBezTo>
                  <a:pt x="5370" y="59"/>
                  <a:pt x="5372" y="69"/>
                  <a:pt x="5372" y="80"/>
                </a:cubicBezTo>
                <a:lnTo>
                  <a:pt x="5372" y="398"/>
                </a:lnTo>
                <a:cubicBezTo>
                  <a:pt x="5372" y="409"/>
                  <a:pt x="5370" y="419"/>
                  <a:pt x="5366" y="429"/>
                </a:cubicBezTo>
                <a:cubicBezTo>
                  <a:pt x="5362" y="438"/>
                  <a:pt x="5356" y="447"/>
                  <a:pt x="5349" y="454"/>
                </a:cubicBezTo>
                <a:cubicBezTo>
                  <a:pt x="5341" y="462"/>
                  <a:pt x="5333" y="468"/>
                  <a:pt x="5323" y="472"/>
                </a:cubicBezTo>
                <a:cubicBezTo>
                  <a:pt x="5313" y="476"/>
                  <a:pt x="5303" y="478"/>
                  <a:pt x="5293" y="478"/>
                </a:cubicBezTo>
                <a:lnTo>
                  <a:pt x="79" y="478"/>
                </a:lnTo>
                <a:cubicBezTo>
                  <a:pt x="69" y="478"/>
                  <a:pt x="59" y="476"/>
                  <a:pt x="49" y="472"/>
                </a:cubicBezTo>
                <a:cubicBezTo>
                  <a:pt x="39" y="468"/>
                  <a:pt x="31" y="462"/>
                  <a:pt x="23" y="454"/>
                </a:cubicBezTo>
                <a:cubicBezTo>
                  <a:pt x="16" y="447"/>
                  <a:pt x="10" y="438"/>
                  <a:pt x="6" y="429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5791680" y="288036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876240" y="3243960"/>
            <a:ext cx="18172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02_clasico_canny_hough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013920" y="3242160"/>
            <a:ext cx="1096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Detector clásico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819000" y="3609720"/>
            <a:ext cx="1438560" cy="171720"/>
          </a:xfrm>
          <a:custGeom>
            <a:avLst/>
            <a:gdLst/>
            <a:ahLst/>
            <a:rect l="0" t="0" r="r" b="b"/>
            <a:pathLst>
              <a:path w="3996" h="477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917" y="0"/>
                </a:lnTo>
                <a:cubicBezTo>
                  <a:pt x="3927" y="0"/>
                  <a:pt x="3937" y="2"/>
                  <a:pt x="3947" y="6"/>
                </a:cubicBezTo>
                <a:cubicBezTo>
                  <a:pt x="3957" y="10"/>
                  <a:pt x="3965" y="16"/>
                  <a:pt x="3973" y="23"/>
                </a:cubicBezTo>
                <a:cubicBezTo>
                  <a:pt x="3980" y="31"/>
                  <a:pt x="3986" y="39"/>
                  <a:pt x="3990" y="49"/>
                </a:cubicBezTo>
                <a:cubicBezTo>
                  <a:pt x="3994" y="59"/>
                  <a:pt x="3996" y="69"/>
                  <a:pt x="3996" y="80"/>
                </a:cubicBezTo>
                <a:lnTo>
                  <a:pt x="3996" y="398"/>
                </a:lnTo>
                <a:cubicBezTo>
                  <a:pt x="3996" y="409"/>
                  <a:pt x="3994" y="419"/>
                  <a:pt x="3990" y="428"/>
                </a:cubicBezTo>
                <a:cubicBezTo>
                  <a:pt x="3986" y="438"/>
                  <a:pt x="3980" y="447"/>
                  <a:pt x="3973" y="454"/>
                </a:cubicBezTo>
                <a:cubicBezTo>
                  <a:pt x="3965" y="462"/>
                  <a:pt x="3957" y="467"/>
                  <a:pt x="3947" y="471"/>
                </a:cubicBezTo>
                <a:cubicBezTo>
                  <a:pt x="3937" y="475"/>
                  <a:pt x="3927" y="477"/>
                  <a:pt x="3917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2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5791680" y="324216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15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876240" y="3615480"/>
            <a:ext cx="13219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03_deep_learning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013920" y="3613680"/>
            <a:ext cx="2233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Detector con inteligencia artificial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819000" y="3971880"/>
            <a:ext cx="1276560" cy="171720"/>
          </a:xfrm>
          <a:custGeom>
            <a:avLst/>
            <a:gdLst/>
            <a:ahLst/>
            <a:rect l="0" t="0" r="r" b="b"/>
            <a:pathLst>
              <a:path w="3546" h="477">
                <a:moveTo>
                  <a:pt x="0" y="39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467" y="0"/>
                </a:lnTo>
                <a:cubicBezTo>
                  <a:pt x="3477" y="0"/>
                  <a:pt x="3488" y="2"/>
                  <a:pt x="3497" y="6"/>
                </a:cubicBezTo>
                <a:cubicBezTo>
                  <a:pt x="3507" y="10"/>
                  <a:pt x="3516" y="15"/>
                  <a:pt x="3523" y="23"/>
                </a:cubicBezTo>
                <a:cubicBezTo>
                  <a:pt x="3531" y="30"/>
                  <a:pt x="3536" y="39"/>
                  <a:pt x="3540" y="49"/>
                </a:cubicBezTo>
                <a:cubicBezTo>
                  <a:pt x="3544" y="58"/>
                  <a:pt x="3546" y="68"/>
                  <a:pt x="3546" y="79"/>
                </a:cubicBezTo>
                <a:lnTo>
                  <a:pt x="3546" y="397"/>
                </a:lnTo>
                <a:cubicBezTo>
                  <a:pt x="3546" y="408"/>
                  <a:pt x="3544" y="418"/>
                  <a:pt x="3540" y="428"/>
                </a:cubicBezTo>
                <a:cubicBezTo>
                  <a:pt x="3536" y="438"/>
                  <a:pt x="3531" y="446"/>
                  <a:pt x="3523" y="454"/>
                </a:cubicBezTo>
                <a:cubicBezTo>
                  <a:pt x="3516" y="461"/>
                  <a:pt x="3507" y="467"/>
                  <a:pt x="3497" y="471"/>
                </a:cubicBezTo>
                <a:cubicBezTo>
                  <a:pt x="3488" y="475"/>
                  <a:pt x="3477" y="477"/>
                  <a:pt x="3467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7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5791680" y="361368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876240" y="3977640"/>
            <a:ext cx="11566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04_comparativa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013920" y="3975840"/>
            <a:ext cx="1580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Comparación y gráficas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819000" y="4343040"/>
            <a:ext cx="1105200" cy="172080"/>
          </a:xfrm>
          <a:custGeom>
            <a:avLst/>
            <a:gdLst/>
            <a:ahLst/>
            <a:rect l="0" t="0" r="r" b="b"/>
            <a:pathLst>
              <a:path w="3070" h="478">
                <a:moveTo>
                  <a:pt x="0" y="398"/>
                </a:moveTo>
                <a:lnTo>
                  <a:pt x="0" y="81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lnTo>
                  <a:pt x="2991" y="0"/>
                </a:lnTo>
                <a:cubicBezTo>
                  <a:pt x="3001" y="0"/>
                  <a:pt x="3011" y="3"/>
                  <a:pt x="3021" y="7"/>
                </a:cubicBezTo>
                <a:cubicBezTo>
                  <a:pt x="3031" y="11"/>
                  <a:pt x="3039" y="16"/>
                  <a:pt x="3047" y="24"/>
                </a:cubicBezTo>
                <a:cubicBezTo>
                  <a:pt x="3054" y="31"/>
                  <a:pt x="3060" y="40"/>
                  <a:pt x="3064" y="49"/>
                </a:cubicBezTo>
                <a:cubicBezTo>
                  <a:pt x="3068" y="59"/>
                  <a:pt x="3070" y="69"/>
                  <a:pt x="3070" y="81"/>
                </a:cubicBezTo>
                <a:lnTo>
                  <a:pt x="3070" y="398"/>
                </a:lnTo>
                <a:cubicBezTo>
                  <a:pt x="3070" y="409"/>
                  <a:pt x="3068" y="419"/>
                  <a:pt x="3064" y="429"/>
                </a:cubicBezTo>
                <a:cubicBezTo>
                  <a:pt x="3060" y="438"/>
                  <a:pt x="3054" y="447"/>
                  <a:pt x="3047" y="455"/>
                </a:cubicBezTo>
                <a:cubicBezTo>
                  <a:pt x="3039" y="462"/>
                  <a:pt x="3031" y="468"/>
                  <a:pt x="3021" y="472"/>
                </a:cubicBezTo>
                <a:cubicBezTo>
                  <a:pt x="3011" y="476"/>
                  <a:pt x="3001" y="478"/>
                  <a:pt x="2991" y="478"/>
                </a:cubicBezTo>
                <a:lnTo>
                  <a:pt x="79" y="478"/>
                </a:lnTo>
                <a:cubicBezTo>
                  <a:pt x="69" y="478"/>
                  <a:pt x="59" y="476"/>
                  <a:pt x="49" y="472"/>
                </a:cubicBezTo>
                <a:cubicBezTo>
                  <a:pt x="39" y="468"/>
                  <a:pt x="31" y="462"/>
                  <a:pt x="23" y="455"/>
                </a:cubicBezTo>
                <a:cubicBezTo>
                  <a:pt x="16" y="447"/>
                  <a:pt x="10" y="438"/>
                  <a:pt x="6" y="429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791680" y="397584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876240" y="4349160"/>
            <a:ext cx="9918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05_preguntas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013920" y="4347360"/>
            <a:ext cx="1615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Cuestionario de entrega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5791680" y="434736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990720" y="4945320"/>
            <a:ext cx="10154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Como resultado se entregará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documento PDF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los resultados y las respuestas. El contenido exacto de la entrega 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685440" y="140004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990720" y="5231160"/>
            <a:ext cx="2384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detalla al final de este dosier.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7181640" y="13712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2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5"/>
                  <a:pt x="166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4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2"/>
                  <a:pt x="0" y="136"/>
                  <a:pt x="0" y="121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4"/>
                  <a:pt x="103" y="0"/>
                  <a:pt x="119" y="0"/>
                </a:cubicBezTo>
                <a:cubicBezTo>
                  <a:pt x="135" y="0"/>
                  <a:pt x="150" y="4"/>
                  <a:pt x="166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7"/>
                  <a:pt x="224" y="59"/>
                  <a:pt x="230" y="74"/>
                </a:cubicBezTo>
                <a:cubicBezTo>
                  <a:pt x="236" y="89"/>
                  <a:pt x="239" y="104"/>
                  <a:pt x="239" y="121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85800" y="1023120"/>
            <a:ext cx="1895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Estructura del trabajo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914400" y="2823120"/>
            <a:ext cx="19015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0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914400" y="3583440"/>
            <a:ext cx="57420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Preparación del entorno de trabajo (solo la primera vez)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85440" y="538128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85440" y="538128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685800" y="1459080"/>
            <a:ext cx="10283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trata de una serie de pasos mecánicos, equivalentes a la instalación de cualquier programa. Se ejecutarán en el siguiente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85800" y="1744920"/>
            <a:ext cx="525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orden: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860400" y="2192760"/>
            <a:ext cx="4485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Descarga del material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la práctica desde GitHub.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60760" y="2526120"/>
            <a:ext cx="5720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Apertura de la terminal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(la ventana para introducir instrucciones).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860760" y="2868840"/>
            <a:ext cx="6410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Instalación de Python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(el lenguaje en el que están escritos los programas).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60760" y="3211920"/>
            <a:ext cx="6946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Creación de una cuenta de GitHub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(necesaria para la herramienta de descarga).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3257280" y="353376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5" y="6"/>
                </a:cubicBezTo>
                <a:cubicBezTo>
                  <a:pt x="835" y="10"/>
                  <a:pt x="844" y="15"/>
                  <a:pt x="851" y="23"/>
                </a:cubicBezTo>
                <a:cubicBezTo>
                  <a:pt x="859" y="30"/>
                  <a:pt x="864" y="39"/>
                  <a:pt x="868" y="49"/>
                </a:cubicBezTo>
                <a:cubicBezTo>
                  <a:pt x="872" y="58"/>
                  <a:pt x="874" y="68"/>
                  <a:pt x="874" y="79"/>
                </a:cubicBezTo>
                <a:lnTo>
                  <a:pt x="874" y="530"/>
                </a:lnTo>
                <a:cubicBezTo>
                  <a:pt x="874" y="540"/>
                  <a:pt x="872" y="550"/>
                  <a:pt x="868" y="560"/>
                </a:cubicBezTo>
                <a:cubicBezTo>
                  <a:pt x="864" y="570"/>
                  <a:pt x="859" y="578"/>
                  <a:pt x="851" y="586"/>
                </a:cubicBezTo>
                <a:cubicBezTo>
                  <a:pt x="844" y="593"/>
                  <a:pt x="835" y="599"/>
                  <a:pt x="825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860760" y="3545280"/>
            <a:ext cx="2389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Instalación y conexión 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311280" y="354744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573360" y="3545280"/>
            <a:ext cx="4245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(la herramienta que descarga imágenes y modelo).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860760" y="3888000"/>
            <a:ext cx="3126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6.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Acceso a la carpeta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la práctica.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60760" y="4231080"/>
            <a:ext cx="6131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7.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Creación de un entorno e instalación de las dependencias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necesarias.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60400" y="4564440"/>
            <a:ext cx="5650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Descarga de las imágenes y del modelo de inteligencia artificial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860400" y="4907160"/>
            <a:ext cx="4672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9.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Apertura de Jupyter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ejecución del primer notebook.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990520" y="5467320"/>
            <a:ext cx="200520" cy="200160"/>
          </a:xfrm>
          <a:custGeom>
            <a:avLst/>
            <a:gdLst/>
            <a:ahLst/>
            <a:rect l="0" t="0" r="r" b="b"/>
            <a:pathLst>
              <a:path w="557" h="556">
                <a:moveTo>
                  <a:pt x="557" y="494"/>
                </a:moveTo>
                <a:cubicBezTo>
                  <a:pt x="557" y="529"/>
                  <a:pt x="529" y="556"/>
                  <a:pt x="495" y="556"/>
                </a:cubicBezTo>
                <a:lnTo>
                  <a:pt x="62" y="556"/>
                </a:lnTo>
                <a:cubicBezTo>
                  <a:pt x="28" y="556"/>
                  <a:pt x="0" y="529"/>
                  <a:pt x="0" y="494"/>
                </a:cubicBezTo>
                <a:lnTo>
                  <a:pt x="0" y="61"/>
                </a:lnTo>
                <a:cubicBezTo>
                  <a:pt x="0" y="27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7"/>
                  <a:pt x="557" y="61"/>
                </a:cubicBezTo>
                <a:lnTo>
                  <a:pt x="557" y="49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3022560" y="5500440"/>
            <a:ext cx="137520" cy="135360"/>
          </a:xfrm>
          <a:custGeom>
            <a:avLst/>
            <a:gdLst/>
            <a:ahLst/>
            <a:rect l="0" t="0" r="r" b="b"/>
            <a:pathLst>
              <a:path w="382" h="376">
                <a:moveTo>
                  <a:pt x="365" y="7"/>
                </a:moveTo>
                <a:cubicBezTo>
                  <a:pt x="347" y="-5"/>
                  <a:pt x="324" y="0"/>
                  <a:pt x="312" y="18"/>
                </a:cubicBezTo>
                <a:lnTo>
                  <a:pt x="143" y="278"/>
                </a:lnTo>
                <a:lnTo>
                  <a:pt x="65" y="205"/>
                </a:lnTo>
                <a:cubicBezTo>
                  <a:pt x="50" y="191"/>
                  <a:pt x="25" y="192"/>
                  <a:pt x="11" y="207"/>
                </a:cubicBezTo>
                <a:cubicBezTo>
                  <a:pt x="-4" y="223"/>
                  <a:pt x="-3" y="249"/>
                  <a:pt x="13" y="263"/>
                </a:cubicBezTo>
                <a:lnTo>
                  <a:pt x="124" y="366"/>
                </a:lnTo>
                <a:cubicBezTo>
                  <a:pt x="132" y="373"/>
                  <a:pt x="141" y="376"/>
                  <a:pt x="150" y="376"/>
                </a:cubicBezTo>
                <a:cubicBezTo>
                  <a:pt x="161" y="376"/>
                  <a:pt x="174" y="372"/>
                  <a:pt x="184" y="359"/>
                </a:cubicBezTo>
                <a:cubicBezTo>
                  <a:pt x="189" y="351"/>
                  <a:pt x="377" y="60"/>
                  <a:pt x="377" y="60"/>
                </a:cubicBezTo>
                <a:cubicBezTo>
                  <a:pt x="388" y="42"/>
                  <a:pt x="383" y="18"/>
                  <a:pt x="365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990720" y="5488200"/>
            <a:ext cx="1973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recomienda marcar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685440" y="11426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197160" y="5488200"/>
            <a:ext cx="3168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cada paso a medida que se completa.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7181640" y="11142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85800" y="765720"/>
            <a:ext cx="2816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Visión general del procedimiento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85440" y="2523960"/>
            <a:ext cx="10820880" cy="2181600"/>
          </a:xfrm>
          <a:custGeom>
            <a:avLst/>
            <a:gdLst/>
            <a:ahLst/>
            <a:rect l="0" t="0" r="r" b="b"/>
            <a:pathLst>
              <a:path w="30058" h="6060">
                <a:moveTo>
                  <a:pt x="0" y="0"/>
                </a:moveTo>
                <a:lnTo>
                  <a:pt x="30058" y="0"/>
                </a:lnTo>
                <a:lnTo>
                  <a:pt x="30058" y="6060"/>
                </a:lnTo>
                <a:lnTo>
                  <a:pt x="0" y="6060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85440" y="2523960"/>
            <a:ext cx="29160" cy="2181600"/>
          </a:xfrm>
          <a:custGeom>
            <a:avLst/>
            <a:gdLst/>
            <a:ahLst/>
            <a:rect l="0" t="0" r="r" b="b"/>
            <a:pathLst>
              <a:path w="81" h="6060">
                <a:moveTo>
                  <a:pt x="0" y="0"/>
                </a:moveTo>
                <a:lnTo>
                  <a:pt x="81" y="0"/>
                </a:lnTo>
                <a:lnTo>
                  <a:pt x="81" y="6060"/>
                </a:lnTo>
                <a:lnTo>
                  <a:pt x="0" y="606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990720" y="2630880"/>
            <a:ext cx="10108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Terminal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(o "consola"): una ventana en la que, en lugar de utilizar el ratón, 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introducen instrucciones escritas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se pulsa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90720" y="2916720"/>
            <a:ext cx="2372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Intro. Es, simplemente, texto.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990720" y="3364200"/>
            <a:ext cx="10495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Python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el "lenguaje" en el que están escritos estos programas. Debe instalarse, del mismo modo que se instala un procesador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4466880" y="3638520"/>
            <a:ext cx="619560" cy="219240"/>
          </a:xfrm>
          <a:custGeom>
            <a:avLst/>
            <a:gdLst/>
            <a:ahLst/>
            <a:rect l="0" t="0" r="r" b="b"/>
            <a:pathLst>
              <a:path w="1721" h="609">
                <a:moveTo>
                  <a:pt x="0" y="529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42" y="0"/>
                </a:lnTo>
                <a:cubicBezTo>
                  <a:pt x="1652" y="0"/>
                  <a:pt x="1663" y="2"/>
                  <a:pt x="1672" y="6"/>
                </a:cubicBezTo>
                <a:cubicBezTo>
                  <a:pt x="1682" y="10"/>
                  <a:pt x="1691" y="15"/>
                  <a:pt x="1698" y="23"/>
                </a:cubicBezTo>
                <a:cubicBezTo>
                  <a:pt x="1705" y="30"/>
                  <a:pt x="1711" y="39"/>
                  <a:pt x="1715" y="49"/>
                </a:cubicBezTo>
                <a:cubicBezTo>
                  <a:pt x="1719" y="58"/>
                  <a:pt x="1721" y="68"/>
                  <a:pt x="1721" y="79"/>
                </a:cubicBezTo>
                <a:lnTo>
                  <a:pt x="1721" y="529"/>
                </a:lnTo>
                <a:cubicBezTo>
                  <a:pt x="1721" y="540"/>
                  <a:pt x="1719" y="550"/>
                  <a:pt x="1715" y="560"/>
                </a:cubicBezTo>
                <a:cubicBezTo>
                  <a:pt x="1711" y="570"/>
                  <a:pt x="1705" y="578"/>
                  <a:pt x="1698" y="586"/>
                </a:cubicBezTo>
                <a:cubicBezTo>
                  <a:pt x="1691" y="593"/>
                  <a:pt x="1682" y="599"/>
                  <a:pt x="1672" y="603"/>
                </a:cubicBezTo>
                <a:cubicBezTo>
                  <a:pt x="1663" y="607"/>
                  <a:pt x="1652" y="609"/>
                  <a:pt x="1642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8"/>
                  <a:pt x="11" y="570"/>
                  <a:pt x="6" y="560"/>
                </a:cubicBezTo>
                <a:cubicBezTo>
                  <a:pt x="2" y="550"/>
                  <a:pt x="0" y="540"/>
                  <a:pt x="0" y="529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990720" y="3650040"/>
            <a:ext cx="3468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textos para poder abrir un documento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4521960" y="3652200"/>
            <a:ext cx="5144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.docx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5090760" y="365004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990720" y="4097520"/>
            <a:ext cx="9898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GitHub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una plataforma web para almacenar y compartir archivos de proyectos. En ella se encuentran las imágenes y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685440" y="224784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745560" y="1848600"/>
            <a:ext cx="128160" cy="161640"/>
          </a:xfrm>
          <a:custGeom>
            <a:avLst/>
            <a:gdLst/>
            <a:ahLst/>
            <a:rect l="0" t="0" r="r" b="b"/>
            <a:pathLst>
              <a:path w="356" h="449">
                <a:moveTo>
                  <a:pt x="356" y="177"/>
                </a:moveTo>
                <a:cubicBezTo>
                  <a:pt x="356" y="281"/>
                  <a:pt x="275" y="298"/>
                  <a:pt x="275" y="395"/>
                </a:cubicBezTo>
                <a:cubicBezTo>
                  <a:pt x="275" y="445"/>
                  <a:pt x="224" y="449"/>
                  <a:pt x="186" y="449"/>
                </a:cubicBezTo>
                <a:cubicBezTo>
                  <a:pt x="152" y="449"/>
                  <a:pt x="79" y="436"/>
                  <a:pt x="79" y="395"/>
                </a:cubicBezTo>
                <a:cubicBezTo>
                  <a:pt x="79" y="298"/>
                  <a:pt x="0" y="281"/>
                  <a:pt x="0" y="177"/>
                </a:cubicBezTo>
                <a:cubicBezTo>
                  <a:pt x="0" y="80"/>
                  <a:pt x="85" y="0"/>
                  <a:pt x="179" y="0"/>
                </a:cubicBezTo>
                <a:cubicBezTo>
                  <a:pt x="274" y="0"/>
                  <a:pt x="356" y="80"/>
                  <a:pt x="356" y="177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785160" y="2033640"/>
            <a:ext cx="48960" cy="18000"/>
          </a:xfrm>
          <a:custGeom>
            <a:avLst/>
            <a:gdLst/>
            <a:ahLst/>
            <a:rect l="0" t="0" r="r" b="b"/>
            <a:pathLst>
              <a:path w="136" h="50">
                <a:moveTo>
                  <a:pt x="136" y="9"/>
                </a:moveTo>
                <a:cubicBezTo>
                  <a:pt x="136" y="23"/>
                  <a:pt x="100" y="50"/>
                  <a:pt x="68" y="50"/>
                </a:cubicBezTo>
                <a:cubicBezTo>
                  <a:pt x="37" y="50"/>
                  <a:pt x="0" y="23"/>
                  <a:pt x="0" y="9"/>
                </a:cubicBezTo>
                <a:cubicBezTo>
                  <a:pt x="0" y="-4"/>
                  <a:pt x="37" y="1"/>
                  <a:pt x="68" y="1"/>
                </a:cubicBezTo>
                <a:cubicBezTo>
                  <a:pt x="100" y="1"/>
                  <a:pt x="136" y="-4"/>
                  <a:pt x="136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780480" y="1905840"/>
            <a:ext cx="58680" cy="99360"/>
          </a:xfrm>
          <a:custGeom>
            <a:avLst/>
            <a:gdLst/>
            <a:ahLst/>
            <a:rect l="0" t="0" r="r" b="b"/>
            <a:pathLst>
              <a:path w="163" h="276">
                <a:moveTo>
                  <a:pt x="159" y="5"/>
                </a:moveTo>
                <a:cubicBezTo>
                  <a:pt x="152" y="-1"/>
                  <a:pt x="142" y="-1"/>
                  <a:pt x="136" y="5"/>
                </a:cubicBezTo>
                <a:lnTo>
                  <a:pt x="82" y="59"/>
                </a:lnTo>
                <a:lnTo>
                  <a:pt x="29" y="5"/>
                </a:lnTo>
                <a:cubicBezTo>
                  <a:pt x="23" y="-1"/>
                  <a:pt x="13" y="-1"/>
                  <a:pt x="5" y="5"/>
                </a:cubicBezTo>
                <a:cubicBezTo>
                  <a:pt x="-1" y="11"/>
                  <a:pt x="-1" y="21"/>
                  <a:pt x="5" y="28"/>
                </a:cubicBezTo>
                <a:lnTo>
                  <a:pt x="66" y="89"/>
                </a:lnTo>
                <a:lnTo>
                  <a:pt x="66" y="260"/>
                </a:lnTo>
                <a:cubicBezTo>
                  <a:pt x="66" y="269"/>
                  <a:pt x="74" y="276"/>
                  <a:pt x="82" y="276"/>
                </a:cubicBezTo>
                <a:cubicBezTo>
                  <a:pt x="91" y="276"/>
                  <a:pt x="99" y="269"/>
                  <a:pt x="99" y="260"/>
                </a:cubicBezTo>
                <a:lnTo>
                  <a:pt x="99" y="89"/>
                </a:lnTo>
                <a:lnTo>
                  <a:pt x="159" y="28"/>
                </a:lnTo>
                <a:cubicBezTo>
                  <a:pt x="165" y="21"/>
                  <a:pt x="165" y="11"/>
                  <a:pt x="159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774360" y="1993320"/>
            <a:ext cx="70200" cy="46800"/>
          </a:xfrm>
          <a:custGeom>
            <a:avLst/>
            <a:gdLst/>
            <a:ahLst/>
            <a:rect l="0" t="0" r="r" b="b"/>
            <a:pathLst>
              <a:path w="195" h="130">
                <a:moveTo>
                  <a:pt x="195" y="98"/>
                </a:moveTo>
                <a:cubicBezTo>
                  <a:pt x="195" y="116"/>
                  <a:pt x="181" y="130"/>
                  <a:pt x="163" y="130"/>
                </a:cubicBezTo>
                <a:lnTo>
                  <a:pt x="33" y="130"/>
                </a:lnTo>
                <a:cubicBezTo>
                  <a:pt x="15" y="130"/>
                  <a:pt x="0" y="116"/>
                  <a:pt x="0" y="98"/>
                </a:cubicBezTo>
                <a:lnTo>
                  <a:pt x="0" y="0"/>
                </a:lnTo>
                <a:lnTo>
                  <a:pt x="195" y="0"/>
                </a:lnTo>
                <a:lnTo>
                  <a:pt x="195" y="98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768600" y="1987200"/>
            <a:ext cx="81720" cy="46800"/>
          </a:xfrm>
          <a:custGeom>
            <a:avLst/>
            <a:gdLst/>
            <a:ahLst/>
            <a:rect l="0" t="0" r="r" b="b"/>
            <a:pathLst>
              <a:path w="227" h="130">
                <a:moveTo>
                  <a:pt x="0" y="116"/>
                </a:moveTo>
                <a:cubicBezTo>
                  <a:pt x="-2" y="108"/>
                  <a:pt x="4" y="99"/>
                  <a:pt x="14" y="98"/>
                </a:cubicBezTo>
                <a:lnTo>
                  <a:pt x="208" y="64"/>
                </a:lnTo>
                <a:cubicBezTo>
                  <a:pt x="217" y="63"/>
                  <a:pt x="225" y="69"/>
                  <a:pt x="226" y="78"/>
                </a:cubicBezTo>
                <a:cubicBezTo>
                  <a:pt x="228" y="86"/>
                  <a:pt x="222" y="96"/>
                  <a:pt x="213" y="97"/>
                </a:cubicBezTo>
                <a:lnTo>
                  <a:pt x="19" y="130"/>
                </a:lnTo>
                <a:cubicBezTo>
                  <a:pt x="18" y="130"/>
                  <a:pt x="17" y="130"/>
                  <a:pt x="16" y="130"/>
                </a:cubicBezTo>
                <a:cubicBezTo>
                  <a:pt x="8" y="130"/>
                  <a:pt x="1" y="124"/>
                  <a:pt x="0" y="116"/>
                </a:cubicBezTo>
                <a:moveTo>
                  <a:pt x="0" y="51"/>
                </a:moveTo>
                <a:cubicBezTo>
                  <a:pt x="-2" y="42"/>
                  <a:pt x="4" y="33"/>
                  <a:pt x="14" y="32"/>
                </a:cubicBezTo>
                <a:lnTo>
                  <a:pt x="208" y="0"/>
                </a:lnTo>
                <a:cubicBezTo>
                  <a:pt x="217" y="-2"/>
                  <a:pt x="225" y="4"/>
                  <a:pt x="226" y="13"/>
                </a:cubicBezTo>
                <a:cubicBezTo>
                  <a:pt x="228" y="22"/>
                  <a:pt x="222" y="30"/>
                  <a:pt x="213" y="32"/>
                </a:cubicBezTo>
                <a:lnTo>
                  <a:pt x="19" y="64"/>
                </a:lnTo>
                <a:cubicBezTo>
                  <a:pt x="18" y="64"/>
                  <a:pt x="17" y="64"/>
                  <a:pt x="16" y="64"/>
                </a:cubicBezTo>
                <a:cubicBezTo>
                  <a:pt x="8" y="64"/>
                  <a:pt x="1" y="59"/>
                  <a:pt x="0" y="51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990720" y="4383360"/>
            <a:ext cx="3963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modelo de inteligencia artificial de esta práctica.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7181640" y="2219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926640" y="1870560"/>
            <a:ext cx="2793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Tres términos de uso frecuente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85800" y="2583000"/>
            <a:ext cx="10521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Todo el material de la práctica está en un repositorio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público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GitHub. Cualquiera puede descargarlo; no se requiere permiso.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860400" y="3021480"/>
            <a:ext cx="5616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Acceda a </a:t>
            </a:r>
            <a:r>
              <a:rPr lang="en-US" sz="1580" b="1" u="none" strike="noStrike">
                <a:solidFill>
                  <a:srgbClr val="0969DA"/>
                </a:solidFill>
                <a:effectLst/>
                <a:uFillTx/>
                <a:latin typeface="Eurostile"/>
                <a:ea typeface="Eurostile"/>
              </a:rPr>
              <a:t>https://github.com/codx-digital/master-ia-practicas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800080" y="3352680"/>
            <a:ext cx="524160" cy="219240"/>
          </a:xfrm>
          <a:custGeom>
            <a:avLst/>
            <a:gdLst/>
            <a:ahLst/>
            <a:rect l="0" t="0" r="r" b="b"/>
            <a:pathLst>
              <a:path w="1456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377" y="0"/>
                </a:lnTo>
                <a:cubicBezTo>
                  <a:pt x="1388" y="0"/>
                  <a:pt x="1398" y="2"/>
                  <a:pt x="1407" y="6"/>
                </a:cubicBezTo>
                <a:cubicBezTo>
                  <a:pt x="1417" y="10"/>
                  <a:pt x="1426" y="16"/>
                  <a:pt x="1433" y="23"/>
                </a:cubicBezTo>
                <a:cubicBezTo>
                  <a:pt x="1441" y="31"/>
                  <a:pt x="1446" y="39"/>
                  <a:pt x="1450" y="49"/>
                </a:cubicBezTo>
                <a:cubicBezTo>
                  <a:pt x="1454" y="59"/>
                  <a:pt x="1456" y="69"/>
                  <a:pt x="1456" y="79"/>
                </a:cubicBezTo>
                <a:lnTo>
                  <a:pt x="1456" y="530"/>
                </a:lnTo>
                <a:cubicBezTo>
                  <a:pt x="1456" y="541"/>
                  <a:pt x="1454" y="551"/>
                  <a:pt x="1450" y="560"/>
                </a:cubicBezTo>
                <a:cubicBezTo>
                  <a:pt x="1446" y="570"/>
                  <a:pt x="1441" y="579"/>
                  <a:pt x="1433" y="586"/>
                </a:cubicBezTo>
                <a:cubicBezTo>
                  <a:pt x="1426" y="594"/>
                  <a:pt x="1417" y="599"/>
                  <a:pt x="1407" y="603"/>
                </a:cubicBezTo>
                <a:cubicBezTo>
                  <a:pt x="1398" y="607"/>
                  <a:pt x="1388" y="609"/>
                  <a:pt x="1377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860760" y="3364200"/>
            <a:ext cx="193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Pulse el botón verde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2856600" y="3366360"/>
            <a:ext cx="4118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Code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572080" y="3352680"/>
            <a:ext cx="1343160" cy="219240"/>
          </a:xfrm>
          <a:custGeom>
            <a:avLst/>
            <a:gdLst/>
            <a:ahLst/>
            <a:rect l="0" t="0" r="r" b="b"/>
            <a:pathLst>
              <a:path w="3731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3652" y="0"/>
                </a:lnTo>
                <a:cubicBezTo>
                  <a:pt x="3662" y="0"/>
                  <a:pt x="3673" y="2"/>
                  <a:pt x="3682" y="6"/>
                </a:cubicBezTo>
                <a:cubicBezTo>
                  <a:pt x="3692" y="10"/>
                  <a:pt x="3701" y="16"/>
                  <a:pt x="3708" y="23"/>
                </a:cubicBezTo>
                <a:cubicBezTo>
                  <a:pt x="3715" y="31"/>
                  <a:pt x="3721" y="39"/>
                  <a:pt x="3725" y="49"/>
                </a:cubicBezTo>
                <a:cubicBezTo>
                  <a:pt x="3729" y="59"/>
                  <a:pt x="3731" y="69"/>
                  <a:pt x="3731" y="79"/>
                </a:cubicBezTo>
                <a:lnTo>
                  <a:pt x="3731" y="530"/>
                </a:lnTo>
                <a:cubicBezTo>
                  <a:pt x="3731" y="541"/>
                  <a:pt x="3729" y="551"/>
                  <a:pt x="3725" y="560"/>
                </a:cubicBezTo>
                <a:cubicBezTo>
                  <a:pt x="3721" y="570"/>
                  <a:pt x="3715" y="579"/>
                  <a:pt x="3708" y="586"/>
                </a:cubicBezTo>
                <a:cubicBezTo>
                  <a:pt x="3701" y="594"/>
                  <a:pt x="3692" y="599"/>
                  <a:pt x="3682" y="603"/>
                </a:cubicBezTo>
                <a:cubicBezTo>
                  <a:pt x="3673" y="607"/>
                  <a:pt x="3662" y="609"/>
                  <a:pt x="3652" y="609"/>
                </a:cubicBezTo>
                <a:lnTo>
                  <a:pt x="79" y="609"/>
                </a:lnTo>
                <a:cubicBezTo>
                  <a:pt x="68" y="609"/>
                  <a:pt x="58" y="607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3323160" y="3364200"/>
            <a:ext cx="2247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y, en el menú desplegable,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631480" y="3366360"/>
            <a:ext cx="1233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Download ZIP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6917400" y="336420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860760" y="3707280"/>
            <a:ext cx="9779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Abra el archivo descargado para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descomprimirlo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sitúe la carpeta resultante en un lugar accesible (por ejemplo,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072440" y="3992760"/>
            <a:ext cx="939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Escritorio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3190680" y="4419360"/>
            <a:ext cx="1343520" cy="219600"/>
          </a:xfrm>
          <a:custGeom>
            <a:avLst/>
            <a:gdLst/>
            <a:ahLst/>
            <a:rect l="0" t="0" r="r" b="b"/>
            <a:pathLst>
              <a:path w="3732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652" y="0"/>
                </a:lnTo>
                <a:cubicBezTo>
                  <a:pt x="3663" y="0"/>
                  <a:pt x="3673" y="2"/>
                  <a:pt x="3683" y="6"/>
                </a:cubicBezTo>
                <a:cubicBezTo>
                  <a:pt x="3692" y="10"/>
                  <a:pt x="3701" y="16"/>
                  <a:pt x="3708" y="23"/>
                </a:cubicBezTo>
                <a:cubicBezTo>
                  <a:pt x="3716" y="31"/>
                  <a:pt x="3722" y="39"/>
                  <a:pt x="3726" y="49"/>
                </a:cubicBezTo>
                <a:cubicBezTo>
                  <a:pt x="3730" y="59"/>
                  <a:pt x="3732" y="69"/>
                  <a:pt x="3732" y="80"/>
                </a:cubicBezTo>
                <a:lnTo>
                  <a:pt x="3732" y="530"/>
                </a:lnTo>
                <a:cubicBezTo>
                  <a:pt x="3732" y="541"/>
                  <a:pt x="3730" y="551"/>
                  <a:pt x="3726" y="561"/>
                </a:cubicBezTo>
                <a:cubicBezTo>
                  <a:pt x="3722" y="570"/>
                  <a:pt x="3716" y="579"/>
                  <a:pt x="3708" y="586"/>
                </a:cubicBezTo>
                <a:cubicBezTo>
                  <a:pt x="3701" y="594"/>
                  <a:pt x="3692" y="600"/>
                  <a:pt x="3683" y="604"/>
                </a:cubicBezTo>
                <a:cubicBezTo>
                  <a:pt x="3673" y="608"/>
                  <a:pt x="3663" y="610"/>
                  <a:pt x="3652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685800" y="4430880"/>
            <a:ext cx="2497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Dentro encontrará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3244680" y="4433400"/>
            <a:ext cx="1233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CP1-carriles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685440" y="2266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4530240" y="4430880"/>
            <a:ext cx="6200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con los notebooks, el dosier y todo lo necesario para el resto de los pasos.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685800" y="1889640"/>
            <a:ext cx="667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1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355040" y="189612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7181640" y="2238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413000" y="1889640"/>
            <a:ext cx="3186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Descarga del material desde GitHub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1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685440" y="460980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685440" y="460980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685800" y="1935360"/>
            <a:ext cx="7627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la ventana en la que se introducirán las instrucciones. Ábrala según su sistema operativo: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904680" y="2904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685800" y="2373480"/>
            <a:ext cx="1104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Windows: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3771720" y="2809800"/>
            <a:ext cx="1134000" cy="219240"/>
          </a:xfrm>
          <a:custGeom>
            <a:avLst/>
            <a:gdLst/>
            <a:ahLst/>
            <a:rect l="0" t="0" r="r" b="b"/>
            <a:pathLst>
              <a:path w="3150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070" y="0"/>
                </a:lnTo>
                <a:cubicBezTo>
                  <a:pt x="3081" y="0"/>
                  <a:pt x="3091" y="2"/>
                  <a:pt x="3101" y="6"/>
                </a:cubicBezTo>
                <a:cubicBezTo>
                  <a:pt x="3110" y="10"/>
                  <a:pt x="3119" y="16"/>
                  <a:pt x="3126" y="23"/>
                </a:cubicBezTo>
                <a:cubicBezTo>
                  <a:pt x="3134" y="30"/>
                  <a:pt x="3139" y="39"/>
                  <a:pt x="3143" y="49"/>
                </a:cubicBezTo>
                <a:cubicBezTo>
                  <a:pt x="3148" y="58"/>
                  <a:pt x="3150" y="69"/>
                  <a:pt x="3150" y="79"/>
                </a:cubicBezTo>
                <a:lnTo>
                  <a:pt x="3150" y="530"/>
                </a:lnTo>
                <a:cubicBezTo>
                  <a:pt x="3150" y="540"/>
                  <a:pt x="3148" y="551"/>
                  <a:pt x="3143" y="560"/>
                </a:cubicBezTo>
                <a:cubicBezTo>
                  <a:pt x="3139" y="570"/>
                  <a:pt x="3134" y="579"/>
                  <a:pt x="3126" y="586"/>
                </a:cubicBezTo>
                <a:cubicBezTo>
                  <a:pt x="3119" y="593"/>
                  <a:pt x="3110" y="599"/>
                  <a:pt x="3101" y="603"/>
                </a:cubicBezTo>
                <a:cubicBezTo>
                  <a:pt x="3091" y="607"/>
                  <a:pt x="3081" y="609"/>
                  <a:pt x="3070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1072440" y="2821320"/>
            <a:ext cx="2692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Pulse la tecla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Windows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escriba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826800" y="2823480"/>
            <a:ext cx="1028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PowerShell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4907880" y="2821320"/>
            <a:ext cx="740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y ábralo.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904680" y="3781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2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7"/>
                </a:cubicBezTo>
                <a:cubicBezTo>
                  <a:pt x="121" y="12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685800" y="3259440"/>
            <a:ext cx="687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Mac: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3609720" y="3686040"/>
            <a:ext cx="933840" cy="219240"/>
          </a:xfrm>
          <a:custGeom>
            <a:avLst/>
            <a:gdLst/>
            <a:ahLst/>
            <a:rect l="0" t="0" r="r" b="b"/>
            <a:pathLst>
              <a:path w="259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515" y="0"/>
                </a:lnTo>
                <a:cubicBezTo>
                  <a:pt x="2525" y="0"/>
                  <a:pt x="2535" y="2"/>
                  <a:pt x="2545" y="6"/>
                </a:cubicBezTo>
                <a:cubicBezTo>
                  <a:pt x="2555" y="10"/>
                  <a:pt x="2563" y="16"/>
                  <a:pt x="2571" y="23"/>
                </a:cubicBezTo>
                <a:cubicBezTo>
                  <a:pt x="2578" y="31"/>
                  <a:pt x="2584" y="39"/>
                  <a:pt x="2588" y="49"/>
                </a:cubicBezTo>
                <a:cubicBezTo>
                  <a:pt x="2592" y="59"/>
                  <a:pt x="2594" y="69"/>
                  <a:pt x="2594" y="79"/>
                </a:cubicBezTo>
                <a:lnTo>
                  <a:pt x="2594" y="530"/>
                </a:lnTo>
                <a:cubicBezTo>
                  <a:pt x="2594" y="541"/>
                  <a:pt x="2592" y="551"/>
                  <a:pt x="2588" y="560"/>
                </a:cubicBezTo>
                <a:cubicBezTo>
                  <a:pt x="2584" y="570"/>
                  <a:pt x="2578" y="579"/>
                  <a:pt x="2571" y="586"/>
                </a:cubicBezTo>
                <a:cubicBezTo>
                  <a:pt x="2563" y="594"/>
                  <a:pt x="2555" y="599"/>
                  <a:pt x="2545" y="603"/>
                </a:cubicBezTo>
                <a:cubicBezTo>
                  <a:pt x="2535" y="607"/>
                  <a:pt x="2525" y="609"/>
                  <a:pt x="251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072440" y="3697560"/>
            <a:ext cx="2534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Pulse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Cmd + Espacio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escriba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667680" y="3699720"/>
            <a:ext cx="8229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Terminal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4543920" y="3697560"/>
            <a:ext cx="1091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y pulse Intro.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048320" y="470592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69"/>
                </a:moveTo>
                <a:cubicBezTo>
                  <a:pt x="341" y="268"/>
                  <a:pt x="262" y="283"/>
                  <a:pt x="262" y="376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6"/>
                </a:cubicBezTo>
                <a:cubicBezTo>
                  <a:pt x="76" y="283"/>
                  <a:pt x="0" y="268"/>
                  <a:pt x="0" y="169"/>
                </a:cubicBezTo>
                <a:cubicBezTo>
                  <a:pt x="0" y="76"/>
                  <a:pt x="82" y="0"/>
                  <a:pt x="171" y="0"/>
                </a:cubicBezTo>
                <a:cubicBezTo>
                  <a:pt x="261" y="0"/>
                  <a:pt x="341" y="76"/>
                  <a:pt x="341" y="169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086480" y="488268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9"/>
                </a:moveTo>
                <a:cubicBezTo>
                  <a:pt x="129" y="21"/>
                  <a:pt x="94" y="48"/>
                  <a:pt x="64" y="48"/>
                </a:cubicBezTo>
                <a:cubicBezTo>
                  <a:pt x="34" y="48"/>
                  <a:pt x="0" y="21"/>
                  <a:pt x="0" y="9"/>
                </a:cubicBezTo>
                <a:cubicBezTo>
                  <a:pt x="0" y="-5"/>
                  <a:pt x="34" y="1"/>
                  <a:pt x="64" y="1"/>
                </a:cubicBezTo>
                <a:cubicBezTo>
                  <a:pt x="94" y="1"/>
                  <a:pt x="129" y="-5"/>
                  <a:pt x="129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081800" y="476064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7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2"/>
                  <a:pt x="-1" y="22"/>
                  <a:pt x="5" y="28"/>
                </a:cubicBezTo>
                <a:lnTo>
                  <a:pt x="62" y="85"/>
                </a:lnTo>
                <a:lnTo>
                  <a:pt x="62" y="248"/>
                </a:lnTo>
                <a:cubicBezTo>
                  <a:pt x="62" y="257"/>
                  <a:pt x="69" y="264"/>
                  <a:pt x="78" y="264"/>
                </a:cubicBezTo>
                <a:cubicBezTo>
                  <a:pt x="86" y="264"/>
                  <a:pt x="93" y="257"/>
                  <a:pt x="93" y="248"/>
                </a:cubicBezTo>
                <a:lnTo>
                  <a:pt x="93" y="85"/>
                </a:lnTo>
                <a:lnTo>
                  <a:pt x="151" y="28"/>
                </a:lnTo>
                <a:cubicBezTo>
                  <a:pt x="158" y="22"/>
                  <a:pt x="158" y="12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076040" y="4844160"/>
            <a:ext cx="66960" cy="44640"/>
          </a:xfrm>
          <a:custGeom>
            <a:avLst/>
            <a:gdLst/>
            <a:ahLst/>
            <a:rect l="0" t="0" r="r" b="b"/>
            <a:pathLst>
              <a:path w="186" h="124">
                <a:moveTo>
                  <a:pt x="186" y="93"/>
                </a:moveTo>
                <a:cubicBezTo>
                  <a:pt x="186" y="110"/>
                  <a:pt x="173" y="124"/>
                  <a:pt x="156" y="124"/>
                </a:cubicBezTo>
                <a:lnTo>
                  <a:pt x="31" y="124"/>
                </a:lnTo>
                <a:cubicBezTo>
                  <a:pt x="14" y="124"/>
                  <a:pt x="0" y="110"/>
                  <a:pt x="0" y="93"/>
                </a:cubicBezTo>
                <a:lnTo>
                  <a:pt x="0" y="0"/>
                </a:lnTo>
                <a:lnTo>
                  <a:pt x="186" y="0"/>
                </a:lnTo>
                <a:lnTo>
                  <a:pt x="186" y="93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070640" y="4838400"/>
            <a:ext cx="78120" cy="44640"/>
          </a:xfrm>
          <a:custGeom>
            <a:avLst/>
            <a:gdLst/>
            <a:ahLst/>
            <a:rect l="0" t="0" r="r" b="b"/>
            <a:pathLst>
              <a:path w="217" h="124">
                <a:moveTo>
                  <a:pt x="0" y="111"/>
                </a:moveTo>
                <a:cubicBezTo>
                  <a:pt x="-1" y="103"/>
                  <a:pt x="4" y="95"/>
                  <a:pt x="13" y="93"/>
                </a:cubicBezTo>
                <a:lnTo>
                  <a:pt x="199" y="62"/>
                </a:lnTo>
                <a:cubicBezTo>
                  <a:pt x="207" y="61"/>
                  <a:pt x="215" y="67"/>
                  <a:pt x="217" y="75"/>
                </a:cubicBezTo>
                <a:cubicBezTo>
                  <a:pt x="218" y="83"/>
                  <a:pt x="212" y="91"/>
                  <a:pt x="204" y="93"/>
                </a:cubicBezTo>
                <a:lnTo>
                  <a:pt x="18" y="124"/>
                </a:lnTo>
                <a:cubicBezTo>
                  <a:pt x="17" y="124"/>
                  <a:pt x="16" y="124"/>
                  <a:pt x="15" y="124"/>
                </a:cubicBezTo>
                <a:cubicBezTo>
                  <a:pt x="8" y="124"/>
                  <a:pt x="1" y="118"/>
                  <a:pt x="0" y="111"/>
                </a:cubicBezTo>
                <a:moveTo>
                  <a:pt x="0" y="49"/>
                </a:moveTo>
                <a:cubicBezTo>
                  <a:pt x="-1" y="41"/>
                  <a:pt x="4" y="33"/>
                  <a:pt x="13" y="31"/>
                </a:cubicBezTo>
                <a:lnTo>
                  <a:pt x="199" y="0"/>
                </a:lnTo>
                <a:cubicBezTo>
                  <a:pt x="207" y="-2"/>
                  <a:pt x="215" y="4"/>
                  <a:pt x="217" y="12"/>
                </a:cubicBezTo>
                <a:cubicBezTo>
                  <a:pt x="218" y="21"/>
                  <a:pt x="212" y="30"/>
                  <a:pt x="204" y="31"/>
                </a:cubicBezTo>
                <a:lnTo>
                  <a:pt x="18" y="62"/>
                </a:lnTo>
                <a:cubicBezTo>
                  <a:pt x="17" y="62"/>
                  <a:pt x="16" y="62"/>
                  <a:pt x="15" y="62"/>
                </a:cubicBezTo>
                <a:cubicBezTo>
                  <a:pt x="8" y="62"/>
                  <a:pt x="1" y="57"/>
                  <a:pt x="0" y="4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685800" y="4145400"/>
            <a:ext cx="10449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Aparecerá una ventana con texto y un cursor intermitente. En ella se introducirán los comandos que se indican a continuación.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220400" y="4726440"/>
            <a:ext cx="9509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Para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pegar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texto en la terminal: en Windows, pulse el botón derecho del ratón; en Mac,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Cmd + V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Tras pegar cada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685440" y="161892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90720" y="5011920"/>
            <a:ext cx="1803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comando, pulse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Intro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685800" y="124200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2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354680" y="124848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7181640" y="1590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413000" y="1242000"/>
            <a:ext cx="20732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Apertura de la terminal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85440" y="384804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685440" y="384804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860400" y="2697480"/>
            <a:ext cx="4323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Acceda a </a:t>
            </a:r>
            <a:r>
              <a:rPr lang="en-US" sz="1580" b="1" u="none" strike="noStrike">
                <a:solidFill>
                  <a:srgbClr val="0969DA"/>
                </a:solidFill>
                <a:effectLst/>
                <a:uFillTx/>
                <a:latin typeface="Eurostile"/>
                <a:ea typeface="Eurostile"/>
              </a:rPr>
              <a:t>https://www.python.org/downloads/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860760" y="3040200"/>
            <a:ext cx="10151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Pulse el botón principal para descargar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versión más reciente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Python (la 3.14; también valen la 3.11, 3.12 o 3.13).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012320" y="3937680"/>
            <a:ext cx="194760" cy="190800"/>
          </a:xfrm>
          <a:custGeom>
            <a:avLst/>
            <a:gdLst/>
            <a:ahLst/>
            <a:rect l="0" t="0" r="r" b="b"/>
            <a:pathLst>
              <a:path w="541" h="530">
                <a:moveTo>
                  <a:pt x="33" y="530"/>
                </a:moveTo>
                <a:cubicBezTo>
                  <a:pt x="5" y="530"/>
                  <a:pt x="-8" y="509"/>
                  <a:pt x="5" y="484"/>
                </a:cubicBezTo>
                <a:lnTo>
                  <a:pt x="247" y="19"/>
                </a:lnTo>
                <a:cubicBezTo>
                  <a:pt x="260" y="-6"/>
                  <a:pt x="282" y="-6"/>
                  <a:pt x="295" y="19"/>
                </a:cubicBezTo>
                <a:lnTo>
                  <a:pt x="536" y="484"/>
                </a:lnTo>
                <a:cubicBezTo>
                  <a:pt x="549" y="509"/>
                  <a:pt x="536" y="530"/>
                  <a:pt x="508" y="530"/>
                </a:cubicBezTo>
                <a:lnTo>
                  <a:pt x="33" y="530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096200" y="3981240"/>
            <a:ext cx="27000" cy="127080"/>
          </a:xfrm>
          <a:custGeom>
            <a:avLst/>
            <a:gdLst/>
            <a:ahLst/>
            <a:rect l="0" t="0" r="r" b="b"/>
            <a:pathLst>
              <a:path w="75" h="353">
                <a:moveTo>
                  <a:pt x="0" y="316"/>
                </a:moveTo>
                <a:cubicBezTo>
                  <a:pt x="0" y="295"/>
                  <a:pt x="16" y="278"/>
                  <a:pt x="38" y="278"/>
                </a:cubicBezTo>
                <a:cubicBezTo>
                  <a:pt x="59" y="278"/>
                  <a:pt x="75" y="295"/>
                  <a:pt x="75" y="316"/>
                </a:cubicBezTo>
                <a:cubicBezTo>
                  <a:pt x="75" y="336"/>
                  <a:pt x="58" y="353"/>
                  <a:pt x="38" y="353"/>
                </a:cubicBezTo>
                <a:cubicBezTo>
                  <a:pt x="16" y="353"/>
                  <a:pt x="0" y="336"/>
                  <a:pt x="0" y="316"/>
                </a:cubicBezTo>
                <a:moveTo>
                  <a:pt x="2" y="33"/>
                </a:moveTo>
                <a:cubicBezTo>
                  <a:pt x="2" y="12"/>
                  <a:pt x="17" y="0"/>
                  <a:pt x="38" y="0"/>
                </a:cubicBezTo>
                <a:cubicBezTo>
                  <a:pt x="57" y="0"/>
                  <a:pt x="72" y="13"/>
                  <a:pt x="72" y="33"/>
                </a:cubicBezTo>
                <a:lnTo>
                  <a:pt x="72" y="218"/>
                </a:lnTo>
                <a:cubicBezTo>
                  <a:pt x="72" y="237"/>
                  <a:pt x="57" y="250"/>
                  <a:pt x="38" y="250"/>
                </a:cubicBezTo>
                <a:cubicBezTo>
                  <a:pt x="17" y="250"/>
                  <a:pt x="2" y="238"/>
                  <a:pt x="2" y="218"/>
                </a:cubicBezTo>
                <a:lnTo>
                  <a:pt x="2" y="33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860760" y="3373920"/>
            <a:ext cx="4621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Abra el archivo descargado para iniciar la instalación.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8315280" y="3943080"/>
            <a:ext cx="1962360" cy="219600"/>
          </a:xfrm>
          <a:custGeom>
            <a:avLst/>
            <a:gdLst/>
            <a:ahLst/>
            <a:rect l="0" t="0" r="r" b="b"/>
            <a:pathLst>
              <a:path w="5451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5372" y="0"/>
                </a:lnTo>
                <a:cubicBezTo>
                  <a:pt x="5382" y="0"/>
                  <a:pt x="5392" y="2"/>
                  <a:pt x="5402" y="6"/>
                </a:cubicBezTo>
                <a:cubicBezTo>
                  <a:pt x="5412" y="10"/>
                  <a:pt x="5420" y="16"/>
                  <a:pt x="5428" y="23"/>
                </a:cubicBezTo>
                <a:cubicBezTo>
                  <a:pt x="5435" y="31"/>
                  <a:pt x="5441" y="40"/>
                  <a:pt x="5445" y="49"/>
                </a:cubicBezTo>
                <a:cubicBezTo>
                  <a:pt x="5449" y="59"/>
                  <a:pt x="5451" y="69"/>
                  <a:pt x="5451" y="80"/>
                </a:cubicBezTo>
                <a:lnTo>
                  <a:pt x="5451" y="530"/>
                </a:lnTo>
                <a:cubicBezTo>
                  <a:pt x="5451" y="541"/>
                  <a:pt x="5449" y="551"/>
                  <a:pt x="5445" y="561"/>
                </a:cubicBezTo>
                <a:cubicBezTo>
                  <a:pt x="5441" y="571"/>
                  <a:pt x="5435" y="579"/>
                  <a:pt x="5428" y="587"/>
                </a:cubicBezTo>
                <a:cubicBezTo>
                  <a:pt x="5420" y="594"/>
                  <a:pt x="5412" y="600"/>
                  <a:pt x="5402" y="604"/>
                </a:cubicBezTo>
                <a:cubicBezTo>
                  <a:pt x="5392" y="608"/>
                  <a:pt x="5382" y="610"/>
                  <a:pt x="5372" y="610"/>
                </a:cubicBezTo>
                <a:lnTo>
                  <a:pt x="79" y="610"/>
                </a:lnTo>
                <a:cubicBezTo>
                  <a:pt x="68" y="610"/>
                  <a:pt x="58" y="608"/>
                  <a:pt x="49" y="604"/>
                </a:cubicBezTo>
                <a:cubicBezTo>
                  <a:pt x="39" y="600"/>
                  <a:pt x="30" y="594"/>
                  <a:pt x="23" y="587"/>
                </a:cubicBezTo>
                <a:cubicBezTo>
                  <a:pt x="15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220400" y="3954600"/>
            <a:ext cx="7086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Windows es imprescindible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en la primera pantalla del instalador, active la casilla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8377200" y="3957120"/>
            <a:ext cx="1850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Add Python to PATH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10276920" y="3954600"/>
            <a:ext cx="1152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(situada en la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990720" y="4250160"/>
            <a:ext cx="2550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parte inferior)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antes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pulsar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3585240" y="4250160"/>
            <a:ext cx="9324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Install Now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685440" y="23810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4451040" y="4250160"/>
            <a:ext cx="3885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De lo contrario, los comandos no funcionarán.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685800" y="201348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3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354680" y="201996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7181640" y="2352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1413000" y="2013480"/>
            <a:ext cx="2702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Instalación de Python (parte 1)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690480" y="274788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90480" y="274788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690480" y="38145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690480" y="38145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685440" y="493380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85440" y="493380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685800" y="1611720"/>
            <a:ext cx="10568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vez finalizada la instalación, regrese a la terminal para comprobar que se ha realizado correctamente. Escriba lo siguiente 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685800" y="1897200"/>
            <a:ext cx="914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pulse Intro: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685800" y="2345040"/>
            <a:ext cx="1104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Windows: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866880" y="2900160"/>
            <a:ext cx="124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--version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685800" y="3402360"/>
            <a:ext cx="687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Mac: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866880" y="3966840"/>
            <a:ext cx="13266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python3 --version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4333680" y="4457520"/>
            <a:ext cx="1448280" cy="219600"/>
          </a:xfrm>
          <a:custGeom>
            <a:avLst/>
            <a:gdLst/>
            <a:ahLst/>
            <a:rect l="0" t="0" r="r" b="b"/>
            <a:pathLst>
              <a:path w="4023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943" y="0"/>
                </a:lnTo>
                <a:cubicBezTo>
                  <a:pt x="3954" y="0"/>
                  <a:pt x="3964" y="2"/>
                  <a:pt x="3974" y="6"/>
                </a:cubicBezTo>
                <a:cubicBezTo>
                  <a:pt x="3983" y="10"/>
                  <a:pt x="3992" y="16"/>
                  <a:pt x="3999" y="23"/>
                </a:cubicBezTo>
                <a:cubicBezTo>
                  <a:pt x="4007" y="31"/>
                  <a:pt x="4013" y="39"/>
                  <a:pt x="4017" y="49"/>
                </a:cubicBezTo>
                <a:cubicBezTo>
                  <a:pt x="4021" y="59"/>
                  <a:pt x="4023" y="69"/>
                  <a:pt x="4023" y="79"/>
                </a:cubicBezTo>
                <a:lnTo>
                  <a:pt x="4023" y="530"/>
                </a:lnTo>
                <a:cubicBezTo>
                  <a:pt x="4023" y="541"/>
                  <a:pt x="4021" y="551"/>
                  <a:pt x="4017" y="561"/>
                </a:cubicBezTo>
                <a:cubicBezTo>
                  <a:pt x="4013" y="570"/>
                  <a:pt x="4007" y="579"/>
                  <a:pt x="3999" y="586"/>
                </a:cubicBezTo>
                <a:cubicBezTo>
                  <a:pt x="3992" y="594"/>
                  <a:pt x="3983" y="599"/>
                  <a:pt x="3974" y="603"/>
                </a:cubicBezTo>
                <a:cubicBezTo>
                  <a:pt x="3964" y="608"/>
                  <a:pt x="3954" y="610"/>
                  <a:pt x="3943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685800" y="4469040"/>
            <a:ext cx="3644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resultado esperado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un texto similar 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4394160" y="4471200"/>
            <a:ext cx="1336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Python 3.12.4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017720" y="5037480"/>
            <a:ext cx="183960" cy="183600"/>
          </a:xfrm>
          <a:custGeom>
            <a:avLst/>
            <a:gdLst/>
            <a:ahLst/>
            <a:rect l="0" t="0" r="r" b="b"/>
            <a:pathLst>
              <a:path w="511" h="510">
                <a:moveTo>
                  <a:pt x="309" y="255"/>
                </a:moveTo>
                <a:lnTo>
                  <a:pt x="499" y="67"/>
                </a:lnTo>
                <a:cubicBezTo>
                  <a:pt x="514" y="51"/>
                  <a:pt x="514" y="27"/>
                  <a:pt x="499" y="12"/>
                </a:cubicBezTo>
                <a:cubicBezTo>
                  <a:pt x="484" y="-4"/>
                  <a:pt x="459" y="-4"/>
                  <a:pt x="444" y="12"/>
                </a:cubicBezTo>
                <a:lnTo>
                  <a:pt x="255" y="201"/>
                </a:lnTo>
                <a:lnTo>
                  <a:pt x="66" y="12"/>
                </a:lnTo>
                <a:cubicBezTo>
                  <a:pt x="51" y="-4"/>
                  <a:pt x="27" y="-4"/>
                  <a:pt x="11" y="12"/>
                </a:cubicBezTo>
                <a:cubicBezTo>
                  <a:pt x="-4" y="27"/>
                  <a:pt x="-4" y="51"/>
                  <a:pt x="11" y="67"/>
                </a:cubicBezTo>
                <a:lnTo>
                  <a:pt x="200" y="255"/>
                </a:lnTo>
                <a:lnTo>
                  <a:pt x="11" y="445"/>
                </a:lnTo>
                <a:cubicBezTo>
                  <a:pt x="-4" y="460"/>
                  <a:pt x="-4" y="484"/>
                  <a:pt x="11" y="499"/>
                </a:cubicBezTo>
                <a:cubicBezTo>
                  <a:pt x="19" y="507"/>
                  <a:pt x="28" y="510"/>
                  <a:pt x="38" y="510"/>
                </a:cubicBezTo>
                <a:cubicBezTo>
                  <a:pt x="48" y="510"/>
                  <a:pt x="58" y="507"/>
                  <a:pt x="66" y="499"/>
                </a:cubicBezTo>
                <a:lnTo>
                  <a:pt x="255" y="310"/>
                </a:lnTo>
                <a:lnTo>
                  <a:pt x="444" y="499"/>
                </a:lnTo>
                <a:cubicBezTo>
                  <a:pt x="451" y="506"/>
                  <a:pt x="461" y="510"/>
                  <a:pt x="471" y="510"/>
                </a:cubicBezTo>
                <a:cubicBezTo>
                  <a:pt x="481" y="510"/>
                  <a:pt x="492" y="506"/>
                  <a:pt x="499" y="499"/>
                </a:cubicBezTo>
                <a:cubicBezTo>
                  <a:pt x="514" y="484"/>
                  <a:pt x="514" y="459"/>
                  <a:pt x="499" y="444"/>
                </a:cubicBezTo>
                <a:lnTo>
                  <a:pt x="309" y="255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5781960" y="4469040"/>
            <a:ext cx="4983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Si el número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3.10 o superior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la instalación es correcta.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220400" y="5050080"/>
            <a:ext cx="982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Si aparece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2243880" y="5050080"/>
            <a:ext cx="18428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"command not found"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3994560" y="5050080"/>
            <a:ext cx="201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4235760" y="5050080"/>
            <a:ext cx="15681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"no se reconoce…"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5720040" y="5050080"/>
            <a:ext cx="4008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significa que en Windows no se activó la casilla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9776160" y="5050080"/>
            <a:ext cx="17352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Add Python to PATH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11422440" y="50500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685440" y="129528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990720" y="5335920"/>
            <a:ext cx="3960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desinstale Python y repita el Paso 3 activándola.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685800" y="91836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3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1354680" y="92448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7181640" y="12664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6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4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5"/>
                </a:cubicBezTo>
                <a:cubicBezTo>
                  <a:pt x="3" y="150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413000" y="918360"/>
            <a:ext cx="37623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Instalación de Python (parte 2: verificación)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685440" y="4219560"/>
            <a:ext cx="10820880" cy="419400"/>
          </a:xfrm>
          <a:custGeom>
            <a:avLst/>
            <a:gdLst/>
            <a:ahLst/>
            <a:rect l="0" t="0" r="r" b="b"/>
            <a:pathLst>
              <a:path w="30058" h="1165">
                <a:moveTo>
                  <a:pt x="0" y="0"/>
                </a:moveTo>
                <a:lnTo>
                  <a:pt x="30058" y="0"/>
                </a:lnTo>
                <a:lnTo>
                  <a:pt x="3005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685440" y="4219560"/>
            <a:ext cx="29160" cy="419400"/>
          </a:xfrm>
          <a:custGeom>
            <a:avLst/>
            <a:gdLst/>
            <a:ahLst/>
            <a:rect l="0" t="0" r="r" b="b"/>
            <a:pathLst>
              <a:path w="81" h="1165">
                <a:moveTo>
                  <a:pt x="0" y="0"/>
                </a:moveTo>
                <a:lnTo>
                  <a:pt x="81" y="0"/>
                </a:lnTo>
                <a:lnTo>
                  <a:pt x="8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685800" y="2621160"/>
            <a:ext cx="9874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 la herramienta que descargará las imágenes y el modelo (Paso 5) se necesita una cuenta de GitHub (es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gratuita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860400" y="3069000"/>
            <a:ext cx="3418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Acceda a </a:t>
            </a:r>
            <a:r>
              <a:rPr lang="en-US" sz="1580" b="1" u="none" strike="noStrike">
                <a:solidFill>
                  <a:srgbClr val="0969DA"/>
                </a:solidFill>
                <a:effectLst/>
                <a:uFillTx/>
                <a:latin typeface="Eurostile"/>
                <a:ea typeface="Eurostile"/>
              </a:rPr>
              <a:t>https://github.com/signup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860760" y="3402360"/>
            <a:ext cx="8368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Introduzca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correo electrónico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una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contraseña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nombre de usuario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Conserve estos datos.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048320" y="430596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68"/>
                </a:moveTo>
                <a:cubicBezTo>
                  <a:pt x="341" y="269"/>
                  <a:pt x="262" y="284"/>
                  <a:pt x="262" y="377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7"/>
                </a:cubicBezTo>
                <a:cubicBezTo>
                  <a:pt x="76" y="284"/>
                  <a:pt x="0" y="269"/>
                  <a:pt x="0" y="168"/>
                </a:cubicBezTo>
                <a:cubicBezTo>
                  <a:pt x="0" y="75"/>
                  <a:pt x="82" y="0"/>
                  <a:pt x="171" y="0"/>
                </a:cubicBezTo>
                <a:cubicBezTo>
                  <a:pt x="261" y="0"/>
                  <a:pt x="341" y="75"/>
                  <a:pt x="341" y="168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086480" y="448272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8"/>
                </a:moveTo>
                <a:cubicBezTo>
                  <a:pt x="129" y="21"/>
                  <a:pt x="94" y="48"/>
                  <a:pt x="64" y="48"/>
                </a:cubicBezTo>
                <a:cubicBezTo>
                  <a:pt x="34" y="48"/>
                  <a:pt x="0" y="21"/>
                  <a:pt x="0" y="8"/>
                </a:cubicBezTo>
                <a:cubicBezTo>
                  <a:pt x="0" y="-5"/>
                  <a:pt x="34" y="1"/>
                  <a:pt x="64" y="1"/>
                </a:cubicBezTo>
                <a:cubicBezTo>
                  <a:pt x="94" y="1"/>
                  <a:pt x="129" y="-5"/>
                  <a:pt x="129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1081800" y="4360680"/>
            <a:ext cx="56160" cy="94680"/>
          </a:xfrm>
          <a:custGeom>
            <a:avLst/>
            <a:gdLst/>
            <a:ahLst/>
            <a:rect l="0" t="0" r="r" b="b"/>
            <a:pathLst>
              <a:path w="156" h="263">
                <a:moveTo>
                  <a:pt x="151" y="5"/>
                </a:moveTo>
                <a:cubicBezTo>
                  <a:pt x="145" y="-2"/>
                  <a:pt x="135" y="-2"/>
                  <a:pt x="129" y="5"/>
                </a:cubicBezTo>
                <a:lnTo>
                  <a:pt x="78" y="55"/>
                </a:lnTo>
                <a:lnTo>
                  <a:pt x="27" y="5"/>
                </a:lnTo>
                <a:cubicBezTo>
                  <a:pt x="21" y="-2"/>
                  <a:pt x="11" y="-2"/>
                  <a:pt x="5" y="5"/>
                </a:cubicBezTo>
                <a:cubicBezTo>
                  <a:pt x="-1" y="11"/>
                  <a:pt x="-1" y="20"/>
                  <a:pt x="5" y="26"/>
                </a:cubicBezTo>
                <a:lnTo>
                  <a:pt x="62" y="85"/>
                </a:lnTo>
                <a:lnTo>
                  <a:pt x="62" y="248"/>
                </a:lnTo>
                <a:cubicBezTo>
                  <a:pt x="62" y="256"/>
                  <a:pt x="69" y="263"/>
                  <a:pt x="78" y="263"/>
                </a:cubicBezTo>
                <a:cubicBezTo>
                  <a:pt x="86" y="263"/>
                  <a:pt x="93" y="256"/>
                  <a:pt x="93" y="248"/>
                </a:cubicBezTo>
                <a:lnTo>
                  <a:pt x="93" y="85"/>
                </a:lnTo>
                <a:lnTo>
                  <a:pt x="151" y="26"/>
                </a:lnTo>
                <a:cubicBezTo>
                  <a:pt x="158" y="20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076040" y="4444200"/>
            <a:ext cx="66960" cy="44640"/>
          </a:xfrm>
          <a:custGeom>
            <a:avLst/>
            <a:gdLst/>
            <a:ahLst/>
            <a:rect l="0" t="0" r="r" b="b"/>
            <a:pathLst>
              <a:path w="186" h="124">
                <a:moveTo>
                  <a:pt x="186" y="93"/>
                </a:moveTo>
                <a:cubicBezTo>
                  <a:pt x="186" y="110"/>
                  <a:pt x="173" y="124"/>
                  <a:pt x="156" y="124"/>
                </a:cubicBezTo>
                <a:lnTo>
                  <a:pt x="31" y="124"/>
                </a:lnTo>
                <a:cubicBezTo>
                  <a:pt x="14" y="124"/>
                  <a:pt x="0" y="110"/>
                  <a:pt x="0" y="93"/>
                </a:cubicBezTo>
                <a:lnTo>
                  <a:pt x="0" y="0"/>
                </a:lnTo>
                <a:lnTo>
                  <a:pt x="186" y="0"/>
                </a:lnTo>
                <a:lnTo>
                  <a:pt x="186" y="93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1070640" y="4438440"/>
            <a:ext cx="78120" cy="45000"/>
          </a:xfrm>
          <a:custGeom>
            <a:avLst/>
            <a:gdLst/>
            <a:ahLst/>
            <a:rect l="0" t="0" r="r" b="b"/>
            <a:pathLst>
              <a:path w="217" h="125">
                <a:moveTo>
                  <a:pt x="0" y="112"/>
                </a:moveTo>
                <a:cubicBezTo>
                  <a:pt x="-1" y="103"/>
                  <a:pt x="4" y="95"/>
                  <a:pt x="13" y="94"/>
                </a:cubicBezTo>
                <a:lnTo>
                  <a:pt x="199" y="63"/>
                </a:lnTo>
                <a:cubicBezTo>
                  <a:pt x="207" y="62"/>
                  <a:pt x="215" y="67"/>
                  <a:pt x="217" y="76"/>
                </a:cubicBezTo>
                <a:cubicBezTo>
                  <a:pt x="218" y="84"/>
                  <a:pt x="212" y="92"/>
                  <a:pt x="204" y="93"/>
                </a:cubicBezTo>
                <a:lnTo>
                  <a:pt x="18" y="124"/>
                </a:lnTo>
                <a:cubicBezTo>
                  <a:pt x="17" y="124"/>
                  <a:pt x="16" y="125"/>
                  <a:pt x="15" y="125"/>
                </a:cubicBezTo>
                <a:cubicBezTo>
                  <a:pt x="8" y="125"/>
                  <a:pt x="1" y="119"/>
                  <a:pt x="0" y="112"/>
                </a:cubicBezTo>
                <a:moveTo>
                  <a:pt x="0" y="50"/>
                </a:moveTo>
                <a:cubicBezTo>
                  <a:pt x="-1" y="42"/>
                  <a:pt x="4" y="34"/>
                  <a:pt x="13" y="31"/>
                </a:cubicBezTo>
                <a:lnTo>
                  <a:pt x="199" y="0"/>
                </a:lnTo>
                <a:cubicBezTo>
                  <a:pt x="207" y="-1"/>
                  <a:pt x="215" y="5"/>
                  <a:pt x="217" y="13"/>
                </a:cubicBezTo>
                <a:cubicBezTo>
                  <a:pt x="218" y="21"/>
                  <a:pt x="212" y="29"/>
                  <a:pt x="204" y="31"/>
                </a:cubicBezTo>
                <a:lnTo>
                  <a:pt x="18" y="63"/>
                </a:lnTo>
                <a:cubicBezTo>
                  <a:pt x="17" y="63"/>
                  <a:pt x="16" y="63"/>
                  <a:pt x="15" y="63"/>
                </a:cubicBezTo>
                <a:cubicBezTo>
                  <a:pt x="8" y="63"/>
                  <a:pt x="1" y="57"/>
                  <a:pt x="0" y="5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860760" y="3745080"/>
            <a:ext cx="5859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Confirme la dirección de correo (recibirá un mensaje con un código).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85440" y="230472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220400" y="4326120"/>
            <a:ext cx="10027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El material es de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acceso público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con la cuenta creada es suficiente, no se requiere ningún permiso ni invitación especial.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685800" y="193752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4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1354680" y="194364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7181640" y="22762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1413000" y="1937520"/>
            <a:ext cx="28378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Creación de la cuenta de GitHub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690480" y="24429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690480" y="24429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690480" y="350964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690480" y="350964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690480" y="45669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690480" y="456696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685440" y="524808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685440" y="524808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685440" y="1581120"/>
            <a:ext cx="324360" cy="219240"/>
          </a:xfrm>
          <a:custGeom>
            <a:avLst/>
            <a:gdLst/>
            <a:ahLst/>
            <a:rect l="0" t="0" r="r" b="b"/>
            <a:pathLst>
              <a:path w="901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3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22" y="0"/>
                </a:lnTo>
                <a:cubicBezTo>
                  <a:pt x="832" y="0"/>
                  <a:pt x="842" y="2"/>
                  <a:pt x="852" y="6"/>
                </a:cubicBezTo>
                <a:cubicBezTo>
                  <a:pt x="862" y="10"/>
                  <a:pt x="870" y="15"/>
                  <a:pt x="878" y="23"/>
                </a:cubicBezTo>
                <a:cubicBezTo>
                  <a:pt x="885" y="30"/>
                  <a:pt x="891" y="39"/>
                  <a:pt x="895" y="49"/>
                </a:cubicBezTo>
                <a:cubicBezTo>
                  <a:pt x="899" y="58"/>
                  <a:pt x="901" y="68"/>
                  <a:pt x="901" y="79"/>
                </a:cubicBezTo>
                <a:lnTo>
                  <a:pt x="901" y="530"/>
                </a:lnTo>
                <a:cubicBezTo>
                  <a:pt x="901" y="540"/>
                  <a:pt x="899" y="550"/>
                  <a:pt x="895" y="560"/>
                </a:cubicBezTo>
                <a:cubicBezTo>
                  <a:pt x="891" y="570"/>
                  <a:pt x="885" y="578"/>
                  <a:pt x="878" y="586"/>
                </a:cubicBezTo>
                <a:cubicBezTo>
                  <a:pt x="870" y="593"/>
                  <a:pt x="862" y="599"/>
                  <a:pt x="852" y="603"/>
                </a:cubicBezTo>
                <a:cubicBezTo>
                  <a:pt x="842" y="607"/>
                  <a:pt x="832" y="609"/>
                  <a:pt x="822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8"/>
                  <a:pt x="11" y="570"/>
                  <a:pt x="7" y="560"/>
                </a:cubicBezTo>
                <a:cubicBezTo>
                  <a:pt x="3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43040" y="159480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1004760" y="1592640"/>
            <a:ext cx="5957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es la herramienta encargada de descargar las imágenes desde GitHub.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685800" y="2040120"/>
            <a:ext cx="4084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Windows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(en PowerShell, pegue y pulse Intro):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866880" y="2595240"/>
            <a:ext cx="2340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winget install --id GitHub.cli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685800" y="3097440"/>
            <a:ext cx="10569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Mac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(requiere "Homebrew"; si no dispone de él, ejecute primero el siguiente comando y siga las indicaciones que aparezcan):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866880" y="3661920"/>
            <a:ext cx="74098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/bin/bash -c "$(curl -fsSL https://raw.githubusercontent.com/Homebrew/install/HEAD/install.sh)"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685800" y="4164480"/>
            <a:ext cx="1401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a continuación: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009440" y="5343480"/>
            <a:ext cx="200520" cy="200160"/>
          </a:xfrm>
          <a:custGeom>
            <a:avLst/>
            <a:gdLst/>
            <a:ahLst/>
            <a:rect l="0" t="0" r="r" b="b"/>
            <a:pathLst>
              <a:path w="557" h="556">
                <a:moveTo>
                  <a:pt x="557" y="495"/>
                </a:moveTo>
                <a:cubicBezTo>
                  <a:pt x="557" y="529"/>
                  <a:pt x="529" y="556"/>
                  <a:pt x="495" y="556"/>
                </a:cubicBezTo>
                <a:lnTo>
                  <a:pt x="62" y="556"/>
                </a:lnTo>
                <a:cubicBezTo>
                  <a:pt x="28" y="556"/>
                  <a:pt x="0" y="529"/>
                  <a:pt x="0" y="495"/>
                </a:cubicBezTo>
                <a:lnTo>
                  <a:pt x="0" y="61"/>
                </a:lnTo>
                <a:cubicBezTo>
                  <a:pt x="0" y="27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7"/>
                  <a:pt x="557" y="61"/>
                </a:cubicBezTo>
                <a:lnTo>
                  <a:pt x="557" y="495"/>
                </a:ln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037160" y="5365440"/>
            <a:ext cx="145080" cy="156240"/>
          </a:xfrm>
          <a:custGeom>
            <a:avLst/>
            <a:gdLst/>
            <a:ahLst/>
            <a:rect l="0" t="0" r="r" b="b"/>
            <a:pathLst>
              <a:path w="403" h="434">
                <a:moveTo>
                  <a:pt x="390" y="93"/>
                </a:moveTo>
                <a:lnTo>
                  <a:pt x="279" y="0"/>
                </a:lnTo>
                <a:lnTo>
                  <a:pt x="279" y="62"/>
                </a:lnTo>
                <a:lnTo>
                  <a:pt x="156" y="62"/>
                </a:lnTo>
                <a:cubicBezTo>
                  <a:pt x="69" y="62"/>
                  <a:pt x="0" y="131"/>
                  <a:pt x="0" y="216"/>
                </a:cubicBezTo>
                <a:cubicBezTo>
                  <a:pt x="0" y="238"/>
                  <a:pt x="5" y="259"/>
                  <a:pt x="13" y="278"/>
                </a:cubicBezTo>
                <a:lnTo>
                  <a:pt x="64" y="235"/>
                </a:lnTo>
                <a:cubicBezTo>
                  <a:pt x="63" y="229"/>
                  <a:pt x="62" y="223"/>
                  <a:pt x="62" y="216"/>
                </a:cubicBezTo>
                <a:cubicBezTo>
                  <a:pt x="62" y="165"/>
                  <a:pt x="103" y="124"/>
                  <a:pt x="156" y="124"/>
                </a:cubicBezTo>
                <a:lnTo>
                  <a:pt x="279" y="124"/>
                </a:lnTo>
                <a:lnTo>
                  <a:pt x="279" y="186"/>
                </a:lnTo>
                <a:lnTo>
                  <a:pt x="390" y="93"/>
                </a:lnTo>
                <a:moveTo>
                  <a:pt x="390" y="155"/>
                </a:moveTo>
                <a:lnTo>
                  <a:pt x="339" y="197"/>
                </a:lnTo>
                <a:cubicBezTo>
                  <a:pt x="340" y="204"/>
                  <a:pt x="341" y="210"/>
                  <a:pt x="341" y="216"/>
                </a:cubicBezTo>
                <a:cubicBezTo>
                  <a:pt x="341" y="268"/>
                  <a:pt x="299" y="309"/>
                  <a:pt x="248" y="309"/>
                </a:cubicBezTo>
                <a:lnTo>
                  <a:pt x="124" y="309"/>
                </a:lnTo>
                <a:lnTo>
                  <a:pt x="124" y="247"/>
                </a:lnTo>
                <a:lnTo>
                  <a:pt x="13" y="340"/>
                </a:lnTo>
                <a:lnTo>
                  <a:pt x="124" y="434"/>
                </a:lnTo>
                <a:lnTo>
                  <a:pt x="124" y="371"/>
                </a:lnTo>
                <a:lnTo>
                  <a:pt x="248" y="371"/>
                </a:lnTo>
                <a:cubicBezTo>
                  <a:pt x="333" y="371"/>
                  <a:pt x="403" y="302"/>
                  <a:pt x="403" y="216"/>
                </a:cubicBezTo>
                <a:cubicBezTo>
                  <a:pt x="403" y="195"/>
                  <a:pt x="398" y="174"/>
                  <a:pt x="390" y="15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866880" y="4719240"/>
            <a:ext cx="11707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brew install gh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685440" y="127620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1220400" y="5364360"/>
            <a:ext cx="7364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Cierre y vuelva a abrir la terminal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finalizar, para que reconozca la nueva herramienta.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685800" y="90864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5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1354680" y="91512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705040" y="885600"/>
            <a:ext cx="343080" cy="238680"/>
          </a:xfrm>
          <a:custGeom>
            <a:avLst/>
            <a:gdLst/>
            <a:ahLst/>
            <a:rect l="0" t="0" r="r" b="b"/>
            <a:pathLst>
              <a:path w="953" h="663">
                <a:moveTo>
                  <a:pt x="0" y="583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874" y="0"/>
                </a:lnTo>
                <a:cubicBezTo>
                  <a:pt x="884" y="0"/>
                  <a:pt x="894" y="2"/>
                  <a:pt x="904" y="6"/>
                </a:cubicBezTo>
                <a:cubicBezTo>
                  <a:pt x="914" y="10"/>
                  <a:pt x="922" y="16"/>
                  <a:pt x="930" y="23"/>
                </a:cubicBezTo>
                <a:cubicBezTo>
                  <a:pt x="937" y="31"/>
                  <a:pt x="943" y="39"/>
                  <a:pt x="947" y="49"/>
                </a:cubicBezTo>
                <a:cubicBezTo>
                  <a:pt x="951" y="59"/>
                  <a:pt x="953" y="69"/>
                  <a:pt x="953" y="79"/>
                </a:cubicBezTo>
                <a:lnTo>
                  <a:pt x="953" y="583"/>
                </a:lnTo>
                <a:cubicBezTo>
                  <a:pt x="953" y="594"/>
                  <a:pt x="951" y="604"/>
                  <a:pt x="947" y="614"/>
                </a:cubicBezTo>
                <a:cubicBezTo>
                  <a:pt x="943" y="623"/>
                  <a:pt x="937" y="632"/>
                  <a:pt x="930" y="639"/>
                </a:cubicBezTo>
                <a:cubicBezTo>
                  <a:pt x="922" y="647"/>
                  <a:pt x="914" y="653"/>
                  <a:pt x="904" y="657"/>
                </a:cubicBezTo>
                <a:cubicBezTo>
                  <a:pt x="894" y="661"/>
                  <a:pt x="884" y="663"/>
                  <a:pt x="874" y="663"/>
                </a:cubicBezTo>
                <a:lnTo>
                  <a:pt x="79" y="663"/>
                </a:lnTo>
                <a:cubicBezTo>
                  <a:pt x="69" y="663"/>
                  <a:pt x="58" y="661"/>
                  <a:pt x="49" y="657"/>
                </a:cubicBezTo>
                <a:cubicBezTo>
                  <a:pt x="39" y="653"/>
                  <a:pt x="30" y="647"/>
                  <a:pt x="23" y="639"/>
                </a:cubicBezTo>
                <a:cubicBezTo>
                  <a:pt x="15" y="632"/>
                  <a:pt x="10" y="623"/>
                  <a:pt x="6" y="614"/>
                </a:cubicBezTo>
                <a:cubicBezTo>
                  <a:pt x="2" y="604"/>
                  <a:pt x="0" y="594"/>
                  <a:pt x="0" y="583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413000" y="908640"/>
            <a:ext cx="12916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Instalación de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2750760" y="88200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7181640" y="1247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3044880" y="908640"/>
            <a:ext cx="818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(parte 1)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690480" y="210960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90480" y="210960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685440" y="514332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685440" y="514332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2914560" y="1695240"/>
            <a:ext cx="324000" cy="219600"/>
          </a:xfrm>
          <a:custGeom>
            <a:avLst/>
            <a:gdLst/>
            <a:ahLst/>
            <a:rect l="0" t="0" r="r" b="b"/>
            <a:pathLst>
              <a:path w="900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821" y="0"/>
                </a:lnTo>
                <a:cubicBezTo>
                  <a:pt x="831" y="0"/>
                  <a:pt x="842" y="2"/>
                  <a:pt x="851" y="6"/>
                </a:cubicBezTo>
                <a:cubicBezTo>
                  <a:pt x="861" y="10"/>
                  <a:pt x="870" y="16"/>
                  <a:pt x="877" y="23"/>
                </a:cubicBezTo>
                <a:cubicBezTo>
                  <a:pt x="885" y="31"/>
                  <a:pt x="890" y="39"/>
                  <a:pt x="894" y="49"/>
                </a:cubicBezTo>
                <a:cubicBezTo>
                  <a:pt x="898" y="59"/>
                  <a:pt x="900" y="69"/>
                  <a:pt x="900" y="79"/>
                </a:cubicBezTo>
                <a:lnTo>
                  <a:pt x="900" y="530"/>
                </a:lnTo>
                <a:cubicBezTo>
                  <a:pt x="900" y="541"/>
                  <a:pt x="898" y="551"/>
                  <a:pt x="894" y="561"/>
                </a:cubicBezTo>
                <a:cubicBezTo>
                  <a:pt x="890" y="570"/>
                  <a:pt x="885" y="579"/>
                  <a:pt x="877" y="586"/>
                </a:cubicBezTo>
                <a:cubicBezTo>
                  <a:pt x="870" y="594"/>
                  <a:pt x="861" y="600"/>
                  <a:pt x="851" y="604"/>
                </a:cubicBezTo>
                <a:cubicBezTo>
                  <a:pt x="842" y="608"/>
                  <a:pt x="831" y="610"/>
                  <a:pt x="821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685800" y="1706760"/>
            <a:ext cx="2228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continuación se conecta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975400" y="17092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3237480" y="1706760"/>
            <a:ext cx="4473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con la cuenta de GitHub creada en el Paso 4. Escriba: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866880" y="2261880"/>
            <a:ext cx="1014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gh auth login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85800" y="2764080"/>
            <a:ext cx="6212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formularán varias preguntas. Respóndalas mediante las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flechas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Intro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860400" y="3211920"/>
            <a:ext cx="21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112400" y="3211920"/>
            <a:ext cx="13280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What account?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2363040" y="3211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2413080" y="3178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2613240" y="3211920"/>
            <a:ext cx="1054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GitHub.com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860760" y="3545280"/>
            <a:ext cx="21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112400" y="3545280"/>
            <a:ext cx="17006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Preferred protocol?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2725200" y="35452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2775240" y="351180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2975400" y="3545280"/>
            <a:ext cx="639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HTTPS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860760" y="3888000"/>
            <a:ext cx="21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1112400" y="3888000"/>
            <a:ext cx="16074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Authenticate Git…?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2634840" y="388800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2684880" y="385488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2884680" y="3888000"/>
            <a:ext cx="371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860760" y="4231080"/>
            <a:ext cx="21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112400" y="4231080"/>
            <a:ext cx="18327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How to authenticate?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2853720" y="42310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2903760" y="419760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103920" y="4231080"/>
            <a:ext cx="2249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Login with a web browser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4352760" y="4657680"/>
            <a:ext cx="1038600" cy="219240"/>
          </a:xfrm>
          <a:custGeom>
            <a:avLst/>
            <a:gdLst/>
            <a:ahLst/>
            <a:rect l="0" t="0" r="r" b="b"/>
            <a:pathLst>
              <a:path w="2885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806" y="0"/>
                </a:lnTo>
                <a:cubicBezTo>
                  <a:pt x="2816" y="0"/>
                  <a:pt x="2826" y="2"/>
                  <a:pt x="2836" y="6"/>
                </a:cubicBezTo>
                <a:cubicBezTo>
                  <a:pt x="2846" y="10"/>
                  <a:pt x="2854" y="15"/>
                  <a:pt x="2862" y="23"/>
                </a:cubicBezTo>
                <a:cubicBezTo>
                  <a:pt x="2869" y="30"/>
                  <a:pt x="2875" y="39"/>
                  <a:pt x="2879" y="49"/>
                </a:cubicBezTo>
                <a:cubicBezTo>
                  <a:pt x="2883" y="58"/>
                  <a:pt x="2885" y="68"/>
                  <a:pt x="2885" y="79"/>
                </a:cubicBezTo>
                <a:lnTo>
                  <a:pt x="2885" y="530"/>
                </a:lnTo>
                <a:cubicBezTo>
                  <a:pt x="2885" y="540"/>
                  <a:pt x="2883" y="550"/>
                  <a:pt x="2879" y="560"/>
                </a:cubicBezTo>
                <a:cubicBezTo>
                  <a:pt x="2875" y="570"/>
                  <a:pt x="2869" y="578"/>
                  <a:pt x="2862" y="586"/>
                </a:cubicBezTo>
                <a:cubicBezTo>
                  <a:pt x="2854" y="593"/>
                  <a:pt x="2846" y="599"/>
                  <a:pt x="2836" y="603"/>
                </a:cubicBezTo>
                <a:cubicBezTo>
                  <a:pt x="2826" y="607"/>
                  <a:pt x="2816" y="609"/>
                  <a:pt x="2806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85800" y="4669200"/>
            <a:ext cx="3660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Aparecerá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código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8 caracteres (p. ej.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4410000" y="4671360"/>
            <a:ext cx="92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A1B2-C3D4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1009440" y="522900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495"/>
                </a:moveTo>
                <a:cubicBezTo>
                  <a:pt x="557" y="529"/>
                  <a:pt x="529" y="557"/>
                  <a:pt x="495" y="557"/>
                </a:cubicBezTo>
                <a:lnTo>
                  <a:pt x="62" y="557"/>
                </a:lnTo>
                <a:cubicBezTo>
                  <a:pt x="28" y="557"/>
                  <a:pt x="0" y="529"/>
                  <a:pt x="0" y="495"/>
                </a:cubicBezTo>
                <a:lnTo>
                  <a:pt x="0" y="62"/>
                </a:lnTo>
                <a:cubicBezTo>
                  <a:pt x="0" y="28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8"/>
                  <a:pt x="557" y="62"/>
                </a:cubicBezTo>
                <a:lnTo>
                  <a:pt x="557" y="49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1041120" y="5262120"/>
            <a:ext cx="137520" cy="135360"/>
          </a:xfrm>
          <a:custGeom>
            <a:avLst/>
            <a:gdLst/>
            <a:ahLst/>
            <a:rect l="0" t="0" r="r" b="b"/>
            <a:pathLst>
              <a:path w="382" h="376">
                <a:moveTo>
                  <a:pt x="365" y="6"/>
                </a:moveTo>
                <a:cubicBezTo>
                  <a:pt x="346" y="-5"/>
                  <a:pt x="322" y="0"/>
                  <a:pt x="311" y="18"/>
                </a:cubicBezTo>
                <a:lnTo>
                  <a:pt x="143" y="278"/>
                </a:lnTo>
                <a:lnTo>
                  <a:pt x="65" y="206"/>
                </a:lnTo>
                <a:cubicBezTo>
                  <a:pt x="49" y="191"/>
                  <a:pt x="25" y="192"/>
                  <a:pt x="10" y="208"/>
                </a:cubicBezTo>
                <a:cubicBezTo>
                  <a:pt x="-4" y="224"/>
                  <a:pt x="-3" y="248"/>
                  <a:pt x="13" y="263"/>
                </a:cubicBezTo>
                <a:lnTo>
                  <a:pt x="124" y="365"/>
                </a:lnTo>
                <a:cubicBezTo>
                  <a:pt x="131" y="372"/>
                  <a:pt x="141" y="376"/>
                  <a:pt x="150" y="376"/>
                </a:cubicBezTo>
                <a:cubicBezTo>
                  <a:pt x="160" y="376"/>
                  <a:pt x="174" y="371"/>
                  <a:pt x="182" y="358"/>
                </a:cubicBezTo>
                <a:cubicBezTo>
                  <a:pt x="188" y="350"/>
                  <a:pt x="376" y="60"/>
                  <a:pt x="376" y="60"/>
                </a:cubicBezTo>
                <a:cubicBezTo>
                  <a:pt x="388" y="42"/>
                  <a:pt x="383" y="18"/>
                  <a:pt x="365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5388480" y="4669200"/>
            <a:ext cx="5971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Cópielo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pulse Intro, se abrirá el navegador,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péguelo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pulse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Authorize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220400" y="5250240"/>
            <a:ext cx="4125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Al regresar a la terminal debe figurar el mensaje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5393880" y="5250240"/>
            <a:ext cx="22557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"Logged in as [su usuario]"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685440" y="139032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7546320" y="525024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685800" y="101340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5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354680" y="101988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562120" y="990360"/>
            <a:ext cx="343080" cy="238680"/>
          </a:xfrm>
          <a:custGeom>
            <a:avLst/>
            <a:gdLst/>
            <a:ahLst/>
            <a:rect l="0" t="0" r="r" b="b"/>
            <a:pathLst>
              <a:path w="953" h="663">
                <a:moveTo>
                  <a:pt x="0" y="583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lnTo>
                  <a:pt x="874" y="0"/>
                </a:lnTo>
                <a:cubicBezTo>
                  <a:pt x="884" y="0"/>
                  <a:pt x="895" y="2"/>
                  <a:pt x="904" y="6"/>
                </a:cubicBezTo>
                <a:cubicBezTo>
                  <a:pt x="914" y="10"/>
                  <a:pt x="923" y="16"/>
                  <a:pt x="930" y="23"/>
                </a:cubicBezTo>
                <a:cubicBezTo>
                  <a:pt x="937" y="31"/>
                  <a:pt x="943" y="39"/>
                  <a:pt x="947" y="49"/>
                </a:cubicBezTo>
                <a:cubicBezTo>
                  <a:pt x="951" y="59"/>
                  <a:pt x="953" y="69"/>
                  <a:pt x="953" y="80"/>
                </a:cubicBezTo>
                <a:lnTo>
                  <a:pt x="953" y="583"/>
                </a:lnTo>
                <a:cubicBezTo>
                  <a:pt x="953" y="594"/>
                  <a:pt x="951" y="604"/>
                  <a:pt x="947" y="614"/>
                </a:cubicBezTo>
                <a:cubicBezTo>
                  <a:pt x="943" y="623"/>
                  <a:pt x="937" y="632"/>
                  <a:pt x="930" y="639"/>
                </a:cubicBezTo>
                <a:cubicBezTo>
                  <a:pt x="923" y="647"/>
                  <a:pt x="914" y="653"/>
                  <a:pt x="904" y="657"/>
                </a:cubicBezTo>
                <a:cubicBezTo>
                  <a:pt x="895" y="661"/>
                  <a:pt x="884" y="663"/>
                  <a:pt x="874" y="663"/>
                </a:cubicBezTo>
                <a:lnTo>
                  <a:pt x="80" y="663"/>
                </a:lnTo>
                <a:cubicBezTo>
                  <a:pt x="70" y="663"/>
                  <a:pt x="60" y="661"/>
                  <a:pt x="50" y="657"/>
                </a:cubicBezTo>
                <a:cubicBezTo>
                  <a:pt x="40" y="653"/>
                  <a:pt x="31" y="647"/>
                  <a:pt x="24" y="639"/>
                </a:cubicBezTo>
                <a:cubicBezTo>
                  <a:pt x="16" y="632"/>
                  <a:pt x="10" y="623"/>
                  <a:pt x="6" y="614"/>
                </a:cubicBezTo>
                <a:cubicBezTo>
                  <a:pt x="2" y="604"/>
                  <a:pt x="0" y="594"/>
                  <a:pt x="0" y="583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413000" y="1013400"/>
            <a:ext cx="11484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Conexión de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2606760" y="986760"/>
            <a:ext cx="2520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7181640" y="13618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2900880" y="1013400"/>
            <a:ext cx="2028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con la cuenta (parte 2)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690480" y="31003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690480" y="31003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685440" y="378108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685440" y="378108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628640" y="1952280"/>
            <a:ext cx="1343160" cy="219600"/>
          </a:xfrm>
          <a:custGeom>
            <a:avLst/>
            <a:gdLst/>
            <a:ahLst/>
            <a:rect l="0" t="0" r="r" b="b"/>
            <a:pathLst>
              <a:path w="3731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652" y="0"/>
                </a:lnTo>
                <a:cubicBezTo>
                  <a:pt x="3663" y="0"/>
                  <a:pt x="3673" y="2"/>
                  <a:pt x="3682" y="6"/>
                </a:cubicBezTo>
                <a:cubicBezTo>
                  <a:pt x="3692" y="11"/>
                  <a:pt x="3701" y="16"/>
                  <a:pt x="3708" y="24"/>
                </a:cubicBezTo>
                <a:cubicBezTo>
                  <a:pt x="3716" y="31"/>
                  <a:pt x="3721" y="40"/>
                  <a:pt x="3725" y="49"/>
                </a:cubicBezTo>
                <a:cubicBezTo>
                  <a:pt x="3729" y="59"/>
                  <a:pt x="3731" y="69"/>
                  <a:pt x="3731" y="80"/>
                </a:cubicBezTo>
                <a:lnTo>
                  <a:pt x="3731" y="531"/>
                </a:lnTo>
                <a:cubicBezTo>
                  <a:pt x="3731" y="541"/>
                  <a:pt x="3729" y="551"/>
                  <a:pt x="3725" y="561"/>
                </a:cubicBezTo>
                <a:cubicBezTo>
                  <a:pt x="3721" y="571"/>
                  <a:pt x="3716" y="579"/>
                  <a:pt x="3708" y="587"/>
                </a:cubicBezTo>
                <a:cubicBezTo>
                  <a:pt x="3701" y="594"/>
                  <a:pt x="3692" y="600"/>
                  <a:pt x="3682" y="604"/>
                </a:cubicBezTo>
                <a:cubicBezTo>
                  <a:pt x="3673" y="608"/>
                  <a:pt x="3663" y="610"/>
                  <a:pt x="3652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685800" y="1964160"/>
            <a:ext cx="946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690200" y="1966320"/>
            <a:ext cx="1233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CP1-carriles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2975760" y="1964160"/>
            <a:ext cx="8501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es la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descargó y descomprimió en el Paso 1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Es necesario indicar a la terminal que acceda a ella.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352520" y="239076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794" y="0"/>
                </a:lnTo>
                <a:cubicBezTo>
                  <a:pt x="805" y="0"/>
                  <a:pt x="815" y="2"/>
                  <a:pt x="825" y="6"/>
                </a:cubicBezTo>
                <a:cubicBezTo>
                  <a:pt x="834" y="10"/>
                  <a:pt x="843" y="15"/>
                  <a:pt x="850" y="23"/>
                </a:cubicBezTo>
                <a:cubicBezTo>
                  <a:pt x="858" y="30"/>
                  <a:pt x="864" y="39"/>
                  <a:pt x="868" y="49"/>
                </a:cubicBezTo>
                <a:cubicBezTo>
                  <a:pt x="872" y="58"/>
                  <a:pt x="874" y="68"/>
                  <a:pt x="874" y="79"/>
                </a:cubicBezTo>
                <a:lnTo>
                  <a:pt x="874" y="530"/>
                </a:lnTo>
                <a:cubicBezTo>
                  <a:pt x="874" y="540"/>
                  <a:pt x="872" y="550"/>
                  <a:pt x="868" y="560"/>
                </a:cubicBezTo>
                <a:cubicBezTo>
                  <a:pt x="864" y="570"/>
                  <a:pt x="858" y="578"/>
                  <a:pt x="850" y="586"/>
                </a:cubicBezTo>
                <a:cubicBezTo>
                  <a:pt x="843" y="593"/>
                  <a:pt x="834" y="599"/>
                  <a:pt x="825" y="603"/>
                </a:cubicBezTo>
                <a:cubicBezTo>
                  <a:pt x="815" y="607"/>
                  <a:pt x="805" y="609"/>
                  <a:pt x="794" y="609"/>
                </a:cubicBezTo>
                <a:lnTo>
                  <a:pt x="79" y="609"/>
                </a:lnTo>
                <a:cubicBezTo>
                  <a:pt x="68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5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685800" y="2402280"/>
            <a:ext cx="662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Escriba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1405800" y="240444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1667880" y="2402280"/>
            <a:ext cx="1172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(que significa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2882160" y="2402280"/>
            <a:ext cx="168408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cambiar de carpeta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8715240" y="2390760"/>
            <a:ext cx="1343160" cy="219240"/>
          </a:xfrm>
          <a:custGeom>
            <a:avLst/>
            <a:gdLst/>
            <a:ahLst/>
            <a:rect l="0" t="0" r="r" b="b"/>
            <a:pathLst>
              <a:path w="3731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lnTo>
                  <a:pt x="3652" y="0"/>
                </a:lnTo>
                <a:cubicBezTo>
                  <a:pt x="3663" y="0"/>
                  <a:pt x="3673" y="2"/>
                  <a:pt x="3682" y="6"/>
                </a:cubicBezTo>
                <a:cubicBezTo>
                  <a:pt x="3692" y="10"/>
                  <a:pt x="3701" y="15"/>
                  <a:pt x="3708" y="23"/>
                </a:cubicBezTo>
                <a:cubicBezTo>
                  <a:pt x="3716" y="30"/>
                  <a:pt x="3721" y="39"/>
                  <a:pt x="3725" y="49"/>
                </a:cubicBezTo>
                <a:cubicBezTo>
                  <a:pt x="3729" y="58"/>
                  <a:pt x="3731" y="68"/>
                  <a:pt x="3731" y="79"/>
                </a:cubicBezTo>
                <a:lnTo>
                  <a:pt x="3731" y="530"/>
                </a:lnTo>
                <a:cubicBezTo>
                  <a:pt x="3731" y="540"/>
                  <a:pt x="3729" y="550"/>
                  <a:pt x="3725" y="560"/>
                </a:cubicBezTo>
                <a:cubicBezTo>
                  <a:pt x="3721" y="570"/>
                  <a:pt x="3716" y="578"/>
                  <a:pt x="3708" y="586"/>
                </a:cubicBezTo>
                <a:cubicBezTo>
                  <a:pt x="3701" y="593"/>
                  <a:pt x="3692" y="599"/>
                  <a:pt x="3682" y="603"/>
                </a:cubicBezTo>
                <a:cubicBezTo>
                  <a:pt x="3673" y="607"/>
                  <a:pt x="3663" y="609"/>
                  <a:pt x="3652" y="609"/>
                </a:cubicBezTo>
                <a:lnTo>
                  <a:pt x="80" y="609"/>
                </a:lnTo>
                <a:cubicBezTo>
                  <a:pt x="70" y="609"/>
                  <a:pt x="60" y="607"/>
                  <a:pt x="50" y="603"/>
                </a:cubicBezTo>
                <a:cubicBezTo>
                  <a:pt x="40" y="599"/>
                  <a:pt x="31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4478760" y="2402280"/>
            <a:ext cx="4231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),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espacio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y a continuación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arrastre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8775360" y="2404440"/>
            <a:ext cx="12337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CP1-carriles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10060920" y="2402280"/>
            <a:ext cx="737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desde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685800" y="2697480"/>
            <a:ext cx="8992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explorador de archivos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hasta la ventana de la terminal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la ruta se completará automáticamente. Pulse Intro.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1048320" y="387720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70"/>
                </a:moveTo>
                <a:cubicBezTo>
                  <a:pt x="341" y="269"/>
                  <a:pt x="262" y="285"/>
                  <a:pt x="262" y="377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7"/>
                </a:cubicBezTo>
                <a:cubicBezTo>
                  <a:pt x="76" y="285"/>
                  <a:pt x="0" y="269"/>
                  <a:pt x="0" y="170"/>
                </a:cubicBezTo>
                <a:cubicBezTo>
                  <a:pt x="0" y="76"/>
                  <a:pt x="82" y="0"/>
                  <a:pt x="171" y="0"/>
                </a:cubicBezTo>
                <a:cubicBezTo>
                  <a:pt x="261" y="0"/>
                  <a:pt x="341" y="76"/>
                  <a:pt x="341" y="170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1086480" y="405396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9"/>
                </a:moveTo>
                <a:cubicBezTo>
                  <a:pt x="129" y="21"/>
                  <a:pt x="94" y="48"/>
                  <a:pt x="64" y="48"/>
                </a:cubicBezTo>
                <a:cubicBezTo>
                  <a:pt x="34" y="48"/>
                  <a:pt x="0" y="21"/>
                  <a:pt x="0" y="9"/>
                </a:cubicBezTo>
                <a:cubicBezTo>
                  <a:pt x="0" y="-4"/>
                  <a:pt x="34" y="1"/>
                  <a:pt x="64" y="1"/>
                </a:cubicBezTo>
                <a:cubicBezTo>
                  <a:pt x="94" y="1"/>
                  <a:pt x="129" y="-4"/>
                  <a:pt x="129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081800" y="393192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6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1"/>
                  <a:pt x="-1" y="21"/>
                  <a:pt x="5" y="27"/>
                </a:cubicBezTo>
                <a:lnTo>
                  <a:pt x="62" y="84"/>
                </a:lnTo>
                <a:lnTo>
                  <a:pt x="62" y="248"/>
                </a:lnTo>
                <a:cubicBezTo>
                  <a:pt x="62" y="257"/>
                  <a:pt x="69" y="264"/>
                  <a:pt x="78" y="264"/>
                </a:cubicBezTo>
                <a:cubicBezTo>
                  <a:pt x="86" y="264"/>
                  <a:pt x="93" y="257"/>
                  <a:pt x="93" y="248"/>
                </a:cubicBezTo>
                <a:lnTo>
                  <a:pt x="93" y="84"/>
                </a:lnTo>
                <a:lnTo>
                  <a:pt x="151" y="27"/>
                </a:lnTo>
                <a:cubicBezTo>
                  <a:pt x="158" y="21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1076040" y="4015440"/>
            <a:ext cx="66960" cy="44640"/>
          </a:xfrm>
          <a:custGeom>
            <a:avLst/>
            <a:gdLst/>
            <a:ahLst/>
            <a:rect l="0" t="0" r="r" b="b"/>
            <a:pathLst>
              <a:path w="186" h="124">
                <a:moveTo>
                  <a:pt x="186" y="92"/>
                </a:moveTo>
                <a:cubicBezTo>
                  <a:pt x="186" y="111"/>
                  <a:pt x="173" y="124"/>
                  <a:pt x="156" y="124"/>
                </a:cubicBezTo>
                <a:lnTo>
                  <a:pt x="31" y="124"/>
                </a:lnTo>
                <a:cubicBezTo>
                  <a:pt x="14" y="124"/>
                  <a:pt x="0" y="111"/>
                  <a:pt x="0" y="92"/>
                </a:cubicBezTo>
                <a:lnTo>
                  <a:pt x="0" y="0"/>
                </a:lnTo>
                <a:lnTo>
                  <a:pt x="186" y="0"/>
                </a:lnTo>
                <a:lnTo>
                  <a:pt x="186" y="92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1070640" y="4009680"/>
            <a:ext cx="78120" cy="44640"/>
          </a:xfrm>
          <a:custGeom>
            <a:avLst/>
            <a:gdLst/>
            <a:ahLst/>
            <a:rect l="0" t="0" r="r" b="b"/>
            <a:pathLst>
              <a:path w="217" h="124">
                <a:moveTo>
                  <a:pt x="0" y="110"/>
                </a:moveTo>
                <a:cubicBezTo>
                  <a:pt x="-1" y="102"/>
                  <a:pt x="4" y="94"/>
                  <a:pt x="13" y="92"/>
                </a:cubicBezTo>
                <a:lnTo>
                  <a:pt x="199" y="61"/>
                </a:lnTo>
                <a:cubicBezTo>
                  <a:pt x="207" y="60"/>
                  <a:pt x="215" y="66"/>
                  <a:pt x="217" y="74"/>
                </a:cubicBezTo>
                <a:cubicBezTo>
                  <a:pt x="218" y="82"/>
                  <a:pt x="212" y="90"/>
                  <a:pt x="204" y="92"/>
                </a:cubicBezTo>
                <a:lnTo>
                  <a:pt x="18" y="124"/>
                </a:lnTo>
                <a:cubicBezTo>
                  <a:pt x="17" y="124"/>
                  <a:pt x="16" y="124"/>
                  <a:pt x="15" y="124"/>
                </a:cubicBezTo>
                <a:cubicBezTo>
                  <a:pt x="8" y="124"/>
                  <a:pt x="1" y="119"/>
                  <a:pt x="0" y="110"/>
                </a:cubicBezTo>
                <a:moveTo>
                  <a:pt x="0" y="48"/>
                </a:moveTo>
                <a:cubicBezTo>
                  <a:pt x="-1" y="40"/>
                  <a:pt x="4" y="32"/>
                  <a:pt x="13" y="31"/>
                </a:cubicBezTo>
                <a:lnTo>
                  <a:pt x="199" y="0"/>
                </a:lnTo>
                <a:cubicBezTo>
                  <a:pt x="207" y="-2"/>
                  <a:pt x="215" y="4"/>
                  <a:pt x="217" y="12"/>
                </a:cubicBezTo>
                <a:cubicBezTo>
                  <a:pt x="218" y="21"/>
                  <a:pt x="212" y="29"/>
                  <a:pt x="204" y="30"/>
                </a:cubicBezTo>
                <a:lnTo>
                  <a:pt x="18" y="61"/>
                </a:lnTo>
                <a:cubicBezTo>
                  <a:pt x="17" y="61"/>
                  <a:pt x="16" y="61"/>
                  <a:pt x="15" y="61"/>
                </a:cubicBezTo>
                <a:cubicBezTo>
                  <a:pt x="8" y="61"/>
                  <a:pt x="1" y="56"/>
                  <a:pt x="0" y="4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866880" y="3252600"/>
            <a:ext cx="358812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cd  (la ruta se completa al soltar la carpeta)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1220400" y="3897720"/>
            <a:ext cx="9970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Recomendación: arrastrar la carpeta hasta la terminal evita tener que escribir rutas extensas manualmente y reduce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990720" y="4183200"/>
            <a:ext cx="1296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riesgo de error.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3543120" y="4752720"/>
            <a:ext cx="314640" cy="219600"/>
          </a:xfrm>
          <a:custGeom>
            <a:avLst/>
            <a:gdLst/>
            <a:ahLst/>
            <a:rect l="0" t="0" r="r" b="b"/>
            <a:pathLst>
              <a:path w="874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80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1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600"/>
                  <a:pt x="825" y="604"/>
                </a:cubicBezTo>
                <a:cubicBezTo>
                  <a:pt x="815" y="608"/>
                  <a:pt x="805" y="610"/>
                  <a:pt x="795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685800" y="4764240"/>
            <a:ext cx="2849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 confirmar el acceso, escriba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3597120" y="476676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ls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4590720" y="4752720"/>
            <a:ext cx="419760" cy="219600"/>
          </a:xfrm>
          <a:custGeom>
            <a:avLst/>
            <a:gdLst/>
            <a:ahLst/>
            <a:rect l="0" t="0" r="r" b="b"/>
            <a:pathLst>
              <a:path w="1166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086" y="0"/>
                </a:lnTo>
                <a:cubicBezTo>
                  <a:pt x="1097" y="0"/>
                  <a:pt x="1107" y="2"/>
                  <a:pt x="1117" y="6"/>
                </a:cubicBezTo>
                <a:cubicBezTo>
                  <a:pt x="1126" y="10"/>
                  <a:pt x="1135" y="16"/>
                  <a:pt x="1142" y="23"/>
                </a:cubicBezTo>
                <a:cubicBezTo>
                  <a:pt x="1150" y="31"/>
                  <a:pt x="1156" y="39"/>
                  <a:pt x="1160" y="49"/>
                </a:cubicBezTo>
                <a:cubicBezTo>
                  <a:pt x="1164" y="59"/>
                  <a:pt x="1166" y="69"/>
                  <a:pt x="1166" y="80"/>
                </a:cubicBezTo>
                <a:lnTo>
                  <a:pt x="1166" y="530"/>
                </a:lnTo>
                <a:cubicBezTo>
                  <a:pt x="1166" y="541"/>
                  <a:pt x="1164" y="551"/>
                  <a:pt x="1160" y="561"/>
                </a:cubicBezTo>
                <a:cubicBezTo>
                  <a:pt x="1156" y="570"/>
                  <a:pt x="1150" y="579"/>
                  <a:pt x="1142" y="586"/>
                </a:cubicBezTo>
                <a:cubicBezTo>
                  <a:pt x="1135" y="594"/>
                  <a:pt x="1126" y="600"/>
                  <a:pt x="1117" y="604"/>
                </a:cubicBezTo>
                <a:cubicBezTo>
                  <a:pt x="1107" y="608"/>
                  <a:pt x="1097" y="610"/>
                  <a:pt x="1086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3858840" y="4764240"/>
            <a:ext cx="731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(Mac) 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4649040" y="4766760"/>
            <a:ext cx="3088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dir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8791560" y="4752720"/>
            <a:ext cx="1038240" cy="219600"/>
          </a:xfrm>
          <a:custGeom>
            <a:avLst/>
            <a:gdLst/>
            <a:ahLst/>
            <a:rect l="0" t="0" r="r" b="b"/>
            <a:pathLst>
              <a:path w="2884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2805" y="0"/>
                </a:lnTo>
                <a:cubicBezTo>
                  <a:pt x="2816" y="0"/>
                  <a:pt x="2826" y="2"/>
                  <a:pt x="2835" y="6"/>
                </a:cubicBezTo>
                <a:cubicBezTo>
                  <a:pt x="2845" y="10"/>
                  <a:pt x="2854" y="16"/>
                  <a:pt x="2861" y="23"/>
                </a:cubicBezTo>
                <a:cubicBezTo>
                  <a:pt x="2869" y="31"/>
                  <a:pt x="2874" y="39"/>
                  <a:pt x="2878" y="49"/>
                </a:cubicBezTo>
                <a:cubicBezTo>
                  <a:pt x="2882" y="59"/>
                  <a:pt x="2884" y="69"/>
                  <a:pt x="2884" y="80"/>
                </a:cubicBezTo>
                <a:lnTo>
                  <a:pt x="2884" y="530"/>
                </a:lnTo>
                <a:cubicBezTo>
                  <a:pt x="2884" y="541"/>
                  <a:pt x="2882" y="551"/>
                  <a:pt x="2878" y="561"/>
                </a:cubicBezTo>
                <a:cubicBezTo>
                  <a:pt x="2874" y="570"/>
                  <a:pt x="2869" y="579"/>
                  <a:pt x="2861" y="586"/>
                </a:cubicBezTo>
                <a:cubicBezTo>
                  <a:pt x="2854" y="594"/>
                  <a:pt x="2845" y="600"/>
                  <a:pt x="2835" y="604"/>
                </a:cubicBezTo>
                <a:cubicBezTo>
                  <a:pt x="2826" y="608"/>
                  <a:pt x="2816" y="610"/>
                  <a:pt x="2805" y="610"/>
                </a:cubicBezTo>
                <a:lnTo>
                  <a:pt x="79" y="610"/>
                </a:lnTo>
                <a:cubicBezTo>
                  <a:pt x="68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5013360" y="4764240"/>
            <a:ext cx="3771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(Windows): deberán aparecer los elementos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8848800" y="4766760"/>
            <a:ext cx="92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notebooks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685440" y="5038560"/>
            <a:ext cx="1753200" cy="219240"/>
          </a:xfrm>
          <a:custGeom>
            <a:avLst/>
            <a:gdLst/>
            <a:ahLst/>
            <a:rect l="0" t="0" r="r" b="b"/>
            <a:pathLst>
              <a:path w="4870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1" y="10"/>
                  <a:pt x="4839" y="16"/>
                  <a:pt x="4847" y="23"/>
                </a:cubicBezTo>
                <a:cubicBezTo>
                  <a:pt x="4854" y="31"/>
                  <a:pt x="4860" y="39"/>
                  <a:pt x="4864" y="49"/>
                </a:cubicBezTo>
                <a:cubicBezTo>
                  <a:pt x="4868" y="59"/>
                  <a:pt x="4870" y="69"/>
                  <a:pt x="4870" y="79"/>
                </a:cubicBezTo>
                <a:lnTo>
                  <a:pt x="4870" y="530"/>
                </a:lnTo>
                <a:cubicBezTo>
                  <a:pt x="4870" y="541"/>
                  <a:pt x="4868" y="551"/>
                  <a:pt x="4864" y="560"/>
                </a:cubicBezTo>
                <a:cubicBezTo>
                  <a:pt x="4860" y="570"/>
                  <a:pt x="4854" y="579"/>
                  <a:pt x="4847" y="586"/>
                </a:cubicBezTo>
                <a:cubicBezTo>
                  <a:pt x="4839" y="594"/>
                  <a:pt x="4831" y="599"/>
                  <a:pt x="4821" y="603"/>
                </a:cubicBezTo>
                <a:cubicBezTo>
                  <a:pt x="4811" y="607"/>
                  <a:pt x="4801" y="609"/>
                  <a:pt x="4790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1" y="570"/>
                  <a:pt x="7" y="560"/>
                </a:cubicBezTo>
                <a:cubicBezTo>
                  <a:pt x="3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9827280" y="476424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743040" y="5052240"/>
            <a:ext cx="16448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requirements.txt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685440" y="16477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2437920" y="5050080"/>
            <a:ext cx="39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etc.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685800" y="127080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6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354680" y="127692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7181640" y="1618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413000" y="1270800"/>
            <a:ext cx="3003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Acceso a la carpeta de la práctica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685440" y="152388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85440" y="152388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690480" y="334800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5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3"/>
                </a:cubicBezTo>
                <a:cubicBezTo>
                  <a:pt x="30019" y="1225"/>
                  <a:pt x="30012" y="1235"/>
                  <a:pt x="30004" y="1243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3"/>
                </a:cubicBezTo>
                <a:cubicBezTo>
                  <a:pt x="18" y="1235"/>
                  <a:pt x="11" y="1225"/>
                  <a:pt x="7" y="1213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690480" y="334800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5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5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3"/>
                </a:cubicBezTo>
                <a:cubicBezTo>
                  <a:pt x="30019" y="1225"/>
                  <a:pt x="30012" y="1235"/>
                  <a:pt x="30004" y="1243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3"/>
                </a:cubicBezTo>
                <a:cubicBezTo>
                  <a:pt x="18" y="1235"/>
                  <a:pt x="11" y="1225"/>
                  <a:pt x="7" y="1213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690480" y="441468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3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3"/>
                </a:cubicBezTo>
                <a:lnTo>
                  <a:pt x="30031" y="1681"/>
                </a:lnTo>
                <a:cubicBezTo>
                  <a:pt x="30031" y="1693"/>
                  <a:pt x="30029" y="1705"/>
                  <a:pt x="30024" y="1716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5"/>
                  <a:pt x="29985" y="1762"/>
                  <a:pt x="29974" y="1767"/>
                </a:cubicBezTo>
                <a:cubicBezTo>
                  <a:pt x="29962" y="1771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1"/>
                  <a:pt x="57" y="1767"/>
                </a:cubicBezTo>
                <a:cubicBezTo>
                  <a:pt x="46" y="1762"/>
                  <a:pt x="36" y="1755"/>
                  <a:pt x="27" y="1747"/>
                </a:cubicBezTo>
                <a:cubicBezTo>
                  <a:pt x="18" y="1738"/>
                  <a:pt x="11" y="1728"/>
                  <a:pt x="7" y="1716"/>
                </a:cubicBezTo>
                <a:cubicBezTo>
                  <a:pt x="2" y="1705"/>
                  <a:pt x="0" y="1693"/>
                  <a:pt x="0" y="16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690480" y="441468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3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3"/>
                </a:cubicBezTo>
                <a:lnTo>
                  <a:pt x="30031" y="1681"/>
                </a:lnTo>
                <a:cubicBezTo>
                  <a:pt x="30031" y="1693"/>
                  <a:pt x="30029" y="1705"/>
                  <a:pt x="30024" y="1716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5"/>
                  <a:pt x="29985" y="1762"/>
                  <a:pt x="29974" y="1767"/>
                </a:cubicBezTo>
                <a:cubicBezTo>
                  <a:pt x="29962" y="1771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1"/>
                  <a:pt x="57" y="1767"/>
                </a:cubicBezTo>
                <a:cubicBezTo>
                  <a:pt x="46" y="1762"/>
                  <a:pt x="36" y="1755"/>
                  <a:pt x="27" y="1747"/>
                </a:cubicBezTo>
                <a:cubicBezTo>
                  <a:pt x="18" y="1738"/>
                  <a:pt x="11" y="1728"/>
                  <a:pt x="7" y="1716"/>
                </a:cubicBezTo>
                <a:cubicBezTo>
                  <a:pt x="2" y="1705"/>
                  <a:pt x="0" y="1693"/>
                  <a:pt x="0" y="168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685440" y="527652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685440" y="527652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048320" y="161028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70"/>
                </a:moveTo>
                <a:cubicBezTo>
                  <a:pt x="341" y="269"/>
                  <a:pt x="262" y="284"/>
                  <a:pt x="262" y="377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7"/>
                </a:cubicBezTo>
                <a:cubicBezTo>
                  <a:pt x="76" y="284"/>
                  <a:pt x="0" y="269"/>
                  <a:pt x="0" y="170"/>
                </a:cubicBezTo>
                <a:cubicBezTo>
                  <a:pt x="0" y="77"/>
                  <a:pt x="82" y="0"/>
                  <a:pt x="171" y="0"/>
                </a:cubicBezTo>
                <a:cubicBezTo>
                  <a:pt x="261" y="0"/>
                  <a:pt x="341" y="77"/>
                  <a:pt x="341" y="170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1086480" y="178704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9"/>
                </a:moveTo>
                <a:cubicBezTo>
                  <a:pt x="129" y="21"/>
                  <a:pt x="94" y="48"/>
                  <a:pt x="64" y="48"/>
                </a:cubicBezTo>
                <a:cubicBezTo>
                  <a:pt x="34" y="48"/>
                  <a:pt x="0" y="21"/>
                  <a:pt x="0" y="9"/>
                </a:cubicBezTo>
                <a:cubicBezTo>
                  <a:pt x="0" y="-4"/>
                  <a:pt x="34" y="1"/>
                  <a:pt x="64" y="1"/>
                </a:cubicBezTo>
                <a:cubicBezTo>
                  <a:pt x="94" y="1"/>
                  <a:pt x="129" y="-4"/>
                  <a:pt x="129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1081800" y="166500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6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1"/>
                  <a:pt x="-1" y="21"/>
                  <a:pt x="5" y="27"/>
                </a:cubicBezTo>
                <a:lnTo>
                  <a:pt x="62" y="84"/>
                </a:lnTo>
                <a:lnTo>
                  <a:pt x="62" y="248"/>
                </a:lnTo>
                <a:cubicBezTo>
                  <a:pt x="62" y="257"/>
                  <a:pt x="69" y="264"/>
                  <a:pt x="78" y="264"/>
                </a:cubicBezTo>
                <a:cubicBezTo>
                  <a:pt x="86" y="264"/>
                  <a:pt x="93" y="257"/>
                  <a:pt x="93" y="248"/>
                </a:cubicBezTo>
                <a:lnTo>
                  <a:pt x="93" y="84"/>
                </a:lnTo>
                <a:lnTo>
                  <a:pt x="151" y="27"/>
                </a:lnTo>
                <a:cubicBezTo>
                  <a:pt x="158" y="21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1076040" y="1748520"/>
            <a:ext cx="66960" cy="44640"/>
          </a:xfrm>
          <a:custGeom>
            <a:avLst/>
            <a:gdLst/>
            <a:ahLst/>
            <a:rect l="0" t="0" r="r" b="b"/>
            <a:pathLst>
              <a:path w="186" h="124">
                <a:moveTo>
                  <a:pt x="186" y="93"/>
                </a:moveTo>
                <a:cubicBezTo>
                  <a:pt x="186" y="110"/>
                  <a:pt x="173" y="124"/>
                  <a:pt x="156" y="124"/>
                </a:cubicBezTo>
                <a:lnTo>
                  <a:pt x="31" y="124"/>
                </a:lnTo>
                <a:cubicBezTo>
                  <a:pt x="14" y="124"/>
                  <a:pt x="0" y="110"/>
                  <a:pt x="0" y="93"/>
                </a:cubicBezTo>
                <a:lnTo>
                  <a:pt x="0" y="0"/>
                </a:lnTo>
                <a:lnTo>
                  <a:pt x="186" y="0"/>
                </a:lnTo>
                <a:lnTo>
                  <a:pt x="186" y="93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1070640" y="1742760"/>
            <a:ext cx="78120" cy="44640"/>
          </a:xfrm>
          <a:custGeom>
            <a:avLst/>
            <a:gdLst/>
            <a:ahLst/>
            <a:rect l="0" t="0" r="r" b="b"/>
            <a:pathLst>
              <a:path w="217" h="124">
                <a:moveTo>
                  <a:pt x="0" y="111"/>
                </a:moveTo>
                <a:cubicBezTo>
                  <a:pt x="-1" y="103"/>
                  <a:pt x="4" y="95"/>
                  <a:pt x="13" y="93"/>
                </a:cubicBezTo>
                <a:lnTo>
                  <a:pt x="199" y="62"/>
                </a:lnTo>
                <a:cubicBezTo>
                  <a:pt x="207" y="61"/>
                  <a:pt x="215" y="67"/>
                  <a:pt x="217" y="75"/>
                </a:cubicBezTo>
                <a:cubicBezTo>
                  <a:pt x="218" y="83"/>
                  <a:pt x="212" y="91"/>
                  <a:pt x="204" y="93"/>
                </a:cubicBezTo>
                <a:lnTo>
                  <a:pt x="18" y="124"/>
                </a:lnTo>
                <a:cubicBezTo>
                  <a:pt x="17" y="124"/>
                  <a:pt x="16" y="124"/>
                  <a:pt x="15" y="124"/>
                </a:cubicBezTo>
                <a:cubicBezTo>
                  <a:pt x="8" y="124"/>
                  <a:pt x="1" y="118"/>
                  <a:pt x="0" y="111"/>
                </a:cubicBezTo>
                <a:moveTo>
                  <a:pt x="0" y="49"/>
                </a:moveTo>
                <a:cubicBezTo>
                  <a:pt x="-1" y="41"/>
                  <a:pt x="4" y="33"/>
                  <a:pt x="13" y="31"/>
                </a:cubicBezTo>
                <a:lnTo>
                  <a:pt x="199" y="0"/>
                </a:lnTo>
                <a:cubicBezTo>
                  <a:pt x="207" y="-2"/>
                  <a:pt x="215" y="4"/>
                  <a:pt x="217" y="12"/>
                </a:cubicBezTo>
                <a:cubicBezTo>
                  <a:pt x="218" y="22"/>
                  <a:pt x="212" y="30"/>
                  <a:pt x="204" y="31"/>
                </a:cubicBezTo>
                <a:lnTo>
                  <a:pt x="18" y="62"/>
                </a:lnTo>
                <a:cubicBezTo>
                  <a:pt x="17" y="62"/>
                  <a:pt x="16" y="62"/>
                  <a:pt x="15" y="62"/>
                </a:cubicBezTo>
                <a:cubicBezTo>
                  <a:pt x="8" y="62"/>
                  <a:pt x="1" y="57"/>
                  <a:pt x="0" y="4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1220400" y="1630800"/>
            <a:ext cx="9708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¿Qué es un "entorno virtual"?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conjunto de herramientas independiente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específico para esta práctica, que evita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990720" y="1916280"/>
            <a:ext cx="6221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interferencias con el resto del equipo. Se crea mediante un único comando.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685800" y="2497320"/>
            <a:ext cx="6777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Introduzca los siguientes comandos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uno en uno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(pulsando Intro tras cada uno):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3924000" y="2933640"/>
            <a:ext cx="724320" cy="219240"/>
          </a:xfrm>
          <a:custGeom>
            <a:avLst/>
            <a:gdLst/>
            <a:ahLst/>
            <a:rect l="0" t="0" r="r" b="b"/>
            <a:pathLst>
              <a:path w="2012" h="609">
                <a:moveTo>
                  <a:pt x="0" y="530"/>
                </a:moveTo>
                <a:lnTo>
                  <a:pt x="0" y="80"/>
                </a:lnTo>
                <a:cubicBezTo>
                  <a:pt x="0" y="70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933" y="0"/>
                </a:lnTo>
                <a:cubicBezTo>
                  <a:pt x="1943" y="0"/>
                  <a:pt x="1953" y="2"/>
                  <a:pt x="1963" y="6"/>
                </a:cubicBezTo>
                <a:cubicBezTo>
                  <a:pt x="1973" y="10"/>
                  <a:pt x="1981" y="15"/>
                  <a:pt x="1989" y="23"/>
                </a:cubicBezTo>
                <a:cubicBezTo>
                  <a:pt x="1996" y="30"/>
                  <a:pt x="2002" y="39"/>
                  <a:pt x="2006" y="49"/>
                </a:cubicBezTo>
                <a:cubicBezTo>
                  <a:pt x="2010" y="58"/>
                  <a:pt x="2012" y="70"/>
                  <a:pt x="2012" y="80"/>
                </a:cubicBezTo>
                <a:lnTo>
                  <a:pt x="2012" y="530"/>
                </a:lnTo>
                <a:cubicBezTo>
                  <a:pt x="2012" y="540"/>
                  <a:pt x="2010" y="550"/>
                  <a:pt x="2006" y="560"/>
                </a:cubicBezTo>
                <a:cubicBezTo>
                  <a:pt x="2002" y="570"/>
                  <a:pt x="1996" y="579"/>
                  <a:pt x="1989" y="586"/>
                </a:cubicBezTo>
                <a:cubicBezTo>
                  <a:pt x="1981" y="593"/>
                  <a:pt x="1973" y="599"/>
                  <a:pt x="1963" y="603"/>
                </a:cubicBezTo>
                <a:cubicBezTo>
                  <a:pt x="1953" y="607"/>
                  <a:pt x="1943" y="609"/>
                  <a:pt x="1933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685800" y="2945160"/>
            <a:ext cx="3232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Creación del entorno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(Windows utiliza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980880" y="294732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python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5200560" y="2933640"/>
            <a:ext cx="829080" cy="219240"/>
          </a:xfrm>
          <a:custGeom>
            <a:avLst/>
            <a:gdLst/>
            <a:ahLst/>
            <a:rect l="0" t="0" r="r" b="b"/>
            <a:pathLst>
              <a:path w="2303" h="609">
                <a:moveTo>
                  <a:pt x="0" y="530"/>
                </a:moveTo>
                <a:lnTo>
                  <a:pt x="0" y="80"/>
                </a:lnTo>
                <a:cubicBezTo>
                  <a:pt x="0" y="70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2223" y="0"/>
                </a:lnTo>
                <a:cubicBezTo>
                  <a:pt x="2234" y="0"/>
                  <a:pt x="2244" y="2"/>
                  <a:pt x="2254" y="6"/>
                </a:cubicBezTo>
                <a:cubicBezTo>
                  <a:pt x="2263" y="10"/>
                  <a:pt x="2272" y="15"/>
                  <a:pt x="2279" y="23"/>
                </a:cubicBezTo>
                <a:cubicBezTo>
                  <a:pt x="2287" y="30"/>
                  <a:pt x="2293" y="39"/>
                  <a:pt x="2297" y="49"/>
                </a:cubicBezTo>
                <a:cubicBezTo>
                  <a:pt x="2301" y="58"/>
                  <a:pt x="2303" y="70"/>
                  <a:pt x="2303" y="80"/>
                </a:cubicBezTo>
                <a:lnTo>
                  <a:pt x="2303" y="530"/>
                </a:lnTo>
                <a:cubicBezTo>
                  <a:pt x="2303" y="540"/>
                  <a:pt x="2301" y="550"/>
                  <a:pt x="2297" y="560"/>
                </a:cubicBezTo>
                <a:cubicBezTo>
                  <a:pt x="2293" y="570"/>
                  <a:pt x="2287" y="579"/>
                  <a:pt x="2279" y="586"/>
                </a:cubicBezTo>
                <a:cubicBezTo>
                  <a:pt x="2272" y="593"/>
                  <a:pt x="2263" y="599"/>
                  <a:pt x="2254" y="603"/>
                </a:cubicBezTo>
                <a:cubicBezTo>
                  <a:pt x="2244" y="607"/>
                  <a:pt x="2234" y="609"/>
                  <a:pt x="2223" y="609"/>
                </a:cubicBezTo>
                <a:lnTo>
                  <a:pt x="79" y="609"/>
                </a:lnTo>
                <a:cubicBezTo>
                  <a:pt x="69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4652280" y="2945160"/>
            <a:ext cx="545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; Mac,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5255280" y="294732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python3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6029280" y="294516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866880" y="3500280"/>
            <a:ext cx="15606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-m venv .venv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685800" y="4002480"/>
            <a:ext cx="1961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Activación del entorno: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866880" y="4566960"/>
            <a:ext cx="2886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.venv\Scripts\activate      ← Windows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1009440" y="5362560"/>
            <a:ext cx="200520" cy="200160"/>
          </a:xfrm>
          <a:custGeom>
            <a:avLst/>
            <a:gdLst/>
            <a:ahLst/>
            <a:rect l="0" t="0" r="r" b="b"/>
            <a:pathLst>
              <a:path w="557" h="556">
                <a:moveTo>
                  <a:pt x="557" y="494"/>
                </a:moveTo>
                <a:cubicBezTo>
                  <a:pt x="557" y="529"/>
                  <a:pt x="529" y="556"/>
                  <a:pt x="495" y="556"/>
                </a:cubicBezTo>
                <a:lnTo>
                  <a:pt x="62" y="556"/>
                </a:lnTo>
                <a:cubicBezTo>
                  <a:pt x="28" y="556"/>
                  <a:pt x="0" y="529"/>
                  <a:pt x="0" y="494"/>
                </a:cubicBezTo>
                <a:lnTo>
                  <a:pt x="0" y="61"/>
                </a:lnTo>
                <a:cubicBezTo>
                  <a:pt x="0" y="27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7"/>
                  <a:pt x="557" y="61"/>
                </a:cubicBezTo>
                <a:lnTo>
                  <a:pt x="557" y="49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1041120" y="5395680"/>
            <a:ext cx="137520" cy="135360"/>
          </a:xfrm>
          <a:custGeom>
            <a:avLst/>
            <a:gdLst/>
            <a:ahLst/>
            <a:rect l="0" t="0" r="r" b="b"/>
            <a:pathLst>
              <a:path w="382" h="376">
                <a:moveTo>
                  <a:pt x="365" y="7"/>
                </a:moveTo>
                <a:cubicBezTo>
                  <a:pt x="346" y="-5"/>
                  <a:pt x="322" y="0"/>
                  <a:pt x="311" y="18"/>
                </a:cubicBezTo>
                <a:lnTo>
                  <a:pt x="143" y="278"/>
                </a:lnTo>
                <a:lnTo>
                  <a:pt x="65" y="206"/>
                </a:lnTo>
                <a:cubicBezTo>
                  <a:pt x="49" y="192"/>
                  <a:pt x="25" y="193"/>
                  <a:pt x="10" y="208"/>
                </a:cubicBezTo>
                <a:cubicBezTo>
                  <a:pt x="-4" y="224"/>
                  <a:pt x="-3" y="248"/>
                  <a:pt x="13" y="263"/>
                </a:cubicBezTo>
                <a:lnTo>
                  <a:pt x="124" y="366"/>
                </a:lnTo>
                <a:cubicBezTo>
                  <a:pt x="131" y="373"/>
                  <a:pt x="141" y="376"/>
                  <a:pt x="150" y="376"/>
                </a:cubicBezTo>
                <a:cubicBezTo>
                  <a:pt x="160" y="376"/>
                  <a:pt x="174" y="372"/>
                  <a:pt x="182" y="359"/>
                </a:cubicBezTo>
                <a:cubicBezTo>
                  <a:pt x="188" y="351"/>
                  <a:pt x="376" y="60"/>
                  <a:pt x="376" y="60"/>
                </a:cubicBezTo>
                <a:cubicBezTo>
                  <a:pt x="388" y="42"/>
                  <a:pt x="383" y="18"/>
                  <a:pt x="365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866880" y="4748040"/>
            <a:ext cx="2574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source .venv/bin/activate   ← Mac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4562280" y="537192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223" y="0"/>
                </a:lnTo>
                <a:cubicBezTo>
                  <a:pt x="2233" y="0"/>
                  <a:pt x="2243" y="2"/>
                  <a:pt x="2253" y="6"/>
                </a:cubicBezTo>
                <a:cubicBezTo>
                  <a:pt x="2263" y="10"/>
                  <a:pt x="2271" y="16"/>
                  <a:pt x="2279" y="23"/>
                </a:cubicBezTo>
                <a:cubicBezTo>
                  <a:pt x="2287" y="31"/>
                  <a:pt x="2293" y="39"/>
                  <a:pt x="2297" y="49"/>
                </a:cubicBezTo>
                <a:cubicBezTo>
                  <a:pt x="2301" y="59"/>
                  <a:pt x="2303" y="69"/>
                  <a:pt x="2303" y="79"/>
                </a:cubicBezTo>
                <a:lnTo>
                  <a:pt x="2303" y="529"/>
                </a:lnTo>
                <a:cubicBezTo>
                  <a:pt x="2303" y="540"/>
                  <a:pt x="2301" y="550"/>
                  <a:pt x="2297" y="560"/>
                </a:cubicBezTo>
                <a:cubicBezTo>
                  <a:pt x="2293" y="569"/>
                  <a:pt x="2287" y="578"/>
                  <a:pt x="2279" y="586"/>
                </a:cubicBezTo>
                <a:cubicBezTo>
                  <a:pt x="2271" y="594"/>
                  <a:pt x="2263" y="599"/>
                  <a:pt x="2253" y="603"/>
                </a:cubicBezTo>
                <a:cubicBezTo>
                  <a:pt x="2243" y="608"/>
                  <a:pt x="2233" y="610"/>
                  <a:pt x="2223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8"/>
                  <a:pt x="10" y="569"/>
                  <a:pt x="6" y="560"/>
                </a:cubicBezTo>
                <a:cubicBezTo>
                  <a:pt x="2" y="550"/>
                  <a:pt x="0" y="540"/>
                  <a:pt x="0" y="529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1220400" y="5383440"/>
            <a:ext cx="3334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Cuando el entorno está activo, aparece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4618440" y="538560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(.venv)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85440" y="124776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 txBox="1"/>
          <p:nvPr/>
        </p:nvSpPr>
        <p:spPr>
          <a:xfrm>
            <a:off x="5392080" y="5383440"/>
            <a:ext cx="4122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al principio de la línea. Si no aparece, no continúe.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 txBox="1"/>
          <p:nvPr/>
        </p:nvSpPr>
        <p:spPr>
          <a:xfrm>
            <a:off x="685800" y="87048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7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1354680" y="87696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7181640" y="1218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1413000" y="870480"/>
            <a:ext cx="4503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Creación del entorno e instalación de dependencias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690480" y="20905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690480" y="20905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8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690480" y="2709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1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1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690480" y="2709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1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685440" y="4124160"/>
            <a:ext cx="10820880" cy="1457640"/>
          </a:xfrm>
          <a:custGeom>
            <a:avLst/>
            <a:gdLst/>
            <a:ahLst/>
            <a:rect l="0" t="0" r="r" b="b"/>
            <a:pathLst>
              <a:path w="30058" h="4049">
                <a:moveTo>
                  <a:pt x="0" y="0"/>
                </a:moveTo>
                <a:lnTo>
                  <a:pt x="30058" y="0"/>
                </a:lnTo>
                <a:lnTo>
                  <a:pt x="30058" y="4049"/>
                </a:lnTo>
                <a:lnTo>
                  <a:pt x="0" y="4049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685440" y="4124160"/>
            <a:ext cx="29160" cy="1457640"/>
          </a:xfrm>
          <a:custGeom>
            <a:avLst/>
            <a:gdLst/>
            <a:ahLst/>
            <a:rect l="0" t="0" r="r" b="b"/>
            <a:pathLst>
              <a:path w="81" h="4049">
                <a:moveTo>
                  <a:pt x="0" y="0"/>
                </a:moveTo>
                <a:lnTo>
                  <a:pt x="81" y="0"/>
                </a:lnTo>
                <a:lnTo>
                  <a:pt x="81" y="4049"/>
                </a:lnTo>
                <a:lnTo>
                  <a:pt x="0" y="4049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2742840" y="167616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224" y="0"/>
                </a:lnTo>
                <a:cubicBezTo>
                  <a:pt x="2235" y="0"/>
                  <a:pt x="2245" y="2"/>
                  <a:pt x="2254" y="6"/>
                </a:cubicBezTo>
                <a:cubicBezTo>
                  <a:pt x="2264" y="10"/>
                  <a:pt x="2273" y="16"/>
                  <a:pt x="2280" y="23"/>
                </a:cubicBezTo>
                <a:cubicBezTo>
                  <a:pt x="2288" y="31"/>
                  <a:pt x="2293" y="39"/>
                  <a:pt x="2297" y="49"/>
                </a:cubicBezTo>
                <a:cubicBezTo>
                  <a:pt x="2301" y="59"/>
                  <a:pt x="2303" y="69"/>
                  <a:pt x="2303" y="80"/>
                </a:cubicBezTo>
                <a:lnTo>
                  <a:pt x="2303" y="530"/>
                </a:lnTo>
                <a:cubicBezTo>
                  <a:pt x="2303" y="541"/>
                  <a:pt x="2301" y="551"/>
                  <a:pt x="2297" y="561"/>
                </a:cubicBezTo>
                <a:cubicBezTo>
                  <a:pt x="2293" y="570"/>
                  <a:pt x="2288" y="579"/>
                  <a:pt x="2280" y="586"/>
                </a:cubicBezTo>
                <a:cubicBezTo>
                  <a:pt x="2273" y="594"/>
                  <a:pt x="2264" y="600"/>
                  <a:pt x="2254" y="604"/>
                </a:cubicBezTo>
                <a:cubicBezTo>
                  <a:pt x="2245" y="608"/>
                  <a:pt x="2235" y="610"/>
                  <a:pt x="2224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6"/>
                </a:cubicBezTo>
                <a:cubicBezTo>
                  <a:pt x="16" y="579"/>
                  <a:pt x="11" y="570"/>
                  <a:pt x="7" y="561"/>
                </a:cubicBezTo>
                <a:cubicBezTo>
                  <a:pt x="3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685800" y="1687680"/>
            <a:ext cx="2055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el entorno activado 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2801880" y="169020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(.venv)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3575520" y="1687680"/>
            <a:ext cx="5708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visible), instale todos los componentes que requieren los programas: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866880" y="2242800"/>
            <a:ext cx="1950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--upgrade pip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866880" y="2862000"/>
            <a:ext cx="241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-r requirements.txt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685800" y="3364200"/>
            <a:ext cx="10250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Este proceso tarda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algunos minutos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muestra abundante texto en pantalla. Es el comportamiento previsto. Espere a que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1017720" y="4227840"/>
            <a:ext cx="183960" cy="183960"/>
          </a:xfrm>
          <a:custGeom>
            <a:avLst/>
            <a:gdLst/>
            <a:ahLst/>
            <a:rect l="0" t="0" r="r" b="b"/>
            <a:pathLst>
              <a:path w="511" h="511">
                <a:moveTo>
                  <a:pt x="309" y="255"/>
                </a:moveTo>
                <a:lnTo>
                  <a:pt x="499" y="66"/>
                </a:lnTo>
                <a:cubicBezTo>
                  <a:pt x="514" y="51"/>
                  <a:pt x="514" y="26"/>
                  <a:pt x="499" y="11"/>
                </a:cubicBezTo>
                <a:cubicBezTo>
                  <a:pt x="484" y="-4"/>
                  <a:pt x="459" y="-4"/>
                  <a:pt x="444" y="11"/>
                </a:cubicBezTo>
                <a:lnTo>
                  <a:pt x="255" y="200"/>
                </a:lnTo>
                <a:lnTo>
                  <a:pt x="66" y="11"/>
                </a:lnTo>
                <a:cubicBezTo>
                  <a:pt x="51" y="-4"/>
                  <a:pt x="27" y="-4"/>
                  <a:pt x="11" y="11"/>
                </a:cubicBezTo>
                <a:cubicBezTo>
                  <a:pt x="-4" y="26"/>
                  <a:pt x="-4" y="51"/>
                  <a:pt x="11" y="66"/>
                </a:cubicBezTo>
                <a:lnTo>
                  <a:pt x="200" y="255"/>
                </a:lnTo>
                <a:lnTo>
                  <a:pt x="11" y="445"/>
                </a:lnTo>
                <a:cubicBezTo>
                  <a:pt x="-4" y="460"/>
                  <a:pt x="-4" y="484"/>
                  <a:pt x="11" y="499"/>
                </a:cubicBezTo>
                <a:cubicBezTo>
                  <a:pt x="19" y="507"/>
                  <a:pt x="28" y="511"/>
                  <a:pt x="38" y="511"/>
                </a:cubicBezTo>
                <a:cubicBezTo>
                  <a:pt x="48" y="511"/>
                  <a:pt x="58" y="507"/>
                  <a:pt x="66" y="499"/>
                </a:cubicBezTo>
                <a:lnTo>
                  <a:pt x="255" y="310"/>
                </a:lnTo>
                <a:lnTo>
                  <a:pt x="444" y="499"/>
                </a:lnTo>
                <a:cubicBezTo>
                  <a:pt x="451" y="506"/>
                  <a:pt x="461" y="510"/>
                  <a:pt x="471" y="510"/>
                </a:cubicBezTo>
                <a:cubicBezTo>
                  <a:pt x="481" y="510"/>
                  <a:pt x="492" y="506"/>
                  <a:pt x="499" y="499"/>
                </a:cubicBezTo>
                <a:cubicBezTo>
                  <a:pt x="514" y="484"/>
                  <a:pt x="514" y="459"/>
                  <a:pt x="499" y="444"/>
                </a:cubicBezTo>
                <a:lnTo>
                  <a:pt x="309" y="255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685800" y="3659400"/>
            <a:ext cx="2799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cursor vuelva a quedar disponible.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5371920" y="4228920"/>
            <a:ext cx="628920" cy="219600"/>
          </a:xfrm>
          <a:custGeom>
            <a:avLst/>
            <a:gdLst/>
            <a:ahLst/>
            <a:rect l="0" t="0" r="r" b="b"/>
            <a:pathLst>
              <a:path w="1747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668" y="0"/>
                </a:lnTo>
                <a:cubicBezTo>
                  <a:pt x="1678" y="0"/>
                  <a:pt x="1689" y="2"/>
                  <a:pt x="1698" y="6"/>
                </a:cubicBezTo>
                <a:cubicBezTo>
                  <a:pt x="1708" y="10"/>
                  <a:pt x="1717" y="16"/>
                  <a:pt x="1724" y="23"/>
                </a:cubicBezTo>
                <a:cubicBezTo>
                  <a:pt x="1731" y="31"/>
                  <a:pt x="1737" y="39"/>
                  <a:pt x="1741" y="49"/>
                </a:cubicBezTo>
                <a:cubicBezTo>
                  <a:pt x="1745" y="59"/>
                  <a:pt x="1747" y="69"/>
                  <a:pt x="1747" y="79"/>
                </a:cubicBezTo>
                <a:lnTo>
                  <a:pt x="1747" y="530"/>
                </a:lnTo>
                <a:cubicBezTo>
                  <a:pt x="1747" y="541"/>
                  <a:pt x="1745" y="551"/>
                  <a:pt x="1741" y="561"/>
                </a:cubicBezTo>
                <a:cubicBezTo>
                  <a:pt x="1737" y="570"/>
                  <a:pt x="1731" y="579"/>
                  <a:pt x="1724" y="586"/>
                </a:cubicBezTo>
                <a:cubicBezTo>
                  <a:pt x="1717" y="594"/>
                  <a:pt x="1708" y="599"/>
                  <a:pt x="1698" y="603"/>
                </a:cubicBezTo>
                <a:cubicBezTo>
                  <a:pt x="1689" y="608"/>
                  <a:pt x="1678" y="610"/>
                  <a:pt x="1668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1220400" y="4240440"/>
            <a:ext cx="4144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Si el proceso finaliza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color rojo con la palabra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429880" y="4242600"/>
            <a:ext cx="5144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error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990360" y="4514760"/>
            <a:ext cx="2572200" cy="219240"/>
          </a:xfrm>
          <a:custGeom>
            <a:avLst/>
            <a:gdLst/>
            <a:ahLst/>
            <a:rect l="0" t="0" r="r" b="b"/>
            <a:pathLst>
              <a:path w="7145" h="609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066" y="0"/>
                </a:lnTo>
                <a:cubicBezTo>
                  <a:pt x="7076" y="0"/>
                  <a:pt x="7086" y="2"/>
                  <a:pt x="7096" y="6"/>
                </a:cubicBezTo>
                <a:cubicBezTo>
                  <a:pt x="7106" y="10"/>
                  <a:pt x="7114" y="16"/>
                  <a:pt x="7122" y="23"/>
                </a:cubicBezTo>
                <a:cubicBezTo>
                  <a:pt x="7129" y="30"/>
                  <a:pt x="7135" y="39"/>
                  <a:pt x="7139" y="49"/>
                </a:cubicBezTo>
                <a:cubicBezTo>
                  <a:pt x="7143" y="58"/>
                  <a:pt x="7145" y="69"/>
                  <a:pt x="7145" y="79"/>
                </a:cubicBezTo>
                <a:lnTo>
                  <a:pt x="7145" y="529"/>
                </a:lnTo>
                <a:cubicBezTo>
                  <a:pt x="7145" y="540"/>
                  <a:pt x="7143" y="551"/>
                  <a:pt x="7139" y="560"/>
                </a:cubicBezTo>
                <a:cubicBezTo>
                  <a:pt x="7135" y="570"/>
                  <a:pt x="7129" y="579"/>
                  <a:pt x="7122" y="586"/>
                </a:cubicBezTo>
                <a:cubicBezTo>
                  <a:pt x="7114" y="593"/>
                  <a:pt x="7106" y="599"/>
                  <a:pt x="7096" y="603"/>
                </a:cubicBezTo>
                <a:cubicBezTo>
                  <a:pt x="7086" y="607"/>
                  <a:pt x="7076" y="609"/>
                  <a:pt x="7066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29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5998680" y="4240440"/>
            <a:ext cx="4499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copie el mensaje y consúltelo en el foro. Si finaliza con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1047600" y="4528440"/>
            <a:ext cx="24670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Successfully installed …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1026000" y="4991760"/>
            <a:ext cx="167040" cy="161280"/>
          </a:xfrm>
          <a:custGeom>
            <a:avLst/>
            <a:gdLst/>
            <a:ahLst/>
            <a:rect l="0" t="0" r="r" b="b"/>
            <a:pathLst>
              <a:path w="464" h="448">
                <a:moveTo>
                  <a:pt x="325" y="0"/>
                </a:moveTo>
                <a:cubicBezTo>
                  <a:pt x="279" y="0"/>
                  <a:pt x="279" y="15"/>
                  <a:pt x="233" y="15"/>
                </a:cubicBezTo>
                <a:cubicBezTo>
                  <a:pt x="187" y="15"/>
                  <a:pt x="187" y="0"/>
                  <a:pt x="139" y="0"/>
                </a:cubicBezTo>
                <a:cubicBezTo>
                  <a:pt x="78" y="0"/>
                  <a:pt x="0" y="31"/>
                  <a:pt x="0" y="139"/>
                </a:cubicBezTo>
                <a:cubicBezTo>
                  <a:pt x="0" y="310"/>
                  <a:pt x="93" y="448"/>
                  <a:pt x="155" y="448"/>
                </a:cubicBezTo>
                <a:cubicBezTo>
                  <a:pt x="202" y="448"/>
                  <a:pt x="202" y="433"/>
                  <a:pt x="233" y="433"/>
                </a:cubicBezTo>
                <a:cubicBezTo>
                  <a:pt x="264" y="433"/>
                  <a:pt x="264" y="448"/>
                  <a:pt x="310" y="448"/>
                </a:cubicBezTo>
                <a:cubicBezTo>
                  <a:pt x="372" y="448"/>
                  <a:pt x="464" y="310"/>
                  <a:pt x="464" y="139"/>
                </a:cubicBezTo>
                <a:cubicBezTo>
                  <a:pt x="464" y="31"/>
                  <a:pt x="387" y="0"/>
                  <a:pt x="325" y="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1114920" y="4969440"/>
            <a:ext cx="78120" cy="28080"/>
          </a:xfrm>
          <a:custGeom>
            <a:avLst/>
            <a:gdLst/>
            <a:ahLst/>
            <a:rect l="0" t="0" r="r" b="b"/>
            <a:pathLst>
              <a:path w="217" h="78">
                <a:moveTo>
                  <a:pt x="0" y="63"/>
                </a:moveTo>
                <a:cubicBezTo>
                  <a:pt x="0" y="63"/>
                  <a:pt x="48" y="0"/>
                  <a:pt x="125" y="0"/>
                </a:cubicBezTo>
                <a:cubicBezTo>
                  <a:pt x="187" y="0"/>
                  <a:pt x="217" y="32"/>
                  <a:pt x="217" y="32"/>
                </a:cubicBezTo>
                <a:cubicBezTo>
                  <a:pt x="217" y="32"/>
                  <a:pt x="156" y="78"/>
                  <a:pt x="109" y="78"/>
                </a:cubicBezTo>
                <a:cubicBezTo>
                  <a:pt x="63" y="78"/>
                  <a:pt x="0" y="63"/>
                  <a:pt x="0" y="63"/>
                </a:cubicBez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1103760" y="4952880"/>
            <a:ext cx="28440" cy="55800"/>
          </a:xfrm>
          <a:custGeom>
            <a:avLst/>
            <a:gdLst/>
            <a:ahLst/>
            <a:rect l="0" t="0" r="r" b="b"/>
            <a:pathLst>
              <a:path w="79" h="155">
                <a:moveTo>
                  <a:pt x="16" y="155"/>
                </a:moveTo>
                <a:cubicBezTo>
                  <a:pt x="7" y="155"/>
                  <a:pt x="0" y="148"/>
                  <a:pt x="0" y="140"/>
                </a:cubicBezTo>
                <a:cubicBezTo>
                  <a:pt x="0" y="87"/>
                  <a:pt x="19" y="38"/>
                  <a:pt x="51" y="4"/>
                </a:cubicBezTo>
                <a:cubicBezTo>
                  <a:pt x="55" y="1"/>
                  <a:pt x="59" y="0"/>
                  <a:pt x="63" y="0"/>
                </a:cubicBezTo>
                <a:lnTo>
                  <a:pt x="64" y="0"/>
                </a:lnTo>
                <a:cubicBezTo>
                  <a:pt x="67" y="0"/>
                  <a:pt x="71" y="1"/>
                  <a:pt x="74" y="4"/>
                </a:cubicBezTo>
                <a:cubicBezTo>
                  <a:pt x="80" y="10"/>
                  <a:pt x="80" y="20"/>
                  <a:pt x="74" y="27"/>
                </a:cubicBezTo>
                <a:cubicBezTo>
                  <a:pt x="47" y="54"/>
                  <a:pt x="31" y="95"/>
                  <a:pt x="31" y="140"/>
                </a:cubicBezTo>
                <a:cubicBezTo>
                  <a:pt x="31" y="148"/>
                  <a:pt x="24" y="155"/>
                  <a:pt x="16" y="155"/>
                </a:cubicBez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3561480" y="4526280"/>
            <a:ext cx="2213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la instalación es correcta.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8391240" y="4962240"/>
            <a:ext cx="2715120" cy="219600"/>
          </a:xfrm>
          <a:custGeom>
            <a:avLst/>
            <a:gdLst/>
            <a:ahLst/>
            <a:rect l="0" t="0" r="r" b="b"/>
            <a:pathLst>
              <a:path w="7542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542" y="0"/>
                </a:lnTo>
                <a:lnTo>
                  <a:pt x="7542" y="610"/>
                </a:ln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1220400" y="4974120"/>
            <a:ext cx="7155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Mac con chip M1/M2/M3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si se produce un error relacionado con OpenCV, ejecute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990360" y="5248080"/>
            <a:ext cx="876600" cy="219600"/>
          </a:xfrm>
          <a:custGeom>
            <a:avLst/>
            <a:gdLst/>
            <a:ahLst/>
            <a:rect l="0" t="0" r="r" b="b"/>
            <a:pathLst>
              <a:path w="2435" h="610">
                <a:moveTo>
                  <a:pt x="0" y="0"/>
                </a:moveTo>
                <a:lnTo>
                  <a:pt x="2356" y="0"/>
                </a:lnTo>
                <a:cubicBezTo>
                  <a:pt x="2366" y="0"/>
                  <a:pt x="2377" y="2"/>
                  <a:pt x="2386" y="6"/>
                </a:cubicBezTo>
                <a:cubicBezTo>
                  <a:pt x="2396" y="10"/>
                  <a:pt x="2405" y="16"/>
                  <a:pt x="2412" y="23"/>
                </a:cubicBezTo>
                <a:cubicBezTo>
                  <a:pt x="2420" y="31"/>
                  <a:pt x="2425" y="39"/>
                  <a:pt x="2429" y="49"/>
                </a:cubicBezTo>
                <a:cubicBezTo>
                  <a:pt x="2433" y="59"/>
                  <a:pt x="2435" y="69"/>
                  <a:pt x="2435" y="79"/>
                </a:cubicBezTo>
                <a:lnTo>
                  <a:pt x="2435" y="530"/>
                </a:lnTo>
                <a:cubicBezTo>
                  <a:pt x="2435" y="541"/>
                  <a:pt x="2433" y="551"/>
                  <a:pt x="2429" y="561"/>
                </a:cubicBezTo>
                <a:cubicBezTo>
                  <a:pt x="2425" y="570"/>
                  <a:pt x="2420" y="579"/>
                  <a:pt x="2412" y="586"/>
                </a:cubicBezTo>
                <a:cubicBezTo>
                  <a:pt x="2405" y="594"/>
                  <a:pt x="2396" y="600"/>
                  <a:pt x="2386" y="604"/>
                </a:cubicBezTo>
                <a:cubicBezTo>
                  <a:pt x="2377" y="608"/>
                  <a:pt x="2366" y="610"/>
                  <a:pt x="2356" y="610"/>
                </a:cubicBezTo>
                <a:lnTo>
                  <a:pt x="0" y="610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8445960" y="4976280"/>
            <a:ext cx="26726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pip install opencv-python-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990720" y="5262120"/>
            <a:ext cx="8229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headless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685440" y="13712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1866600" y="525960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685800" y="99432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7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1354680" y="100080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7181640" y="1342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1413000" y="994320"/>
            <a:ext cx="3750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Instalación de dependencias (continuación)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690480" y="328104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690480" y="328104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685440" y="396216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685440" y="396216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685800" y="2583000"/>
            <a:ext cx="10226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único comando descarga las 14 imágenes de carretera y el modelo de inteligencia artificial (alojados en GitHub, de ahí la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1828440" y="2857320"/>
            <a:ext cx="315000" cy="219600"/>
          </a:xfrm>
          <a:custGeom>
            <a:avLst/>
            <a:gdLst/>
            <a:ahLst/>
            <a:rect l="0" t="0" r="r" b="b"/>
            <a:pathLst>
              <a:path w="875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6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5" y="39"/>
                  <a:pt x="869" y="49"/>
                </a:cubicBezTo>
                <a:cubicBezTo>
                  <a:pt x="873" y="59"/>
                  <a:pt x="875" y="69"/>
                  <a:pt x="875" y="79"/>
                </a:cubicBezTo>
                <a:lnTo>
                  <a:pt x="875" y="530"/>
                </a:lnTo>
                <a:cubicBezTo>
                  <a:pt x="875" y="541"/>
                  <a:pt x="873" y="551"/>
                  <a:pt x="869" y="561"/>
                </a:cubicBezTo>
                <a:cubicBezTo>
                  <a:pt x="865" y="570"/>
                  <a:pt x="859" y="579"/>
                  <a:pt x="851" y="586"/>
                </a:cubicBezTo>
                <a:cubicBezTo>
                  <a:pt x="844" y="594"/>
                  <a:pt x="835" y="599"/>
                  <a:pt x="826" y="603"/>
                </a:cubicBezTo>
                <a:cubicBezTo>
                  <a:pt x="816" y="608"/>
                  <a:pt x="806" y="610"/>
                  <a:pt x="795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1" y="570"/>
                  <a:pt x="7" y="561"/>
                </a:cubicBezTo>
                <a:cubicBezTo>
                  <a:pt x="3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685800" y="2868840"/>
            <a:ext cx="1140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necesidad 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1885320" y="287100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2147040" y="286884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1009440" y="404784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495"/>
                </a:moveTo>
                <a:cubicBezTo>
                  <a:pt x="557" y="529"/>
                  <a:pt x="529" y="557"/>
                  <a:pt x="495" y="557"/>
                </a:cubicBezTo>
                <a:lnTo>
                  <a:pt x="62" y="557"/>
                </a:lnTo>
                <a:cubicBezTo>
                  <a:pt x="28" y="557"/>
                  <a:pt x="0" y="529"/>
                  <a:pt x="0" y="495"/>
                </a:cubicBezTo>
                <a:lnTo>
                  <a:pt x="0" y="62"/>
                </a:lnTo>
                <a:cubicBezTo>
                  <a:pt x="0" y="28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8"/>
                  <a:pt x="557" y="62"/>
                </a:cubicBezTo>
                <a:lnTo>
                  <a:pt x="557" y="49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041120" y="4080960"/>
            <a:ext cx="137520" cy="135360"/>
          </a:xfrm>
          <a:custGeom>
            <a:avLst/>
            <a:gdLst/>
            <a:ahLst/>
            <a:rect l="0" t="0" r="r" b="b"/>
            <a:pathLst>
              <a:path w="382" h="376">
                <a:moveTo>
                  <a:pt x="365" y="6"/>
                </a:moveTo>
                <a:cubicBezTo>
                  <a:pt x="346" y="-5"/>
                  <a:pt x="322" y="0"/>
                  <a:pt x="311" y="18"/>
                </a:cubicBezTo>
                <a:lnTo>
                  <a:pt x="143" y="278"/>
                </a:lnTo>
                <a:lnTo>
                  <a:pt x="65" y="206"/>
                </a:lnTo>
                <a:cubicBezTo>
                  <a:pt x="49" y="192"/>
                  <a:pt x="25" y="193"/>
                  <a:pt x="10" y="208"/>
                </a:cubicBezTo>
                <a:cubicBezTo>
                  <a:pt x="-4" y="224"/>
                  <a:pt x="-3" y="248"/>
                  <a:pt x="13" y="263"/>
                </a:cubicBezTo>
                <a:lnTo>
                  <a:pt x="124" y="366"/>
                </a:lnTo>
                <a:cubicBezTo>
                  <a:pt x="131" y="372"/>
                  <a:pt x="141" y="376"/>
                  <a:pt x="150" y="376"/>
                </a:cubicBezTo>
                <a:cubicBezTo>
                  <a:pt x="160" y="376"/>
                  <a:pt x="174" y="371"/>
                  <a:pt x="182" y="358"/>
                </a:cubicBezTo>
                <a:cubicBezTo>
                  <a:pt x="188" y="350"/>
                  <a:pt x="376" y="60"/>
                  <a:pt x="376" y="60"/>
                </a:cubicBezTo>
                <a:cubicBezTo>
                  <a:pt x="388" y="42"/>
                  <a:pt x="383" y="18"/>
                  <a:pt x="365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866880" y="3433320"/>
            <a:ext cx="2574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scripts/download_assets.py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7524720" y="4057560"/>
            <a:ext cx="619200" cy="219240"/>
          </a:xfrm>
          <a:custGeom>
            <a:avLst/>
            <a:gdLst/>
            <a:ahLst/>
            <a:rect l="0" t="0" r="r" b="b"/>
            <a:pathLst>
              <a:path w="1720" h="609">
                <a:moveTo>
                  <a:pt x="0" y="529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641" y="0"/>
                </a:lnTo>
                <a:cubicBezTo>
                  <a:pt x="1652" y="0"/>
                  <a:pt x="1662" y="2"/>
                  <a:pt x="1671" y="6"/>
                </a:cubicBezTo>
                <a:cubicBezTo>
                  <a:pt x="1681" y="10"/>
                  <a:pt x="1690" y="16"/>
                  <a:pt x="1697" y="23"/>
                </a:cubicBezTo>
                <a:cubicBezTo>
                  <a:pt x="1705" y="30"/>
                  <a:pt x="1710" y="39"/>
                  <a:pt x="1714" y="49"/>
                </a:cubicBezTo>
                <a:cubicBezTo>
                  <a:pt x="1718" y="58"/>
                  <a:pt x="1720" y="69"/>
                  <a:pt x="1720" y="79"/>
                </a:cubicBezTo>
                <a:lnTo>
                  <a:pt x="1720" y="529"/>
                </a:lnTo>
                <a:cubicBezTo>
                  <a:pt x="1720" y="539"/>
                  <a:pt x="1718" y="550"/>
                  <a:pt x="1714" y="559"/>
                </a:cubicBezTo>
                <a:cubicBezTo>
                  <a:pt x="1710" y="569"/>
                  <a:pt x="1705" y="578"/>
                  <a:pt x="1697" y="586"/>
                </a:cubicBezTo>
                <a:cubicBezTo>
                  <a:pt x="1690" y="593"/>
                  <a:pt x="1681" y="599"/>
                  <a:pt x="1671" y="603"/>
                </a:cubicBezTo>
                <a:cubicBezTo>
                  <a:pt x="1662" y="607"/>
                  <a:pt x="1652" y="609"/>
                  <a:pt x="1641" y="609"/>
                </a:cubicBezTo>
                <a:lnTo>
                  <a:pt x="79" y="609"/>
                </a:lnTo>
                <a:cubicBezTo>
                  <a:pt x="68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5" y="578"/>
                  <a:pt x="10" y="569"/>
                  <a:pt x="6" y="559"/>
                </a:cubicBezTo>
                <a:cubicBezTo>
                  <a:pt x="2" y="550"/>
                  <a:pt x="0" y="539"/>
                  <a:pt x="0" y="529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1220400" y="4069080"/>
            <a:ext cx="6288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Al finalizar debe indicarse que se han descargado las imágenes y el archivo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7577280" y="4071240"/>
            <a:ext cx="5144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.onnx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8146440" y="4069080"/>
            <a:ext cx="2633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(el modelo). Si la descarga falla,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4352760" y="435276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599"/>
                  <a:pt x="825" y="603"/>
                </a:cubicBezTo>
                <a:cubicBezTo>
                  <a:pt x="815" y="607"/>
                  <a:pt x="805" y="609"/>
                  <a:pt x="79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990720" y="4364280"/>
            <a:ext cx="3353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compruebe su conexión a internet y que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4407120" y="436644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85440" y="2266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4668840" y="4364280"/>
            <a:ext cx="2743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figura como conectado (Paso 5).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685800" y="1899360"/>
            <a:ext cx="667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8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1355040" y="190548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7181640" y="2238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1413000" y="1899360"/>
            <a:ext cx="34736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Descarga de las imágenes y del modelo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3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685440" y="200016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685440" y="200016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690480" y="338580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690480" y="338580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6"/>
                  <a:pt x="30012" y="1236"/>
                  <a:pt x="30004" y="1244"/>
                </a:cubicBezTo>
                <a:cubicBezTo>
                  <a:pt x="29995" y="1253"/>
                  <a:pt x="29985" y="1260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60"/>
                  <a:pt x="36" y="1253"/>
                  <a:pt x="27" y="1244"/>
                </a:cubicBezTo>
                <a:cubicBezTo>
                  <a:pt x="18" y="1236"/>
                  <a:pt x="11" y="1226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685440" y="480024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685440" y="480024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1048320" y="208656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69"/>
                </a:moveTo>
                <a:cubicBezTo>
                  <a:pt x="341" y="268"/>
                  <a:pt x="262" y="283"/>
                  <a:pt x="262" y="376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6"/>
                </a:cubicBezTo>
                <a:cubicBezTo>
                  <a:pt x="76" y="283"/>
                  <a:pt x="0" y="268"/>
                  <a:pt x="0" y="169"/>
                </a:cubicBezTo>
                <a:cubicBezTo>
                  <a:pt x="0" y="75"/>
                  <a:pt x="82" y="0"/>
                  <a:pt x="171" y="0"/>
                </a:cubicBezTo>
                <a:cubicBezTo>
                  <a:pt x="261" y="0"/>
                  <a:pt x="341" y="75"/>
                  <a:pt x="341" y="169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1086480" y="226332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8"/>
                </a:moveTo>
                <a:cubicBezTo>
                  <a:pt x="129" y="21"/>
                  <a:pt x="94" y="48"/>
                  <a:pt x="64" y="48"/>
                </a:cubicBezTo>
                <a:cubicBezTo>
                  <a:pt x="34" y="48"/>
                  <a:pt x="0" y="21"/>
                  <a:pt x="0" y="8"/>
                </a:cubicBezTo>
                <a:cubicBezTo>
                  <a:pt x="0" y="-4"/>
                  <a:pt x="34" y="1"/>
                  <a:pt x="64" y="1"/>
                </a:cubicBezTo>
                <a:cubicBezTo>
                  <a:pt x="94" y="1"/>
                  <a:pt x="129" y="-4"/>
                  <a:pt x="129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1081800" y="214128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6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1"/>
                  <a:pt x="-1" y="21"/>
                  <a:pt x="5" y="27"/>
                </a:cubicBezTo>
                <a:lnTo>
                  <a:pt x="62" y="84"/>
                </a:lnTo>
                <a:lnTo>
                  <a:pt x="62" y="248"/>
                </a:lnTo>
                <a:cubicBezTo>
                  <a:pt x="62" y="257"/>
                  <a:pt x="69" y="264"/>
                  <a:pt x="78" y="264"/>
                </a:cubicBezTo>
                <a:cubicBezTo>
                  <a:pt x="86" y="264"/>
                  <a:pt x="93" y="257"/>
                  <a:pt x="93" y="248"/>
                </a:cubicBezTo>
                <a:lnTo>
                  <a:pt x="93" y="84"/>
                </a:lnTo>
                <a:lnTo>
                  <a:pt x="151" y="27"/>
                </a:lnTo>
                <a:cubicBezTo>
                  <a:pt x="158" y="21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1076040" y="2224800"/>
            <a:ext cx="66960" cy="44640"/>
          </a:xfrm>
          <a:custGeom>
            <a:avLst/>
            <a:gdLst/>
            <a:ahLst/>
            <a:rect l="0" t="0" r="r" b="b"/>
            <a:pathLst>
              <a:path w="186" h="124">
                <a:moveTo>
                  <a:pt x="186" y="93"/>
                </a:moveTo>
                <a:cubicBezTo>
                  <a:pt x="186" y="110"/>
                  <a:pt x="173" y="124"/>
                  <a:pt x="156" y="124"/>
                </a:cubicBezTo>
                <a:lnTo>
                  <a:pt x="31" y="124"/>
                </a:lnTo>
                <a:cubicBezTo>
                  <a:pt x="14" y="124"/>
                  <a:pt x="0" y="110"/>
                  <a:pt x="0" y="93"/>
                </a:cubicBezTo>
                <a:lnTo>
                  <a:pt x="0" y="0"/>
                </a:lnTo>
                <a:lnTo>
                  <a:pt x="186" y="0"/>
                </a:lnTo>
                <a:lnTo>
                  <a:pt x="186" y="93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1070640" y="2219040"/>
            <a:ext cx="78120" cy="44640"/>
          </a:xfrm>
          <a:custGeom>
            <a:avLst/>
            <a:gdLst/>
            <a:ahLst/>
            <a:rect l="0" t="0" r="r" b="b"/>
            <a:pathLst>
              <a:path w="217" h="124">
                <a:moveTo>
                  <a:pt x="0" y="111"/>
                </a:moveTo>
                <a:cubicBezTo>
                  <a:pt x="-1" y="102"/>
                  <a:pt x="4" y="95"/>
                  <a:pt x="13" y="93"/>
                </a:cubicBezTo>
                <a:lnTo>
                  <a:pt x="199" y="62"/>
                </a:lnTo>
                <a:cubicBezTo>
                  <a:pt x="207" y="61"/>
                  <a:pt x="215" y="67"/>
                  <a:pt x="217" y="75"/>
                </a:cubicBezTo>
                <a:cubicBezTo>
                  <a:pt x="218" y="83"/>
                  <a:pt x="212" y="91"/>
                  <a:pt x="204" y="93"/>
                </a:cubicBezTo>
                <a:lnTo>
                  <a:pt x="18" y="124"/>
                </a:lnTo>
                <a:cubicBezTo>
                  <a:pt x="17" y="124"/>
                  <a:pt x="16" y="124"/>
                  <a:pt x="15" y="124"/>
                </a:cubicBezTo>
                <a:cubicBezTo>
                  <a:pt x="8" y="124"/>
                  <a:pt x="1" y="118"/>
                  <a:pt x="0" y="111"/>
                </a:cubicBezTo>
                <a:moveTo>
                  <a:pt x="0" y="49"/>
                </a:moveTo>
                <a:cubicBezTo>
                  <a:pt x="-1" y="40"/>
                  <a:pt x="4" y="32"/>
                  <a:pt x="13" y="30"/>
                </a:cubicBezTo>
                <a:lnTo>
                  <a:pt x="199" y="0"/>
                </a:lnTo>
                <a:cubicBezTo>
                  <a:pt x="207" y="-2"/>
                  <a:pt x="215" y="4"/>
                  <a:pt x="217" y="12"/>
                </a:cubicBezTo>
                <a:cubicBezTo>
                  <a:pt x="218" y="21"/>
                  <a:pt x="212" y="29"/>
                  <a:pt x="204" y="30"/>
                </a:cubicBezTo>
                <a:lnTo>
                  <a:pt x="18" y="62"/>
                </a:lnTo>
                <a:cubicBezTo>
                  <a:pt x="17" y="62"/>
                  <a:pt x="16" y="62"/>
                  <a:pt x="15" y="62"/>
                </a:cubicBezTo>
                <a:cubicBezTo>
                  <a:pt x="8" y="62"/>
                  <a:pt x="1" y="57"/>
                  <a:pt x="0" y="4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1220400" y="2107080"/>
            <a:ext cx="9867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¿Qué es Jupyter?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programa que abre los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notebooks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el navegador.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un documento que combina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990720" y="2392560"/>
            <a:ext cx="8071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explicaciones y fragmentos de programa que pueden ejecutarse por partes, denominadas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celdas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685800" y="2973600"/>
            <a:ext cx="651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Escriba: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866880" y="3538440"/>
            <a:ext cx="124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jupyter notebook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9467640" y="4028760"/>
            <a:ext cx="1038600" cy="219600"/>
          </a:xfrm>
          <a:custGeom>
            <a:avLst/>
            <a:gdLst/>
            <a:ahLst/>
            <a:rect l="0" t="0" r="r" b="b"/>
            <a:pathLst>
              <a:path w="2885" h="610">
                <a:moveTo>
                  <a:pt x="0" y="531"/>
                </a:moveTo>
                <a:lnTo>
                  <a:pt x="0" y="81"/>
                </a:ln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806" y="0"/>
                </a:lnTo>
                <a:cubicBezTo>
                  <a:pt x="2816" y="0"/>
                  <a:pt x="2826" y="2"/>
                  <a:pt x="2836" y="6"/>
                </a:cubicBezTo>
                <a:cubicBezTo>
                  <a:pt x="2846" y="10"/>
                  <a:pt x="2854" y="16"/>
                  <a:pt x="2862" y="24"/>
                </a:cubicBezTo>
                <a:cubicBezTo>
                  <a:pt x="2869" y="31"/>
                  <a:pt x="2875" y="40"/>
                  <a:pt x="2879" y="49"/>
                </a:cubicBezTo>
                <a:cubicBezTo>
                  <a:pt x="2883" y="60"/>
                  <a:pt x="2885" y="70"/>
                  <a:pt x="2885" y="81"/>
                </a:cubicBezTo>
                <a:lnTo>
                  <a:pt x="2885" y="531"/>
                </a:lnTo>
                <a:cubicBezTo>
                  <a:pt x="2885" y="541"/>
                  <a:pt x="2883" y="551"/>
                  <a:pt x="2879" y="561"/>
                </a:cubicBezTo>
                <a:cubicBezTo>
                  <a:pt x="2875" y="571"/>
                  <a:pt x="2869" y="579"/>
                  <a:pt x="2862" y="587"/>
                </a:cubicBezTo>
                <a:cubicBezTo>
                  <a:pt x="2854" y="594"/>
                  <a:pt x="2846" y="600"/>
                  <a:pt x="2836" y="604"/>
                </a:cubicBezTo>
                <a:cubicBezTo>
                  <a:pt x="2826" y="608"/>
                  <a:pt x="2816" y="610"/>
                  <a:pt x="2806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685800" y="4040640"/>
            <a:ext cx="8763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abrirá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automáticamente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pestaña en el navegador con un listado de archivos. Acceda a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9523080" y="4042800"/>
            <a:ext cx="92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notebooks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10501560" y="4040640"/>
            <a:ext cx="613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y pulse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1209600" y="4314600"/>
            <a:ext cx="1552680" cy="219600"/>
          </a:xfrm>
          <a:custGeom>
            <a:avLst/>
            <a:gdLst/>
            <a:ahLst/>
            <a:rect l="0" t="0" r="r" b="b"/>
            <a:pathLst>
              <a:path w="4313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4234" y="0"/>
                </a:lnTo>
                <a:cubicBezTo>
                  <a:pt x="4245" y="0"/>
                  <a:pt x="4255" y="2"/>
                  <a:pt x="4264" y="6"/>
                </a:cubicBezTo>
                <a:cubicBezTo>
                  <a:pt x="4274" y="10"/>
                  <a:pt x="4283" y="16"/>
                  <a:pt x="4290" y="23"/>
                </a:cubicBezTo>
                <a:cubicBezTo>
                  <a:pt x="4298" y="31"/>
                  <a:pt x="4303" y="39"/>
                  <a:pt x="4307" y="49"/>
                </a:cubicBezTo>
                <a:cubicBezTo>
                  <a:pt x="4311" y="59"/>
                  <a:pt x="4313" y="69"/>
                  <a:pt x="4313" y="79"/>
                </a:cubicBezTo>
                <a:lnTo>
                  <a:pt x="4313" y="530"/>
                </a:lnTo>
                <a:cubicBezTo>
                  <a:pt x="4313" y="541"/>
                  <a:pt x="4311" y="551"/>
                  <a:pt x="4307" y="561"/>
                </a:cubicBezTo>
                <a:cubicBezTo>
                  <a:pt x="4303" y="570"/>
                  <a:pt x="4298" y="579"/>
                  <a:pt x="4290" y="586"/>
                </a:cubicBezTo>
                <a:cubicBezTo>
                  <a:pt x="4283" y="594"/>
                  <a:pt x="4274" y="600"/>
                  <a:pt x="4264" y="604"/>
                </a:cubicBezTo>
                <a:cubicBezTo>
                  <a:pt x="4255" y="608"/>
                  <a:pt x="4245" y="610"/>
                  <a:pt x="4234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685800" y="4326120"/>
            <a:ext cx="528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sobre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1271520" y="4328640"/>
            <a:ext cx="1439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01_setup.ipynb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1012320" y="4890240"/>
            <a:ext cx="194760" cy="190800"/>
          </a:xfrm>
          <a:custGeom>
            <a:avLst/>
            <a:gdLst/>
            <a:ahLst/>
            <a:rect l="0" t="0" r="r" b="b"/>
            <a:pathLst>
              <a:path w="541" h="530">
                <a:moveTo>
                  <a:pt x="33" y="530"/>
                </a:moveTo>
                <a:cubicBezTo>
                  <a:pt x="5" y="530"/>
                  <a:pt x="-8" y="509"/>
                  <a:pt x="5" y="484"/>
                </a:cubicBezTo>
                <a:lnTo>
                  <a:pt x="247" y="19"/>
                </a:lnTo>
                <a:cubicBezTo>
                  <a:pt x="260" y="-6"/>
                  <a:pt x="282" y="-6"/>
                  <a:pt x="295" y="19"/>
                </a:cubicBezTo>
                <a:lnTo>
                  <a:pt x="536" y="484"/>
                </a:lnTo>
                <a:cubicBezTo>
                  <a:pt x="549" y="509"/>
                  <a:pt x="536" y="530"/>
                  <a:pt x="508" y="530"/>
                </a:cubicBezTo>
                <a:lnTo>
                  <a:pt x="33" y="530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1096200" y="4933800"/>
            <a:ext cx="27000" cy="127080"/>
          </a:xfrm>
          <a:custGeom>
            <a:avLst/>
            <a:gdLst/>
            <a:ahLst/>
            <a:rect l="0" t="0" r="r" b="b"/>
            <a:pathLst>
              <a:path w="75" h="353">
                <a:moveTo>
                  <a:pt x="0" y="315"/>
                </a:moveTo>
                <a:cubicBezTo>
                  <a:pt x="0" y="295"/>
                  <a:pt x="16" y="278"/>
                  <a:pt x="38" y="278"/>
                </a:cubicBezTo>
                <a:cubicBezTo>
                  <a:pt x="59" y="278"/>
                  <a:pt x="75" y="295"/>
                  <a:pt x="75" y="315"/>
                </a:cubicBezTo>
                <a:cubicBezTo>
                  <a:pt x="75" y="336"/>
                  <a:pt x="58" y="353"/>
                  <a:pt x="38" y="353"/>
                </a:cubicBezTo>
                <a:cubicBezTo>
                  <a:pt x="16" y="353"/>
                  <a:pt x="0" y="336"/>
                  <a:pt x="0" y="315"/>
                </a:cubicBezTo>
                <a:moveTo>
                  <a:pt x="2" y="32"/>
                </a:moveTo>
                <a:cubicBezTo>
                  <a:pt x="2" y="12"/>
                  <a:pt x="17" y="0"/>
                  <a:pt x="38" y="0"/>
                </a:cubicBezTo>
                <a:cubicBezTo>
                  <a:pt x="57" y="0"/>
                  <a:pt x="72" y="13"/>
                  <a:pt x="72" y="32"/>
                </a:cubicBezTo>
                <a:lnTo>
                  <a:pt x="72" y="217"/>
                </a:lnTo>
                <a:cubicBezTo>
                  <a:pt x="72" y="237"/>
                  <a:pt x="57" y="250"/>
                  <a:pt x="38" y="250"/>
                </a:cubicBezTo>
                <a:cubicBezTo>
                  <a:pt x="17" y="250"/>
                  <a:pt x="2" y="237"/>
                  <a:pt x="2" y="217"/>
                </a:cubicBezTo>
                <a:lnTo>
                  <a:pt x="2" y="32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2761560" y="43261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685440" y="172368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1220400" y="4907160"/>
            <a:ext cx="8398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cierre la ventana de la terminal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mientras trabaja: es la que mantiene Jupyter en funcionamiento.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685800" y="1346760"/>
            <a:ext cx="667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9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1355040" y="135324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7181640" y="1695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1413000" y="1346760"/>
            <a:ext cx="18082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Apertura de Jupyter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2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7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685440" y="429552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685440" y="429552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685800" y="2259360"/>
            <a:ext cx="8161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notebook se compone de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celdas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(recuadros) dispuestas en secuencia. Para ejecutar una celda: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860400" y="2697480"/>
            <a:ext cx="2257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Pulse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dentro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la celda.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860760" y="3040200"/>
            <a:ext cx="6076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Pulse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Mayús + Intro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(la tecla de mayúsculas e Intro simultáneamente).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860760" y="3373920"/>
            <a:ext cx="6519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La celda se ejecuta y el foco pasa a la siguiente. El resultado aparece debajo.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1048320" y="438192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69"/>
                </a:moveTo>
                <a:cubicBezTo>
                  <a:pt x="341" y="268"/>
                  <a:pt x="262" y="284"/>
                  <a:pt x="262" y="376"/>
                </a:cubicBezTo>
                <a:cubicBezTo>
                  <a:pt x="262" y="424"/>
                  <a:pt x="214" y="429"/>
                  <a:pt x="178" y="429"/>
                </a:cubicBezTo>
                <a:cubicBezTo>
                  <a:pt x="146" y="429"/>
                  <a:pt x="76" y="416"/>
                  <a:pt x="76" y="376"/>
                </a:cubicBezTo>
                <a:cubicBezTo>
                  <a:pt x="76" y="284"/>
                  <a:pt x="0" y="268"/>
                  <a:pt x="0" y="169"/>
                </a:cubicBezTo>
                <a:cubicBezTo>
                  <a:pt x="0" y="76"/>
                  <a:pt x="82" y="0"/>
                  <a:pt x="171" y="0"/>
                </a:cubicBezTo>
                <a:cubicBezTo>
                  <a:pt x="261" y="0"/>
                  <a:pt x="341" y="76"/>
                  <a:pt x="341" y="169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1086480" y="4558680"/>
            <a:ext cx="46440" cy="17640"/>
          </a:xfrm>
          <a:custGeom>
            <a:avLst/>
            <a:gdLst/>
            <a:ahLst/>
            <a:rect l="0" t="0" r="r" b="b"/>
            <a:pathLst>
              <a:path w="129" h="49">
                <a:moveTo>
                  <a:pt x="129" y="10"/>
                </a:moveTo>
                <a:cubicBezTo>
                  <a:pt x="129" y="23"/>
                  <a:pt x="94" y="49"/>
                  <a:pt x="64" y="49"/>
                </a:cubicBezTo>
                <a:cubicBezTo>
                  <a:pt x="34" y="49"/>
                  <a:pt x="0" y="23"/>
                  <a:pt x="0" y="10"/>
                </a:cubicBezTo>
                <a:cubicBezTo>
                  <a:pt x="0" y="-4"/>
                  <a:pt x="34" y="1"/>
                  <a:pt x="64" y="1"/>
                </a:cubicBezTo>
                <a:cubicBezTo>
                  <a:pt x="94" y="1"/>
                  <a:pt x="129" y="-4"/>
                  <a:pt x="129" y="1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1081800" y="443700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6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1"/>
                  <a:pt x="-1" y="21"/>
                  <a:pt x="5" y="27"/>
                </a:cubicBezTo>
                <a:lnTo>
                  <a:pt x="62" y="84"/>
                </a:lnTo>
                <a:lnTo>
                  <a:pt x="62" y="249"/>
                </a:lnTo>
                <a:cubicBezTo>
                  <a:pt x="62" y="257"/>
                  <a:pt x="69" y="264"/>
                  <a:pt x="78" y="264"/>
                </a:cubicBezTo>
                <a:cubicBezTo>
                  <a:pt x="86" y="264"/>
                  <a:pt x="93" y="257"/>
                  <a:pt x="93" y="249"/>
                </a:cubicBezTo>
                <a:lnTo>
                  <a:pt x="93" y="84"/>
                </a:lnTo>
                <a:lnTo>
                  <a:pt x="151" y="27"/>
                </a:lnTo>
                <a:cubicBezTo>
                  <a:pt x="158" y="21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1076040" y="4520160"/>
            <a:ext cx="66960" cy="45000"/>
          </a:xfrm>
          <a:custGeom>
            <a:avLst/>
            <a:gdLst/>
            <a:ahLst/>
            <a:rect l="0" t="0" r="r" b="b"/>
            <a:pathLst>
              <a:path w="186" h="125">
                <a:moveTo>
                  <a:pt x="186" y="94"/>
                </a:moveTo>
                <a:cubicBezTo>
                  <a:pt x="186" y="111"/>
                  <a:pt x="173" y="125"/>
                  <a:pt x="156" y="125"/>
                </a:cubicBezTo>
                <a:lnTo>
                  <a:pt x="31" y="125"/>
                </a:lnTo>
                <a:cubicBezTo>
                  <a:pt x="14" y="125"/>
                  <a:pt x="0" y="111"/>
                  <a:pt x="0" y="94"/>
                </a:cubicBezTo>
                <a:lnTo>
                  <a:pt x="0" y="0"/>
                </a:lnTo>
                <a:lnTo>
                  <a:pt x="186" y="0"/>
                </a:lnTo>
                <a:lnTo>
                  <a:pt x="186" y="94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1070640" y="4514760"/>
            <a:ext cx="78120" cy="44640"/>
          </a:xfrm>
          <a:custGeom>
            <a:avLst/>
            <a:gdLst/>
            <a:ahLst/>
            <a:rect l="0" t="0" r="r" b="b"/>
            <a:pathLst>
              <a:path w="217" h="124">
                <a:moveTo>
                  <a:pt x="0" y="111"/>
                </a:moveTo>
                <a:cubicBezTo>
                  <a:pt x="-1" y="103"/>
                  <a:pt x="4" y="95"/>
                  <a:pt x="13" y="94"/>
                </a:cubicBezTo>
                <a:lnTo>
                  <a:pt x="199" y="62"/>
                </a:lnTo>
                <a:cubicBezTo>
                  <a:pt x="207" y="60"/>
                  <a:pt x="215" y="66"/>
                  <a:pt x="217" y="75"/>
                </a:cubicBezTo>
                <a:cubicBezTo>
                  <a:pt x="218" y="84"/>
                  <a:pt x="212" y="92"/>
                  <a:pt x="204" y="93"/>
                </a:cubicBezTo>
                <a:lnTo>
                  <a:pt x="18" y="124"/>
                </a:lnTo>
                <a:cubicBezTo>
                  <a:pt x="17" y="124"/>
                  <a:pt x="16" y="124"/>
                  <a:pt x="15" y="124"/>
                </a:cubicBezTo>
                <a:cubicBezTo>
                  <a:pt x="8" y="124"/>
                  <a:pt x="1" y="119"/>
                  <a:pt x="0" y="111"/>
                </a:cubicBezTo>
                <a:moveTo>
                  <a:pt x="0" y="49"/>
                </a:moveTo>
                <a:cubicBezTo>
                  <a:pt x="-1" y="40"/>
                  <a:pt x="4" y="32"/>
                  <a:pt x="13" y="31"/>
                </a:cubicBezTo>
                <a:lnTo>
                  <a:pt x="199" y="0"/>
                </a:lnTo>
                <a:cubicBezTo>
                  <a:pt x="207" y="-2"/>
                  <a:pt x="215" y="4"/>
                  <a:pt x="217" y="13"/>
                </a:cubicBezTo>
                <a:cubicBezTo>
                  <a:pt x="218" y="21"/>
                  <a:pt x="212" y="29"/>
                  <a:pt x="204" y="30"/>
                </a:cubicBezTo>
                <a:lnTo>
                  <a:pt x="18" y="61"/>
                </a:lnTo>
                <a:cubicBezTo>
                  <a:pt x="17" y="61"/>
                  <a:pt x="16" y="61"/>
                  <a:pt x="15" y="61"/>
                </a:cubicBezTo>
                <a:cubicBezTo>
                  <a:pt x="8" y="61"/>
                  <a:pt x="1" y="56"/>
                  <a:pt x="0" y="4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685800" y="3821400"/>
            <a:ext cx="5749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Repita la operación con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todas las celdas, de arriba abajo y en orden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2266920" y="4390920"/>
            <a:ext cx="428760" cy="219240"/>
          </a:xfrm>
          <a:custGeom>
            <a:avLst/>
            <a:gdLst/>
            <a:ahLst/>
            <a:rect l="0" t="0" r="r" b="b"/>
            <a:pathLst>
              <a:path w="1191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112" y="0"/>
                </a:lnTo>
                <a:cubicBezTo>
                  <a:pt x="1122" y="0"/>
                  <a:pt x="1132" y="2"/>
                  <a:pt x="1142" y="6"/>
                </a:cubicBezTo>
                <a:cubicBezTo>
                  <a:pt x="1152" y="10"/>
                  <a:pt x="1161" y="16"/>
                  <a:pt x="1168" y="23"/>
                </a:cubicBezTo>
                <a:cubicBezTo>
                  <a:pt x="1175" y="30"/>
                  <a:pt x="1181" y="39"/>
                  <a:pt x="1185" y="49"/>
                </a:cubicBezTo>
                <a:cubicBezTo>
                  <a:pt x="1189" y="59"/>
                  <a:pt x="1191" y="69"/>
                  <a:pt x="1191" y="79"/>
                </a:cubicBezTo>
                <a:lnTo>
                  <a:pt x="1191" y="530"/>
                </a:lnTo>
                <a:cubicBezTo>
                  <a:pt x="1191" y="540"/>
                  <a:pt x="1189" y="551"/>
                  <a:pt x="1185" y="560"/>
                </a:cubicBezTo>
                <a:cubicBezTo>
                  <a:pt x="1181" y="570"/>
                  <a:pt x="1175" y="579"/>
                  <a:pt x="1168" y="586"/>
                </a:cubicBezTo>
                <a:cubicBezTo>
                  <a:pt x="1161" y="594"/>
                  <a:pt x="1152" y="599"/>
                  <a:pt x="1142" y="603"/>
                </a:cubicBezTo>
                <a:cubicBezTo>
                  <a:pt x="1132" y="607"/>
                  <a:pt x="1122" y="609"/>
                  <a:pt x="1112" y="609"/>
                </a:cubicBezTo>
                <a:lnTo>
                  <a:pt x="79" y="609"/>
                </a:lnTo>
                <a:cubicBezTo>
                  <a:pt x="68" y="609"/>
                  <a:pt x="58" y="607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1220400" y="4402440"/>
            <a:ext cx="1048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El indicador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2327400" y="4404600"/>
            <a:ext cx="3088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[ ]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6810120" y="4390920"/>
            <a:ext cx="419400" cy="219240"/>
          </a:xfrm>
          <a:custGeom>
            <a:avLst/>
            <a:gdLst/>
            <a:ahLst/>
            <a:rect l="0" t="0" r="r" b="b"/>
            <a:pathLst>
              <a:path w="1165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086" y="0"/>
                </a:lnTo>
                <a:cubicBezTo>
                  <a:pt x="1097" y="0"/>
                  <a:pt x="1107" y="2"/>
                  <a:pt x="1116" y="6"/>
                </a:cubicBezTo>
                <a:cubicBezTo>
                  <a:pt x="1126" y="10"/>
                  <a:pt x="1135" y="16"/>
                  <a:pt x="1142" y="23"/>
                </a:cubicBezTo>
                <a:cubicBezTo>
                  <a:pt x="1150" y="30"/>
                  <a:pt x="1155" y="39"/>
                  <a:pt x="1159" y="49"/>
                </a:cubicBezTo>
                <a:cubicBezTo>
                  <a:pt x="1163" y="59"/>
                  <a:pt x="1165" y="69"/>
                  <a:pt x="1165" y="79"/>
                </a:cubicBezTo>
                <a:lnTo>
                  <a:pt x="1165" y="530"/>
                </a:lnTo>
                <a:cubicBezTo>
                  <a:pt x="1165" y="540"/>
                  <a:pt x="1163" y="551"/>
                  <a:pt x="1159" y="560"/>
                </a:cubicBezTo>
                <a:cubicBezTo>
                  <a:pt x="1155" y="570"/>
                  <a:pt x="1150" y="579"/>
                  <a:pt x="1142" y="586"/>
                </a:cubicBezTo>
                <a:cubicBezTo>
                  <a:pt x="1135" y="594"/>
                  <a:pt x="1126" y="599"/>
                  <a:pt x="1116" y="603"/>
                </a:cubicBezTo>
                <a:cubicBezTo>
                  <a:pt x="1107" y="607"/>
                  <a:pt x="1097" y="609"/>
                  <a:pt x="1086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2691720" y="4402440"/>
            <a:ext cx="4107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a la izquierda de cada celda: vacío = sin ejecutar;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6863400" y="4404600"/>
            <a:ext cx="3088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[*]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8562960" y="4390920"/>
            <a:ext cx="428760" cy="219240"/>
          </a:xfrm>
          <a:custGeom>
            <a:avLst/>
            <a:gdLst/>
            <a:ahLst/>
            <a:rect l="0" t="0" r="r" b="b"/>
            <a:pathLst>
              <a:path w="1191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1112" y="0"/>
                </a:lnTo>
                <a:cubicBezTo>
                  <a:pt x="1122" y="0"/>
                  <a:pt x="1132" y="2"/>
                  <a:pt x="1142" y="6"/>
                </a:cubicBezTo>
                <a:cubicBezTo>
                  <a:pt x="1152" y="10"/>
                  <a:pt x="1160" y="16"/>
                  <a:pt x="1168" y="23"/>
                </a:cubicBezTo>
                <a:cubicBezTo>
                  <a:pt x="1175" y="30"/>
                  <a:pt x="1181" y="39"/>
                  <a:pt x="1185" y="49"/>
                </a:cubicBezTo>
                <a:cubicBezTo>
                  <a:pt x="1189" y="59"/>
                  <a:pt x="1191" y="69"/>
                  <a:pt x="1191" y="79"/>
                </a:cubicBezTo>
                <a:lnTo>
                  <a:pt x="1191" y="530"/>
                </a:lnTo>
                <a:cubicBezTo>
                  <a:pt x="1191" y="540"/>
                  <a:pt x="1189" y="551"/>
                  <a:pt x="1185" y="560"/>
                </a:cubicBezTo>
                <a:cubicBezTo>
                  <a:pt x="1181" y="570"/>
                  <a:pt x="1175" y="579"/>
                  <a:pt x="1168" y="586"/>
                </a:cubicBezTo>
                <a:cubicBezTo>
                  <a:pt x="1160" y="594"/>
                  <a:pt x="1152" y="599"/>
                  <a:pt x="1142" y="603"/>
                </a:cubicBezTo>
                <a:cubicBezTo>
                  <a:pt x="1132" y="607"/>
                  <a:pt x="1122" y="609"/>
                  <a:pt x="1112" y="609"/>
                </a:cubicBezTo>
                <a:lnTo>
                  <a:pt x="79" y="609"/>
                </a:lnTo>
                <a:cubicBezTo>
                  <a:pt x="68" y="609"/>
                  <a:pt x="58" y="607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7227720" y="4402440"/>
            <a:ext cx="1335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= en ejecución;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8622720" y="4404600"/>
            <a:ext cx="3088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[5]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8987040" y="4402440"/>
            <a:ext cx="2500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= ejecutada (el número indica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685440" y="1942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990720" y="4688280"/>
            <a:ext cx="768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orden).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685800" y="1566000"/>
            <a:ext cx="7952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10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1483200" y="157212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7181640" y="1914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1541520" y="1566000"/>
            <a:ext cx="2237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Ejecución de un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6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690480" y="31669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1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1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690480" y="31669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1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3000240" y="2742840"/>
            <a:ext cx="1543320" cy="219600"/>
          </a:xfrm>
          <a:custGeom>
            <a:avLst/>
            <a:gdLst/>
            <a:ahLst/>
            <a:rect l="0" t="0" r="r" b="b"/>
            <a:pathLst>
              <a:path w="4287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lnTo>
                  <a:pt x="4208" y="0"/>
                </a:lnTo>
                <a:cubicBezTo>
                  <a:pt x="4218" y="0"/>
                  <a:pt x="4228" y="3"/>
                  <a:pt x="4238" y="7"/>
                </a:cubicBezTo>
                <a:cubicBezTo>
                  <a:pt x="4248" y="11"/>
                  <a:pt x="4256" y="16"/>
                  <a:pt x="4264" y="24"/>
                </a:cubicBezTo>
                <a:cubicBezTo>
                  <a:pt x="4271" y="31"/>
                  <a:pt x="4277" y="40"/>
                  <a:pt x="4281" y="49"/>
                </a:cubicBezTo>
                <a:cubicBezTo>
                  <a:pt x="4285" y="59"/>
                  <a:pt x="4287" y="69"/>
                  <a:pt x="4287" y="80"/>
                </a:cubicBezTo>
                <a:lnTo>
                  <a:pt x="4287" y="530"/>
                </a:lnTo>
                <a:cubicBezTo>
                  <a:pt x="4287" y="540"/>
                  <a:pt x="4285" y="550"/>
                  <a:pt x="4281" y="560"/>
                </a:cubicBezTo>
                <a:cubicBezTo>
                  <a:pt x="4277" y="570"/>
                  <a:pt x="4271" y="578"/>
                  <a:pt x="4264" y="586"/>
                </a:cubicBezTo>
                <a:cubicBezTo>
                  <a:pt x="4256" y="594"/>
                  <a:pt x="4248" y="600"/>
                  <a:pt x="4238" y="604"/>
                </a:cubicBezTo>
                <a:cubicBezTo>
                  <a:pt x="4228" y="608"/>
                  <a:pt x="4218" y="610"/>
                  <a:pt x="4208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685800" y="2754720"/>
            <a:ext cx="2307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Ejecute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todas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las celdas 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3053880" y="2756880"/>
            <a:ext cx="1439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01_setup.ipynb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876240" y="3323880"/>
            <a:ext cx="133560" cy="124200"/>
          </a:xfrm>
          <a:custGeom>
            <a:avLst/>
            <a:gdLst/>
            <a:ahLst/>
            <a:rect l="0" t="0" r="r" b="b"/>
            <a:pathLst>
              <a:path w="371" h="345">
                <a:moveTo>
                  <a:pt x="329" y="0"/>
                </a:moveTo>
                <a:cubicBezTo>
                  <a:pt x="353" y="0"/>
                  <a:pt x="371" y="18"/>
                  <a:pt x="371" y="39"/>
                </a:cubicBezTo>
                <a:lnTo>
                  <a:pt x="371" y="307"/>
                </a:lnTo>
                <a:cubicBezTo>
                  <a:pt x="371" y="328"/>
                  <a:pt x="353" y="345"/>
                  <a:pt x="329" y="345"/>
                </a:cubicBezTo>
                <a:lnTo>
                  <a:pt x="41" y="345"/>
                </a:lnTo>
                <a:cubicBezTo>
                  <a:pt x="18" y="345"/>
                  <a:pt x="0" y="328"/>
                  <a:pt x="0" y="307"/>
                </a:cubicBezTo>
                <a:lnTo>
                  <a:pt x="0" y="39"/>
                </a:lnTo>
                <a:cubicBezTo>
                  <a:pt x="0" y="18"/>
                  <a:pt x="18" y="0"/>
                  <a:pt x="41" y="0"/>
                </a:cubicBezTo>
                <a:lnTo>
                  <a:pt x="329" y="0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897120" y="3344400"/>
            <a:ext cx="91800" cy="83880"/>
          </a:xfrm>
          <a:custGeom>
            <a:avLst/>
            <a:gdLst/>
            <a:ahLst/>
            <a:rect l="0" t="0" r="r" b="b"/>
            <a:pathLst>
              <a:path w="255" h="233">
                <a:moveTo>
                  <a:pt x="244" y="4"/>
                </a:moveTo>
                <a:cubicBezTo>
                  <a:pt x="256" y="11"/>
                  <a:pt x="259" y="26"/>
                  <a:pt x="252" y="37"/>
                </a:cubicBezTo>
                <a:cubicBezTo>
                  <a:pt x="252" y="37"/>
                  <a:pt x="125" y="218"/>
                  <a:pt x="122" y="222"/>
                </a:cubicBezTo>
                <a:cubicBezTo>
                  <a:pt x="116" y="231"/>
                  <a:pt x="107" y="233"/>
                  <a:pt x="100" y="233"/>
                </a:cubicBezTo>
                <a:cubicBezTo>
                  <a:pt x="94" y="233"/>
                  <a:pt x="88" y="231"/>
                  <a:pt x="83" y="227"/>
                </a:cubicBezTo>
                <a:lnTo>
                  <a:pt x="9" y="163"/>
                </a:lnTo>
                <a:cubicBezTo>
                  <a:pt x="-2" y="154"/>
                  <a:pt x="-2" y="139"/>
                  <a:pt x="7" y="129"/>
                </a:cubicBezTo>
                <a:cubicBezTo>
                  <a:pt x="17" y="120"/>
                  <a:pt x="33" y="119"/>
                  <a:pt x="44" y="128"/>
                </a:cubicBezTo>
                <a:lnTo>
                  <a:pt x="95" y="173"/>
                </a:lnTo>
                <a:lnTo>
                  <a:pt x="208" y="11"/>
                </a:lnTo>
                <a:cubicBezTo>
                  <a:pt x="216" y="0"/>
                  <a:pt x="232" y="-3"/>
                  <a:pt x="244" y="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4544280" y="2754720"/>
            <a:ext cx="2075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La última debe mostrar: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 txBox="1"/>
          <p:nvPr/>
        </p:nvSpPr>
        <p:spPr>
          <a:xfrm>
            <a:off x="1014480" y="3319200"/>
            <a:ext cx="1950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 Setup OK — listo para 02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685800" y="3821400"/>
            <a:ext cx="8856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aparece este mensaje, el equipo está correctamente configurado 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fase de preparación ha concluido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3589200" y="4246920"/>
            <a:ext cx="183960" cy="183600"/>
          </a:xfrm>
          <a:custGeom>
            <a:avLst/>
            <a:gdLst/>
            <a:ahLst/>
            <a:rect l="0" t="0" r="r" b="b"/>
            <a:pathLst>
              <a:path w="511" h="510">
                <a:moveTo>
                  <a:pt x="309" y="255"/>
                </a:moveTo>
                <a:lnTo>
                  <a:pt x="499" y="65"/>
                </a:lnTo>
                <a:cubicBezTo>
                  <a:pt x="514" y="50"/>
                  <a:pt x="514" y="26"/>
                  <a:pt x="499" y="11"/>
                </a:cubicBezTo>
                <a:cubicBezTo>
                  <a:pt x="484" y="-4"/>
                  <a:pt x="459" y="-4"/>
                  <a:pt x="443" y="11"/>
                </a:cubicBezTo>
                <a:lnTo>
                  <a:pt x="255" y="201"/>
                </a:lnTo>
                <a:lnTo>
                  <a:pt x="66" y="11"/>
                </a:lnTo>
                <a:cubicBezTo>
                  <a:pt x="51" y="-4"/>
                  <a:pt x="26" y="-4"/>
                  <a:pt x="11" y="11"/>
                </a:cubicBezTo>
                <a:cubicBezTo>
                  <a:pt x="-4" y="26"/>
                  <a:pt x="-4" y="50"/>
                  <a:pt x="11" y="65"/>
                </a:cubicBezTo>
                <a:lnTo>
                  <a:pt x="200" y="255"/>
                </a:lnTo>
                <a:lnTo>
                  <a:pt x="11" y="445"/>
                </a:lnTo>
                <a:cubicBezTo>
                  <a:pt x="-4" y="460"/>
                  <a:pt x="-4" y="484"/>
                  <a:pt x="11" y="499"/>
                </a:cubicBezTo>
                <a:cubicBezTo>
                  <a:pt x="18" y="507"/>
                  <a:pt x="28" y="510"/>
                  <a:pt x="38" y="510"/>
                </a:cubicBezTo>
                <a:cubicBezTo>
                  <a:pt x="48" y="510"/>
                  <a:pt x="58" y="507"/>
                  <a:pt x="65" y="499"/>
                </a:cubicBezTo>
                <a:lnTo>
                  <a:pt x="255" y="310"/>
                </a:lnTo>
                <a:lnTo>
                  <a:pt x="443" y="499"/>
                </a:lnTo>
                <a:cubicBezTo>
                  <a:pt x="451" y="506"/>
                  <a:pt x="461" y="510"/>
                  <a:pt x="472" y="510"/>
                </a:cubicBezTo>
                <a:cubicBezTo>
                  <a:pt x="482" y="510"/>
                  <a:pt x="491" y="506"/>
                  <a:pt x="499" y="499"/>
                </a:cubicBezTo>
                <a:cubicBezTo>
                  <a:pt x="514" y="484"/>
                  <a:pt x="514" y="459"/>
                  <a:pt x="499" y="444"/>
                </a:cubicBezTo>
                <a:lnTo>
                  <a:pt x="309" y="255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 txBox="1"/>
          <p:nvPr/>
        </p:nvSpPr>
        <p:spPr>
          <a:xfrm>
            <a:off x="685800" y="4259520"/>
            <a:ext cx="2870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Si, por el contrario, se muestra un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685440" y="243828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3790800" y="4259520"/>
            <a:ext cx="701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o un error en rojo, identifique la celda que ha fallado y consulte el apartado siguiente.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685800" y="2070720"/>
            <a:ext cx="7956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11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1483560" y="207720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7181640" y="240948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1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4"/>
                  <a:pt x="204" y="205"/>
                </a:cubicBezTo>
                <a:cubicBezTo>
                  <a:pt x="193" y="216"/>
                  <a:pt x="180" y="224"/>
                  <a:pt x="166" y="231"/>
                </a:cubicBezTo>
                <a:cubicBezTo>
                  <a:pt x="150" y="237"/>
                  <a:pt x="135" y="240"/>
                  <a:pt x="119" y="240"/>
                </a:cubicBezTo>
                <a:cubicBezTo>
                  <a:pt x="103" y="240"/>
                  <a:pt x="88" y="237"/>
                  <a:pt x="74" y="231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1"/>
                </a:cubicBezTo>
                <a:cubicBezTo>
                  <a:pt x="0" y="105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4" y="10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5"/>
                  <a:pt x="239" y="121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1541880" y="2070720"/>
            <a:ext cx="14558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Verificación final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9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695160" y="2038320"/>
            <a:ext cx="3096000" cy="371520"/>
          </a:xfrm>
          <a:custGeom>
            <a:avLst/>
            <a:gdLst/>
            <a:ahLst/>
            <a:rect l="0" t="0" r="r" b="b"/>
            <a:pathLst>
              <a:path w="8600" h="1032">
                <a:moveTo>
                  <a:pt x="0" y="0"/>
                </a:moveTo>
                <a:lnTo>
                  <a:pt x="8600" y="0"/>
                </a:lnTo>
                <a:lnTo>
                  <a:pt x="8600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3790800" y="2038320"/>
            <a:ext cx="2410200" cy="371520"/>
          </a:xfrm>
          <a:custGeom>
            <a:avLst/>
            <a:gdLst/>
            <a:ahLst/>
            <a:rect l="0" t="0" r="r" b="b"/>
            <a:pathLst>
              <a:path w="6695" h="1032">
                <a:moveTo>
                  <a:pt x="0" y="0"/>
                </a:moveTo>
                <a:lnTo>
                  <a:pt x="6695" y="0"/>
                </a:lnTo>
                <a:lnTo>
                  <a:pt x="6695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6200640" y="2038320"/>
            <a:ext cx="3991320" cy="371520"/>
          </a:xfrm>
          <a:custGeom>
            <a:avLst/>
            <a:gdLst/>
            <a:ahLst/>
            <a:rect l="0" t="0" r="r" b="b"/>
            <a:pathLst>
              <a:path w="11087" h="1032">
                <a:moveTo>
                  <a:pt x="0" y="0"/>
                </a:moveTo>
                <a:lnTo>
                  <a:pt x="11087" y="0"/>
                </a:lnTo>
                <a:lnTo>
                  <a:pt x="1108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695160" y="2038320"/>
            <a:ext cx="3096000" cy="371520"/>
          </a:xfrm>
          <a:custGeom>
            <a:avLst/>
            <a:gdLst/>
            <a:ahLst/>
            <a:rect l="0" t="0" r="r" b="b"/>
            <a:pathLst>
              <a:path w="8600" h="1032">
                <a:moveTo>
                  <a:pt x="0" y="0"/>
                </a:moveTo>
                <a:lnTo>
                  <a:pt x="8600" y="0"/>
                </a:lnTo>
                <a:lnTo>
                  <a:pt x="8600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3790800" y="2038320"/>
            <a:ext cx="2410200" cy="371520"/>
          </a:xfrm>
          <a:custGeom>
            <a:avLst/>
            <a:gdLst/>
            <a:ahLst/>
            <a:rect l="0" t="0" r="r" b="b"/>
            <a:pathLst>
              <a:path w="6695" h="1032">
                <a:moveTo>
                  <a:pt x="0" y="0"/>
                </a:moveTo>
                <a:lnTo>
                  <a:pt x="6695" y="0"/>
                </a:lnTo>
                <a:lnTo>
                  <a:pt x="6695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6200640" y="2038320"/>
            <a:ext cx="3991320" cy="371520"/>
          </a:xfrm>
          <a:custGeom>
            <a:avLst/>
            <a:gdLst/>
            <a:ahLst/>
            <a:rect l="0" t="0" r="r" b="b"/>
            <a:pathLst>
              <a:path w="11087" h="1032">
                <a:moveTo>
                  <a:pt x="0" y="0"/>
                </a:moveTo>
                <a:lnTo>
                  <a:pt x="11087" y="0"/>
                </a:lnTo>
                <a:lnTo>
                  <a:pt x="1108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695160" y="2409480"/>
            <a:ext cx="3096000" cy="362520"/>
          </a:xfrm>
          <a:custGeom>
            <a:avLst/>
            <a:gdLst/>
            <a:ahLst/>
            <a:rect l="0" t="0" r="r" b="b"/>
            <a:pathLst>
              <a:path w="8600" h="1007">
                <a:moveTo>
                  <a:pt x="0" y="0"/>
                </a:moveTo>
                <a:lnTo>
                  <a:pt x="8600" y="0"/>
                </a:lnTo>
                <a:lnTo>
                  <a:pt x="8600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3790800" y="2409480"/>
            <a:ext cx="2410200" cy="362520"/>
          </a:xfrm>
          <a:custGeom>
            <a:avLst/>
            <a:gdLst/>
            <a:ahLst/>
            <a:rect l="0" t="0" r="r" b="b"/>
            <a:pathLst>
              <a:path w="6695" h="1007">
                <a:moveTo>
                  <a:pt x="0" y="0"/>
                </a:moveTo>
                <a:lnTo>
                  <a:pt x="6695" y="0"/>
                </a:lnTo>
                <a:lnTo>
                  <a:pt x="6695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6200640" y="2409480"/>
            <a:ext cx="3991320" cy="362520"/>
          </a:xfrm>
          <a:custGeom>
            <a:avLst/>
            <a:gdLst/>
            <a:ahLst/>
            <a:rect l="0" t="0" r="r" b="b"/>
            <a:pathLst>
              <a:path w="11087" h="1007">
                <a:moveTo>
                  <a:pt x="0" y="0"/>
                </a:moveTo>
                <a:lnTo>
                  <a:pt x="11087" y="0"/>
                </a:lnTo>
                <a:lnTo>
                  <a:pt x="1108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695160" y="2771640"/>
            <a:ext cx="3096000" cy="371880"/>
          </a:xfrm>
          <a:custGeom>
            <a:avLst/>
            <a:gdLst/>
            <a:ahLst/>
            <a:rect l="0" t="0" r="r" b="b"/>
            <a:pathLst>
              <a:path w="8600" h="1033">
                <a:moveTo>
                  <a:pt x="0" y="0"/>
                </a:moveTo>
                <a:lnTo>
                  <a:pt x="8600" y="0"/>
                </a:lnTo>
                <a:lnTo>
                  <a:pt x="86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3790800" y="2771640"/>
            <a:ext cx="2410200" cy="371880"/>
          </a:xfrm>
          <a:custGeom>
            <a:avLst/>
            <a:gdLst/>
            <a:ahLst/>
            <a:rect l="0" t="0" r="r" b="b"/>
            <a:pathLst>
              <a:path w="6695" h="1033">
                <a:moveTo>
                  <a:pt x="0" y="0"/>
                </a:moveTo>
                <a:lnTo>
                  <a:pt x="6695" y="0"/>
                </a:lnTo>
                <a:lnTo>
                  <a:pt x="66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6200640" y="2771640"/>
            <a:ext cx="3991320" cy="371880"/>
          </a:xfrm>
          <a:custGeom>
            <a:avLst/>
            <a:gdLst/>
            <a:ahLst/>
            <a:rect l="0" t="0" r="r" b="b"/>
            <a:pathLst>
              <a:path w="11087" h="1033">
                <a:moveTo>
                  <a:pt x="0" y="0"/>
                </a:moveTo>
                <a:lnTo>
                  <a:pt x="11087" y="0"/>
                </a:lnTo>
                <a:lnTo>
                  <a:pt x="110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695160" y="3143160"/>
            <a:ext cx="3096000" cy="362160"/>
          </a:xfrm>
          <a:custGeom>
            <a:avLst/>
            <a:gdLst/>
            <a:ahLst/>
            <a:rect l="0" t="0" r="r" b="b"/>
            <a:pathLst>
              <a:path w="8600" h="1006">
                <a:moveTo>
                  <a:pt x="0" y="0"/>
                </a:moveTo>
                <a:lnTo>
                  <a:pt x="8600" y="0"/>
                </a:lnTo>
                <a:lnTo>
                  <a:pt x="8600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3790800" y="3143160"/>
            <a:ext cx="2410200" cy="362160"/>
          </a:xfrm>
          <a:custGeom>
            <a:avLst/>
            <a:gdLst/>
            <a:ahLst/>
            <a:rect l="0" t="0" r="r" b="b"/>
            <a:pathLst>
              <a:path w="6695" h="1006">
                <a:moveTo>
                  <a:pt x="0" y="0"/>
                </a:moveTo>
                <a:lnTo>
                  <a:pt x="6695" y="0"/>
                </a:lnTo>
                <a:lnTo>
                  <a:pt x="669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6200640" y="3143160"/>
            <a:ext cx="3991320" cy="362160"/>
          </a:xfrm>
          <a:custGeom>
            <a:avLst/>
            <a:gdLst/>
            <a:ahLst/>
            <a:rect l="0" t="0" r="r" b="b"/>
            <a:pathLst>
              <a:path w="11087" h="1006">
                <a:moveTo>
                  <a:pt x="0" y="0"/>
                </a:moveTo>
                <a:lnTo>
                  <a:pt x="11087" y="0"/>
                </a:lnTo>
                <a:lnTo>
                  <a:pt x="1108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695160" y="3504960"/>
            <a:ext cx="3096000" cy="371880"/>
          </a:xfrm>
          <a:custGeom>
            <a:avLst/>
            <a:gdLst/>
            <a:ahLst/>
            <a:rect l="0" t="0" r="r" b="b"/>
            <a:pathLst>
              <a:path w="8600" h="1033">
                <a:moveTo>
                  <a:pt x="0" y="0"/>
                </a:moveTo>
                <a:lnTo>
                  <a:pt x="8600" y="0"/>
                </a:lnTo>
                <a:lnTo>
                  <a:pt x="860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3790800" y="3504960"/>
            <a:ext cx="2410200" cy="371880"/>
          </a:xfrm>
          <a:custGeom>
            <a:avLst/>
            <a:gdLst/>
            <a:ahLst/>
            <a:rect l="0" t="0" r="r" b="b"/>
            <a:pathLst>
              <a:path w="6695" h="1033">
                <a:moveTo>
                  <a:pt x="0" y="0"/>
                </a:moveTo>
                <a:lnTo>
                  <a:pt x="6695" y="0"/>
                </a:lnTo>
                <a:lnTo>
                  <a:pt x="669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6200640" y="3504960"/>
            <a:ext cx="3991320" cy="371880"/>
          </a:xfrm>
          <a:custGeom>
            <a:avLst/>
            <a:gdLst/>
            <a:ahLst/>
            <a:rect l="0" t="0" r="r" b="b"/>
            <a:pathLst>
              <a:path w="11087" h="1033">
                <a:moveTo>
                  <a:pt x="0" y="0"/>
                </a:moveTo>
                <a:lnTo>
                  <a:pt x="11087" y="0"/>
                </a:lnTo>
                <a:lnTo>
                  <a:pt x="1108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695160" y="3876480"/>
            <a:ext cx="3096000" cy="362160"/>
          </a:xfrm>
          <a:custGeom>
            <a:avLst/>
            <a:gdLst/>
            <a:ahLst/>
            <a:rect l="0" t="0" r="r" b="b"/>
            <a:pathLst>
              <a:path w="8600" h="1006">
                <a:moveTo>
                  <a:pt x="0" y="0"/>
                </a:moveTo>
                <a:lnTo>
                  <a:pt x="8600" y="0"/>
                </a:lnTo>
                <a:lnTo>
                  <a:pt x="8600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3790800" y="3876480"/>
            <a:ext cx="2410200" cy="362160"/>
          </a:xfrm>
          <a:custGeom>
            <a:avLst/>
            <a:gdLst/>
            <a:ahLst/>
            <a:rect l="0" t="0" r="r" b="b"/>
            <a:pathLst>
              <a:path w="6695" h="1006">
                <a:moveTo>
                  <a:pt x="0" y="0"/>
                </a:moveTo>
                <a:lnTo>
                  <a:pt x="6695" y="0"/>
                </a:lnTo>
                <a:lnTo>
                  <a:pt x="669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6200640" y="3876480"/>
            <a:ext cx="3991320" cy="362160"/>
          </a:xfrm>
          <a:custGeom>
            <a:avLst/>
            <a:gdLst/>
            <a:ahLst/>
            <a:rect l="0" t="0" r="r" b="b"/>
            <a:pathLst>
              <a:path w="11087" h="1006">
                <a:moveTo>
                  <a:pt x="0" y="0"/>
                </a:moveTo>
                <a:lnTo>
                  <a:pt x="11087" y="0"/>
                </a:lnTo>
                <a:lnTo>
                  <a:pt x="1108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685440" y="20383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685440" y="2038320"/>
            <a:ext cx="3115080" cy="9720"/>
          </a:xfrm>
          <a:custGeom>
            <a:avLst/>
            <a:gdLst/>
            <a:ah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3790800" y="20383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3800160" y="203832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6190920" y="20383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6200640" y="2038320"/>
            <a:ext cx="4000680" cy="9720"/>
          </a:xfrm>
          <a:custGeom>
            <a:avLst/>
            <a:gdLst/>
            <a:ahLst/>
            <a:rect l="0" t="0" r="r" b="b"/>
            <a:pathLst>
              <a:path w="11113" h="27">
                <a:moveTo>
                  <a:pt x="0" y="0"/>
                </a:moveTo>
                <a:lnTo>
                  <a:pt x="11113" y="0"/>
                </a:lnTo>
                <a:lnTo>
                  <a:pt x="11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0191600" y="20383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685440" y="2400120"/>
            <a:ext cx="3115080" cy="9720"/>
          </a:xfrm>
          <a:custGeom>
            <a:avLst/>
            <a:gdLst/>
            <a:ah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3800160" y="240012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6200640" y="2400120"/>
            <a:ext cx="4000680" cy="9720"/>
          </a:xfrm>
          <a:custGeom>
            <a:avLst/>
            <a:gdLst/>
            <a:ahLst/>
            <a:rect l="0" t="0" r="r" b="b"/>
            <a:pathLst>
              <a:path w="11113" h="27">
                <a:moveTo>
                  <a:pt x="0" y="0"/>
                </a:moveTo>
                <a:lnTo>
                  <a:pt x="11113" y="0"/>
                </a:lnTo>
                <a:lnTo>
                  <a:pt x="11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685440" y="2409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3790800" y="24094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6190920" y="2409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10191600" y="24094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685440" y="278100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685440" y="2771640"/>
            <a:ext cx="3115080" cy="9720"/>
          </a:xfrm>
          <a:custGeom>
            <a:avLst/>
            <a:gdLst/>
            <a:ah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3790800" y="27810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3800160" y="277164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6190920" y="278100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6200640" y="2771640"/>
            <a:ext cx="4000680" cy="9720"/>
          </a:xfrm>
          <a:custGeom>
            <a:avLst/>
            <a:gdLst/>
            <a:ahLst/>
            <a:rect l="0" t="0" r="r" b="b"/>
            <a:pathLst>
              <a:path w="11113" h="27">
                <a:moveTo>
                  <a:pt x="0" y="0"/>
                </a:moveTo>
                <a:lnTo>
                  <a:pt x="11113" y="0"/>
                </a:lnTo>
                <a:lnTo>
                  <a:pt x="11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10191600" y="278100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685440" y="3143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685440" y="3133440"/>
            <a:ext cx="3115080" cy="10080"/>
          </a:xfrm>
          <a:custGeom>
            <a:avLst/>
            <a:gdLst/>
            <a:ahLst/>
            <a:rect l="0" t="0" r="r" b="b"/>
            <a:pathLst>
              <a:path w="8653" h="28">
                <a:moveTo>
                  <a:pt x="0" y="0"/>
                </a:moveTo>
                <a:lnTo>
                  <a:pt x="8653" y="0"/>
                </a:lnTo>
                <a:lnTo>
                  <a:pt x="8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379080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3800160" y="3133440"/>
            <a:ext cx="2400840" cy="10080"/>
          </a:xfrm>
          <a:custGeom>
            <a:avLst/>
            <a:gdLst/>
            <a:ahLst/>
            <a:rect l="0" t="0" r="r" b="b"/>
            <a:pathLst>
              <a:path w="6669" h="28">
                <a:moveTo>
                  <a:pt x="0" y="0"/>
                </a:moveTo>
                <a:lnTo>
                  <a:pt x="6669" y="0"/>
                </a:lnTo>
                <a:lnTo>
                  <a:pt x="66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6190920" y="3143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6200640" y="3133440"/>
            <a:ext cx="4000680" cy="10080"/>
          </a:xfrm>
          <a:custGeom>
            <a:avLst/>
            <a:gdLst/>
            <a:ahLst/>
            <a:rect l="0" t="0" r="r" b="b"/>
            <a:pathLst>
              <a:path w="11113" h="28">
                <a:moveTo>
                  <a:pt x="0" y="0"/>
                </a:moveTo>
                <a:lnTo>
                  <a:pt x="11113" y="0"/>
                </a:lnTo>
                <a:lnTo>
                  <a:pt x="11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10191600" y="3143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685440" y="35146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685440" y="3504960"/>
            <a:ext cx="3115080" cy="10440"/>
          </a:xfrm>
          <a:custGeom>
            <a:avLst/>
            <a:gdLst/>
            <a:ahLst/>
            <a:rect l="0" t="0" r="r" b="b"/>
            <a:pathLst>
              <a:path w="8653" h="29">
                <a:moveTo>
                  <a:pt x="0" y="0"/>
                </a:moveTo>
                <a:lnTo>
                  <a:pt x="8653" y="0"/>
                </a:lnTo>
                <a:lnTo>
                  <a:pt x="865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3790800" y="351468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3800160" y="3504960"/>
            <a:ext cx="2400840" cy="10440"/>
          </a:xfrm>
          <a:custGeom>
            <a:avLst/>
            <a:gdLst/>
            <a:ahLst/>
            <a:rect l="0" t="0" r="r" b="b"/>
            <a:pathLst>
              <a:path w="6669" h="29">
                <a:moveTo>
                  <a:pt x="0" y="0"/>
                </a:moveTo>
                <a:lnTo>
                  <a:pt x="6669" y="0"/>
                </a:lnTo>
                <a:lnTo>
                  <a:pt x="666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6190920" y="35146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6200640" y="3504960"/>
            <a:ext cx="4000680" cy="10440"/>
          </a:xfrm>
          <a:custGeom>
            <a:avLst/>
            <a:gdLst/>
            <a:ahLst/>
            <a:rect l="0" t="0" r="r" b="b"/>
            <a:pathLst>
              <a:path w="11113" h="29">
                <a:moveTo>
                  <a:pt x="0" y="0"/>
                </a:moveTo>
                <a:lnTo>
                  <a:pt x="11113" y="0"/>
                </a:lnTo>
                <a:lnTo>
                  <a:pt x="1111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10191600" y="351468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685440" y="3876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685440" y="3867120"/>
            <a:ext cx="3115080" cy="9720"/>
          </a:xfrm>
          <a:custGeom>
            <a:avLst/>
            <a:gdLst/>
            <a:ahLst/>
            <a:rect l="0" t="0" r="r" b="b"/>
            <a:pathLst>
              <a:path w="8653" h="27">
                <a:moveTo>
                  <a:pt x="0" y="0"/>
                </a:moveTo>
                <a:lnTo>
                  <a:pt x="8653" y="0"/>
                </a:lnTo>
                <a:lnTo>
                  <a:pt x="86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3790800" y="38764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3800160" y="3867120"/>
            <a:ext cx="2400840" cy="9720"/>
          </a:xfrm>
          <a:custGeom>
            <a:avLst/>
            <a:gdLst/>
            <a:ahLst/>
            <a:rect l="0" t="0" r="r" b="b"/>
            <a:pathLst>
              <a:path w="6669" h="27">
                <a:moveTo>
                  <a:pt x="0" y="0"/>
                </a:moveTo>
                <a:lnTo>
                  <a:pt x="6669" y="0"/>
                </a:lnTo>
                <a:lnTo>
                  <a:pt x="66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6190920" y="38764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6200640" y="3867120"/>
            <a:ext cx="4000680" cy="9720"/>
          </a:xfrm>
          <a:custGeom>
            <a:avLst/>
            <a:gdLst/>
            <a:ahLst/>
            <a:rect l="0" t="0" r="r" b="b"/>
            <a:pathLst>
              <a:path w="11113" h="27">
                <a:moveTo>
                  <a:pt x="0" y="0"/>
                </a:moveTo>
                <a:lnTo>
                  <a:pt x="11113" y="0"/>
                </a:lnTo>
                <a:lnTo>
                  <a:pt x="111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10191600" y="38764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685440" y="4238280"/>
            <a:ext cx="3115080" cy="10080"/>
          </a:xfrm>
          <a:custGeom>
            <a:avLst/>
            <a:gdLst/>
            <a:ahLst/>
            <a:rect l="0" t="0" r="r" b="b"/>
            <a:pathLst>
              <a:path w="8653" h="28">
                <a:moveTo>
                  <a:pt x="0" y="0"/>
                </a:moveTo>
                <a:lnTo>
                  <a:pt x="8653" y="0"/>
                </a:lnTo>
                <a:lnTo>
                  <a:pt x="86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3800160" y="4238280"/>
            <a:ext cx="2400840" cy="10080"/>
          </a:xfrm>
          <a:custGeom>
            <a:avLst/>
            <a:gdLst/>
            <a:ahLst/>
            <a:rect l="0" t="0" r="r" b="b"/>
            <a:pathLst>
              <a:path w="6669" h="28">
                <a:moveTo>
                  <a:pt x="0" y="0"/>
                </a:moveTo>
                <a:lnTo>
                  <a:pt x="6669" y="0"/>
                </a:lnTo>
                <a:lnTo>
                  <a:pt x="666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6200640" y="4238280"/>
            <a:ext cx="4000680" cy="10080"/>
          </a:xfrm>
          <a:custGeom>
            <a:avLst/>
            <a:gdLst/>
            <a:ahLst/>
            <a:rect l="0" t="0" r="r" b="b"/>
            <a:pathLst>
              <a:path w="11113" h="28">
                <a:moveTo>
                  <a:pt x="0" y="0"/>
                </a:moveTo>
                <a:lnTo>
                  <a:pt x="11113" y="0"/>
                </a:lnTo>
                <a:lnTo>
                  <a:pt x="111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685440" y="446688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685440" y="446688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819000" y="2147040"/>
            <a:ext cx="580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Síntoma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3922200" y="2147040"/>
            <a:ext cx="1033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Causa habitual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819000" y="2504880"/>
            <a:ext cx="1524240" cy="171720"/>
          </a:xfrm>
          <a:custGeom>
            <a:avLst/>
            <a:gdLst/>
            <a:ahLst/>
            <a:rect l="0" t="0" r="r" b="b"/>
            <a:pathLst>
              <a:path w="4234" h="477">
                <a:moveTo>
                  <a:pt x="0" y="397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155" y="0"/>
                </a:lnTo>
                <a:cubicBezTo>
                  <a:pt x="4165" y="0"/>
                  <a:pt x="4176" y="2"/>
                  <a:pt x="4185" y="6"/>
                </a:cubicBezTo>
                <a:cubicBezTo>
                  <a:pt x="4195" y="10"/>
                  <a:pt x="4204" y="16"/>
                  <a:pt x="4211" y="23"/>
                </a:cubicBezTo>
                <a:cubicBezTo>
                  <a:pt x="4218" y="31"/>
                  <a:pt x="4224" y="39"/>
                  <a:pt x="4228" y="49"/>
                </a:cubicBezTo>
                <a:cubicBezTo>
                  <a:pt x="4232" y="59"/>
                  <a:pt x="4234" y="69"/>
                  <a:pt x="4234" y="79"/>
                </a:cubicBezTo>
                <a:lnTo>
                  <a:pt x="4234" y="397"/>
                </a:lnTo>
                <a:cubicBezTo>
                  <a:pt x="4234" y="407"/>
                  <a:pt x="4232" y="418"/>
                  <a:pt x="4228" y="428"/>
                </a:cubicBezTo>
                <a:cubicBezTo>
                  <a:pt x="4224" y="438"/>
                  <a:pt x="4218" y="447"/>
                  <a:pt x="4211" y="454"/>
                </a:cubicBezTo>
                <a:cubicBezTo>
                  <a:pt x="4204" y="461"/>
                  <a:pt x="4195" y="467"/>
                  <a:pt x="4185" y="471"/>
                </a:cubicBezTo>
                <a:cubicBezTo>
                  <a:pt x="4176" y="475"/>
                  <a:pt x="4165" y="477"/>
                  <a:pt x="4155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7"/>
                  <a:pt x="0" y="397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6329160" y="2147040"/>
            <a:ext cx="586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Solución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876240" y="2510640"/>
            <a:ext cx="14043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command not found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2342160" y="2508840"/>
            <a:ext cx="185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/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2560320" y="2508840"/>
            <a:ext cx="1177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"no se reconoce"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4543200" y="2504880"/>
            <a:ext cx="286200" cy="171720"/>
          </a:xfrm>
          <a:custGeom>
            <a:avLst/>
            <a:gdLst/>
            <a:ahLst/>
            <a:rect l="0" t="0" r="r" b="b"/>
            <a:pathLst>
              <a:path w="795" h="477">
                <a:moveTo>
                  <a:pt x="0" y="397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15" y="0"/>
                </a:lnTo>
                <a:cubicBezTo>
                  <a:pt x="726" y="0"/>
                  <a:pt x="736" y="2"/>
                  <a:pt x="746" y="6"/>
                </a:cubicBezTo>
                <a:cubicBezTo>
                  <a:pt x="756" y="10"/>
                  <a:pt x="764" y="16"/>
                  <a:pt x="772" y="23"/>
                </a:cubicBezTo>
                <a:cubicBezTo>
                  <a:pt x="779" y="31"/>
                  <a:pt x="785" y="39"/>
                  <a:pt x="789" y="49"/>
                </a:cubicBezTo>
                <a:cubicBezTo>
                  <a:pt x="793" y="59"/>
                  <a:pt x="795" y="69"/>
                  <a:pt x="795" y="79"/>
                </a:cubicBezTo>
                <a:lnTo>
                  <a:pt x="795" y="397"/>
                </a:lnTo>
                <a:cubicBezTo>
                  <a:pt x="795" y="407"/>
                  <a:pt x="793" y="418"/>
                  <a:pt x="789" y="428"/>
                </a:cubicBezTo>
                <a:cubicBezTo>
                  <a:pt x="785" y="438"/>
                  <a:pt x="779" y="447"/>
                  <a:pt x="772" y="454"/>
                </a:cubicBezTo>
                <a:cubicBezTo>
                  <a:pt x="764" y="461"/>
                  <a:pt x="756" y="467"/>
                  <a:pt x="746" y="471"/>
                </a:cubicBezTo>
                <a:cubicBezTo>
                  <a:pt x="736" y="475"/>
                  <a:pt x="726" y="477"/>
                  <a:pt x="715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7"/>
                  <a:pt x="0" y="397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 txBox="1"/>
          <p:nvPr/>
        </p:nvSpPr>
        <p:spPr>
          <a:xfrm>
            <a:off x="3922200" y="2508840"/>
            <a:ext cx="622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Python o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4602240" y="2510640"/>
            <a:ext cx="1659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4825080" y="2508840"/>
            <a:ext cx="1006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mal instalados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6329160" y="2508840"/>
            <a:ext cx="2346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Repita el paso; en Windows, active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8712720" y="2508840"/>
            <a:ext cx="896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Add to PATH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1647720" y="2876400"/>
            <a:ext cx="695520" cy="171720"/>
          </a:xfrm>
          <a:custGeom>
            <a:avLst/>
            <a:gdLst/>
            <a:ahLst/>
            <a:rect l="0" t="0" r="r" b="b"/>
            <a:pathLst>
              <a:path w="1932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853" y="0"/>
                </a:lnTo>
                <a:cubicBezTo>
                  <a:pt x="1863" y="0"/>
                  <a:pt x="1874" y="2"/>
                  <a:pt x="1883" y="6"/>
                </a:cubicBezTo>
                <a:cubicBezTo>
                  <a:pt x="1893" y="10"/>
                  <a:pt x="1902" y="16"/>
                  <a:pt x="1909" y="23"/>
                </a:cubicBezTo>
                <a:cubicBezTo>
                  <a:pt x="1916" y="31"/>
                  <a:pt x="1922" y="39"/>
                  <a:pt x="1926" y="49"/>
                </a:cubicBezTo>
                <a:cubicBezTo>
                  <a:pt x="1930" y="59"/>
                  <a:pt x="1932" y="69"/>
                  <a:pt x="1932" y="79"/>
                </a:cubicBezTo>
                <a:lnTo>
                  <a:pt x="1932" y="398"/>
                </a:lnTo>
                <a:cubicBezTo>
                  <a:pt x="1932" y="408"/>
                  <a:pt x="1930" y="418"/>
                  <a:pt x="1926" y="428"/>
                </a:cubicBezTo>
                <a:cubicBezTo>
                  <a:pt x="1922" y="438"/>
                  <a:pt x="1916" y="446"/>
                  <a:pt x="1909" y="454"/>
                </a:cubicBezTo>
                <a:cubicBezTo>
                  <a:pt x="1902" y="461"/>
                  <a:pt x="1893" y="467"/>
                  <a:pt x="1883" y="471"/>
                </a:cubicBezTo>
                <a:cubicBezTo>
                  <a:pt x="1874" y="475"/>
                  <a:pt x="1863" y="477"/>
                  <a:pt x="1853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0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819000" y="2880360"/>
            <a:ext cx="828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aparece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1705320" y="2882160"/>
            <a:ext cx="5788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(.venv)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3922200" y="2880360"/>
            <a:ext cx="1514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entorno no se activó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6329160" y="2880360"/>
            <a:ext cx="1490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Repita el comando de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7854480" y="2880360"/>
            <a:ext cx="690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555555"/>
                </a:solidFill>
                <a:effectLst/>
                <a:uFillTx/>
                <a:latin typeface="Eurostile"/>
                <a:ea typeface="Eurostile"/>
              </a:rPr>
              <a:t>activación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819000" y="3238200"/>
            <a:ext cx="533880" cy="172080"/>
          </a:xfrm>
          <a:custGeom>
            <a:avLst/>
            <a:gdLst/>
            <a:ahLst/>
            <a:rect l="0" t="0" r="r" b="b"/>
            <a:pathLst>
              <a:path w="1483" h="478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402" y="0"/>
                </a:lnTo>
                <a:cubicBezTo>
                  <a:pt x="1413" y="0"/>
                  <a:pt x="1423" y="2"/>
                  <a:pt x="1434" y="6"/>
                </a:cubicBezTo>
                <a:cubicBezTo>
                  <a:pt x="1443" y="10"/>
                  <a:pt x="1452" y="16"/>
                  <a:pt x="1459" y="24"/>
                </a:cubicBezTo>
                <a:cubicBezTo>
                  <a:pt x="1467" y="31"/>
                  <a:pt x="1473" y="40"/>
                  <a:pt x="1477" y="49"/>
                </a:cubicBezTo>
                <a:cubicBezTo>
                  <a:pt x="1481" y="59"/>
                  <a:pt x="1483" y="69"/>
                  <a:pt x="1483" y="80"/>
                </a:cubicBezTo>
                <a:lnTo>
                  <a:pt x="1483" y="398"/>
                </a:lnTo>
                <a:cubicBezTo>
                  <a:pt x="1483" y="409"/>
                  <a:pt x="1481" y="419"/>
                  <a:pt x="1477" y="429"/>
                </a:cubicBezTo>
                <a:cubicBezTo>
                  <a:pt x="1473" y="438"/>
                  <a:pt x="1467" y="447"/>
                  <a:pt x="1459" y="454"/>
                </a:cubicBezTo>
                <a:cubicBezTo>
                  <a:pt x="1452" y="462"/>
                  <a:pt x="1443" y="468"/>
                  <a:pt x="1434" y="472"/>
                </a:cubicBezTo>
                <a:cubicBezTo>
                  <a:pt x="1423" y="476"/>
                  <a:pt x="1413" y="478"/>
                  <a:pt x="1402" y="478"/>
                </a:cubicBezTo>
                <a:lnTo>
                  <a:pt x="79" y="478"/>
                </a:lnTo>
                <a:cubicBezTo>
                  <a:pt x="69" y="478"/>
                  <a:pt x="59" y="476"/>
                  <a:pt x="49" y="472"/>
                </a:cubicBezTo>
                <a:cubicBezTo>
                  <a:pt x="39" y="468"/>
                  <a:pt x="31" y="462"/>
                  <a:pt x="23" y="454"/>
                </a:cubicBezTo>
                <a:cubicBezTo>
                  <a:pt x="16" y="447"/>
                  <a:pt x="10" y="438"/>
                  <a:pt x="6" y="429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8488440" y="2880360"/>
            <a:ext cx="7509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del Paso 7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876240" y="3243960"/>
            <a:ext cx="4136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error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2466720" y="3238200"/>
            <a:ext cx="1019520" cy="172080"/>
          </a:xfrm>
          <a:custGeom>
            <a:avLst/>
            <a:gdLst/>
            <a:ahLst/>
            <a:rect l="0" t="0" r="r" b="b"/>
            <a:pathLst>
              <a:path w="2832" h="478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753" y="0"/>
                </a:lnTo>
                <a:cubicBezTo>
                  <a:pt x="2763" y="0"/>
                  <a:pt x="2774" y="2"/>
                  <a:pt x="2783" y="6"/>
                </a:cubicBezTo>
                <a:cubicBezTo>
                  <a:pt x="2793" y="10"/>
                  <a:pt x="2802" y="16"/>
                  <a:pt x="2809" y="24"/>
                </a:cubicBezTo>
                <a:cubicBezTo>
                  <a:pt x="2816" y="31"/>
                  <a:pt x="2822" y="40"/>
                  <a:pt x="2826" y="49"/>
                </a:cubicBezTo>
                <a:cubicBezTo>
                  <a:pt x="2830" y="59"/>
                  <a:pt x="2832" y="69"/>
                  <a:pt x="2832" y="80"/>
                </a:cubicBezTo>
                <a:lnTo>
                  <a:pt x="2832" y="398"/>
                </a:lnTo>
                <a:cubicBezTo>
                  <a:pt x="2832" y="409"/>
                  <a:pt x="2830" y="419"/>
                  <a:pt x="2826" y="429"/>
                </a:cubicBezTo>
                <a:cubicBezTo>
                  <a:pt x="2822" y="438"/>
                  <a:pt x="2816" y="447"/>
                  <a:pt x="2809" y="454"/>
                </a:cubicBezTo>
                <a:cubicBezTo>
                  <a:pt x="2802" y="462"/>
                  <a:pt x="2793" y="468"/>
                  <a:pt x="2783" y="472"/>
                </a:cubicBezTo>
                <a:cubicBezTo>
                  <a:pt x="2774" y="476"/>
                  <a:pt x="2763" y="478"/>
                  <a:pt x="2753" y="478"/>
                </a:cubicBezTo>
                <a:lnTo>
                  <a:pt x="80" y="478"/>
                </a:lnTo>
                <a:cubicBezTo>
                  <a:pt x="69" y="478"/>
                  <a:pt x="59" y="476"/>
                  <a:pt x="49" y="472"/>
                </a:cubicBezTo>
                <a:cubicBezTo>
                  <a:pt x="39" y="468"/>
                  <a:pt x="31" y="462"/>
                  <a:pt x="23" y="454"/>
                </a:cubicBezTo>
                <a:cubicBezTo>
                  <a:pt x="16" y="447"/>
                  <a:pt x="10" y="438"/>
                  <a:pt x="6" y="429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1347840" y="3242160"/>
            <a:ext cx="1112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en rojo durante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2519640" y="3243960"/>
            <a:ext cx="9090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pip install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3922200" y="3242160"/>
            <a:ext cx="1481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Falló una dependencia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6329160" y="3242160"/>
            <a:ext cx="1597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Copie el mensaje al foro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819000" y="3613680"/>
            <a:ext cx="1140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descarga falla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4914720" y="3609720"/>
            <a:ext cx="286200" cy="171720"/>
          </a:xfrm>
          <a:custGeom>
            <a:avLst/>
            <a:gdLst/>
            <a:ahLst/>
            <a:rect l="0" t="0" r="r" b="b"/>
            <a:pathLst>
              <a:path w="795" h="477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15" y="0"/>
                </a:lnTo>
                <a:cubicBezTo>
                  <a:pt x="726" y="0"/>
                  <a:pt x="736" y="2"/>
                  <a:pt x="746" y="6"/>
                </a:cubicBezTo>
                <a:cubicBezTo>
                  <a:pt x="755" y="10"/>
                  <a:pt x="764" y="16"/>
                  <a:pt x="771" y="23"/>
                </a:cubicBezTo>
                <a:cubicBezTo>
                  <a:pt x="779" y="31"/>
                  <a:pt x="785" y="39"/>
                  <a:pt x="789" y="49"/>
                </a:cubicBezTo>
                <a:cubicBezTo>
                  <a:pt x="793" y="59"/>
                  <a:pt x="795" y="69"/>
                  <a:pt x="795" y="80"/>
                </a:cubicBezTo>
                <a:lnTo>
                  <a:pt x="795" y="398"/>
                </a:lnTo>
                <a:cubicBezTo>
                  <a:pt x="795" y="409"/>
                  <a:pt x="793" y="419"/>
                  <a:pt x="789" y="428"/>
                </a:cubicBezTo>
                <a:cubicBezTo>
                  <a:pt x="785" y="438"/>
                  <a:pt x="779" y="447"/>
                  <a:pt x="771" y="454"/>
                </a:cubicBezTo>
                <a:cubicBezTo>
                  <a:pt x="764" y="462"/>
                  <a:pt x="755" y="467"/>
                  <a:pt x="746" y="471"/>
                </a:cubicBezTo>
                <a:cubicBezTo>
                  <a:pt x="736" y="475"/>
                  <a:pt x="726" y="477"/>
                  <a:pt x="715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2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3922200" y="3613680"/>
            <a:ext cx="992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Sin conexión o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4973760" y="3615480"/>
            <a:ext cx="16596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5196600" y="3613680"/>
            <a:ext cx="8737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sin conectar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8267400" y="3609720"/>
            <a:ext cx="1191240" cy="171720"/>
          </a:xfrm>
          <a:custGeom>
            <a:avLst/>
            <a:gdLst/>
            <a:ahLst/>
            <a:rect l="0" t="0" r="r" b="b"/>
            <a:pathLst>
              <a:path w="3309" h="477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229" y="0"/>
                </a:lnTo>
                <a:cubicBezTo>
                  <a:pt x="3240" y="0"/>
                  <a:pt x="3250" y="2"/>
                  <a:pt x="3260" y="6"/>
                </a:cubicBezTo>
                <a:cubicBezTo>
                  <a:pt x="3269" y="10"/>
                  <a:pt x="3278" y="16"/>
                  <a:pt x="3285" y="23"/>
                </a:cubicBezTo>
                <a:cubicBezTo>
                  <a:pt x="3293" y="31"/>
                  <a:pt x="3299" y="39"/>
                  <a:pt x="3303" y="49"/>
                </a:cubicBezTo>
                <a:cubicBezTo>
                  <a:pt x="3307" y="59"/>
                  <a:pt x="3309" y="69"/>
                  <a:pt x="3309" y="80"/>
                </a:cubicBezTo>
                <a:lnTo>
                  <a:pt x="3309" y="398"/>
                </a:lnTo>
                <a:cubicBezTo>
                  <a:pt x="3309" y="409"/>
                  <a:pt x="3307" y="419"/>
                  <a:pt x="3303" y="428"/>
                </a:cubicBezTo>
                <a:cubicBezTo>
                  <a:pt x="3299" y="438"/>
                  <a:pt x="3293" y="447"/>
                  <a:pt x="3285" y="454"/>
                </a:cubicBezTo>
                <a:cubicBezTo>
                  <a:pt x="3278" y="462"/>
                  <a:pt x="3269" y="467"/>
                  <a:pt x="3260" y="471"/>
                </a:cubicBezTo>
                <a:cubicBezTo>
                  <a:pt x="3250" y="475"/>
                  <a:pt x="3240" y="477"/>
                  <a:pt x="3229" y="477"/>
                </a:cubicBezTo>
                <a:lnTo>
                  <a:pt x="80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40" y="467"/>
                  <a:pt x="31" y="462"/>
                  <a:pt x="24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6329160" y="3613680"/>
            <a:ext cx="1932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Compruebe internet y repita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 txBox="1"/>
          <p:nvPr/>
        </p:nvSpPr>
        <p:spPr>
          <a:xfrm>
            <a:off x="8322480" y="3615480"/>
            <a:ext cx="10742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gh auth login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9456840" y="3613680"/>
            <a:ext cx="605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(Paso 5)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 txBox="1"/>
          <p:nvPr/>
        </p:nvSpPr>
        <p:spPr>
          <a:xfrm>
            <a:off x="819000" y="3975840"/>
            <a:ext cx="2152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celda tarda </a:t>
            </a:r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más de 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3922200" y="3975840"/>
            <a:ext cx="1271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Existe un problema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6329160" y="3975840"/>
            <a:ext cx="1460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Deténgase </a:t>
            </a: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consulte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990720" y="4573800"/>
            <a:ext cx="9926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se espera que el alumno resuelva estas incidencias por su cuenta. Durante la sesión en directo y en el foro se ofrece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685440" y="17618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704520" y="1371240"/>
            <a:ext cx="209880" cy="210240"/>
          </a:xfrm>
          <a:custGeom>
            <a:avLst/>
            <a:gdLst/>
            <a:ahLst/>
            <a:rect l="0" t="0" r="r" b="b"/>
            <a:pathLst>
              <a:path w="583" h="584">
                <a:moveTo>
                  <a:pt x="583" y="518"/>
                </a:moveTo>
                <a:cubicBezTo>
                  <a:pt x="583" y="554"/>
                  <a:pt x="555" y="584"/>
                  <a:pt x="519" y="584"/>
                </a:cubicBezTo>
                <a:lnTo>
                  <a:pt x="65" y="584"/>
                </a:lnTo>
                <a:cubicBezTo>
                  <a:pt x="29" y="584"/>
                  <a:pt x="0" y="554"/>
                  <a:pt x="0" y="518"/>
                </a:cubicBezTo>
                <a:lnTo>
                  <a:pt x="0" y="65"/>
                </a:lnTo>
                <a:cubicBezTo>
                  <a:pt x="0" y="29"/>
                  <a:pt x="29" y="0"/>
                  <a:pt x="65" y="0"/>
                </a:cubicBezTo>
                <a:lnTo>
                  <a:pt x="519" y="0"/>
                </a:lnTo>
                <a:cubicBezTo>
                  <a:pt x="555" y="0"/>
                  <a:pt x="583" y="29"/>
                  <a:pt x="583" y="65"/>
                </a:cubicBezTo>
                <a:lnTo>
                  <a:pt x="583" y="518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709560" y="1432800"/>
            <a:ext cx="200160" cy="86040"/>
          </a:xfrm>
          <a:custGeom>
            <a:avLst/>
            <a:gdLst/>
            <a:ahLst/>
            <a:rect l="0" t="0" r="r" b="b"/>
            <a:pathLst>
              <a:path w="556" h="239">
                <a:moveTo>
                  <a:pt x="144" y="32"/>
                </a:moveTo>
                <a:cubicBezTo>
                  <a:pt x="144" y="45"/>
                  <a:pt x="136" y="56"/>
                  <a:pt x="123" y="56"/>
                </a:cubicBezTo>
                <a:cubicBezTo>
                  <a:pt x="109" y="56"/>
                  <a:pt x="99" y="46"/>
                  <a:pt x="80" y="46"/>
                </a:cubicBezTo>
                <a:cubicBezTo>
                  <a:pt x="66" y="46"/>
                  <a:pt x="53" y="54"/>
                  <a:pt x="53" y="67"/>
                </a:cubicBezTo>
                <a:cubicBezTo>
                  <a:pt x="53" y="100"/>
                  <a:pt x="161" y="79"/>
                  <a:pt x="161" y="163"/>
                </a:cubicBezTo>
                <a:cubicBezTo>
                  <a:pt x="161" y="210"/>
                  <a:pt x="123" y="239"/>
                  <a:pt x="78" y="239"/>
                </a:cubicBezTo>
                <a:cubicBezTo>
                  <a:pt x="53" y="239"/>
                  <a:pt x="0" y="233"/>
                  <a:pt x="0" y="202"/>
                </a:cubicBezTo>
                <a:cubicBezTo>
                  <a:pt x="0" y="190"/>
                  <a:pt x="8" y="178"/>
                  <a:pt x="21" y="178"/>
                </a:cubicBezTo>
                <a:cubicBezTo>
                  <a:pt x="37" y="178"/>
                  <a:pt x="55" y="192"/>
                  <a:pt x="76" y="192"/>
                </a:cubicBezTo>
                <a:cubicBezTo>
                  <a:pt x="97" y="192"/>
                  <a:pt x="109" y="179"/>
                  <a:pt x="109" y="163"/>
                </a:cubicBezTo>
                <a:cubicBezTo>
                  <a:pt x="109" y="125"/>
                  <a:pt x="1" y="148"/>
                  <a:pt x="1" y="73"/>
                </a:cubicBezTo>
                <a:cubicBezTo>
                  <a:pt x="1" y="28"/>
                  <a:pt x="38" y="0"/>
                  <a:pt x="81" y="0"/>
                </a:cubicBezTo>
                <a:cubicBezTo>
                  <a:pt x="99" y="0"/>
                  <a:pt x="144" y="6"/>
                  <a:pt x="144" y="32"/>
                </a:cubicBezTo>
                <a:moveTo>
                  <a:pt x="166" y="119"/>
                </a:moveTo>
                <a:cubicBezTo>
                  <a:pt x="166" y="51"/>
                  <a:pt x="212" y="0"/>
                  <a:pt x="277" y="0"/>
                </a:cubicBezTo>
                <a:cubicBezTo>
                  <a:pt x="342" y="0"/>
                  <a:pt x="389" y="53"/>
                  <a:pt x="389" y="119"/>
                </a:cubicBezTo>
                <a:cubicBezTo>
                  <a:pt x="389" y="187"/>
                  <a:pt x="344" y="239"/>
                  <a:pt x="277" y="239"/>
                </a:cubicBezTo>
                <a:cubicBezTo>
                  <a:pt x="212" y="239"/>
                  <a:pt x="166" y="187"/>
                  <a:pt x="166" y="119"/>
                </a:cubicBezTo>
                <a:moveTo>
                  <a:pt x="338" y="119"/>
                </a:moveTo>
                <a:cubicBezTo>
                  <a:pt x="338" y="79"/>
                  <a:pt x="318" y="44"/>
                  <a:pt x="277" y="44"/>
                </a:cubicBezTo>
                <a:cubicBezTo>
                  <a:pt x="237" y="44"/>
                  <a:pt x="217" y="79"/>
                  <a:pt x="217" y="119"/>
                </a:cubicBezTo>
                <a:cubicBezTo>
                  <a:pt x="217" y="158"/>
                  <a:pt x="236" y="194"/>
                  <a:pt x="277" y="194"/>
                </a:cubicBezTo>
                <a:cubicBezTo>
                  <a:pt x="319" y="194"/>
                  <a:pt x="338" y="158"/>
                  <a:pt x="338" y="119"/>
                </a:cubicBezTo>
                <a:moveTo>
                  <a:pt x="539" y="32"/>
                </a:moveTo>
                <a:cubicBezTo>
                  <a:pt x="539" y="45"/>
                  <a:pt x="531" y="56"/>
                  <a:pt x="517" y="56"/>
                </a:cubicBezTo>
                <a:cubicBezTo>
                  <a:pt x="504" y="56"/>
                  <a:pt x="493" y="46"/>
                  <a:pt x="474" y="46"/>
                </a:cubicBezTo>
                <a:cubicBezTo>
                  <a:pt x="460" y="46"/>
                  <a:pt x="447" y="54"/>
                  <a:pt x="447" y="67"/>
                </a:cubicBezTo>
                <a:cubicBezTo>
                  <a:pt x="447" y="100"/>
                  <a:pt x="556" y="79"/>
                  <a:pt x="556" y="163"/>
                </a:cubicBezTo>
                <a:cubicBezTo>
                  <a:pt x="556" y="210"/>
                  <a:pt x="517" y="239"/>
                  <a:pt x="472" y="239"/>
                </a:cubicBezTo>
                <a:cubicBezTo>
                  <a:pt x="448" y="239"/>
                  <a:pt x="394" y="233"/>
                  <a:pt x="394" y="202"/>
                </a:cubicBezTo>
                <a:cubicBezTo>
                  <a:pt x="394" y="190"/>
                  <a:pt x="402" y="178"/>
                  <a:pt x="416" y="178"/>
                </a:cubicBezTo>
                <a:cubicBezTo>
                  <a:pt x="431" y="178"/>
                  <a:pt x="449" y="192"/>
                  <a:pt x="470" y="192"/>
                </a:cubicBezTo>
                <a:cubicBezTo>
                  <a:pt x="491" y="192"/>
                  <a:pt x="503" y="179"/>
                  <a:pt x="503" y="163"/>
                </a:cubicBezTo>
                <a:cubicBezTo>
                  <a:pt x="503" y="125"/>
                  <a:pt x="395" y="148"/>
                  <a:pt x="395" y="73"/>
                </a:cubicBezTo>
                <a:cubicBezTo>
                  <a:pt x="395" y="28"/>
                  <a:pt x="432" y="0"/>
                  <a:pt x="475" y="0"/>
                </a:cubicBezTo>
                <a:cubicBezTo>
                  <a:pt x="493" y="0"/>
                  <a:pt x="539" y="6"/>
                  <a:pt x="539" y="3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990720" y="4869000"/>
            <a:ext cx="87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asistencia.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7181640" y="17334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926640" y="1384920"/>
            <a:ext cx="2259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Resolución de incidencias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 txBox="1"/>
          <p:nvPr/>
        </p:nvSpPr>
        <p:spPr>
          <a:xfrm>
            <a:off x="914400" y="282312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1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3015360" y="283824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3162600" y="2823120"/>
            <a:ext cx="51415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EL DETECTOR CLÁSICO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1962000" y="3562200"/>
            <a:ext cx="3381840" cy="286200"/>
          </a:xfrm>
          <a:custGeom>
            <a:avLst/>
            <a:gdLst/>
            <a:ahLst/>
            <a:rect l="0" t="0" r="r" b="b"/>
            <a:pathLst>
              <a:path w="9394" h="795">
                <a:moveTo>
                  <a:pt x="0" y="715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9314" y="0"/>
                </a:lnTo>
                <a:cubicBezTo>
                  <a:pt x="9325" y="0"/>
                  <a:pt x="9335" y="2"/>
                  <a:pt x="9345" y="6"/>
                </a:cubicBezTo>
                <a:cubicBezTo>
                  <a:pt x="9354" y="10"/>
                  <a:pt x="9363" y="16"/>
                  <a:pt x="9370" y="24"/>
                </a:cubicBezTo>
                <a:cubicBezTo>
                  <a:pt x="9378" y="32"/>
                  <a:pt x="9384" y="40"/>
                  <a:pt x="9388" y="50"/>
                </a:cubicBezTo>
                <a:cubicBezTo>
                  <a:pt x="9392" y="60"/>
                  <a:pt x="9394" y="70"/>
                  <a:pt x="9394" y="80"/>
                </a:cubicBezTo>
                <a:lnTo>
                  <a:pt x="9394" y="715"/>
                </a:lnTo>
                <a:cubicBezTo>
                  <a:pt x="9394" y="726"/>
                  <a:pt x="9392" y="736"/>
                  <a:pt x="9388" y="746"/>
                </a:cubicBezTo>
                <a:cubicBezTo>
                  <a:pt x="9384" y="755"/>
                  <a:pt x="9378" y="764"/>
                  <a:pt x="9370" y="771"/>
                </a:cubicBezTo>
                <a:cubicBezTo>
                  <a:pt x="9363" y="779"/>
                  <a:pt x="9354" y="785"/>
                  <a:pt x="9345" y="789"/>
                </a:cubicBezTo>
                <a:cubicBezTo>
                  <a:pt x="9335" y="793"/>
                  <a:pt x="9325" y="795"/>
                  <a:pt x="931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1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914400" y="359280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2012400" y="3561120"/>
            <a:ext cx="32911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02_clasico_canny_hough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5342040" y="359280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5403960" y="36003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5472720" y="3592800"/>
            <a:ext cx="92916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~15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4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690480" y="2728800"/>
            <a:ext cx="10811160" cy="819360"/>
          </a:xfrm>
          <a:custGeom>
            <a:avLst/>
            <a:gdLst/>
            <a:ahLst/>
            <a:rect l="0" t="0" r="r" b="b"/>
            <a:pathLst>
              <a:path w="30031" h="2276">
                <a:moveTo>
                  <a:pt x="0" y="218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2184"/>
                </a:lnTo>
                <a:cubicBezTo>
                  <a:pt x="30031" y="2196"/>
                  <a:pt x="30029" y="2208"/>
                  <a:pt x="30024" y="2219"/>
                </a:cubicBezTo>
                <a:cubicBezTo>
                  <a:pt x="30019" y="2230"/>
                  <a:pt x="30012" y="2240"/>
                  <a:pt x="30004" y="2249"/>
                </a:cubicBezTo>
                <a:cubicBezTo>
                  <a:pt x="29995" y="2258"/>
                  <a:pt x="29985" y="2264"/>
                  <a:pt x="29974" y="2269"/>
                </a:cubicBezTo>
                <a:cubicBezTo>
                  <a:pt x="29962" y="2274"/>
                  <a:pt x="29951" y="2276"/>
                  <a:pt x="29938" y="2276"/>
                </a:cubicBezTo>
                <a:lnTo>
                  <a:pt x="92" y="2276"/>
                </a:lnTo>
                <a:cubicBezTo>
                  <a:pt x="80" y="2276"/>
                  <a:pt x="68" y="2274"/>
                  <a:pt x="57" y="2269"/>
                </a:cubicBezTo>
                <a:cubicBezTo>
                  <a:pt x="46" y="2264"/>
                  <a:pt x="36" y="2258"/>
                  <a:pt x="27" y="2249"/>
                </a:cubicBezTo>
                <a:cubicBezTo>
                  <a:pt x="18" y="2240"/>
                  <a:pt x="11" y="2230"/>
                  <a:pt x="7" y="2219"/>
                </a:cubicBezTo>
                <a:cubicBezTo>
                  <a:pt x="2" y="2208"/>
                  <a:pt x="0" y="2196"/>
                  <a:pt x="0" y="2184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690480" y="2728800"/>
            <a:ext cx="10811160" cy="819360"/>
          </a:xfrm>
          <a:custGeom>
            <a:avLst/>
            <a:gdLst/>
            <a:ahLst/>
            <a:rect l="0" t="0" r="r" b="b"/>
            <a:pathLst>
              <a:path w="30031" h="2276">
                <a:moveTo>
                  <a:pt x="0" y="2184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8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8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2184"/>
                </a:lnTo>
                <a:cubicBezTo>
                  <a:pt x="30031" y="2196"/>
                  <a:pt x="30029" y="2208"/>
                  <a:pt x="30024" y="2219"/>
                </a:cubicBezTo>
                <a:cubicBezTo>
                  <a:pt x="30019" y="2230"/>
                  <a:pt x="30012" y="2240"/>
                  <a:pt x="30004" y="2249"/>
                </a:cubicBezTo>
                <a:cubicBezTo>
                  <a:pt x="29995" y="2258"/>
                  <a:pt x="29985" y="2264"/>
                  <a:pt x="29974" y="2269"/>
                </a:cubicBezTo>
                <a:cubicBezTo>
                  <a:pt x="29962" y="2274"/>
                  <a:pt x="29951" y="2276"/>
                  <a:pt x="29938" y="2276"/>
                </a:cubicBezTo>
                <a:lnTo>
                  <a:pt x="92" y="2276"/>
                </a:lnTo>
                <a:cubicBezTo>
                  <a:pt x="80" y="2276"/>
                  <a:pt x="68" y="2274"/>
                  <a:pt x="57" y="2269"/>
                </a:cubicBezTo>
                <a:cubicBezTo>
                  <a:pt x="46" y="2264"/>
                  <a:pt x="36" y="2258"/>
                  <a:pt x="27" y="2249"/>
                </a:cubicBezTo>
                <a:cubicBezTo>
                  <a:pt x="18" y="2240"/>
                  <a:pt x="11" y="2230"/>
                  <a:pt x="7" y="2219"/>
                </a:cubicBezTo>
                <a:cubicBezTo>
                  <a:pt x="2" y="2208"/>
                  <a:pt x="0" y="2196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685440" y="451476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685440" y="451476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 txBox="1"/>
          <p:nvPr/>
        </p:nvSpPr>
        <p:spPr>
          <a:xfrm>
            <a:off x="685800" y="2040120"/>
            <a:ext cx="10557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Detecta los carriles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sin inteligencia artificial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únicamente mediante una secuencia de operaciones sobre la imagen. El notebook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 txBox="1"/>
          <p:nvPr/>
        </p:nvSpPr>
        <p:spPr>
          <a:xfrm>
            <a:off x="685800" y="2325960"/>
            <a:ext cx="2345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guía el proceso paso a paso: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 txBox="1"/>
          <p:nvPr/>
        </p:nvSpPr>
        <p:spPr>
          <a:xfrm>
            <a:off x="866880" y="2881080"/>
            <a:ext cx="44460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Imagen → blanco y negro → suavizado → detección de bordes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 txBox="1"/>
          <p:nvPr/>
        </p:nvSpPr>
        <p:spPr>
          <a:xfrm>
            <a:off x="866880" y="3062160"/>
            <a:ext cx="3510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                                            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 txBox="1"/>
          <p:nvPr/>
        </p:nvSpPr>
        <p:spPr>
          <a:xfrm>
            <a:off x="866880" y="3242880"/>
            <a:ext cx="61617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   Trazado del carril ← unión de líneas ← detección de rectas ← recorte de zona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685800" y="3745080"/>
            <a:ext cx="10197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alumno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ejecuta cada celda y observa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efecto sobre la imagen en cada etapa. Se recomienda leer los textos explicativos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685800" y="4040640"/>
            <a:ext cx="242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intercalados entre las celdas.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 txBox="1"/>
          <p:nvPr/>
        </p:nvSpPr>
        <p:spPr>
          <a:xfrm>
            <a:off x="990720" y="4621680"/>
            <a:ext cx="10066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Durante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décadas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este fue el procedimiento habitual de detección de carriles en los vehículos. Se comprobará que resulta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685440" y="172368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 txBox="1"/>
          <p:nvPr/>
        </p:nvSpPr>
        <p:spPr>
          <a:xfrm>
            <a:off x="990720" y="4907160"/>
            <a:ext cx="2196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eficaz… hasta cierto punto.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7181640" y="16952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 txBox="1"/>
          <p:nvPr/>
        </p:nvSpPr>
        <p:spPr>
          <a:xfrm>
            <a:off x="685800" y="1346760"/>
            <a:ext cx="2208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Función de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7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685440" y="4190760"/>
            <a:ext cx="10820880" cy="714960"/>
          </a:xfrm>
          <a:custGeom>
            <a:avLst/>
            <a:gdLst/>
            <a:ahLst/>
            <a:rect l="0" t="0" r="r" b="b"/>
            <a:pathLst>
              <a:path w="30058" h="1986">
                <a:moveTo>
                  <a:pt x="0" y="0"/>
                </a:moveTo>
                <a:lnTo>
                  <a:pt x="30058" y="0"/>
                </a:lnTo>
                <a:lnTo>
                  <a:pt x="30058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685440" y="4190760"/>
            <a:ext cx="29160" cy="714960"/>
          </a:xfrm>
          <a:custGeom>
            <a:avLst/>
            <a:gdLst/>
            <a:ahLst/>
            <a:rect l="0" t="0" r="r" b="b"/>
            <a:pathLst>
              <a:path w="81" h="1986">
                <a:moveTo>
                  <a:pt x="0" y="0"/>
                </a:moveTo>
                <a:lnTo>
                  <a:pt x="81" y="0"/>
                </a:lnTo>
                <a:lnTo>
                  <a:pt x="81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 txBox="1"/>
          <p:nvPr/>
        </p:nvSpPr>
        <p:spPr>
          <a:xfrm>
            <a:off x="685800" y="2354400"/>
            <a:ext cx="10712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algunas celdas figuran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valores numéricos modificables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(por ejemplo, los "umbrales" del detector de bordes). El notebook invita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904680" y="3171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685800" y="2649960"/>
            <a:ext cx="3880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probar distintos valores y observar su efecto.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904680" y="35146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 txBox="1"/>
          <p:nvPr/>
        </p:nvSpPr>
        <p:spPr>
          <a:xfrm>
            <a:off x="1072440" y="3088080"/>
            <a:ext cx="8159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Modifique un valor, ejecute de nuevo esa celda (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Mayús + Intro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 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observe cómo cambia la imagen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1072440" y="3430800"/>
            <a:ext cx="9800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existe un valor "correcto" único: el objetivo es que el alumno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determine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combinación que permita distinguir con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 txBox="1"/>
          <p:nvPr/>
        </p:nvSpPr>
        <p:spPr>
          <a:xfrm>
            <a:off x="1072440" y="3716640"/>
            <a:ext cx="3157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claridad los carriles y reduzca el ruido.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 txBox="1"/>
          <p:nvPr/>
        </p:nvSpPr>
        <p:spPr>
          <a:xfrm>
            <a:off x="990720" y="425772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1209600" y="4297680"/>
            <a:ext cx="10277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los valores seleccionados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su justificación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Este aspecto se valora en la entrega: se premia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decisión razonada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no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685440" y="20383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754560" y="1762200"/>
            <a:ext cx="45360" cy="45720"/>
          </a:xfrm>
          <a:custGeom>
            <a:avLst/>
            <a:gdLst/>
            <a:ahLst/>
            <a:rect l="0" t="0" r="r" b="b"/>
            <a:pathLst>
              <a:path w="126" h="127">
                <a:moveTo>
                  <a:pt x="80" y="0"/>
                </a:moveTo>
                <a:lnTo>
                  <a:pt x="126" y="47"/>
                </a:lnTo>
                <a:lnTo>
                  <a:pt x="45" y="127"/>
                </a:lnTo>
                <a:lnTo>
                  <a:pt x="0" y="81"/>
                </a:lnTo>
                <a:lnTo>
                  <a:pt x="80" y="0"/>
                </a:lnTo>
                <a:close/>
              </a:path>
            </a:pathLst>
          </a:custGeom>
          <a:solidFill>
            <a:srgbClr val="9AAAB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705240" y="1779480"/>
            <a:ext cx="77760" cy="77760"/>
          </a:xfrm>
          <a:custGeom>
            <a:avLst/>
            <a:gdLst/>
            <a:ahLst/>
            <a:rect l="0" t="0" r="r" b="b"/>
            <a:pathLst>
              <a:path w="216" h="216">
                <a:moveTo>
                  <a:pt x="19" y="105"/>
                </a:moveTo>
                <a:lnTo>
                  <a:pt x="115" y="9"/>
                </a:lnTo>
                <a:cubicBezTo>
                  <a:pt x="127" y="-3"/>
                  <a:pt x="148" y="-3"/>
                  <a:pt x="161" y="9"/>
                </a:cubicBezTo>
                <a:lnTo>
                  <a:pt x="206" y="55"/>
                </a:lnTo>
                <a:cubicBezTo>
                  <a:pt x="219" y="68"/>
                  <a:pt x="219" y="89"/>
                  <a:pt x="206" y="102"/>
                </a:cubicBezTo>
                <a:lnTo>
                  <a:pt x="111" y="197"/>
                </a:lnTo>
                <a:cubicBezTo>
                  <a:pt x="86" y="222"/>
                  <a:pt x="44" y="222"/>
                  <a:pt x="19" y="197"/>
                </a:cubicBezTo>
                <a:cubicBezTo>
                  <a:pt x="-7" y="172"/>
                  <a:pt x="-6" y="131"/>
                  <a:pt x="19" y="105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756360" y="1648800"/>
            <a:ext cx="157320" cy="157320"/>
          </a:xfrm>
          <a:custGeom>
            <a:avLst/>
            <a:gdLst/>
            <a:ahLst/>
            <a:rect l="0" t="0" r="r" b="b"/>
            <a:pathLst>
              <a:path w="437" h="437">
                <a:moveTo>
                  <a:pt x="437" y="218"/>
                </a:moveTo>
                <a:cubicBezTo>
                  <a:pt x="437" y="232"/>
                  <a:pt x="436" y="246"/>
                  <a:pt x="433" y="260"/>
                </a:cubicBezTo>
                <a:cubicBezTo>
                  <a:pt x="430" y="274"/>
                  <a:pt x="426" y="288"/>
                  <a:pt x="421" y="301"/>
                </a:cubicBezTo>
                <a:cubicBezTo>
                  <a:pt x="415" y="315"/>
                  <a:pt x="408" y="327"/>
                  <a:pt x="400" y="339"/>
                </a:cubicBezTo>
                <a:cubicBezTo>
                  <a:pt x="392" y="351"/>
                  <a:pt x="383" y="362"/>
                  <a:pt x="373" y="372"/>
                </a:cubicBezTo>
                <a:cubicBezTo>
                  <a:pt x="363" y="382"/>
                  <a:pt x="352" y="391"/>
                  <a:pt x="340" y="399"/>
                </a:cubicBezTo>
                <a:cubicBezTo>
                  <a:pt x="328" y="407"/>
                  <a:pt x="316" y="414"/>
                  <a:pt x="302" y="419"/>
                </a:cubicBezTo>
                <a:cubicBezTo>
                  <a:pt x="288" y="425"/>
                  <a:pt x="275" y="429"/>
                  <a:pt x="260" y="432"/>
                </a:cubicBezTo>
                <a:cubicBezTo>
                  <a:pt x="246" y="436"/>
                  <a:pt x="232" y="437"/>
                  <a:pt x="218" y="437"/>
                </a:cubicBezTo>
                <a:cubicBezTo>
                  <a:pt x="204" y="437"/>
                  <a:pt x="189" y="436"/>
                  <a:pt x="175" y="432"/>
                </a:cubicBezTo>
                <a:cubicBezTo>
                  <a:pt x="161" y="429"/>
                  <a:pt x="148" y="425"/>
                  <a:pt x="134" y="419"/>
                </a:cubicBezTo>
                <a:cubicBezTo>
                  <a:pt x="121" y="414"/>
                  <a:pt x="109" y="407"/>
                  <a:pt x="97" y="399"/>
                </a:cubicBezTo>
                <a:cubicBezTo>
                  <a:pt x="85" y="391"/>
                  <a:pt x="74" y="382"/>
                  <a:pt x="64" y="372"/>
                </a:cubicBezTo>
                <a:cubicBezTo>
                  <a:pt x="53" y="362"/>
                  <a:pt x="44" y="351"/>
                  <a:pt x="36" y="339"/>
                </a:cubicBezTo>
                <a:cubicBezTo>
                  <a:pt x="28" y="327"/>
                  <a:pt x="22" y="315"/>
                  <a:pt x="16" y="301"/>
                </a:cubicBezTo>
                <a:cubicBezTo>
                  <a:pt x="11" y="288"/>
                  <a:pt x="7" y="274"/>
                  <a:pt x="4" y="260"/>
                </a:cubicBezTo>
                <a:cubicBezTo>
                  <a:pt x="1" y="246"/>
                  <a:pt x="0" y="232"/>
                  <a:pt x="0" y="218"/>
                </a:cubicBezTo>
                <a:cubicBezTo>
                  <a:pt x="0" y="203"/>
                  <a:pt x="1" y="189"/>
                  <a:pt x="4" y="175"/>
                </a:cubicBezTo>
                <a:cubicBezTo>
                  <a:pt x="7" y="161"/>
                  <a:pt x="11" y="148"/>
                  <a:pt x="16" y="134"/>
                </a:cubicBezTo>
                <a:cubicBezTo>
                  <a:pt x="22" y="121"/>
                  <a:pt x="28" y="108"/>
                  <a:pt x="36" y="97"/>
                </a:cubicBezTo>
                <a:cubicBezTo>
                  <a:pt x="44" y="85"/>
                  <a:pt x="53" y="74"/>
                  <a:pt x="64" y="63"/>
                </a:cubicBezTo>
                <a:cubicBezTo>
                  <a:pt x="74" y="53"/>
                  <a:pt x="85" y="44"/>
                  <a:pt x="97" y="36"/>
                </a:cubicBezTo>
                <a:cubicBezTo>
                  <a:pt x="109" y="28"/>
                  <a:pt x="121" y="22"/>
                  <a:pt x="134" y="16"/>
                </a:cubicBezTo>
                <a:cubicBezTo>
                  <a:pt x="148" y="11"/>
                  <a:pt x="161" y="7"/>
                  <a:pt x="175" y="4"/>
                </a:cubicBezTo>
                <a:cubicBezTo>
                  <a:pt x="189" y="1"/>
                  <a:pt x="204" y="0"/>
                  <a:pt x="218" y="0"/>
                </a:cubicBezTo>
                <a:cubicBezTo>
                  <a:pt x="232" y="0"/>
                  <a:pt x="246" y="1"/>
                  <a:pt x="260" y="4"/>
                </a:cubicBezTo>
                <a:cubicBezTo>
                  <a:pt x="275" y="7"/>
                  <a:pt x="288" y="11"/>
                  <a:pt x="302" y="16"/>
                </a:cubicBezTo>
                <a:cubicBezTo>
                  <a:pt x="316" y="22"/>
                  <a:pt x="328" y="28"/>
                  <a:pt x="340" y="36"/>
                </a:cubicBezTo>
                <a:cubicBezTo>
                  <a:pt x="352" y="44"/>
                  <a:pt x="363" y="53"/>
                  <a:pt x="373" y="63"/>
                </a:cubicBezTo>
                <a:cubicBezTo>
                  <a:pt x="383" y="74"/>
                  <a:pt x="392" y="85"/>
                  <a:pt x="400" y="97"/>
                </a:cubicBezTo>
                <a:cubicBezTo>
                  <a:pt x="408" y="108"/>
                  <a:pt x="415" y="121"/>
                  <a:pt x="421" y="134"/>
                </a:cubicBezTo>
                <a:cubicBezTo>
                  <a:pt x="426" y="148"/>
                  <a:pt x="430" y="161"/>
                  <a:pt x="433" y="175"/>
                </a:cubicBezTo>
                <a:cubicBezTo>
                  <a:pt x="436" y="189"/>
                  <a:pt x="437" y="203"/>
                  <a:pt x="437" y="218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779400" y="1671840"/>
            <a:ext cx="110880" cy="110880"/>
          </a:xfrm>
          <a:custGeom>
            <a:avLst/>
            <a:gdLst/>
            <a:ahLst/>
            <a:rect l="0" t="0" r="r" b="b"/>
            <a:pathLst>
              <a:path w="308" h="308">
                <a:moveTo>
                  <a:pt x="308" y="155"/>
                </a:moveTo>
                <a:cubicBezTo>
                  <a:pt x="308" y="165"/>
                  <a:pt x="307" y="175"/>
                  <a:pt x="306" y="185"/>
                </a:cubicBezTo>
                <a:cubicBezTo>
                  <a:pt x="304" y="195"/>
                  <a:pt x="301" y="204"/>
                  <a:pt x="297" y="214"/>
                </a:cubicBezTo>
                <a:cubicBezTo>
                  <a:pt x="293" y="223"/>
                  <a:pt x="288" y="232"/>
                  <a:pt x="283" y="240"/>
                </a:cubicBezTo>
                <a:cubicBezTo>
                  <a:pt x="277" y="249"/>
                  <a:pt x="271" y="256"/>
                  <a:pt x="263" y="263"/>
                </a:cubicBezTo>
                <a:cubicBezTo>
                  <a:pt x="256" y="271"/>
                  <a:pt x="249" y="277"/>
                  <a:pt x="240" y="283"/>
                </a:cubicBezTo>
                <a:cubicBezTo>
                  <a:pt x="232" y="288"/>
                  <a:pt x="223" y="293"/>
                  <a:pt x="214" y="297"/>
                </a:cubicBezTo>
                <a:cubicBezTo>
                  <a:pt x="204" y="301"/>
                  <a:pt x="195" y="303"/>
                  <a:pt x="185" y="305"/>
                </a:cubicBezTo>
                <a:cubicBezTo>
                  <a:pt x="175" y="307"/>
                  <a:pt x="165" y="308"/>
                  <a:pt x="155" y="308"/>
                </a:cubicBezTo>
                <a:cubicBezTo>
                  <a:pt x="145" y="308"/>
                  <a:pt x="134" y="307"/>
                  <a:pt x="124" y="305"/>
                </a:cubicBezTo>
                <a:cubicBezTo>
                  <a:pt x="114" y="303"/>
                  <a:pt x="104" y="301"/>
                  <a:pt x="95" y="297"/>
                </a:cubicBezTo>
                <a:cubicBezTo>
                  <a:pt x="86" y="293"/>
                  <a:pt x="77" y="288"/>
                  <a:pt x="69" y="283"/>
                </a:cubicBezTo>
                <a:cubicBezTo>
                  <a:pt x="60" y="277"/>
                  <a:pt x="52" y="271"/>
                  <a:pt x="45" y="263"/>
                </a:cubicBezTo>
                <a:cubicBezTo>
                  <a:pt x="38" y="256"/>
                  <a:pt x="32" y="249"/>
                  <a:pt x="26" y="240"/>
                </a:cubicBezTo>
                <a:cubicBezTo>
                  <a:pt x="21" y="232"/>
                  <a:pt x="16" y="223"/>
                  <a:pt x="12" y="214"/>
                </a:cubicBezTo>
                <a:cubicBezTo>
                  <a:pt x="8" y="204"/>
                  <a:pt x="5" y="195"/>
                  <a:pt x="3" y="185"/>
                </a:cubicBezTo>
                <a:cubicBezTo>
                  <a:pt x="1" y="175"/>
                  <a:pt x="0" y="165"/>
                  <a:pt x="0" y="155"/>
                </a:cubicBezTo>
                <a:cubicBezTo>
                  <a:pt x="0" y="145"/>
                  <a:pt x="1" y="135"/>
                  <a:pt x="3" y="125"/>
                </a:cubicBezTo>
                <a:cubicBezTo>
                  <a:pt x="5" y="114"/>
                  <a:pt x="8" y="104"/>
                  <a:pt x="12" y="95"/>
                </a:cubicBezTo>
                <a:cubicBezTo>
                  <a:pt x="16" y="86"/>
                  <a:pt x="21" y="77"/>
                  <a:pt x="26" y="68"/>
                </a:cubicBezTo>
                <a:cubicBezTo>
                  <a:pt x="32" y="60"/>
                  <a:pt x="38" y="52"/>
                  <a:pt x="45" y="45"/>
                </a:cubicBezTo>
                <a:cubicBezTo>
                  <a:pt x="52" y="38"/>
                  <a:pt x="60" y="32"/>
                  <a:pt x="69" y="26"/>
                </a:cubicBezTo>
                <a:cubicBezTo>
                  <a:pt x="77" y="20"/>
                  <a:pt x="86" y="16"/>
                  <a:pt x="95" y="12"/>
                </a:cubicBezTo>
                <a:cubicBezTo>
                  <a:pt x="104" y="8"/>
                  <a:pt x="114" y="5"/>
                  <a:pt x="124" y="3"/>
                </a:cubicBezTo>
                <a:cubicBezTo>
                  <a:pt x="134" y="1"/>
                  <a:pt x="145" y="0"/>
                  <a:pt x="155" y="0"/>
                </a:cubicBezTo>
                <a:cubicBezTo>
                  <a:pt x="165" y="0"/>
                  <a:pt x="175" y="1"/>
                  <a:pt x="185" y="3"/>
                </a:cubicBezTo>
                <a:cubicBezTo>
                  <a:pt x="195" y="5"/>
                  <a:pt x="204" y="8"/>
                  <a:pt x="214" y="12"/>
                </a:cubicBezTo>
                <a:cubicBezTo>
                  <a:pt x="223" y="16"/>
                  <a:pt x="232" y="20"/>
                  <a:pt x="240" y="26"/>
                </a:cubicBezTo>
                <a:cubicBezTo>
                  <a:pt x="249" y="32"/>
                  <a:pt x="256" y="38"/>
                  <a:pt x="263" y="45"/>
                </a:cubicBezTo>
                <a:cubicBezTo>
                  <a:pt x="271" y="52"/>
                  <a:pt x="277" y="60"/>
                  <a:pt x="283" y="68"/>
                </a:cubicBezTo>
                <a:cubicBezTo>
                  <a:pt x="288" y="77"/>
                  <a:pt x="293" y="86"/>
                  <a:pt x="297" y="95"/>
                </a:cubicBezTo>
                <a:cubicBezTo>
                  <a:pt x="301" y="104"/>
                  <a:pt x="304" y="114"/>
                  <a:pt x="306" y="125"/>
                </a:cubicBezTo>
                <a:cubicBezTo>
                  <a:pt x="307" y="135"/>
                  <a:pt x="308" y="145"/>
                  <a:pt x="308" y="155"/>
                </a:cubicBezTo>
                <a:close/>
              </a:path>
            </a:pathLst>
          </a:custGeom>
          <a:solidFill>
            <a:srgbClr val="BBDD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990720" y="4592880"/>
            <a:ext cx="4001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coincidencia exacta con un valor determinado.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7181640" y="20095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5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5"/>
                  <a:pt x="204" y="36"/>
                </a:cubicBezTo>
                <a:cubicBezTo>
                  <a:pt x="215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926640" y="1670760"/>
            <a:ext cx="23605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Actividad: experimentación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9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685440" y="455292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685440" y="455292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8115120" y="2266920"/>
            <a:ext cx="524160" cy="219240"/>
          </a:xfrm>
          <a:custGeom>
            <a:avLst/>
            <a:gdLst/>
            <a:ahLst/>
            <a:rect l="0" t="0" r="r" b="b"/>
            <a:pathLst>
              <a:path w="1456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7" y="30"/>
                  <a:pt x="24" y="23"/>
                </a:cubicBezTo>
                <a:cubicBezTo>
                  <a:pt x="32" y="15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lnTo>
                  <a:pt x="1377" y="0"/>
                </a:lnTo>
                <a:cubicBezTo>
                  <a:pt x="1387" y="0"/>
                  <a:pt x="1397" y="2"/>
                  <a:pt x="1407" y="6"/>
                </a:cubicBezTo>
                <a:cubicBezTo>
                  <a:pt x="1417" y="10"/>
                  <a:pt x="1426" y="15"/>
                  <a:pt x="1433" y="23"/>
                </a:cubicBezTo>
                <a:cubicBezTo>
                  <a:pt x="1440" y="30"/>
                  <a:pt x="1446" y="39"/>
                  <a:pt x="1450" y="49"/>
                </a:cubicBezTo>
                <a:cubicBezTo>
                  <a:pt x="1454" y="58"/>
                  <a:pt x="1456" y="68"/>
                  <a:pt x="1456" y="79"/>
                </a:cubicBezTo>
                <a:lnTo>
                  <a:pt x="1456" y="530"/>
                </a:lnTo>
                <a:cubicBezTo>
                  <a:pt x="1456" y="540"/>
                  <a:pt x="1454" y="550"/>
                  <a:pt x="1450" y="560"/>
                </a:cubicBezTo>
                <a:cubicBezTo>
                  <a:pt x="1446" y="570"/>
                  <a:pt x="1440" y="578"/>
                  <a:pt x="1433" y="586"/>
                </a:cubicBezTo>
                <a:cubicBezTo>
                  <a:pt x="1426" y="593"/>
                  <a:pt x="1417" y="599"/>
                  <a:pt x="1407" y="603"/>
                </a:cubicBezTo>
                <a:cubicBezTo>
                  <a:pt x="1397" y="607"/>
                  <a:pt x="1387" y="609"/>
                  <a:pt x="1377" y="609"/>
                </a:cubicBezTo>
                <a:lnTo>
                  <a:pt x="80" y="609"/>
                </a:lnTo>
                <a:cubicBezTo>
                  <a:pt x="70" y="609"/>
                  <a:pt x="60" y="607"/>
                  <a:pt x="50" y="603"/>
                </a:cubicBezTo>
                <a:cubicBezTo>
                  <a:pt x="40" y="599"/>
                  <a:pt x="32" y="593"/>
                  <a:pt x="24" y="586"/>
                </a:cubicBezTo>
                <a:cubicBezTo>
                  <a:pt x="17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 txBox="1"/>
          <p:nvPr/>
        </p:nvSpPr>
        <p:spPr>
          <a:xfrm>
            <a:off x="685800" y="2278440"/>
            <a:ext cx="7412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Finalmente, el notebook aplica el detector a las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14 imágenes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clasificadas en tres niveles: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 txBox="1"/>
          <p:nvPr/>
        </p:nvSpPr>
        <p:spPr>
          <a:xfrm>
            <a:off x="8169120" y="2280600"/>
            <a:ext cx="4118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easy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9410400" y="2266920"/>
            <a:ext cx="724320" cy="219240"/>
          </a:xfrm>
          <a:custGeom>
            <a:avLst/>
            <a:gdLst/>
            <a:ahLst/>
            <a:rect l="0" t="0" r="r" b="b"/>
            <a:pathLst>
              <a:path w="2012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933" y="0"/>
                </a:lnTo>
                <a:cubicBezTo>
                  <a:pt x="1943" y="0"/>
                  <a:pt x="1953" y="2"/>
                  <a:pt x="1963" y="6"/>
                </a:cubicBezTo>
                <a:cubicBezTo>
                  <a:pt x="1973" y="10"/>
                  <a:pt x="1981" y="15"/>
                  <a:pt x="1989" y="23"/>
                </a:cubicBezTo>
                <a:cubicBezTo>
                  <a:pt x="1996" y="30"/>
                  <a:pt x="2002" y="39"/>
                  <a:pt x="2006" y="49"/>
                </a:cubicBezTo>
                <a:cubicBezTo>
                  <a:pt x="2010" y="58"/>
                  <a:pt x="2012" y="68"/>
                  <a:pt x="2012" y="79"/>
                </a:cubicBezTo>
                <a:lnTo>
                  <a:pt x="2012" y="530"/>
                </a:lnTo>
                <a:cubicBezTo>
                  <a:pt x="2012" y="540"/>
                  <a:pt x="2010" y="550"/>
                  <a:pt x="2006" y="560"/>
                </a:cubicBezTo>
                <a:cubicBezTo>
                  <a:pt x="2002" y="570"/>
                  <a:pt x="1996" y="578"/>
                  <a:pt x="1989" y="586"/>
                </a:cubicBezTo>
                <a:cubicBezTo>
                  <a:pt x="1981" y="593"/>
                  <a:pt x="1973" y="599"/>
                  <a:pt x="1963" y="603"/>
                </a:cubicBezTo>
                <a:cubicBezTo>
                  <a:pt x="1953" y="607"/>
                  <a:pt x="1943" y="609"/>
                  <a:pt x="1933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 txBox="1"/>
          <p:nvPr/>
        </p:nvSpPr>
        <p:spPr>
          <a:xfrm>
            <a:off x="8636040" y="2278440"/>
            <a:ext cx="772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(fáciles),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 txBox="1"/>
          <p:nvPr/>
        </p:nvSpPr>
        <p:spPr>
          <a:xfrm>
            <a:off x="9466200" y="2280600"/>
            <a:ext cx="617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medium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685440" y="2562120"/>
            <a:ext cx="524520" cy="219240"/>
          </a:xfrm>
          <a:custGeom>
            <a:avLst/>
            <a:gdLst/>
            <a:ahLst/>
            <a:rect l="0" t="0" r="r" b="b"/>
            <a:pathLst>
              <a:path w="1457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377" y="0"/>
                </a:lnTo>
                <a:cubicBezTo>
                  <a:pt x="1388" y="0"/>
                  <a:pt x="1398" y="2"/>
                  <a:pt x="1408" y="6"/>
                </a:cubicBezTo>
                <a:cubicBezTo>
                  <a:pt x="1417" y="10"/>
                  <a:pt x="1426" y="16"/>
                  <a:pt x="1433" y="23"/>
                </a:cubicBezTo>
                <a:cubicBezTo>
                  <a:pt x="1441" y="30"/>
                  <a:pt x="1447" y="39"/>
                  <a:pt x="1451" y="49"/>
                </a:cubicBezTo>
                <a:cubicBezTo>
                  <a:pt x="1455" y="59"/>
                  <a:pt x="1457" y="69"/>
                  <a:pt x="1457" y="79"/>
                </a:cubicBezTo>
                <a:lnTo>
                  <a:pt x="1457" y="530"/>
                </a:lnTo>
                <a:cubicBezTo>
                  <a:pt x="1457" y="540"/>
                  <a:pt x="1455" y="551"/>
                  <a:pt x="1451" y="560"/>
                </a:cubicBezTo>
                <a:cubicBezTo>
                  <a:pt x="1447" y="570"/>
                  <a:pt x="1441" y="579"/>
                  <a:pt x="1433" y="586"/>
                </a:cubicBezTo>
                <a:cubicBezTo>
                  <a:pt x="1426" y="594"/>
                  <a:pt x="1417" y="599"/>
                  <a:pt x="1408" y="603"/>
                </a:cubicBezTo>
                <a:cubicBezTo>
                  <a:pt x="1398" y="607"/>
                  <a:pt x="1388" y="609"/>
                  <a:pt x="1377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1" y="570"/>
                  <a:pt x="7" y="560"/>
                </a:cubicBezTo>
                <a:cubicBezTo>
                  <a:pt x="3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 txBox="1"/>
          <p:nvPr/>
        </p:nvSpPr>
        <p:spPr>
          <a:xfrm>
            <a:off x="10137600" y="2278440"/>
            <a:ext cx="1275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(intermedias) 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 txBox="1"/>
          <p:nvPr/>
        </p:nvSpPr>
        <p:spPr>
          <a:xfrm>
            <a:off x="743040" y="2575800"/>
            <a:ext cx="4118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hard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 txBox="1"/>
          <p:nvPr/>
        </p:nvSpPr>
        <p:spPr>
          <a:xfrm>
            <a:off x="1209600" y="2573640"/>
            <a:ext cx="6634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(difíciles). Se recomienda prestar atención al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número de aciertos en cada nivel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685800" y="3011760"/>
            <a:ext cx="8439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Considere las siguientes cuestiones (se responderán en la entrega; por ahora, basta con observarlas):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 txBox="1"/>
          <p:nvPr/>
        </p:nvSpPr>
        <p:spPr>
          <a:xfrm>
            <a:off x="860400" y="3459600"/>
            <a:ext cx="9641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¿Se obtienen numerosos aciertos en las imágenes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fáciles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escasos en las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difíciles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? ¿Era un resultado previsible?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860760" y="3792960"/>
            <a:ext cx="10511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Seleccione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imagen difícil en la que el detector falle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analícela: ¿qué la dificulta? ¿Una sombra? ¿Una línea discontinua?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1009440" y="464796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279" y="0"/>
                </a:moveTo>
                <a:cubicBezTo>
                  <a:pt x="124" y="0"/>
                  <a:pt x="0" y="125"/>
                  <a:pt x="0" y="279"/>
                </a:cubicBezTo>
                <a:cubicBezTo>
                  <a:pt x="0" y="432"/>
                  <a:pt x="124" y="557"/>
                  <a:pt x="279" y="557"/>
                </a:cubicBezTo>
                <a:cubicBezTo>
                  <a:pt x="432" y="557"/>
                  <a:pt x="557" y="432"/>
                  <a:pt x="557" y="279"/>
                </a:cubicBezTo>
                <a:cubicBezTo>
                  <a:pt x="557" y="125"/>
                  <a:pt x="432" y="0"/>
                  <a:pt x="279" y="0"/>
                </a:cubicBezTo>
                <a:moveTo>
                  <a:pt x="480" y="279"/>
                </a:moveTo>
                <a:cubicBezTo>
                  <a:pt x="480" y="319"/>
                  <a:pt x="468" y="355"/>
                  <a:pt x="448" y="386"/>
                </a:cubicBezTo>
                <a:lnTo>
                  <a:pt x="170" y="109"/>
                </a:lnTo>
                <a:cubicBezTo>
                  <a:pt x="201" y="89"/>
                  <a:pt x="238" y="77"/>
                  <a:pt x="279" y="77"/>
                </a:cubicBezTo>
                <a:cubicBezTo>
                  <a:pt x="390" y="77"/>
                  <a:pt x="480" y="168"/>
                  <a:pt x="480" y="279"/>
                </a:cubicBezTo>
                <a:moveTo>
                  <a:pt x="77" y="279"/>
                </a:moveTo>
                <a:cubicBezTo>
                  <a:pt x="77" y="239"/>
                  <a:pt x="89" y="203"/>
                  <a:pt x="109" y="171"/>
                </a:cubicBezTo>
                <a:lnTo>
                  <a:pt x="386" y="448"/>
                </a:lnTo>
                <a:cubicBezTo>
                  <a:pt x="355" y="468"/>
                  <a:pt x="318" y="480"/>
                  <a:pt x="279" y="480"/>
                </a:cubicBezTo>
                <a:cubicBezTo>
                  <a:pt x="167" y="480"/>
                  <a:pt x="77" y="390"/>
                  <a:pt x="77" y="279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1072440" y="4088160"/>
            <a:ext cx="213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¿Una curva pronunciada?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3152520" y="4657680"/>
            <a:ext cx="829080" cy="219240"/>
          </a:xfrm>
          <a:custGeom>
            <a:avLst/>
            <a:gdLst/>
            <a:ahLst/>
            <a:rect l="0" t="0" r="r" b="b"/>
            <a:pathLst>
              <a:path w="2303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224" y="0"/>
                </a:lnTo>
                <a:cubicBezTo>
                  <a:pt x="2234" y="0"/>
                  <a:pt x="2244" y="2"/>
                  <a:pt x="2254" y="6"/>
                </a:cubicBezTo>
                <a:cubicBezTo>
                  <a:pt x="2264" y="10"/>
                  <a:pt x="2272" y="15"/>
                  <a:pt x="2280" y="23"/>
                </a:cubicBezTo>
                <a:cubicBezTo>
                  <a:pt x="2287" y="30"/>
                  <a:pt x="2293" y="39"/>
                  <a:pt x="2297" y="49"/>
                </a:cubicBezTo>
                <a:cubicBezTo>
                  <a:pt x="2301" y="58"/>
                  <a:pt x="2303" y="68"/>
                  <a:pt x="2303" y="79"/>
                </a:cubicBezTo>
                <a:lnTo>
                  <a:pt x="2303" y="530"/>
                </a:lnTo>
                <a:cubicBezTo>
                  <a:pt x="2303" y="540"/>
                  <a:pt x="2301" y="550"/>
                  <a:pt x="2297" y="560"/>
                </a:cubicBezTo>
                <a:cubicBezTo>
                  <a:pt x="2293" y="570"/>
                  <a:pt x="2287" y="578"/>
                  <a:pt x="2280" y="586"/>
                </a:cubicBezTo>
                <a:cubicBezTo>
                  <a:pt x="2272" y="593"/>
                  <a:pt x="2264" y="599"/>
                  <a:pt x="2254" y="603"/>
                </a:cubicBezTo>
                <a:cubicBezTo>
                  <a:pt x="2244" y="607"/>
                  <a:pt x="2234" y="609"/>
                  <a:pt x="2224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 txBox="1"/>
          <p:nvPr/>
        </p:nvSpPr>
        <p:spPr>
          <a:xfrm>
            <a:off x="1220400" y="4669200"/>
            <a:ext cx="1927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elimine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 txBox="1"/>
          <p:nvPr/>
        </p:nvSpPr>
        <p:spPr>
          <a:xfrm>
            <a:off x="3207960" y="467136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outputs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685440" y="196200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 txBox="1"/>
          <p:nvPr/>
        </p:nvSpPr>
        <p:spPr>
          <a:xfrm>
            <a:off x="3981960" y="4669200"/>
            <a:ext cx="6150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que se genera: el notebook 04 utiliza la información que se guarda en ella.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7181640" y="1933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4"/>
                  <a:pt x="236" y="150"/>
                  <a:pt x="230" y="164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4"/>
                </a:cubicBezTo>
                <a:cubicBezTo>
                  <a:pt x="3" y="150"/>
                  <a:pt x="0" y="134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8"/>
                  <a:pt x="24" y="46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685800" y="1594440"/>
            <a:ext cx="17956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Aspectos a observar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4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 txBox="1"/>
          <p:nvPr/>
        </p:nvSpPr>
        <p:spPr>
          <a:xfrm>
            <a:off x="914400" y="25088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2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 txBox="1"/>
          <p:nvPr/>
        </p:nvSpPr>
        <p:spPr>
          <a:xfrm>
            <a:off x="3015000" y="252360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 txBox="1"/>
          <p:nvPr/>
        </p:nvSpPr>
        <p:spPr>
          <a:xfrm>
            <a:off x="3162240" y="2508840"/>
            <a:ext cx="74214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EL DETECTOR CON INTELIGENCIA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 txBox="1"/>
          <p:nvPr/>
        </p:nvSpPr>
        <p:spPr>
          <a:xfrm>
            <a:off x="914400" y="3128040"/>
            <a:ext cx="238644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ARTIFICIAL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1962000" y="3867120"/>
            <a:ext cx="2486520" cy="285840"/>
          </a:xfrm>
          <a:custGeom>
            <a:avLst/>
            <a:gdLst/>
            <a:ahLst/>
            <a:rect l="0" t="0" r="r" b="b"/>
            <a:pathLst>
              <a:path w="6907" h="794">
                <a:moveTo>
                  <a:pt x="0" y="714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827" y="0"/>
                </a:lnTo>
                <a:cubicBezTo>
                  <a:pt x="6838" y="0"/>
                  <a:pt x="6848" y="2"/>
                  <a:pt x="6858" y="6"/>
                </a:cubicBezTo>
                <a:cubicBezTo>
                  <a:pt x="6867" y="10"/>
                  <a:pt x="6876" y="15"/>
                  <a:pt x="6883" y="23"/>
                </a:cubicBezTo>
                <a:cubicBezTo>
                  <a:pt x="6891" y="30"/>
                  <a:pt x="6896" y="39"/>
                  <a:pt x="6900" y="49"/>
                </a:cubicBezTo>
                <a:cubicBezTo>
                  <a:pt x="6905" y="58"/>
                  <a:pt x="6907" y="68"/>
                  <a:pt x="6907" y="79"/>
                </a:cubicBezTo>
                <a:lnTo>
                  <a:pt x="6907" y="714"/>
                </a:lnTo>
                <a:cubicBezTo>
                  <a:pt x="6907" y="724"/>
                  <a:pt x="6905" y="735"/>
                  <a:pt x="6900" y="744"/>
                </a:cubicBezTo>
                <a:cubicBezTo>
                  <a:pt x="6896" y="754"/>
                  <a:pt x="6891" y="764"/>
                  <a:pt x="6883" y="771"/>
                </a:cubicBezTo>
                <a:cubicBezTo>
                  <a:pt x="6876" y="779"/>
                  <a:pt x="6867" y="784"/>
                  <a:pt x="6858" y="788"/>
                </a:cubicBezTo>
                <a:cubicBezTo>
                  <a:pt x="6848" y="792"/>
                  <a:pt x="6838" y="794"/>
                  <a:pt x="6827" y="794"/>
                </a:cubicBezTo>
                <a:lnTo>
                  <a:pt x="79" y="794"/>
                </a:lnTo>
                <a:cubicBezTo>
                  <a:pt x="69" y="794"/>
                  <a:pt x="59" y="792"/>
                  <a:pt x="49" y="788"/>
                </a:cubicBezTo>
                <a:cubicBezTo>
                  <a:pt x="39" y="784"/>
                  <a:pt x="31" y="779"/>
                  <a:pt x="23" y="771"/>
                </a:cubicBezTo>
                <a:cubicBezTo>
                  <a:pt x="16" y="764"/>
                  <a:pt x="10" y="754"/>
                  <a:pt x="6" y="744"/>
                </a:cubicBezTo>
                <a:cubicBezTo>
                  <a:pt x="2" y="735"/>
                  <a:pt x="0" y="724"/>
                  <a:pt x="0" y="714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 txBox="1"/>
          <p:nvPr/>
        </p:nvSpPr>
        <p:spPr>
          <a:xfrm>
            <a:off x="914400" y="38977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 txBox="1"/>
          <p:nvPr/>
        </p:nvSpPr>
        <p:spPr>
          <a:xfrm>
            <a:off x="2012400" y="3866040"/>
            <a:ext cx="23936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03_deep_learning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4447440" y="38977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4509360" y="390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 txBox="1"/>
          <p:nvPr/>
        </p:nvSpPr>
        <p:spPr>
          <a:xfrm>
            <a:off x="4578120" y="3897720"/>
            <a:ext cx="92916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~10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9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685440" y="458136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685440" y="458136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685800" y="2259360"/>
            <a:ext cx="10753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Emplea una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red neuronal previamente entrenada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(por el equipo docente) para detectar los carriles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las mismas 14 imágenes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 txBox="1"/>
          <p:nvPr/>
        </p:nvSpPr>
        <p:spPr>
          <a:xfrm>
            <a:off x="685800" y="2545200"/>
            <a:ext cx="9523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alumno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entrena ningún modelo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ni necesita conocer su funcionamiento interno: se limita a cargarlo y utilizarlo.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904680" y="35146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 txBox="1"/>
          <p:nvPr/>
        </p:nvSpPr>
        <p:spPr>
          <a:xfrm>
            <a:off x="685800" y="2992680"/>
            <a:ext cx="569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finalidad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comparar el comportamiento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el detector clásico: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904680" y="38574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 txBox="1"/>
          <p:nvPr/>
        </p:nvSpPr>
        <p:spPr>
          <a:xfrm>
            <a:off x="1072440" y="3430800"/>
            <a:ext cx="2405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¿Es más rápido o más lento?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904680" y="41907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 txBox="1"/>
          <p:nvPr/>
        </p:nvSpPr>
        <p:spPr>
          <a:xfrm>
            <a:off x="1072440" y="3773880"/>
            <a:ext cx="5527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¿Acierta en imágenes difíciles en las que el método clásico fallaba?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1072440" y="4107240"/>
            <a:ext cx="7299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¿Existe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alguna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imagen en la que el método clásico resulte superior? (analícelo con rigor)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685440" y="1942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 txBox="1"/>
          <p:nvPr/>
        </p:nvSpPr>
        <p:spPr>
          <a:xfrm>
            <a:off x="990720" y="4688280"/>
            <a:ext cx="8719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notebook realiza todo el procesamiento. El alumno ejecuta las celdas en orden y observa los resultados.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7181640" y="1914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 txBox="1"/>
          <p:nvPr/>
        </p:nvSpPr>
        <p:spPr>
          <a:xfrm>
            <a:off x="685800" y="1566000"/>
            <a:ext cx="2208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Función de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9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7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685440" y="333360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685440" y="333360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 txBox="1"/>
          <p:nvPr/>
        </p:nvSpPr>
        <p:spPr>
          <a:xfrm>
            <a:off x="685800" y="2125800"/>
            <a:ext cx="10789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cámara de un vehículo capta aproximadamente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30 imágenes por segundo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Esto implica que el equipo dispone únicamente 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 txBox="1"/>
          <p:nvPr/>
        </p:nvSpPr>
        <p:spPr>
          <a:xfrm>
            <a:off x="685800" y="2421360"/>
            <a:ext cx="6375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33 milésimas de segundo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 procesar cada imagen sin acumular retraso.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 txBox="1"/>
          <p:nvPr/>
        </p:nvSpPr>
        <p:spPr>
          <a:xfrm>
            <a:off x="685800" y="2859480"/>
            <a:ext cx="8096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notebook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mide el tiempo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emplea la red neuronal por imagen y lo contrasta con dicho límite.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 txBox="1"/>
          <p:nvPr/>
        </p:nvSpPr>
        <p:spPr>
          <a:xfrm>
            <a:off x="990720" y="340056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 txBox="1"/>
          <p:nvPr/>
        </p:nvSpPr>
        <p:spPr>
          <a:xfrm>
            <a:off x="1209600" y="3440520"/>
            <a:ext cx="10073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resultado: ¿logra la inteligencia artificial procesar a tiempo en su equipo, o no alcanza dicho ritmo? Es una de las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 txBox="1"/>
          <p:nvPr/>
        </p:nvSpPr>
        <p:spPr>
          <a:xfrm>
            <a:off x="990720" y="3726000"/>
            <a:ext cx="5279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cuestiones de la entrega, y el resultado suele resultar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llamativo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 txBox="1"/>
          <p:nvPr/>
        </p:nvSpPr>
        <p:spPr>
          <a:xfrm>
            <a:off x="685800" y="4307040"/>
            <a:ext cx="10429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Analice asimismo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tres imágenes concretas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una en la que ambos métodos acierten, una imagen difícil en la que la inteligencia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 txBox="1"/>
          <p:nvPr/>
        </p:nvSpPr>
        <p:spPr>
          <a:xfrm>
            <a:off x="685800" y="4602600"/>
            <a:ext cx="10173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artificial corrija el fallo del método clásico, y una en la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inteligencia artificial también falle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¿Qué característica de esa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685440" y="18097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745560" y="1419840"/>
            <a:ext cx="128160" cy="161640"/>
          </a:xfrm>
          <a:custGeom>
            <a:avLst/>
            <a:gdLst/>
            <a:ahLst/>
            <a:rect l="0" t="0" r="r" b="b"/>
            <a:pathLst>
              <a:path w="356" h="449">
                <a:moveTo>
                  <a:pt x="356" y="177"/>
                </a:moveTo>
                <a:cubicBezTo>
                  <a:pt x="356" y="281"/>
                  <a:pt x="275" y="297"/>
                  <a:pt x="275" y="395"/>
                </a:cubicBezTo>
                <a:cubicBezTo>
                  <a:pt x="275" y="445"/>
                  <a:pt x="224" y="449"/>
                  <a:pt x="186" y="449"/>
                </a:cubicBezTo>
                <a:cubicBezTo>
                  <a:pt x="152" y="449"/>
                  <a:pt x="79" y="437"/>
                  <a:pt x="79" y="395"/>
                </a:cubicBezTo>
                <a:cubicBezTo>
                  <a:pt x="79" y="297"/>
                  <a:pt x="0" y="281"/>
                  <a:pt x="0" y="177"/>
                </a:cubicBezTo>
                <a:cubicBezTo>
                  <a:pt x="0" y="79"/>
                  <a:pt x="85" y="0"/>
                  <a:pt x="179" y="0"/>
                </a:cubicBezTo>
                <a:cubicBezTo>
                  <a:pt x="274" y="0"/>
                  <a:pt x="356" y="79"/>
                  <a:pt x="356" y="177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785160" y="1604880"/>
            <a:ext cx="48960" cy="18360"/>
          </a:xfrm>
          <a:custGeom>
            <a:avLst/>
            <a:gdLst/>
            <a:ahLst/>
            <a:rect l="0" t="0" r="r" b="b"/>
            <a:pathLst>
              <a:path w="136" h="51">
                <a:moveTo>
                  <a:pt x="136" y="9"/>
                </a:moveTo>
                <a:cubicBezTo>
                  <a:pt x="136" y="23"/>
                  <a:pt x="100" y="51"/>
                  <a:pt x="68" y="51"/>
                </a:cubicBezTo>
                <a:cubicBezTo>
                  <a:pt x="37" y="51"/>
                  <a:pt x="0" y="23"/>
                  <a:pt x="0" y="9"/>
                </a:cubicBezTo>
                <a:cubicBezTo>
                  <a:pt x="0" y="-4"/>
                  <a:pt x="37" y="1"/>
                  <a:pt x="68" y="1"/>
                </a:cubicBezTo>
                <a:cubicBezTo>
                  <a:pt x="100" y="1"/>
                  <a:pt x="136" y="-4"/>
                  <a:pt x="136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780480" y="1477080"/>
            <a:ext cx="58680" cy="99360"/>
          </a:xfrm>
          <a:custGeom>
            <a:avLst/>
            <a:gdLst/>
            <a:ahLst/>
            <a:rect l="0" t="0" r="r" b="b"/>
            <a:pathLst>
              <a:path w="163" h="276">
                <a:moveTo>
                  <a:pt x="159" y="5"/>
                </a:moveTo>
                <a:cubicBezTo>
                  <a:pt x="152" y="-1"/>
                  <a:pt x="142" y="-1"/>
                  <a:pt x="136" y="5"/>
                </a:cubicBezTo>
                <a:lnTo>
                  <a:pt x="82" y="58"/>
                </a:lnTo>
                <a:lnTo>
                  <a:pt x="29" y="5"/>
                </a:lnTo>
                <a:cubicBezTo>
                  <a:pt x="23" y="-1"/>
                  <a:pt x="13" y="-1"/>
                  <a:pt x="5" y="5"/>
                </a:cubicBezTo>
                <a:cubicBezTo>
                  <a:pt x="-1" y="12"/>
                  <a:pt x="-1" y="22"/>
                  <a:pt x="5" y="28"/>
                </a:cubicBezTo>
                <a:lnTo>
                  <a:pt x="66" y="88"/>
                </a:lnTo>
                <a:lnTo>
                  <a:pt x="66" y="260"/>
                </a:lnTo>
                <a:cubicBezTo>
                  <a:pt x="66" y="269"/>
                  <a:pt x="74" y="276"/>
                  <a:pt x="82" y="276"/>
                </a:cubicBezTo>
                <a:cubicBezTo>
                  <a:pt x="91" y="276"/>
                  <a:pt x="99" y="269"/>
                  <a:pt x="99" y="260"/>
                </a:cubicBezTo>
                <a:lnTo>
                  <a:pt x="99" y="88"/>
                </a:lnTo>
                <a:lnTo>
                  <a:pt x="159" y="28"/>
                </a:lnTo>
                <a:cubicBezTo>
                  <a:pt x="165" y="22"/>
                  <a:pt x="165" y="12"/>
                  <a:pt x="159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774360" y="1564560"/>
            <a:ext cx="70200" cy="46800"/>
          </a:xfrm>
          <a:custGeom>
            <a:avLst/>
            <a:gdLst/>
            <a:ahLst/>
            <a:rect l="0" t="0" r="r" b="b"/>
            <a:pathLst>
              <a:path w="195" h="130">
                <a:moveTo>
                  <a:pt x="195" y="97"/>
                </a:moveTo>
                <a:cubicBezTo>
                  <a:pt x="195" y="116"/>
                  <a:pt x="181" y="130"/>
                  <a:pt x="163" y="130"/>
                </a:cubicBezTo>
                <a:lnTo>
                  <a:pt x="33" y="130"/>
                </a:lnTo>
                <a:cubicBezTo>
                  <a:pt x="15" y="130"/>
                  <a:pt x="0" y="116"/>
                  <a:pt x="0" y="97"/>
                </a:cubicBezTo>
                <a:lnTo>
                  <a:pt x="0" y="0"/>
                </a:lnTo>
                <a:lnTo>
                  <a:pt x="195" y="0"/>
                </a:lnTo>
                <a:lnTo>
                  <a:pt x="195" y="97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768600" y="1558800"/>
            <a:ext cx="81720" cy="46800"/>
          </a:xfrm>
          <a:custGeom>
            <a:avLst/>
            <a:gdLst/>
            <a:ahLst/>
            <a:rect l="0" t="0" r="r" b="b"/>
            <a:pathLst>
              <a:path w="227" h="130">
                <a:moveTo>
                  <a:pt x="0" y="116"/>
                </a:moveTo>
                <a:cubicBezTo>
                  <a:pt x="-2" y="107"/>
                  <a:pt x="4" y="99"/>
                  <a:pt x="14" y="97"/>
                </a:cubicBezTo>
                <a:lnTo>
                  <a:pt x="208" y="65"/>
                </a:lnTo>
                <a:cubicBezTo>
                  <a:pt x="217" y="63"/>
                  <a:pt x="225" y="69"/>
                  <a:pt x="226" y="78"/>
                </a:cubicBezTo>
                <a:cubicBezTo>
                  <a:pt x="228" y="87"/>
                  <a:pt x="222" y="95"/>
                  <a:pt x="213" y="97"/>
                </a:cubicBezTo>
                <a:lnTo>
                  <a:pt x="19" y="130"/>
                </a:lnTo>
                <a:cubicBezTo>
                  <a:pt x="18" y="130"/>
                  <a:pt x="17" y="130"/>
                  <a:pt x="16" y="130"/>
                </a:cubicBezTo>
                <a:cubicBezTo>
                  <a:pt x="8" y="130"/>
                  <a:pt x="1" y="125"/>
                  <a:pt x="0" y="116"/>
                </a:cubicBezTo>
                <a:moveTo>
                  <a:pt x="0" y="51"/>
                </a:moveTo>
                <a:cubicBezTo>
                  <a:pt x="-2" y="42"/>
                  <a:pt x="4" y="34"/>
                  <a:pt x="14" y="32"/>
                </a:cubicBezTo>
                <a:lnTo>
                  <a:pt x="208" y="0"/>
                </a:lnTo>
                <a:cubicBezTo>
                  <a:pt x="217" y="-1"/>
                  <a:pt x="225" y="5"/>
                  <a:pt x="226" y="13"/>
                </a:cubicBezTo>
                <a:cubicBezTo>
                  <a:pt x="228" y="22"/>
                  <a:pt x="222" y="31"/>
                  <a:pt x="213" y="32"/>
                </a:cubicBezTo>
                <a:lnTo>
                  <a:pt x="19" y="64"/>
                </a:lnTo>
                <a:cubicBezTo>
                  <a:pt x="18" y="64"/>
                  <a:pt x="17" y="65"/>
                  <a:pt x="16" y="65"/>
                </a:cubicBezTo>
                <a:cubicBezTo>
                  <a:pt x="8" y="65"/>
                  <a:pt x="1" y="59"/>
                  <a:pt x="0" y="51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 txBox="1"/>
          <p:nvPr/>
        </p:nvSpPr>
        <p:spPr>
          <a:xfrm>
            <a:off x="685800" y="4888080"/>
            <a:ext cx="2172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imagen la induce al error?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7181640" y="17809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 txBox="1"/>
          <p:nvPr/>
        </p:nvSpPr>
        <p:spPr>
          <a:xfrm>
            <a:off x="926640" y="1442160"/>
            <a:ext cx="30906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Un concepto relevante: la velocidad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2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9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914400" y="282312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3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 txBox="1"/>
          <p:nvPr/>
        </p:nvSpPr>
        <p:spPr>
          <a:xfrm>
            <a:off x="3015000" y="283824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3162240" y="2823120"/>
            <a:ext cx="42472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LA COMPARACIÓN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1962000" y="3562200"/>
            <a:ext cx="2190960" cy="286200"/>
          </a:xfrm>
          <a:custGeom>
            <a:avLst/>
            <a:gdLst/>
            <a:ahLst/>
            <a:rect l="0" t="0" r="r" b="b"/>
            <a:pathLst>
              <a:path w="6086" h="795">
                <a:moveTo>
                  <a:pt x="0" y="715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007" y="0"/>
                </a:lnTo>
                <a:cubicBezTo>
                  <a:pt x="6017" y="0"/>
                  <a:pt x="6028" y="2"/>
                  <a:pt x="6037" y="6"/>
                </a:cubicBezTo>
                <a:cubicBezTo>
                  <a:pt x="6047" y="10"/>
                  <a:pt x="6056" y="16"/>
                  <a:pt x="6063" y="24"/>
                </a:cubicBezTo>
                <a:cubicBezTo>
                  <a:pt x="6071" y="32"/>
                  <a:pt x="6076" y="40"/>
                  <a:pt x="6080" y="50"/>
                </a:cubicBezTo>
                <a:cubicBezTo>
                  <a:pt x="6084" y="60"/>
                  <a:pt x="6086" y="70"/>
                  <a:pt x="6086" y="80"/>
                </a:cubicBezTo>
                <a:lnTo>
                  <a:pt x="6086" y="715"/>
                </a:lnTo>
                <a:cubicBezTo>
                  <a:pt x="6086" y="726"/>
                  <a:pt x="6084" y="736"/>
                  <a:pt x="6080" y="746"/>
                </a:cubicBezTo>
                <a:cubicBezTo>
                  <a:pt x="6076" y="755"/>
                  <a:pt x="6071" y="764"/>
                  <a:pt x="6063" y="771"/>
                </a:cubicBezTo>
                <a:cubicBezTo>
                  <a:pt x="6056" y="779"/>
                  <a:pt x="6047" y="785"/>
                  <a:pt x="6037" y="789"/>
                </a:cubicBezTo>
                <a:cubicBezTo>
                  <a:pt x="6028" y="793"/>
                  <a:pt x="6017" y="795"/>
                  <a:pt x="6007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1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914400" y="359280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2012400" y="3561120"/>
            <a:ext cx="20944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04_comparativa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4149000" y="359280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 txBox="1"/>
          <p:nvPr/>
        </p:nvSpPr>
        <p:spPr>
          <a:xfrm>
            <a:off x="4210920" y="36003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 txBox="1"/>
          <p:nvPr/>
        </p:nvSpPr>
        <p:spPr>
          <a:xfrm>
            <a:off x="4280040" y="3592800"/>
            <a:ext cx="92916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~10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5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1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685440" y="450504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685440" y="450504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685800" y="2335680"/>
            <a:ext cx="10171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Este notebook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vuelve a procesar imágenes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recupera los resultados guardados por los notebooks 02 y 03 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genera las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10191600" y="260964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223" y="0"/>
                </a:lnTo>
                <a:cubicBezTo>
                  <a:pt x="2234" y="0"/>
                  <a:pt x="2244" y="2"/>
                  <a:pt x="2254" y="6"/>
                </a:cubicBezTo>
                <a:cubicBezTo>
                  <a:pt x="2264" y="10"/>
                  <a:pt x="2272" y="16"/>
                  <a:pt x="2280" y="23"/>
                </a:cubicBezTo>
                <a:cubicBezTo>
                  <a:pt x="2287" y="31"/>
                  <a:pt x="2293" y="39"/>
                  <a:pt x="2297" y="49"/>
                </a:cubicBezTo>
                <a:cubicBezTo>
                  <a:pt x="2301" y="59"/>
                  <a:pt x="2303" y="69"/>
                  <a:pt x="2303" y="79"/>
                </a:cubicBezTo>
                <a:lnTo>
                  <a:pt x="2303" y="530"/>
                </a:lnTo>
                <a:cubicBezTo>
                  <a:pt x="2303" y="541"/>
                  <a:pt x="2301" y="551"/>
                  <a:pt x="2297" y="561"/>
                </a:cubicBezTo>
                <a:cubicBezTo>
                  <a:pt x="2293" y="570"/>
                  <a:pt x="2287" y="579"/>
                  <a:pt x="2280" y="586"/>
                </a:cubicBezTo>
                <a:cubicBezTo>
                  <a:pt x="2272" y="594"/>
                  <a:pt x="2264" y="600"/>
                  <a:pt x="2254" y="604"/>
                </a:cubicBezTo>
                <a:cubicBezTo>
                  <a:pt x="2244" y="608"/>
                  <a:pt x="2234" y="610"/>
                  <a:pt x="2223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685800" y="2621160"/>
            <a:ext cx="9489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gráficas y la tabla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se incluirán en la entrega. Al ejecutar sus celdas en orden se crearán, dentro de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10249560" y="262368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outputs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11023560" y="2621160"/>
            <a:ext cx="429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tres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904680" y="3438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685800" y="2916720"/>
            <a:ext cx="843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imágenes: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3238200" y="3342960"/>
            <a:ext cx="6058440" cy="219600"/>
          </a:xfrm>
          <a:custGeom>
            <a:avLst/>
            <a:gdLst/>
            <a:ahLst/>
            <a:rect l="0" t="0" r="r" b="b"/>
            <a:pathLst>
              <a:path w="16829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6749" y="0"/>
                </a:lnTo>
                <a:cubicBezTo>
                  <a:pt x="16760" y="0"/>
                  <a:pt x="16770" y="2"/>
                  <a:pt x="16780" y="6"/>
                </a:cubicBezTo>
                <a:cubicBezTo>
                  <a:pt x="16790" y="10"/>
                  <a:pt x="16798" y="16"/>
                  <a:pt x="16806" y="24"/>
                </a:cubicBezTo>
                <a:cubicBezTo>
                  <a:pt x="16813" y="31"/>
                  <a:pt x="16819" y="40"/>
                  <a:pt x="16823" y="49"/>
                </a:cubicBezTo>
                <a:cubicBezTo>
                  <a:pt x="16827" y="59"/>
                  <a:pt x="16829" y="69"/>
                  <a:pt x="16829" y="80"/>
                </a:cubicBezTo>
                <a:lnTo>
                  <a:pt x="16829" y="531"/>
                </a:lnTo>
                <a:cubicBezTo>
                  <a:pt x="16829" y="541"/>
                  <a:pt x="16827" y="551"/>
                  <a:pt x="16823" y="561"/>
                </a:cubicBezTo>
                <a:cubicBezTo>
                  <a:pt x="16819" y="571"/>
                  <a:pt x="16813" y="579"/>
                  <a:pt x="16806" y="587"/>
                </a:cubicBezTo>
                <a:cubicBezTo>
                  <a:pt x="16798" y="594"/>
                  <a:pt x="16790" y="600"/>
                  <a:pt x="16780" y="604"/>
                </a:cubicBezTo>
                <a:cubicBezTo>
                  <a:pt x="16770" y="608"/>
                  <a:pt x="16760" y="610"/>
                  <a:pt x="16749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1072440" y="3354840"/>
            <a:ext cx="2166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mosaico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muestra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3299040" y="3357000"/>
            <a:ext cx="59608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imagen original | método clásico | inteligencia artificial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904680" y="3781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2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7"/>
                </a:cubicBezTo>
                <a:cubicBezTo>
                  <a:pt x="121" y="12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 txBox="1"/>
          <p:nvPr/>
        </p:nvSpPr>
        <p:spPr>
          <a:xfrm>
            <a:off x="9293400" y="3354840"/>
            <a:ext cx="1004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en paralelo.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904680" y="4114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cubicBezTo>
                  <a:pt x="90" y="0"/>
                  <a:pt x="101" y="3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 txBox="1"/>
          <p:nvPr/>
        </p:nvSpPr>
        <p:spPr>
          <a:xfrm>
            <a:off x="1072440" y="3697560"/>
            <a:ext cx="4955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gráfico de barras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los aciertos por nivel de dificultad.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1072440" y="4030920"/>
            <a:ext cx="5467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gráfico de tiempos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compara la velocidad de cada método.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685440" y="201924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990720" y="4611960"/>
            <a:ext cx="8254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tres imágenes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son las que deberán incorporarse al documento PDF de entrega. Consérvelas.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7181640" y="1990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89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5"/>
                </a:cubicBezTo>
                <a:cubicBezTo>
                  <a:pt x="236" y="89"/>
                  <a:pt x="239" y="105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 txBox="1"/>
          <p:nvPr/>
        </p:nvSpPr>
        <p:spPr>
          <a:xfrm>
            <a:off x="685800" y="1641960"/>
            <a:ext cx="2208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Función de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5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685440" y="414324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685440" y="414324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904680" y="24955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1072440" y="2411640"/>
            <a:ext cx="10226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Gráfico de aciertos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¿la ventaja de la inteligencia artificial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aumenta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medida que las imágenes se vuelven más difíciles, o 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904680" y="3124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1072440" y="2697480"/>
            <a:ext cx="1760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mantiene constante?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904680" y="3457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1072440" y="3040200"/>
            <a:ext cx="6548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Gráfico de tiempos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¿cuántas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veces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más lento es un método respecto al otro?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1072440" y="3373920"/>
            <a:ext cx="10312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Mosaico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identifique la fila en la que el método clásico traza un carril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claramente erróneo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la inteligencia artificial lo resuelve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 txBox="1"/>
          <p:nvPr/>
        </p:nvSpPr>
        <p:spPr>
          <a:xfrm>
            <a:off x="1072440" y="3669120"/>
            <a:ext cx="4174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correctamente; y, en su caso, el ejemplo contrario.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 txBox="1"/>
          <p:nvPr/>
        </p:nvSpPr>
        <p:spPr>
          <a:xfrm>
            <a:off x="990720" y="4250160"/>
            <a:ext cx="10116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en este punto donde se aprecia con claridad la diferencia entre ambos métodos. Se recomienda dedicar un momento 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685440" y="209520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 txBox="1"/>
          <p:nvPr/>
        </p:nvSpPr>
        <p:spPr>
          <a:xfrm>
            <a:off x="990720" y="4535640"/>
            <a:ext cx="1064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cada gráfica.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7181640" y="20667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 txBox="1"/>
          <p:nvPr/>
        </p:nvSpPr>
        <p:spPr>
          <a:xfrm>
            <a:off x="685800" y="1718280"/>
            <a:ext cx="31014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Elementos a analizar en las gráficas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1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3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 txBox="1"/>
          <p:nvPr/>
        </p:nvSpPr>
        <p:spPr>
          <a:xfrm>
            <a:off x="914400" y="282312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4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 txBox="1"/>
          <p:nvPr/>
        </p:nvSpPr>
        <p:spPr>
          <a:xfrm>
            <a:off x="3015000" y="283824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 txBox="1"/>
          <p:nvPr/>
        </p:nvSpPr>
        <p:spPr>
          <a:xfrm>
            <a:off x="3162240" y="2823120"/>
            <a:ext cx="2927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LA ENTREGA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 txBox="1"/>
          <p:nvPr/>
        </p:nvSpPr>
        <p:spPr>
          <a:xfrm>
            <a:off x="914400" y="3583440"/>
            <a:ext cx="298044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Documento a subir a Moodle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685440" y="477180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685440" y="477180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3809880" y="1761840"/>
            <a:ext cx="2876760" cy="219600"/>
          </a:xfrm>
          <a:custGeom>
            <a:avLst/>
            <a:gdLst/>
            <a:ahLst/>
            <a:rect l="0" t="0" r="r" b="b"/>
            <a:pathLst>
              <a:path w="7991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12" y="0"/>
                </a:lnTo>
                <a:cubicBezTo>
                  <a:pt x="7922" y="0"/>
                  <a:pt x="7933" y="2"/>
                  <a:pt x="7942" y="6"/>
                </a:cubicBezTo>
                <a:cubicBezTo>
                  <a:pt x="7952" y="10"/>
                  <a:pt x="7961" y="16"/>
                  <a:pt x="7968" y="24"/>
                </a:cubicBezTo>
                <a:cubicBezTo>
                  <a:pt x="7975" y="31"/>
                  <a:pt x="7981" y="40"/>
                  <a:pt x="7985" y="49"/>
                </a:cubicBezTo>
                <a:cubicBezTo>
                  <a:pt x="7989" y="59"/>
                  <a:pt x="7991" y="69"/>
                  <a:pt x="7991" y="80"/>
                </a:cubicBezTo>
                <a:lnTo>
                  <a:pt x="7991" y="530"/>
                </a:lnTo>
                <a:cubicBezTo>
                  <a:pt x="7991" y="541"/>
                  <a:pt x="7989" y="551"/>
                  <a:pt x="7985" y="561"/>
                </a:cubicBezTo>
                <a:cubicBezTo>
                  <a:pt x="7981" y="571"/>
                  <a:pt x="7975" y="579"/>
                  <a:pt x="7968" y="587"/>
                </a:cubicBezTo>
                <a:cubicBezTo>
                  <a:pt x="7961" y="594"/>
                  <a:pt x="7952" y="600"/>
                  <a:pt x="7942" y="604"/>
                </a:cubicBezTo>
                <a:cubicBezTo>
                  <a:pt x="7933" y="608"/>
                  <a:pt x="7922" y="610"/>
                  <a:pt x="7912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685800" y="1773720"/>
            <a:ext cx="3117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único archivo PDF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el nombre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3865680" y="1775880"/>
            <a:ext cx="277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cp1_&lt;apellido&gt;_&lt;nombre&gt;.pdf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6687000" y="1773720"/>
            <a:ext cx="4698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subido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Moodle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(sección "CP1 — Carriles"), en un plazo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685800" y="2059200"/>
            <a:ext cx="3134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48 horas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tras la sesión en directo.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685800" y="2507040"/>
            <a:ext cx="4640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documento deberá contener las siguientes secciones: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860400" y="2945160"/>
            <a:ext cx="8319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Equipo empleado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una frase: qué equipo se ha utilizado y cuánto tiempo ha requerido la práctica.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 txBox="1"/>
          <p:nvPr/>
        </p:nvSpPr>
        <p:spPr>
          <a:xfrm>
            <a:off x="860760" y="3287880"/>
            <a:ext cx="867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Detector clásico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5 imágenes con los carriles trazados + los valores seleccionados y su justificación.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860760" y="3621240"/>
            <a:ext cx="8281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Detector con inteligencia artificial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las mismas 5 imágenes + observaciones (tiempo, aciertos).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860760" y="3964320"/>
            <a:ext cx="5022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Comparación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las 3 gráficas + un párrafo de conclusión.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4590720" y="4295520"/>
            <a:ext cx="1657800" cy="219600"/>
          </a:xfrm>
          <a:custGeom>
            <a:avLst/>
            <a:gdLst/>
            <a:ahLst/>
            <a:rect l="0" t="0" r="r" b="b"/>
            <a:pathLst>
              <a:path w="4605" h="610">
                <a:moveTo>
                  <a:pt x="0" y="52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526" y="0"/>
                </a:lnTo>
                <a:cubicBezTo>
                  <a:pt x="4536" y="0"/>
                  <a:pt x="4546" y="2"/>
                  <a:pt x="4556" y="6"/>
                </a:cubicBezTo>
                <a:cubicBezTo>
                  <a:pt x="4566" y="10"/>
                  <a:pt x="4574" y="16"/>
                  <a:pt x="4582" y="23"/>
                </a:cubicBezTo>
                <a:cubicBezTo>
                  <a:pt x="4589" y="31"/>
                  <a:pt x="4595" y="39"/>
                  <a:pt x="4599" y="49"/>
                </a:cubicBezTo>
                <a:cubicBezTo>
                  <a:pt x="4603" y="59"/>
                  <a:pt x="4605" y="69"/>
                  <a:pt x="4605" y="80"/>
                </a:cubicBezTo>
                <a:lnTo>
                  <a:pt x="4605" y="529"/>
                </a:lnTo>
                <a:cubicBezTo>
                  <a:pt x="4605" y="541"/>
                  <a:pt x="4603" y="551"/>
                  <a:pt x="4599" y="561"/>
                </a:cubicBezTo>
                <a:cubicBezTo>
                  <a:pt x="4595" y="570"/>
                  <a:pt x="4589" y="579"/>
                  <a:pt x="4582" y="587"/>
                </a:cubicBezTo>
                <a:cubicBezTo>
                  <a:pt x="4574" y="594"/>
                  <a:pt x="4566" y="600"/>
                  <a:pt x="4556" y="604"/>
                </a:cubicBezTo>
                <a:cubicBezTo>
                  <a:pt x="4546" y="608"/>
                  <a:pt x="4536" y="610"/>
                  <a:pt x="4526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29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860760" y="4307040"/>
            <a:ext cx="3727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Respuestas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las 5 preguntas del archivo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4652280" y="4309560"/>
            <a:ext cx="1542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05_preguntas.md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1048320" y="4867920"/>
            <a:ext cx="122760" cy="154440"/>
          </a:xfrm>
          <a:custGeom>
            <a:avLst/>
            <a:gdLst/>
            <a:ahLst/>
            <a:rect l="0" t="0" r="r" b="b"/>
            <a:pathLst>
              <a:path w="341" h="429">
                <a:moveTo>
                  <a:pt x="341" y="168"/>
                </a:moveTo>
                <a:cubicBezTo>
                  <a:pt x="341" y="268"/>
                  <a:pt x="262" y="283"/>
                  <a:pt x="262" y="377"/>
                </a:cubicBezTo>
                <a:cubicBezTo>
                  <a:pt x="262" y="425"/>
                  <a:pt x="214" y="429"/>
                  <a:pt x="178" y="429"/>
                </a:cubicBezTo>
                <a:cubicBezTo>
                  <a:pt x="146" y="429"/>
                  <a:pt x="76" y="417"/>
                  <a:pt x="76" y="377"/>
                </a:cubicBezTo>
                <a:cubicBezTo>
                  <a:pt x="76" y="283"/>
                  <a:pt x="0" y="268"/>
                  <a:pt x="0" y="168"/>
                </a:cubicBezTo>
                <a:cubicBezTo>
                  <a:pt x="0" y="75"/>
                  <a:pt x="82" y="0"/>
                  <a:pt x="171" y="0"/>
                </a:cubicBezTo>
                <a:cubicBezTo>
                  <a:pt x="261" y="0"/>
                  <a:pt x="341" y="75"/>
                  <a:pt x="341" y="168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1086480" y="5044680"/>
            <a:ext cx="46440" cy="17280"/>
          </a:xfrm>
          <a:custGeom>
            <a:avLst/>
            <a:gdLst/>
            <a:ahLst/>
            <a:rect l="0" t="0" r="r" b="b"/>
            <a:pathLst>
              <a:path w="129" h="48">
                <a:moveTo>
                  <a:pt x="129" y="8"/>
                </a:moveTo>
                <a:cubicBezTo>
                  <a:pt x="129" y="22"/>
                  <a:pt x="94" y="48"/>
                  <a:pt x="64" y="48"/>
                </a:cubicBezTo>
                <a:cubicBezTo>
                  <a:pt x="34" y="48"/>
                  <a:pt x="0" y="22"/>
                  <a:pt x="0" y="8"/>
                </a:cubicBezTo>
                <a:cubicBezTo>
                  <a:pt x="0" y="-4"/>
                  <a:pt x="34" y="1"/>
                  <a:pt x="64" y="1"/>
                </a:cubicBezTo>
                <a:cubicBezTo>
                  <a:pt x="94" y="1"/>
                  <a:pt x="129" y="-4"/>
                  <a:pt x="129" y="8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1081800" y="4922640"/>
            <a:ext cx="56160" cy="94680"/>
          </a:xfrm>
          <a:custGeom>
            <a:avLst/>
            <a:gdLst/>
            <a:ahLst/>
            <a:rect l="0" t="0" r="r" b="b"/>
            <a:pathLst>
              <a:path w="156" h="263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5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1"/>
                  <a:pt x="-1" y="20"/>
                  <a:pt x="5" y="26"/>
                </a:cubicBezTo>
                <a:lnTo>
                  <a:pt x="62" y="85"/>
                </a:lnTo>
                <a:lnTo>
                  <a:pt x="62" y="248"/>
                </a:lnTo>
                <a:cubicBezTo>
                  <a:pt x="62" y="257"/>
                  <a:pt x="69" y="263"/>
                  <a:pt x="78" y="263"/>
                </a:cubicBezTo>
                <a:cubicBezTo>
                  <a:pt x="86" y="263"/>
                  <a:pt x="93" y="257"/>
                  <a:pt x="93" y="248"/>
                </a:cubicBezTo>
                <a:lnTo>
                  <a:pt x="93" y="85"/>
                </a:lnTo>
                <a:lnTo>
                  <a:pt x="151" y="26"/>
                </a:lnTo>
                <a:cubicBezTo>
                  <a:pt x="158" y="20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1076040" y="5006160"/>
            <a:ext cx="66960" cy="44640"/>
          </a:xfrm>
          <a:custGeom>
            <a:avLst/>
            <a:gdLst/>
            <a:ahLst/>
            <a:rect l="0" t="0" r="r" b="b"/>
            <a:pathLst>
              <a:path w="186" h="124">
                <a:moveTo>
                  <a:pt x="186" y="93"/>
                </a:moveTo>
                <a:cubicBezTo>
                  <a:pt x="186" y="110"/>
                  <a:pt x="173" y="124"/>
                  <a:pt x="156" y="124"/>
                </a:cubicBezTo>
                <a:lnTo>
                  <a:pt x="31" y="124"/>
                </a:lnTo>
                <a:cubicBezTo>
                  <a:pt x="14" y="124"/>
                  <a:pt x="0" y="110"/>
                  <a:pt x="0" y="93"/>
                </a:cubicBezTo>
                <a:lnTo>
                  <a:pt x="0" y="0"/>
                </a:lnTo>
                <a:lnTo>
                  <a:pt x="186" y="0"/>
                </a:lnTo>
                <a:lnTo>
                  <a:pt x="186" y="93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1070640" y="5000400"/>
            <a:ext cx="78120" cy="45000"/>
          </a:xfrm>
          <a:custGeom>
            <a:avLst/>
            <a:gdLst/>
            <a:ahLst/>
            <a:rect l="0" t="0" r="r" b="b"/>
            <a:pathLst>
              <a:path w="217" h="125">
                <a:moveTo>
                  <a:pt x="0" y="112"/>
                </a:moveTo>
                <a:cubicBezTo>
                  <a:pt x="-1" y="103"/>
                  <a:pt x="4" y="95"/>
                  <a:pt x="13" y="94"/>
                </a:cubicBezTo>
                <a:lnTo>
                  <a:pt x="199" y="62"/>
                </a:lnTo>
                <a:cubicBezTo>
                  <a:pt x="207" y="61"/>
                  <a:pt x="215" y="66"/>
                  <a:pt x="217" y="76"/>
                </a:cubicBezTo>
                <a:cubicBezTo>
                  <a:pt x="218" y="84"/>
                  <a:pt x="212" y="92"/>
                  <a:pt x="204" y="94"/>
                </a:cubicBezTo>
                <a:lnTo>
                  <a:pt x="18" y="124"/>
                </a:lnTo>
                <a:cubicBezTo>
                  <a:pt x="17" y="125"/>
                  <a:pt x="16" y="125"/>
                  <a:pt x="15" y="125"/>
                </a:cubicBezTo>
                <a:cubicBezTo>
                  <a:pt x="8" y="125"/>
                  <a:pt x="1" y="119"/>
                  <a:pt x="0" y="112"/>
                </a:cubicBezTo>
                <a:moveTo>
                  <a:pt x="0" y="49"/>
                </a:moveTo>
                <a:cubicBezTo>
                  <a:pt x="-1" y="41"/>
                  <a:pt x="4" y="33"/>
                  <a:pt x="13" y="31"/>
                </a:cubicBezTo>
                <a:lnTo>
                  <a:pt x="199" y="0"/>
                </a:lnTo>
                <a:cubicBezTo>
                  <a:pt x="207" y="-1"/>
                  <a:pt x="215" y="5"/>
                  <a:pt x="217" y="13"/>
                </a:cubicBezTo>
                <a:cubicBezTo>
                  <a:pt x="218" y="21"/>
                  <a:pt x="212" y="29"/>
                  <a:pt x="204" y="31"/>
                </a:cubicBezTo>
                <a:lnTo>
                  <a:pt x="18" y="62"/>
                </a:lnTo>
                <a:cubicBezTo>
                  <a:pt x="17" y="62"/>
                  <a:pt x="16" y="62"/>
                  <a:pt x="15" y="62"/>
                </a:cubicBezTo>
                <a:cubicBezTo>
                  <a:pt x="8" y="62"/>
                  <a:pt x="1" y="57"/>
                  <a:pt x="0" y="4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6244920" y="430704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2562120" y="4876560"/>
            <a:ext cx="3086280" cy="219600"/>
          </a:xfrm>
          <a:custGeom>
            <a:avLst/>
            <a:gdLst/>
            <a:ahLst/>
            <a:rect l="0" t="0" r="r" b="b"/>
            <a:pathLst>
              <a:path w="8573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494" y="0"/>
                </a:lnTo>
                <a:cubicBezTo>
                  <a:pt x="8504" y="0"/>
                  <a:pt x="8515" y="2"/>
                  <a:pt x="8524" y="6"/>
                </a:cubicBezTo>
                <a:cubicBezTo>
                  <a:pt x="8534" y="10"/>
                  <a:pt x="8543" y="16"/>
                  <a:pt x="8550" y="23"/>
                </a:cubicBezTo>
                <a:cubicBezTo>
                  <a:pt x="8557" y="31"/>
                  <a:pt x="8563" y="39"/>
                  <a:pt x="8567" y="49"/>
                </a:cubicBezTo>
                <a:cubicBezTo>
                  <a:pt x="8571" y="59"/>
                  <a:pt x="8573" y="69"/>
                  <a:pt x="8573" y="80"/>
                </a:cubicBezTo>
                <a:lnTo>
                  <a:pt x="8573" y="530"/>
                </a:lnTo>
                <a:cubicBezTo>
                  <a:pt x="8573" y="541"/>
                  <a:pt x="8571" y="551"/>
                  <a:pt x="8567" y="561"/>
                </a:cubicBezTo>
                <a:cubicBezTo>
                  <a:pt x="8563" y="570"/>
                  <a:pt x="8557" y="579"/>
                  <a:pt x="8550" y="586"/>
                </a:cubicBezTo>
                <a:cubicBezTo>
                  <a:pt x="8543" y="594"/>
                  <a:pt x="8534" y="600"/>
                  <a:pt x="8524" y="604"/>
                </a:cubicBezTo>
                <a:cubicBezTo>
                  <a:pt x="8515" y="608"/>
                  <a:pt x="8504" y="610"/>
                  <a:pt x="8494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1220400" y="4888080"/>
            <a:ext cx="1339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Use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plantilla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 txBox="1"/>
          <p:nvPr/>
        </p:nvSpPr>
        <p:spPr>
          <a:xfrm>
            <a:off x="2619360" y="4890600"/>
            <a:ext cx="2980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plantilla-respuestas-cp1.docx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6448320" y="4876560"/>
            <a:ext cx="1238400" cy="219600"/>
          </a:xfrm>
          <a:custGeom>
            <a:avLst/>
            <a:gdLst/>
            <a:ahLst/>
            <a:rect l="0" t="0" r="r" b="b"/>
            <a:pathLst>
              <a:path w="3440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361" y="0"/>
                </a:lnTo>
                <a:cubicBezTo>
                  <a:pt x="3372" y="0"/>
                  <a:pt x="3382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5" y="31"/>
                  <a:pt x="3430" y="39"/>
                  <a:pt x="3434" y="49"/>
                </a:cubicBezTo>
                <a:cubicBezTo>
                  <a:pt x="3438" y="59"/>
                  <a:pt x="3440" y="69"/>
                  <a:pt x="3440" y="80"/>
                </a:cubicBezTo>
                <a:lnTo>
                  <a:pt x="3440" y="530"/>
                </a:lnTo>
                <a:cubicBezTo>
                  <a:pt x="3440" y="541"/>
                  <a:pt x="3438" y="551"/>
                  <a:pt x="3434" y="561"/>
                </a:cubicBezTo>
                <a:cubicBezTo>
                  <a:pt x="3430" y="570"/>
                  <a:pt x="3425" y="579"/>
                  <a:pt x="3417" y="586"/>
                </a:cubicBezTo>
                <a:cubicBezTo>
                  <a:pt x="3410" y="594"/>
                  <a:pt x="3401" y="600"/>
                  <a:pt x="3391" y="604"/>
                </a:cubicBezTo>
                <a:cubicBezTo>
                  <a:pt x="3382" y="608"/>
                  <a:pt x="3372" y="610"/>
                  <a:pt x="3361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5645160" y="4888080"/>
            <a:ext cx="803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6505920" y="489060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entregable/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7689240" y="4888080"/>
            <a:ext cx="3189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): trae las secciones y las preguntas ya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990720" y="5173920"/>
            <a:ext cx="5772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montadas. Rellénela, inserte las imágenes y expórtela a PDF (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Archivo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6773040" y="5140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 txBox="1"/>
          <p:nvPr/>
        </p:nvSpPr>
        <p:spPr>
          <a:xfrm>
            <a:off x="6973200" y="5173920"/>
            <a:ext cx="856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Exportar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7830720" y="5140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685440" y="145728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8030880" y="5173920"/>
            <a:ext cx="504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PDF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7181640" y="1428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685800" y="1080000"/>
            <a:ext cx="2066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Contenido de la entrega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9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685440" y="499104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685440" y="499104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1523880" y="1838160"/>
            <a:ext cx="1648080" cy="219240"/>
          </a:xfrm>
          <a:custGeom>
            <a:avLst/>
            <a:gdLst/>
            <a:ahLst/>
            <a:rect l="0" t="0" r="r" b="b"/>
            <a:pathLst>
              <a:path w="4578" h="609">
                <a:moveTo>
                  <a:pt x="0" y="530"/>
                </a:moveTo>
                <a:lnTo>
                  <a:pt x="0" y="80"/>
                </a:ln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499" y="0"/>
                </a:lnTo>
                <a:cubicBezTo>
                  <a:pt x="4509" y="0"/>
                  <a:pt x="4519" y="2"/>
                  <a:pt x="4529" y="6"/>
                </a:cubicBezTo>
                <a:cubicBezTo>
                  <a:pt x="4539" y="10"/>
                  <a:pt x="4547" y="16"/>
                  <a:pt x="4555" y="23"/>
                </a:cubicBezTo>
                <a:cubicBezTo>
                  <a:pt x="4562" y="31"/>
                  <a:pt x="4568" y="39"/>
                  <a:pt x="4572" y="49"/>
                </a:cubicBezTo>
                <a:cubicBezTo>
                  <a:pt x="4576" y="59"/>
                  <a:pt x="4578" y="70"/>
                  <a:pt x="4578" y="80"/>
                </a:cubicBezTo>
                <a:lnTo>
                  <a:pt x="4578" y="530"/>
                </a:lnTo>
                <a:cubicBezTo>
                  <a:pt x="4578" y="541"/>
                  <a:pt x="4576" y="551"/>
                  <a:pt x="4572" y="560"/>
                </a:cubicBezTo>
                <a:cubicBezTo>
                  <a:pt x="4568" y="570"/>
                  <a:pt x="4562" y="579"/>
                  <a:pt x="4555" y="586"/>
                </a:cubicBezTo>
                <a:cubicBezTo>
                  <a:pt x="4547" y="594"/>
                  <a:pt x="4539" y="599"/>
                  <a:pt x="4529" y="603"/>
                </a:cubicBezTo>
                <a:cubicBezTo>
                  <a:pt x="4519" y="607"/>
                  <a:pt x="4509" y="609"/>
                  <a:pt x="4499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685800" y="1849680"/>
            <a:ext cx="837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archivo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1581120" y="1851840"/>
            <a:ext cx="1542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05_preguntas.md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3173760" y="1849680"/>
            <a:ext cx="3724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las presenta con mayor detalle. En resumen: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860400" y="2287800"/>
            <a:ext cx="9955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¿En qué situaciones es superior la inteligencia artificial?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cite 3 imágenes concretas (por su nombre) en las que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1072440" y="2583000"/>
            <a:ext cx="3371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método clásico falle, y explique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motivo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860760" y="2916720"/>
            <a:ext cx="10522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¿En qué situaciones es superior el método clásico?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la cuestión de mayor complejidad. Si no encuentra ninguna,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indíquelo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1072440" y="3211920"/>
            <a:ext cx="5931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razone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causa. La honestidad en el análisis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valora positivamente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860760" y="3545280"/>
            <a:ext cx="8105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Velocidad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¿qué método es más rápido? ¿Alcanzan el límite de las 33 milésimas de segundo?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860760" y="3888000"/>
            <a:ext cx="10101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Toma de decisión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si tuviera que elegir un único método para un vehículo de bajo coste, ¿cuál seleccionaría y por qué?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860760" y="4231080"/>
            <a:ext cx="1028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caso límite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proponga una situación de carretera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induzca al error a ambos métodos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explique el motivo en cada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1072440" y="4516920"/>
            <a:ext cx="433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caso.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685440" y="15332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 txBox="1"/>
          <p:nvPr/>
        </p:nvSpPr>
        <p:spPr>
          <a:xfrm>
            <a:off x="990720" y="5097600"/>
            <a:ext cx="8256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se busca una respuesta "correcta" única, sino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razonamiento fundamentado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lo observado.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7181640" y="1504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4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4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3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685800" y="1156320"/>
            <a:ext cx="24418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Las 5 preguntas, en síntesis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0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695160" y="222876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1971360" y="2228760"/>
            <a:ext cx="4658040" cy="362160"/>
          </a:xfrm>
          <a:custGeom>
            <a:avLst/>
            <a:gdLst/>
            <a:ahLst/>
            <a:rect l="0" t="0" r="r" b="b"/>
            <a:pathLst>
              <a:path w="12939" h="1006">
                <a:moveTo>
                  <a:pt x="0" y="0"/>
                </a:moveTo>
                <a:lnTo>
                  <a:pt x="12939" y="0"/>
                </a:lnTo>
                <a:lnTo>
                  <a:pt x="12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695160" y="222876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1971360" y="2228760"/>
            <a:ext cx="4658040" cy="362160"/>
          </a:xfrm>
          <a:custGeom>
            <a:avLst/>
            <a:gdLst/>
            <a:ahLst/>
            <a:rect l="0" t="0" r="r" b="b"/>
            <a:pathLst>
              <a:path w="12939" h="1006">
                <a:moveTo>
                  <a:pt x="0" y="0"/>
                </a:moveTo>
                <a:lnTo>
                  <a:pt x="12939" y="0"/>
                </a:lnTo>
                <a:lnTo>
                  <a:pt x="12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695160" y="259056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1971360" y="2590560"/>
            <a:ext cx="4658040" cy="371880"/>
          </a:xfrm>
          <a:custGeom>
            <a:avLst/>
            <a:gdLst/>
            <a:ahLst/>
            <a:rect l="0" t="0" r="r" b="b"/>
            <a:pathLst>
              <a:path w="12939" h="1033">
                <a:moveTo>
                  <a:pt x="0" y="0"/>
                </a:moveTo>
                <a:lnTo>
                  <a:pt x="12939" y="0"/>
                </a:lnTo>
                <a:lnTo>
                  <a:pt x="129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695160" y="296208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1971360" y="2962080"/>
            <a:ext cx="4658040" cy="362160"/>
          </a:xfrm>
          <a:custGeom>
            <a:avLst/>
            <a:gdLst/>
            <a:ahLst/>
            <a:rect l="0" t="0" r="r" b="b"/>
            <a:pathLst>
              <a:path w="12939" h="1006">
                <a:moveTo>
                  <a:pt x="0" y="0"/>
                </a:moveTo>
                <a:lnTo>
                  <a:pt x="12939" y="0"/>
                </a:lnTo>
                <a:lnTo>
                  <a:pt x="12939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695160" y="332388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1971360" y="3323880"/>
            <a:ext cx="4658040" cy="371880"/>
          </a:xfrm>
          <a:custGeom>
            <a:avLst/>
            <a:gdLst/>
            <a:ahLst/>
            <a:rect l="0" t="0" r="r" b="b"/>
            <a:pathLst>
              <a:path w="12939" h="1033">
                <a:moveTo>
                  <a:pt x="0" y="0"/>
                </a:moveTo>
                <a:lnTo>
                  <a:pt x="12939" y="0"/>
                </a:lnTo>
                <a:lnTo>
                  <a:pt x="1293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695160" y="3695400"/>
            <a:ext cx="1276560" cy="362520"/>
          </a:xfrm>
          <a:custGeom>
            <a:avLst/>
            <a:gdLst/>
            <a:ahLst/>
            <a:rect l="0" t="0" r="r" b="b"/>
            <a:pathLst>
              <a:path w="3546" h="1007">
                <a:moveTo>
                  <a:pt x="0" y="0"/>
                </a:moveTo>
                <a:lnTo>
                  <a:pt x="3546" y="0"/>
                </a:lnTo>
                <a:lnTo>
                  <a:pt x="354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1971360" y="3695400"/>
            <a:ext cx="4658040" cy="362520"/>
          </a:xfrm>
          <a:custGeom>
            <a:avLst/>
            <a:gdLst/>
            <a:ahLst/>
            <a:rect l="0" t="0" r="r" b="b"/>
            <a:pathLst>
              <a:path w="12939" h="1007">
                <a:moveTo>
                  <a:pt x="0" y="0"/>
                </a:moveTo>
                <a:lnTo>
                  <a:pt x="12939" y="0"/>
                </a:lnTo>
                <a:lnTo>
                  <a:pt x="12939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685440" y="2219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685440" y="221904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1971360" y="2219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1981080" y="2219040"/>
            <a:ext cx="4658040" cy="10080"/>
          </a:xfrm>
          <a:custGeom>
            <a:avLst/>
            <a:gdLst/>
            <a:ahLst/>
            <a:rect l="0" t="0" r="r" b="b"/>
            <a:pathLst>
              <a:path w="12939" h="28">
                <a:moveTo>
                  <a:pt x="0" y="0"/>
                </a:moveTo>
                <a:lnTo>
                  <a:pt x="12939" y="0"/>
                </a:lnTo>
                <a:lnTo>
                  <a:pt x="12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6629040" y="22190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685440" y="259056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1981080" y="2590560"/>
            <a:ext cx="4658040" cy="10080"/>
          </a:xfrm>
          <a:custGeom>
            <a:avLst/>
            <a:gdLst/>
            <a:ahLst/>
            <a:rect l="0" t="0" r="r" b="b"/>
            <a:pathLst>
              <a:path w="12939" h="28">
                <a:moveTo>
                  <a:pt x="0" y="0"/>
                </a:moveTo>
                <a:lnTo>
                  <a:pt x="12939" y="0"/>
                </a:lnTo>
                <a:lnTo>
                  <a:pt x="12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685440" y="26002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1971360" y="26002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6629040" y="260028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685440" y="2962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685440" y="295272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1971360" y="2962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1981080" y="295272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6629040" y="2962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685440" y="33336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685440" y="332388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1971360" y="33336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1981080" y="3323880"/>
            <a:ext cx="4658040" cy="10080"/>
          </a:xfrm>
          <a:custGeom>
            <a:avLst/>
            <a:gdLst/>
            <a:ahLst/>
            <a:rect l="0" t="0" r="r" b="b"/>
            <a:pathLst>
              <a:path w="12939" h="28">
                <a:moveTo>
                  <a:pt x="0" y="0"/>
                </a:moveTo>
                <a:lnTo>
                  <a:pt x="12939" y="0"/>
                </a:lnTo>
                <a:lnTo>
                  <a:pt x="129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6629040" y="333360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685440" y="36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685440" y="368604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1971360" y="36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1981080" y="368604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6629040" y="3695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685440" y="405756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1981080" y="4057560"/>
            <a:ext cx="4658040" cy="9720"/>
          </a:xfrm>
          <a:custGeom>
            <a:avLst/>
            <a:gdLst/>
            <a:ahLst/>
            <a:rect l="0" t="0" r="r" b="b"/>
            <a:pathLst>
              <a:path w="12939" h="27">
                <a:moveTo>
                  <a:pt x="0" y="0"/>
                </a:moveTo>
                <a:lnTo>
                  <a:pt x="12939" y="0"/>
                </a:lnTo>
                <a:lnTo>
                  <a:pt x="129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685440" y="4286160"/>
            <a:ext cx="10820880" cy="714600"/>
          </a:xfrm>
          <a:custGeom>
            <a:avLst/>
            <a:gdLst/>
            <a:ahLst/>
            <a:rect l="0" t="0" r="r" b="b"/>
            <a:pathLst>
              <a:path w="30058" h="1985">
                <a:moveTo>
                  <a:pt x="0" y="0"/>
                </a:moveTo>
                <a:lnTo>
                  <a:pt x="30058" y="0"/>
                </a:lnTo>
                <a:lnTo>
                  <a:pt x="3005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685440" y="428616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819000" y="2327760"/>
            <a:ext cx="535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Criterio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2102760" y="2327760"/>
            <a:ext cx="82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Descripción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819000" y="2699280"/>
            <a:ext cx="654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 txBox="1"/>
          <p:nvPr/>
        </p:nvSpPr>
        <p:spPr>
          <a:xfrm>
            <a:off x="2102760" y="2699280"/>
            <a:ext cx="4390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Ejecución de los notebooks y experimentación con valores propios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 txBox="1"/>
          <p:nvPr/>
        </p:nvSpPr>
        <p:spPr>
          <a:xfrm>
            <a:off x="819000" y="3061440"/>
            <a:ext cx="923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Comprensión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2102760" y="3061440"/>
            <a:ext cx="3440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Explicación del </a:t>
            </a:r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motivo</a:t>
            </a: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no únicamente del resultado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819000" y="3432960"/>
            <a:ext cx="1024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Análisis crítico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2102760" y="3432960"/>
            <a:ext cx="3299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Identificación de las </a:t>
            </a:r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limitaciones </a:t>
            </a:r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cada método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819000" y="3794760"/>
            <a:ext cx="970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Comunicación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2102760" y="3794760"/>
            <a:ext cx="3210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Documento ordenado, con gráficas y texto claro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990720" y="4393080"/>
            <a:ext cx="9961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Aspectos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elevan la calificación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datos medidos por el propio alumno, imágenes citadas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por su nombre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honestidad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685440" y="194292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990720" y="4688280"/>
            <a:ext cx="2930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respecto a lo que no ha funcionado.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7181640" y="19144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4"/>
                </a:cubicBezTo>
                <a:cubicBezTo>
                  <a:pt x="46" y="23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685800" y="1575360"/>
            <a:ext cx="303300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Criterios de evaluación (16 puntos)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78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9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904680" y="2647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49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49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1072440" y="2564280"/>
            <a:ext cx="10162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permite el uso de herramientas de inteligencia artificial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(ChatGPT, Claude, Copilot) como apoyo, práctica habitual en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1072440" y="2859480"/>
            <a:ext cx="9532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entorno profesional actual.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obstante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las conclusiones deben ser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propias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La reproducción literal de respuestas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904680" y="3571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1072440" y="3145320"/>
            <a:ext cx="6170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generadas por dichas herramientas es detectable y penaliza la calificación.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 txBox="1"/>
          <p:nvPr/>
        </p:nvSpPr>
        <p:spPr>
          <a:xfrm>
            <a:off x="1072440" y="3488040"/>
            <a:ext cx="9248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caso de haber utilizado una herramienta de inteligencia artificial,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indíquelo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una línea al final del documento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904680" y="42004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 txBox="1"/>
          <p:nvPr/>
        </p:nvSpPr>
        <p:spPr>
          <a:xfrm>
            <a:off x="1072440" y="3773880"/>
            <a:ext cx="6213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(especificando su finalidad). Declararlo no reduce la calificación;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omitirlo, sí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2657160" y="4105080"/>
            <a:ext cx="1238760" cy="219600"/>
          </a:xfrm>
          <a:custGeom>
            <a:avLst/>
            <a:gdLst/>
            <a:ahLst/>
            <a:rect l="0" t="0" r="r" b="b"/>
            <a:pathLst>
              <a:path w="3441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362" y="0"/>
                </a:lnTo>
                <a:cubicBezTo>
                  <a:pt x="3372" y="0"/>
                  <a:pt x="3382" y="2"/>
                  <a:pt x="3392" y="6"/>
                </a:cubicBezTo>
                <a:cubicBezTo>
                  <a:pt x="3402" y="10"/>
                  <a:pt x="3410" y="16"/>
                  <a:pt x="3418" y="23"/>
                </a:cubicBezTo>
                <a:cubicBezTo>
                  <a:pt x="3425" y="31"/>
                  <a:pt x="3431" y="39"/>
                  <a:pt x="3435" y="49"/>
                </a:cubicBezTo>
                <a:cubicBezTo>
                  <a:pt x="3439" y="59"/>
                  <a:pt x="3441" y="69"/>
                  <a:pt x="3441" y="79"/>
                </a:cubicBezTo>
                <a:lnTo>
                  <a:pt x="3441" y="530"/>
                </a:lnTo>
                <a:cubicBezTo>
                  <a:pt x="3441" y="541"/>
                  <a:pt x="3439" y="551"/>
                  <a:pt x="3435" y="561"/>
                </a:cubicBezTo>
                <a:cubicBezTo>
                  <a:pt x="3431" y="570"/>
                  <a:pt x="3425" y="579"/>
                  <a:pt x="3418" y="586"/>
                </a:cubicBezTo>
                <a:cubicBezTo>
                  <a:pt x="3410" y="594"/>
                  <a:pt x="3402" y="600"/>
                  <a:pt x="3392" y="604"/>
                </a:cubicBezTo>
                <a:cubicBezTo>
                  <a:pt x="3382" y="608"/>
                  <a:pt x="3372" y="610"/>
                  <a:pt x="3362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 txBox="1"/>
          <p:nvPr/>
        </p:nvSpPr>
        <p:spPr>
          <a:xfrm>
            <a:off x="1072440" y="4116600"/>
            <a:ext cx="1581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Existe una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 txBox="1"/>
          <p:nvPr/>
        </p:nvSpPr>
        <p:spPr>
          <a:xfrm>
            <a:off x="2712960" y="411912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soluciones/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 txBox="1"/>
          <p:nvPr/>
        </p:nvSpPr>
        <p:spPr>
          <a:xfrm>
            <a:off x="3896280" y="4116600"/>
            <a:ext cx="6714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Se recomienda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consultarla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hasta haber realizado la práctica: el objetivo es 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685440" y="224784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1072440" y="4402440"/>
            <a:ext cx="4548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razonamiento propio, no la reproducción de la solución.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7181640" y="22190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1"/>
                  <a:pt x="215" y="193"/>
                  <a:pt x="204" y="205"/>
                </a:cubicBezTo>
                <a:cubicBezTo>
                  <a:pt x="193" y="216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 txBox="1"/>
          <p:nvPr/>
        </p:nvSpPr>
        <p:spPr>
          <a:xfrm>
            <a:off x="685800" y="1880280"/>
            <a:ext cx="1983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Normas de la actividad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914040" y="4114440"/>
            <a:ext cx="10363680" cy="429120"/>
          </a:xfrm>
          <a:custGeom>
            <a:avLst/>
            <a:gdLst/>
            <a:ahLst/>
            <a:rect l="0" t="0" r="r" b="b"/>
            <a:pathLst>
              <a:path w="28788" h="1192">
                <a:moveTo>
                  <a:pt x="0" y="0"/>
                </a:moveTo>
                <a:lnTo>
                  <a:pt x="28788" y="0"/>
                </a:lnTo>
                <a:lnTo>
                  <a:pt x="2878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914040" y="411444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2638080" y="2904840"/>
            <a:ext cx="324360" cy="219600"/>
          </a:xfrm>
          <a:custGeom>
            <a:avLst/>
            <a:gdLst/>
            <a:ahLst/>
            <a:rect l="0" t="0" r="r" b="b"/>
            <a:pathLst>
              <a:path w="901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22" y="0"/>
                </a:lnTo>
                <a:cubicBezTo>
                  <a:pt x="832" y="0"/>
                  <a:pt x="842" y="2"/>
                  <a:pt x="852" y="6"/>
                </a:cubicBezTo>
                <a:cubicBezTo>
                  <a:pt x="862" y="10"/>
                  <a:pt x="870" y="16"/>
                  <a:pt x="878" y="24"/>
                </a:cubicBezTo>
                <a:cubicBezTo>
                  <a:pt x="885" y="31"/>
                  <a:pt x="891" y="40"/>
                  <a:pt x="895" y="49"/>
                </a:cubicBezTo>
                <a:cubicBezTo>
                  <a:pt x="899" y="59"/>
                  <a:pt x="901" y="69"/>
                  <a:pt x="901" y="80"/>
                </a:cubicBezTo>
                <a:lnTo>
                  <a:pt x="901" y="530"/>
                </a:lnTo>
                <a:cubicBezTo>
                  <a:pt x="901" y="541"/>
                  <a:pt x="899" y="551"/>
                  <a:pt x="895" y="561"/>
                </a:cubicBezTo>
                <a:cubicBezTo>
                  <a:pt x="891" y="571"/>
                  <a:pt x="885" y="579"/>
                  <a:pt x="878" y="587"/>
                </a:cubicBezTo>
                <a:cubicBezTo>
                  <a:pt x="870" y="594"/>
                  <a:pt x="862" y="600"/>
                  <a:pt x="852" y="604"/>
                </a:cubicBezTo>
                <a:cubicBezTo>
                  <a:pt x="842" y="608"/>
                  <a:pt x="832" y="610"/>
                  <a:pt x="822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1" y="571"/>
                  <a:pt x="7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 txBox="1"/>
          <p:nvPr/>
        </p:nvSpPr>
        <p:spPr>
          <a:xfrm>
            <a:off x="914400" y="2916720"/>
            <a:ext cx="1725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Orden de ejecución: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 txBox="1"/>
          <p:nvPr/>
        </p:nvSpPr>
        <p:spPr>
          <a:xfrm>
            <a:off x="269928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01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 txBox="1"/>
          <p:nvPr/>
        </p:nvSpPr>
        <p:spPr>
          <a:xfrm>
            <a:off x="296136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301140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3257280" y="2904840"/>
            <a:ext cx="324360" cy="219600"/>
          </a:xfrm>
          <a:custGeom>
            <a:avLst/>
            <a:gdLst/>
            <a:ahLst/>
            <a:rect l="0" t="0" r="r" b="b"/>
            <a:pathLst>
              <a:path w="901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21" y="0"/>
                </a:lnTo>
                <a:cubicBezTo>
                  <a:pt x="832" y="0"/>
                  <a:pt x="842" y="2"/>
                  <a:pt x="852" y="6"/>
                </a:cubicBezTo>
                <a:cubicBezTo>
                  <a:pt x="862" y="10"/>
                  <a:pt x="870" y="16"/>
                  <a:pt x="878" y="24"/>
                </a:cubicBezTo>
                <a:cubicBezTo>
                  <a:pt x="885" y="31"/>
                  <a:pt x="891" y="40"/>
                  <a:pt x="895" y="49"/>
                </a:cubicBezTo>
                <a:cubicBezTo>
                  <a:pt x="899" y="59"/>
                  <a:pt x="901" y="69"/>
                  <a:pt x="901" y="80"/>
                </a:cubicBezTo>
                <a:lnTo>
                  <a:pt x="901" y="530"/>
                </a:lnTo>
                <a:cubicBezTo>
                  <a:pt x="901" y="541"/>
                  <a:pt x="899" y="551"/>
                  <a:pt x="895" y="561"/>
                </a:cubicBezTo>
                <a:cubicBezTo>
                  <a:pt x="891" y="571"/>
                  <a:pt x="885" y="579"/>
                  <a:pt x="878" y="587"/>
                </a:cubicBezTo>
                <a:cubicBezTo>
                  <a:pt x="870" y="594"/>
                  <a:pt x="862" y="600"/>
                  <a:pt x="852" y="604"/>
                </a:cubicBezTo>
                <a:cubicBezTo>
                  <a:pt x="842" y="608"/>
                  <a:pt x="832" y="610"/>
                  <a:pt x="821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 txBox="1"/>
          <p:nvPr/>
        </p:nvSpPr>
        <p:spPr>
          <a:xfrm>
            <a:off x="321156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331848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 txBox="1"/>
          <p:nvPr/>
        </p:nvSpPr>
        <p:spPr>
          <a:xfrm>
            <a:off x="358056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 txBox="1"/>
          <p:nvPr/>
        </p:nvSpPr>
        <p:spPr>
          <a:xfrm>
            <a:off x="363060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3876480" y="2904840"/>
            <a:ext cx="324360" cy="219600"/>
          </a:xfrm>
          <a:custGeom>
            <a:avLst/>
            <a:gdLst/>
            <a:ahLst/>
            <a:rect l="0" t="0" r="r" b="b"/>
            <a:pathLst>
              <a:path w="901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21" y="0"/>
                </a:lnTo>
                <a:cubicBezTo>
                  <a:pt x="832" y="0"/>
                  <a:pt x="842" y="2"/>
                  <a:pt x="852" y="6"/>
                </a:cubicBezTo>
                <a:cubicBezTo>
                  <a:pt x="861" y="10"/>
                  <a:pt x="870" y="16"/>
                  <a:pt x="877" y="24"/>
                </a:cubicBezTo>
                <a:cubicBezTo>
                  <a:pt x="885" y="31"/>
                  <a:pt x="891" y="40"/>
                  <a:pt x="895" y="49"/>
                </a:cubicBezTo>
                <a:cubicBezTo>
                  <a:pt x="899" y="59"/>
                  <a:pt x="901" y="69"/>
                  <a:pt x="901" y="80"/>
                </a:cubicBezTo>
                <a:lnTo>
                  <a:pt x="901" y="530"/>
                </a:lnTo>
                <a:cubicBezTo>
                  <a:pt x="901" y="541"/>
                  <a:pt x="899" y="551"/>
                  <a:pt x="895" y="561"/>
                </a:cubicBezTo>
                <a:cubicBezTo>
                  <a:pt x="891" y="571"/>
                  <a:pt x="885" y="579"/>
                  <a:pt x="877" y="587"/>
                </a:cubicBezTo>
                <a:cubicBezTo>
                  <a:pt x="870" y="594"/>
                  <a:pt x="861" y="600"/>
                  <a:pt x="852" y="604"/>
                </a:cubicBezTo>
                <a:cubicBezTo>
                  <a:pt x="842" y="608"/>
                  <a:pt x="832" y="610"/>
                  <a:pt x="821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38304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393768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419976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424980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4495680" y="2904840"/>
            <a:ext cx="324000" cy="219600"/>
          </a:xfrm>
          <a:custGeom>
            <a:avLst/>
            <a:gdLst/>
            <a:ahLst/>
            <a:rect l="0" t="0" r="r" b="b"/>
            <a:pathLst>
              <a:path w="900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21" y="0"/>
                </a:lnTo>
                <a:cubicBezTo>
                  <a:pt x="832" y="0"/>
                  <a:pt x="842" y="2"/>
                  <a:pt x="851" y="6"/>
                </a:cubicBezTo>
                <a:cubicBezTo>
                  <a:pt x="861" y="10"/>
                  <a:pt x="870" y="16"/>
                  <a:pt x="877" y="24"/>
                </a:cubicBezTo>
                <a:cubicBezTo>
                  <a:pt x="885" y="31"/>
                  <a:pt x="890" y="40"/>
                  <a:pt x="894" y="49"/>
                </a:cubicBezTo>
                <a:cubicBezTo>
                  <a:pt x="898" y="59"/>
                  <a:pt x="900" y="69"/>
                  <a:pt x="900" y="80"/>
                </a:cubicBezTo>
                <a:lnTo>
                  <a:pt x="900" y="530"/>
                </a:lnTo>
                <a:cubicBezTo>
                  <a:pt x="900" y="541"/>
                  <a:pt x="898" y="551"/>
                  <a:pt x="894" y="561"/>
                </a:cubicBezTo>
                <a:cubicBezTo>
                  <a:pt x="890" y="571"/>
                  <a:pt x="885" y="579"/>
                  <a:pt x="877" y="587"/>
                </a:cubicBezTo>
                <a:cubicBezTo>
                  <a:pt x="870" y="594"/>
                  <a:pt x="861" y="600"/>
                  <a:pt x="851" y="604"/>
                </a:cubicBezTo>
                <a:cubicBezTo>
                  <a:pt x="842" y="608"/>
                  <a:pt x="832" y="610"/>
                  <a:pt x="821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 txBox="1"/>
          <p:nvPr/>
        </p:nvSpPr>
        <p:spPr>
          <a:xfrm>
            <a:off x="44496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 txBox="1"/>
          <p:nvPr/>
        </p:nvSpPr>
        <p:spPr>
          <a:xfrm>
            <a:off x="455688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 txBox="1"/>
          <p:nvPr/>
        </p:nvSpPr>
        <p:spPr>
          <a:xfrm>
            <a:off x="481860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 txBox="1"/>
          <p:nvPr/>
        </p:nvSpPr>
        <p:spPr>
          <a:xfrm>
            <a:off x="4868640" y="28832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6029280" y="2904840"/>
            <a:ext cx="324000" cy="219600"/>
          </a:xfrm>
          <a:custGeom>
            <a:avLst/>
            <a:gdLst/>
            <a:ahLst/>
            <a:rect l="0" t="0" r="r" b="b"/>
            <a:pathLst>
              <a:path w="900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821" y="0"/>
                </a:lnTo>
                <a:cubicBezTo>
                  <a:pt x="831" y="0"/>
                  <a:pt x="841" y="2"/>
                  <a:pt x="851" y="6"/>
                </a:cubicBezTo>
                <a:cubicBezTo>
                  <a:pt x="861" y="10"/>
                  <a:pt x="870" y="16"/>
                  <a:pt x="877" y="24"/>
                </a:cubicBezTo>
                <a:cubicBezTo>
                  <a:pt x="884" y="31"/>
                  <a:pt x="890" y="40"/>
                  <a:pt x="894" y="49"/>
                </a:cubicBezTo>
                <a:cubicBezTo>
                  <a:pt x="898" y="59"/>
                  <a:pt x="900" y="69"/>
                  <a:pt x="900" y="80"/>
                </a:cubicBezTo>
                <a:lnTo>
                  <a:pt x="900" y="530"/>
                </a:lnTo>
                <a:cubicBezTo>
                  <a:pt x="900" y="541"/>
                  <a:pt x="898" y="551"/>
                  <a:pt x="894" y="561"/>
                </a:cubicBezTo>
                <a:cubicBezTo>
                  <a:pt x="890" y="571"/>
                  <a:pt x="884" y="579"/>
                  <a:pt x="877" y="587"/>
                </a:cubicBezTo>
                <a:cubicBezTo>
                  <a:pt x="870" y="594"/>
                  <a:pt x="861" y="600"/>
                  <a:pt x="851" y="604"/>
                </a:cubicBezTo>
                <a:cubicBezTo>
                  <a:pt x="841" y="608"/>
                  <a:pt x="831" y="610"/>
                  <a:pt x="821" y="610"/>
                </a:cubicBezTo>
                <a:lnTo>
                  <a:pt x="79" y="610"/>
                </a:lnTo>
                <a:cubicBezTo>
                  <a:pt x="68" y="610"/>
                  <a:pt x="58" y="608"/>
                  <a:pt x="49" y="604"/>
                </a:cubicBezTo>
                <a:cubicBezTo>
                  <a:pt x="39" y="600"/>
                  <a:pt x="30" y="594"/>
                  <a:pt x="23" y="587"/>
                </a:cubicBezTo>
                <a:cubicBezTo>
                  <a:pt x="15" y="579"/>
                  <a:pt x="10" y="571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5068800" y="2916720"/>
            <a:ext cx="96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responder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 txBox="1"/>
          <p:nvPr/>
        </p:nvSpPr>
        <p:spPr>
          <a:xfrm>
            <a:off x="6089760" y="29188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6351480" y="2916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914400" y="3354840"/>
            <a:ext cx="10283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Ante cualquier dificultad, consulte el apartado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"Resolución de incidencias" 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y el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foro del máster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 El acompañamiento docente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914400" y="3650040"/>
            <a:ext cx="2253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forma parte de la actividad.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 txBox="1"/>
          <p:nvPr/>
        </p:nvSpPr>
        <p:spPr>
          <a:xfrm>
            <a:off x="1219320" y="4231080"/>
            <a:ext cx="74458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"El método clásico es sumamente rápido. La cuestión es si su precisión resulta suficiente."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 txBox="1"/>
          <p:nvPr/>
        </p:nvSpPr>
        <p:spPr>
          <a:xfrm>
            <a:off x="914400" y="2147040"/>
            <a:ext cx="3998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PARA COMENZAR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CP1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1040760" y="6517080"/>
            <a:ext cx="1438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Detección de Carriles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24778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252036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3419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346140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1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