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4059720"/>
            <a:ext cx="166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Máster en IA — AIC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4400" y="4345200"/>
            <a:ext cx="350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Módulo: IA Aplicada al Vehículo Autónomo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5840" y="43513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81280" y="4345200"/>
            <a:ext cx="54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2026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2089800"/>
            <a:ext cx="754344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PROFUNDIDAD MONOCULAR CON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2709000"/>
            <a:ext cx="50263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FOUNDATION MODELS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3468960"/>
            <a:ext cx="17236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Caso Práctico 2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32320" y="34765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01080" y="3468960"/>
            <a:ext cx="19198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Dosier del alumno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685440" y="401940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440" y="401940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5800" y="2526120"/>
            <a:ext cx="1076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este segundo caso práctico se aplican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dos modelos de inteligencia artificial de última generación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estiman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profundidad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5800" y="2821320"/>
            <a:ext cx="6655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(la distancia a cada punto) a partir 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sola cámara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sin sensores especiales.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5800" y="3259440"/>
            <a:ext cx="10239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Está pensado para realizarse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conocimientos previos de programación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La preparación del ordenador (Python, terminal,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09440" y="4105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1" y="332"/>
                </a:cubicBezTo>
                <a:cubicBezTo>
                  <a:pt x="548" y="350"/>
                  <a:pt x="543" y="367"/>
                  <a:pt x="536" y="384"/>
                </a:cubicBezTo>
                <a:cubicBezTo>
                  <a:pt x="529" y="401"/>
                  <a:pt x="520" y="417"/>
                  <a:pt x="510" y="432"/>
                </a:cubicBezTo>
                <a:cubicBezTo>
                  <a:pt x="500" y="447"/>
                  <a:pt x="488" y="461"/>
                  <a:pt x="475" y="474"/>
                </a:cubicBezTo>
                <a:cubicBezTo>
                  <a:pt x="462" y="487"/>
                  <a:pt x="448" y="499"/>
                  <a:pt x="433" y="509"/>
                </a:cubicBezTo>
                <a:cubicBezTo>
                  <a:pt x="418" y="519"/>
                  <a:pt x="402" y="528"/>
                  <a:pt x="385" y="536"/>
                </a:cubicBezTo>
                <a:cubicBezTo>
                  <a:pt x="368" y="542"/>
                  <a:pt x="351" y="548"/>
                  <a:pt x="333" y="551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4" y="551"/>
                </a:cubicBezTo>
                <a:cubicBezTo>
                  <a:pt x="206" y="548"/>
                  <a:pt x="188" y="542"/>
                  <a:pt x="172" y="536"/>
                </a:cubicBezTo>
                <a:cubicBezTo>
                  <a:pt x="155" y="528"/>
                  <a:pt x="139" y="519"/>
                  <a:pt x="124" y="509"/>
                </a:cubicBezTo>
                <a:cubicBezTo>
                  <a:pt x="108" y="499"/>
                  <a:pt x="94" y="487"/>
                  <a:pt x="81" y="474"/>
                </a:cubicBezTo>
                <a:cubicBezTo>
                  <a:pt x="69" y="461"/>
                  <a:pt x="57" y="447"/>
                  <a:pt x="47" y="432"/>
                </a:cubicBezTo>
                <a:cubicBezTo>
                  <a:pt x="37" y="417"/>
                  <a:pt x="28" y="401"/>
                  <a:pt x="21" y="384"/>
                </a:cubicBezTo>
                <a:cubicBezTo>
                  <a:pt x="14" y="367"/>
                  <a:pt x="9" y="350"/>
                  <a:pt x="5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8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8"/>
                  <a:pt x="69" y="94"/>
                  <a:pt x="81" y="81"/>
                </a:cubicBezTo>
                <a:cubicBezTo>
                  <a:pt x="94" y="69"/>
                  <a:pt x="108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8" y="14"/>
                  <a:pt x="206" y="9"/>
                  <a:pt x="224" y="5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5"/>
                </a:cubicBezTo>
                <a:cubicBezTo>
                  <a:pt x="351" y="9"/>
                  <a:pt x="368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1"/>
                </a:cubicBezTo>
                <a:cubicBezTo>
                  <a:pt x="488" y="94"/>
                  <a:pt x="500" y="108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8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31760" y="4127400"/>
            <a:ext cx="155880" cy="155880"/>
          </a:xfrm>
          <a:custGeom>
            <a:avLst/>
            <a:gdLst/>
            <a:ahLst/>
            <a:rect l="0" t="0" r="r" b="b"/>
            <a:pathLst>
              <a:path w="433" h="433">
                <a:moveTo>
                  <a:pt x="433" y="216"/>
                </a:moveTo>
                <a:cubicBezTo>
                  <a:pt x="433" y="230"/>
                  <a:pt x="432" y="244"/>
                  <a:pt x="429" y="258"/>
                </a:cubicBezTo>
                <a:cubicBezTo>
                  <a:pt x="426" y="272"/>
                  <a:pt x="422" y="285"/>
                  <a:pt x="417" y="299"/>
                </a:cubicBezTo>
                <a:cubicBezTo>
                  <a:pt x="411" y="312"/>
                  <a:pt x="404" y="324"/>
                  <a:pt x="397" y="336"/>
                </a:cubicBezTo>
                <a:cubicBezTo>
                  <a:pt x="389" y="348"/>
                  <a:pt x="380" y="359"/>
                  <a:pt x="369" y="369"/>
                </a:cubicBezTo>
                <a:cubicBezTo>
                  <a:pt x="359" y="379"/>
                  <a:pt x="348" y="388"/>
                  <a:pt x="336" y="396"/>
                </a:cubicBezTo>
                <a:cubicBezTo>
                  <a:pt x="324" y="403"/>
                  <a:pt x="312" y="410"/>
                  <a:pt x="299" y="416"/>
                </a:cubicBezTo>
                <a:cubicBezTo>
                  <a:pt x="285" y="422"/>
                  <a:pt x="272" y="426"/>
                  <a:pt x="258" y="429"/>
                </a:cubicBezTo>
                <a:cubicBezTo>
                  <a:pt x="244" y="432"/>
                  <a:pt x="230" y="433"/>
                  <a:pt x="216" y="433"/>
                </a:cubicBezTo>
                <a:cubicBezTo>
                  <a:pt x="202" y="433"/>
                  <a:pt x="188" y="432"/>
                  <a:pt x="174" y="429"/>
                </a:cubicBezTo>
                <a:cubicBezTo>
                  <a:pt x="160" y="426"/>
                  <a:pt x="146" y="422"/>
                  <a:pt x="133" y="416"/>
                </a:cubicBezTo>
                <a:cubicBezTo>
                  <a:pt x="120" y="410"/>
                  <a:pt x="108" y="403"/>
                  <a:pt x="96" y="396"/>
                </a:cubicBezTo>
                <a:cubicBezTo>
                  <a:pt x="84" y="388"/>
                  <a:pt x="73" y="379"/>
                  <a:pt x="63" y="369"/>
                </a:cubicBezTo>
                <a:cubicBezTo>
                  <a:pt x="53" y="359"/>
                  <a:pt x="44" y="348"/>
                  <a:pt x="36" y="336"/>
                </a:cubicBezTo>
                <a:cubicBezTo>
                  <a:pt x="28" y="324"/>
                  <a:pt x="22" y="312"/>
                  <a:pt x="16" y="299"/>
                </a:cubicBezTo>
                <a:cubicBezTo>
                  <a:pt x="11" y="285"/>
                  <a:pt x="7" y="272"/>
                  <a:pt x="4" y="258"/>
                </a:cubicBezTo>
                <a:cubicBezTo>
                  <a:pt x="1" y="244"/>
                  <a:pt x="0" y="230"/>
                  <a:pt x="0" y="216"/>
                </a:cubicBezTo>
                <a:cubicBezTo>
                  <a:pt x="0" y="202"/>
                  <a:pt x="1" y="188"/>
                  <a:pt x="4" y="174"/>
                </a:cubicBezTo>
                <a:cubicBezTo>
                  <a:pt x="7" y="160"/>
                  <a:pt x="11" y="146"/>
                  <a:pt x="16" y="133"/>
                </a:cubicBezTo>
                <a:cubicBezTo>
                  <a:pt x="22" y="120"/>
                  <a:pt x="28" y="108"/>
                  <a:pt x="36" y="96"/>
                </a:cubicBezTo>
                <a:cubicBezTo>
                  <a:pt x="44" y="84"/>
                  <a:pt x="53" y="73"/>
                  <a:pt x="63" y="63"/>
                </a:cubicBezTo>
                <a:cubicBezTo>
                  <a:pt x="73" y="53"/>
                  <a:pt x="84" y="44"/>
                  <a:pt x="96" y="36"/>
                </a:cubicBezTo>
                <a:cubicBezTo>
                  <a:pt x="108" y="28"/>
                  <a:pt x="120" y="22"/>
                  <a:pt x="133" y="16"/>
                </a:cubicBezTo>
                <a:cubicBezTo>
                  <a:pt x="146" y="11"/>
                  <a:pt x="160" y="7"/>
                  <a:pt x="174" y="4"/>
                </a:cubicBezTo>
                <a:cubicBezTo>
                  <a:pt x="188" y="1"/>
                  <a:pt x="202" y="0"/>
                  <a:pt x="216" y="0"/>
                </a:cubicBezTo>
                <a:cubicBezTo>
                  <a:pt x="230" y="0"/>
                  <a:pt x="244" y="1"/>
                  <a:pt x="258" y="4"/>
                </a:cubicBezTo>
                <a:cubicBezTo>
                  <a:pt x="272" y="7"/>
                  <a:pt x="285" y="11"/>
                  <a:pt x="299" y="16"/>
                </a:cubicBezTo>
                <a:cubicBezTo>
                  <a:pt x="312" y="22"/>
                  <a:pt x="324" y="28"/>
                  <a:pt x="336" y="36"/>
                </a:cubicBezTo>
                <a:cubicBezTo>
                  <a:pt x="348" y="44"/>
                  <a:pt x="359" y="53"/>
                  <a:pt x="369" y="63"/>
                </a:cubicBezTo>
                <a:cubicBezTo>
                  <a:pt x="380" y="73"/>
                  <a:pt x="389" y="84"/>
                  <a:pt x="397" y="96"/>
                </a:cubicBezTo>
                <a:cubicBezTo>
                  <a:pt x="404" y="108"/>
                  <a:pt x="411" y="120"/>
                  <a:pt x="417" y="133"/>
                </a:cubicBezTo>
                <a:cubicBezTo>
                  <a:pt x="422" y="146"/>
                  <a:pt x="426" y="160"/>
                  <a:pt x="429" y="174"/>
                </a:cubicBezTo>
                <a:cubicBezTo>
                  <a:pt x="432" y="188"/>
                  <a:pt x="433" y="202"/>
                  <a:pt x="433" y="21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103760" y="4138560"/>
            <a:ext cx="11520" cy="72360"/>
          </a:xfrm>
          <a:custGeom>
            <a:avLst/>
            <a:gdLst/>
            <a:ahLst/>
            <a:rect l="0" t="0" r="r" b="b"/>
            <a:pathLst>
              <a:path w="32" h="201">
                <a:moveTo>
                  <a:pt x="32" y="186"/>
                </a:moveTo>
                <a:cubicBezTo>
                  <a:pt x="32" y="194"/>
                  <a:pt x="25" y="201"/>
                  <a:pt x="17" y="201"/>
                </a:cubicBezTo>
                <a:cubicBezTo>
                  <a:pt x="7" y="201"/>
                  <a:pt x="0" y="194"/>
                  <a:pt x="0" y="186"/>
                </a:cubicBezTo>
                <a:lnTo>
                  <a:pt x="0" y="16"/>
                </a:lnTo>
                <a:cubicBezTo>
                  <a:pt x="0" y="8"/>
                  <a:pt x="7" y="0"/>
                  <a:pt x="17" y="0"/>
                </a:cubicBezTo>
                <a:cubicBezTo>
                  <a:pt x="25" y="0"/>
                  <a:pt x="32" y="8"/>
                  <a:pt x="32" y="16"/>
                </a:cubicBezTo>
                <a:lnTo>
                  <a:pt x="32" y="18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105200" y="4155840"/>
            <a:ext cx="36720" cy="54720"/>
          </a:xfrm>
          <a:custGeom>
            <a:avLst/>
            <a:gdLst/>
            <a:ahLst/>
            <a:rect l="0" t="0" r="r" b="b"/>
            <a:pathLst>
              <a:path w="102" h="152">
                <a:moveTo>
                  <a:pt x="94" y="2"/>
                </a:moveTo>
                <a:cubicBezTo>
                  <a:pt x="101" y="6"/>
                  <a:pt x="104" y="16"/>
                  <a:pt x="100" y="24"/>
                </a:cubicBezTo>
                <a:lnTo>
                  <a:pt x="29" y="144"/>
                </a:lnTo>
                <a:cubicBezTo>
                  <a:pt x="25" y="151"/>
                  <a:pt x="15" y="154"/>
                  <a:pt x="8" y="150"/>
                </a:cubicBezTo>
                <a:cubicBezTo>
                  <a:pt x="1" y="145"/>
                  <a:pt x="-2" y="136"/>
                  <a:pt x="2" y="129"/>
                </a:cubicBezTo>
                <a:lnTo>
                  <a:pt x="72" y="7"/>
                </a:lnTo>
                <a:cubicBezTo>
                  <a:pt x="76" y="0"/>
                  <a:pt x="87" y="-3"/>
                  <a:pt x="94" y="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85800" y="3545280"/>
            <a:ext cx="8627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GitHub) ya se hizo en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Caso Práctico 1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; aquí se reutiliza. Si aún no ha completado CP1, hágalo primero.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220400" y="4126320"/>
            <a:ext cx="1002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Duración estimada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~45 min. Sin GPU. 8 GB de RAM. Se necesita conexión a internet la primera vez (para descargar los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85440" y="220968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990720" y="4421520"/>
            <a:ext cx="157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modelos, ~50 MB).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181640" y="21808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7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10"/>
                </a:cubicBezTo>
                <a:cubicBezTo>
                  <a:pt x="180" y="17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85800" y="1842120"/>
            <a:ext cx="2399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Alcance y requisitos previos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85440" y="41241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85440" y="41241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" y="2421360"/>
            <a:ext cx="10294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aplicarán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dos modelos de profundidad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las mismas imágenes de CP1 (más algunas nuevas "difíciles"), y se compararán: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60400" y="2868840"/>
            <a:ext cx="6230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MiDaS small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(Intel) — la referencia clásica de estimación de profundidad.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60760" y="3211920"/>
            <a:ext cx="7974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Depth Anything v2 small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el modelo de referencia actual (2024), que ha superado a MiDaS.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" y="3650040"/>
            <a:ext cx="1989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 entrena nada: un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718360" y="3650040"/>
            <a:ext cx="14680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foundation model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105080" y="3650040"/>
            <a:ext cx="4980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carga y se usa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Y se responderá a una pregunta central: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90720" y="4231080"/>
            <a:ext cx="7978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¿Puede una cámara sustituir a un sensor LiDAR para saber a qué distancia está cada cosa?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023760" y="4231080"/>
            <a:ext cx="25531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(La respuesta tiene matices, y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85440" y="2104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30680" y="4516920"/>
            <a:ext cx="20023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en ellos está la lección.)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7181640" y="20761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5800" y="1737360"/>
            <a:ext cx="1779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Objeto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85800" y="2440440"/>
            <a:ext cx="38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 la práctica, el alumno será capaz de: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60400" y="2878560"/>
            <a:ext cx="8287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Cargar y aplicar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modelos de profundidad pre-entrenados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desde HuggingFace, sin entrenar nada.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60760" y="3221280"/>
            <a:ext cx="9927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Distinguir entre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profundidad relativa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profundidad métrica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la distinción más importante del tema, y la que más 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072440" y="3507120"/>
            <a:ext cx="799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confunde.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60760" y="3849840"/>
            <a:ext cx="8462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Comprender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qué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sola cámara no puede dar distancias en metros sin información adicional.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60760" y="4192920"/>
            <a:ext cx="604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Identificar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qué situaciones fallan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estos modelos y razonar la causa.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85440" y="21240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60760" y="4535640"/>
            <a:ext cx="866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Comparar dos modelos con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evidencia visual y de tiempo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y razonar cuál desplegar en un sistema real.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181640" y="2095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85800" y="1746720"/>
            <a:ext cx="207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Objetivos de aprendizaje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95160" y="222876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885760" y="2228760"/>
            <a:ext cx="3486600" cy="362160"/>
          </a:xfrm>
          <a:custGeom>
            <a:avLst/>
            <a:gdLst/>
            <a:ahLst/>
            <a:rect l="0" t="0" r="r" b="b"/>
            <a:pathLst>
              <a:path w="9685" h="1006">
                <a:moveTo>
                  <a:pt x="0" y="0"/>
                </a:moveTo>
                <a:lnTo>
                  <a:pt x="9685" y="0"/>
                </a:lnTo>
                <a:lnTo>
                  <a:pt x="968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372000" y="222876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5160" y="222876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885760" y="2228760"/>
            <a:ext cx="3486600" cy="362160"/>
          </a:xfrm>
          <a:custGeom>
            <a:avLst/>
            <a:gdLst/>
            <a:ahLst/>
            <a:rect l="0" t="0" r="r" b="b"/>
            <a:pathLst>
              <a:path w="9685" h="1006">
                <a:moveTo>
                  <a:pt x="0" y="0"/>
                </a:moveTo>
                <a:lnTo>
                  <a:pt x="9685" y="0"/>
                </a:lnTo>
                <a:lnTo>
                  <a:pt x="968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372000" y="222876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5160" y="259056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885760" y="2590560"/>
            <a:ext cx="3486600" cy="371880"/>
          </a:xfrm>
          <a:custGeom>
            <a:avLst/>
            <a:gdLst/>
            <a:ahLst/>
            <a:rect l="0" t="0" r="r" b="b"/>
            <a:pathLst>
              <a:path w="9685" h="1033">
                <a:moveTo>
                  <a:pt x="0" y="0"/>
                </a:moveTo>
                <a:lnTo>
                  <a:pt x="9685" y="0"/>
                </a:lnTo>
                <a:lnTo>
                  <a:pt x="96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372000" y="259056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95160" y="296208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85760" y="2962080"/>
            <a:ext cx="3486600" cy="362160"/>
          </a:xfrm>
          <a:custGeom>
            <a:avLst/>
            <a:gdLst/>
            <a:ahLst/>
            <a:rect l="0" t="0" r="r" b="b"/>
            <a:pathLst>
              <a:path w="9685" h="1006">
                <a:moveTo>
                  <a:pt x="0" y="0"/>
                </a:moveTo>
                <a:lnTo>
                  <a:pt x="9685" y="0"/>
                </a:lnTo>
                <a:lnTo>
                  <a:pt x="968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372000" y="296208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95160" y="332388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885760" y="3323880"/>
            <a:ext cx="3486600" cy="371880"/>
          </a:xfrm>
          <a:custGeom>
            <a:avLst/>
            <a:gdLst/>
            <a:ahLst/>
            <a:rect l="0" t="0" r="r" b="b"/>
            <a:pathLst>
              <a:path w="9685" h="1033">
                <a:moveTo>
                  <a:pt x="0" y="0"/>
                </a:moveTo>
                <a:lnTo>
                  <a:pt x="9685" y="0"/>
                </a:lnTo>
                <a:lnTo>
                  <a:pt x="96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372000" y="332388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95160" y="369540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885760" y="3695400"/>
            <a:ext cx="3486600" cy="362520"/>
          </a:xfrm>
          <a:custGeom>
            <a:avLst/>
            <a:gdLst/>
            <a:ahLst/>
            <a:rect l="0" t="0" r="r" b="b"/>
            <a:pathLst>
              <a:path w="9685" h="1007">
                <a:moveTo>
                  <a:pt x="0" y="0"/>
                </a:moveTo>
                <a:lnTo>
                  <a:pt x="9685" y="0"/>
                </a:lnTo>
                <a:lnTo>
                  <a:pt x="9685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372000" y="369540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95160" y="405756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885760" y="4057560"/>
            <a:ext cx="3486600" cy="371880"/>
          </a:xfrm>
          <a:custGeom>
            <a:avLst/>
            <a:gdLst/>
            <a:ahLst/>
            <a:rect l="0" t="0" r="r" b="b"/>
            <a:pathLst>
              <a:path w="9685" h="1033">
                <a:moveTo>
                  <a:pt x="0" y="0"/>
                </a:moveTo>
                <a:lnTo>
                  <a:pt x="9685" y="0"/>
                </a:lnTo>
                <a:lnTo>
                  <a:pt x="96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372000" y="405756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95160" y="442908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885760" y="4429080"/>
            <a:ext cx="3486600" cy="362160"/>
          </a:xfrm>
          <a:custGeom>
            <a:avLst/>
            <a:gdLst/>
            <a:ahLst/>
            <a:rect l="0" t="0" r="r" b="b"/>
            <a:pathLst>
              <a:path w="9685" h="1006">
                <a:moveTo>
                  <a:pt x="0" y="0"/>
                </a:moveTo>
                <a:lnTo>
                  <a:pt x="9685" y="0"/>
                </a:lnTo>
                <a:lnTo>
                  <a:pt x="968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372000" y="442908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8544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85440" y="221904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876400" y="2219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885760" y="2219040"/>
            <a:ext cx="3486600" cy="10080"/>
          </a:xfrm>
          <a:custGeom>
            <a:avLst/>
            <a:gdLst/>
            <a:ahLst/>
            <a:rect l="0" t="0" r="r" b="b"/>
            <a:pathLst>
              <a:path w="9685" h="28">
                <a:moveTo>
                  <a:pt x="0" y="0"/>
                </a:moveTo>
                <a:lnTo>
                  <a:pt x="9685" y="0"/>
                </a:lnTo>
                <a:lnTo>
                  <a:pt x="96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362640" y="2219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372000" y="221904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257960" y="2219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85440" y="259056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885760" y="2590560"/>
            <a:ext cx="3486600" cy="10080"/>
          </a:xfrm>
          <a:custGeom>
            <a:avLst/>
            <a:gdLst/>
            <a:ahLst/>
            <a:rect l="0" t="0" r="r" b="b"/>
            <a:pathLst>
              <a:path w="9685" h="28">
                <a:moveTo>
                  <a:pt x="0" y="0"/>
                </a:moveTo>
                <a:lnTo>
                  <a:pt x="9685" y="0"/>
                </a:lnTo>
                <a:lnTo>
                  <a:pt x="96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372000" y="259056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8544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876400" y="26002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362640" y="26002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7257960" y="26002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8544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85440" y="29527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876400" y="2962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885760" y="2952720"/>
            <a:ext cx="3486600" cy="9720"/>
          </a:xfrm>
          <a:custGeom>
            <a:avLst/>
            <a:gdLst/>
            <a:ahLst/>
            <a:rect l="0" t="0" r="r" b="b"/>
            <a:pathLst>
              <a:path w="9685" h="27">
                <a:moveTo>
                  <a:pt x="0" y="0"/>
                </a:moveTo>
                <a:lnTo>
                  <a:pt x="9685" y="0"/>
                </a:lnTo>
                <a:lnTo>
                  <a:pt x="9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362640" y="2962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372000" y="295272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257960" y="2962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8544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85440" y="332388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876400" y="33336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885760" y="3323880"/>
            <a:ext cx="3486600" cy="10080"/>
          </a:xfrm>
          <a:custGeom>
            <a:avLst/>
            <a:gdLst/>
            <a:ahLst/>
            <a:rect l="0" t="0" r="r" b="b"/>
            <a:pathLst>
              <a:path w="9685" h="28">
                <a:moveTo>
                  <a:pt x="0" y="0"/>
                </a:moveTo>
                <a:lnTo>
                  <a:pt x="9685" y="0"/>
                </a:lnTo>
                <a:lnTo>
                  <a:pt x="96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362640" y="33336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372000" y="332388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257960" y="33336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8544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85440" y="368604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876400" y="36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885760" y="3686040"/>
            <a:ext cx="3486600" cy="9720"/>
          </a:xfrm>
          <a:custGeom>
            <a:avLst/>
            <a:gdLst/>
            <a:ahLst/>
            <a:rect l="0" t="0" r="r" b="b"/>
            <a:pathLst>
              <a:path w="9685" h="27">
                <a:moveTo>
                  <a:pt x="0" y="0"/>
                </a:moveTo>
                <a:lnTo>
                  <a:pt x="9685" y="0"/>
                </a:lnTo>
                <a:lnTo>
                  <a:pt x="9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362640" y="36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372000" y="368604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7257960" y="36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85440" y="406692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85440" y="405756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876400" y="406692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885760" y="4057560"/>
            <a:ext cx="3486600" cy="9720"/>
          </a:xfrm>
          <a:custGeom>
            <a:avLst/>
            <a:gdLst/>
            <a:ahLst/>
            <a:rect l="0" t="0" r="r" b="b"/>
            <a:pathLst>
              <a:path w="9685" h="27">
                <a:moveTo>
                  <a:pt x="0" y="0"/>
                </a:moveTo>
                <a:lnTo>
                  <a:pt x="9685" y="0"/>
                </a:lnTo>
                <a:lnTo>
                  <a:pt x="9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362640" y="406692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372000" y="405756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7257960" y="406692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85440" y="44290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85440" y="441936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876400" y="4429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885760" y="4419360"/>
            <a:ext cx="3486600" cy="10080"/>
          </a:xfrm>
          <a:custGeom>
            <a:avLst/>
            <a:gdLst/>
            <a:ahLst/>
            <a:rect l="0" t="0" r="r" b="b"/>
            <a:pathLst>
              <a:path w="9685" h="28">
                <a:moveTo>
                  <a:pt x="0" y="0"/>
                </a:moveTo>
                <a:lnTo>
                  <a:pt x="9685" y="0"/>
                </a:lnTo>
                <a:lnTo>
                  <a:pt x="96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362640" y="4429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372000" y="441936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257960" y="4429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85440" y="479088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885760" y="4790880"/>
            <a:ext cx="3486600" cy="9720"/>
          </a:xfrm>
          <a:custGeom>
            <a:avLst/>
            <a:gdLst/>
            <a:ahLst/>
            <a:rect l="0" t="0" r="r" b="b"/>
            <a:pathLst>
              <a:path w="9685" h="27">
                <a:moveTo>
                  <a:pt x="0" y="0"/>
                </a:moveTo>
                <a:lnTo>
                  <a:pt x="9685" y="0"/>
                </a:lnTo>
                <a:lnTo>
                  <a:pt x="96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372000" y="47908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85440" y="50194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85440" y="50194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85800" y="1821240"/>
            <a:ext cx="3655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trabaja sobre estos notebooks, en orden: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19000" y="2327760"/>
            <a:ext cx="52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Archivo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013920" y="2327760"/>
            <a:ext cx="539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Función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19000" y="2695320"/>
            <a:ext cx="781200" cy="171720"/>
          </a:xfrm>
          <a:custGeom>
            <a:avLst/>
            <a:gdLst/>
            <a:ahLst/>
            <a:rect l="0" t="0" r="r" b="b"/>
            <a:pathLst>
              <a:path w="2170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0" y="39"/>
                  <a:pt x="2164" y="49"/>
                </a:cubicBezTo>
                <a:cubicBezTo>
                  <a:pt x="2168" y="59"/>
                  <a:pt x="2170" y="69"/>
                  <a:pt x="2170" y="80"/>
                </a:cubicBezTo>
                <a:lnTo>
                  <a:pt x="2170" y="398"/>
                </a:lnTo>
                <a:cubicBezTo>
                  <a:pt x="2170" y="409"/>
                  <a:pt x="2168" y="419"/>
                  <a:pt x="2164" y="428"/>
                </a:cubicBezTo>
                <a:cubicBezTo>
                  <a:pt x="2160" y="438"/>
                  <a:pt x="2155" y="447"/>
                  <a:pt x="2147" y="454"/>
                </a:cubicBezTo>
                <a:cubicBezTo>
                  <a:pt x="2140" y="462"/>
                  <a:pt x="2131" y="467"/>
                  <a:pt x="2121" y="471"/>
                </a:cubicBezTo>
                <a:cubicBezTo>
                  <a:pt x="2112" y="475"/>
                  <a:pt x="2102" y="477"/>
                  <a:pt x="20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499440" y="2327760"/>
            <a:ext cx="631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Duración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76240" y="2701080"/>
            <a:ext cx="661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013920" y="2699280"/>
            <a:ext cx="2833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Verifica el entorno y descarga los modelos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19000" y="3057480"/>
            <a:ext cx="1362240" cy="171720"/>
          </a:xfrm>
          <a:custGeom>
            <a:avLst/>
            <a:gdLst/>
            <a:ahLst/>
            <a:rect l="0" t="0" r="r" b="b"/>
            <a:pathLst>
              <a:path w="3784" h="477">
                <a:moveTo>
                  <a:pt x="0" y="39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705" y="0"/>
                </a:lnTo>
                <a:cubicBezTo>
                  <a:pt x="3716" y="0"/>
                  <a:pt x="3726" y="2"/>
                  <a:pt x="3735" y="6"/>
                </a:cubicBezTo>
                <a:cubicBezTo>
                  <a:pt x="3745" y="10"/>
                  <a:pt x="3754" y="15"/>
                  <a:pt x="3761" y="23"/>
                </a:cubicBezTo>
                <a:cubicBezTo>
                  <a:pt x="3769" y="30"/>
                  <a:pt x="3774" y="39"/>
                  <a:pt x="3778" y="49"/>
                </a:cubicBezTo>
                <a:cubicBezTo>
                  <a:pt x="3782" y="58"/>
                  <a:pt x="3784" y="68"/>
                  <a:pt x="3784" y="79"/>
                </a:cubicBezTo>
                <a:lnTo>
                  <a:pt x="3784" y="397"/>
                </a:lnTo>
                <a:cubicBezTo>
                  <a:pt x="3784" y="408"/>
                  <a:pt x="3782" y="418"/>
                  <a:pt x="3778" y="428"/>
                </a:cubicBezTo>
                <a:cubicBezTo>
                  <a:pt x="3774" y="438"/>
                  <a:pt x="3769" y="446"/>
                  <a:pt x="3761" y="454"/>
                </a:cubicBezTo>
                <a:cubicBezTo>
                  <a:pt x="3754" y="461"/>
                  <a:pt x="3745" y="467"/>
                  <a:pt x="3735" y="471"/>
                </a:cubicBezTo>
                <a:cubicBezTo>
                  <a:pt x="3726" y="475"/>
                  <a:pt x="3716" y="477"/>
                  <a:pt x="370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499440" y="269928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76240" y="3063240"/>
            <a:ext cx="123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03_midas_basico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013920" y="3061440"/>
            <a:ext cx="2350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Aplica MiDaS a todas las imágenes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19000" y="3428640"/>
            <a:ext cx="1933920" cy="172080"/>
          </a:xfrm>
          <a:custGeom>
            <a:avLst/>
            <a:gdLst/>
            <a:ahLst/>
            <a:rect l="0" t="0" r="r" b="b"/>
            <a:pathLst>
              <a:path w="5372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5293" y="0"/>
                </a:lnTo>
                <a:cubicBezTo>
                  <a:pt x="5303" y="0"/>
                  <a:pt x="5313" y="3"/>
                  <a:pt x="5323" y="7"/>
                </a:cubicBezTo>
                <a:cubicBezTo>
                  <a:pt x="5333" y="11"/>
                  <a:pt x="5341" y="16"/>
                  <a:pt x="5349" y="24"/>
                </a:cubicBezTo>
                <a:cubicBezTo>
                  <a:pt x="5356" y="31"/>
                  <a:pt x="5362" y="40"/>
                  <a:pt x="5366" y="49"/>
                </a:cubicBezTo>
                <a:cubicBezTo>
                  <a:pt x="5370" y="59"/>
                  <a:pt x="5372" y="69"/>
                  <a:pt x="5372" y="80"/>
                </a:cubicBezTo>
                <a:lnTo>
                  <a:pt x="5372" y="398"/>
                </a:lnTo>
                <a:cubicBezTo>
                  <a:pt x="5372" y="409"/>
                  <a:pt x="5370" y="419"/>
                  <a:pt x="5366" y="429"/>
                </a:cubicBezTo>
                <a:cubicBezTo>
                  <a:pt x="5362" y="438"/>
                  <a:pt x="5356" y="447"/>
                  <a:pt x="5349" y="455"/>
                </a:cubicBezTo>
                <a:cubicBezTo>
                  <a:pt x="5341" y="462"/>
                  <a:pt x="5333" y="468"/>
                  <a:pt x="5323" y="472"/>
                </a:cubicBezTo>
                <a:cubicBezTo>
                  <a:pt x="5313" y="476"/>
                  <a:pt x="5303" y="478"/>
                  <a:pt x="5293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5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499440" y="306144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76240" y="3434760"/>
            <a:ext cx="18172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04_relativa_vs_metrica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013920" y="3432960"/>
            <a:ext cx="2113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distinción clave + calibración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19000" y="3790800"/>
            <a:ext cx="1771920" cy="171720"/>
          </a:xfrm>
          <a:custGeom>
            <a:avLst/>
            <a:gdLst/>
            <a:ahLst/>
            <a:rect l="0" t="0" r="r" b="b"/>
            <a:pathLst>
              <a:path w="4922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843" y="0"/>
                </a:lnTo>
                <a:cubicBezTo>
                  <a:pt x="4853" y="0"/>
                  <a:pt x="4863" y="2"/>
                  <a:pt x="4873" y="6"/>
                </a:cubicBezTo>
                <a:cubicBezTo>
                  <a:pt x="4883" y="10"/>
                  <a:pt x="4891" y="16"/>
                  <a:pt x="4899" y="23"/>
                </a:cubicBezTo>
                <a:cubicBezTo>
                  <a:pt x="4906" y="31"/>
                  <a:pt x="4912" y="39"/>
                  <a:pt x="4916" y="49"/>
                </a:cubicBezTo>
                <a:cubicBezTo>
                  <a:pt x="4920" y="59"/>
                  <a:pt x="4922" y="69"/>
                  <a:pt x="4922" y="79"/>
                </a:cubicBezTo>
                <a:lnTo>
                  <a:pt x="4922" y="398"/>
                </a:lnTo>
                <a:cubicBezTo>
                  <a:pt x="4922" y="408"/>
                  <a:pt x="4920" y="418"/>
                  <a:pt x="4916" y="428"/>
                </a:cubicBezTo>
                <a:cubicBezTo>
                  <a:pt x="4912" y="438"/>
                  <a:pt x="4906" y="446"/>
                  <a:pt x="4899" y="454"/>
                </a:cubicBezTo>
                <a:cubicBezTo>
                  <a:pt x="4891" y="461"/>
                  <a:pt x="4883" y="467"/>
                  <a:pt x="4873" y="471"/>
                </a:cubicBezTo>
                <a:cubicBezTo>
                  <a:pt x="4863" y="475"/>
                  <a:pt x="4853" y="477"/>
                  <a:pt x="4843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499440" y="343296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76240" y="3796560"/>
            <a:ext cx="16524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05_depth_anything_v2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013920" y="3794760"/>
            <a:ext cx="322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mismo con Depth Anything v2 + comparativa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19000" y="4162320"/>
            <a:ext cx="1438560" cy="171720"/>
          </a:xfrm>
          <a:custGeom>
            <a:avLst/>
            <a:gdLst/>
            <a:ahLst/>
            <a:rect l="0" t="0" r="r" b="b"/>
            <a:pathLst>
              <a:path w="3996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917" y="0"/>
                </a:lnTo>
                <a:cubicBezTo>
                  <a:pt x="3927" y="0"/>
                  <a:pt x="3937" y="2"/>
                  <a:pt x="3947" y="6"/>
                </a:cubicBezTo>
                <a:cubicBezTo>
                  <a:pt x="3957" y="10"/>
                  <a:pt x="3965" y="16"/>
                  <a:pt x="3973" y="23"/>
                </a:cubicBezTo>
                <a:cubicBezTo>
                  <a:pt x="3980" y="30"/>
                  <a:pt x="3986" y="39"/>
                  <a:pt x="3990" y="49"/>
                </a:cubicBezTo>
                <a:cubicBezTo>
                  <a:pt x="3994" y="59"/>
                  <a:pt x="3996" y="69"/>
                  <a:pt x="3996" y="79"/>
                </a:cubicBezTo>
                <a:lnTo>
                  <a:pt x="3996" y="398"/>
                </a:lnTo>
                <a:cubicBezTo>
                  <a:pt x="3996" y="408"/>
                  <a:pt x="3994" y="418"/>
                  <a:pt x="3990" y="428"/>
                </a:cubicBezTo>
                <a:cubicBezTo>
                  <a:pt x="3986" y="438"/>
                  <a:pt x="3980" y="446"/>
                  <a:pt x="3973" y="454"/>
                </a:cubicBezTo>
                <a:cubicBezTo>
                  <a:pt x="3965" y="461"/>
                  <a:pt x="3957" y="467"/>
                  <a:pt x="3947" y="471"/>
                </a:cubicBezTo>
                <a:cubicBezTo>
                  <a:pt x="3937" y="475"/>
                  <a:pt x="3927" y="477"/>
                  <a:pt x="3917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499440" y="379476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76240" y="4168080"/>
            <a:ext cx="1321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06_failure_modes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013920" y="4166280"/>
            <a:ext cx="232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Dónde y por qué fallan los modelos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819000" y="4524120"/>
            <a:ext cx="1105200" cy="171720"/>
          </a:xfrm>
          <a:custGeom>
            <a:avLst/>
            <a:gdLst/>
            <a:ahLst/>
            <a:rect l="0" t="0" r="r" b="b"/>
            <a:pathLst>
              <a:path w="3070" h="477">
                <a:moveTo>
                  <a:pt x="0" y="398"/>
                </a:moveTo>
                <a:lnTo>
                  <a:pt x="0" y="81"/>
                </a:ln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991" y="0"/>
                </a:lnTo>
                <a:cubicBezTo>
                  <a:pt x="3001" y="0"/>
                  <a:pt x="3011" y="2"/>
                  <a:pt x="3021" y="6"/>
                </a:cubicBezTo>
                <a:cubicBezTo>
                  <a:pt x="3031" y="10"/>
                  <a:pt x="3039" y="16"/>
                  <a:pt x="3047" y="23"/>
                </a:cubicBezTo>
                <a:cubicBezTo>
                  <a:pt x="3054" y="31"/>
                  <a:pt x="3060" y="39"/>
                  <a:pt x="3064" y="50"/>
                </a:cubicBezTo>
                <a:cubicBezTo>
                  <a:pt x="3068" y="60"/>
                  <a:pt x="3070" y="70"/>
                  <a:pt x="3070" y="81"/>
                </a:cubicBezTo>
                <a:lnTo>
                  <a:pt x="3070" y="398"/>
                </a:lnTo>
                <a:cubicBezTo>
                  <a:pt x="3070" y="409"/>
                  <a:pt x="3068" y="419"/>
                  <a:pt x="3064" y="428"/>
                </a:cubicBezTo>
                <a:cubicBezTo>
                  <a:pt x="3060" y="438"/>
                  <a:pt x="3054" y="447"/>
                  <a:pt x="3047" y="454"/>
                </a:cubicBezTo>
                <a:cubicBezTo>
                  <a:pt x="3039" y="462"/>
                  <a:pt x="3031" y="467"/>
                  <a:pt x="3021" y="471"/>
                </a:cubicBezTo>
                <a:cubicBezTo>
                  <a:pt x="3011" y="475"/>
                  <a:pt x="3001" y="477"/>
                  <a:pt x="29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499440" y="416628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76240" y="4529880"/>
            <a:ext cx="99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07_preguntas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013920" y="4528080"/>
            <a:ext cx="1615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Cuestionario de entrega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499440" y="452808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85440" y="15048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990720" y="5126400"/>
            <a:ext cx="536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Como resultado se entrega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resultados y respuestas.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181640" y="1476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685800" y="1127880"/>
            <a:ext cx="1895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Estructura del trabajo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14400" y="2823120"/>
            <a:ext cx="190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0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914400" y="3583440"/>
            <a:ext cx="37987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Preparación (más corta que en CP1)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85440" y="453384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85440" y="453384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85800" y="2306880"/>
            <a:ext cx="543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ordenador ya quedó preparado en CP1. Para CP2 solo hay que: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543040" y="2733480"/>
            <a:ext cx="1038600" cy="219600"/>
          </a:xfrm>
          <a:custGeom>
            <a:avLst/>
            <a:gdLst/>
            <a:ahLst/>
            <a:rect l="0" t="0" r="r" b="b"/>
            <a:pathLst>
              <a:path w="2885" h="610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805" y="0"/>
                </a:lnTo>
                <a:cubicBezTo>
                  <a:pt x="2816" y="0"/>
                  <a:pt x="2826" y="2"/>
                  <a:pt x="2836" y="6"/>
                </a:cubicBezTo>
                <a:cubicBezTo>
                  <a:pt x="2846" y="11"/>
                  <a:pt x="2854" y="17"/>
                  <a:pt x="2862" y="24"/>
                </a:cubicBezTo>
                <a:cubicBezTo>
                  <a:pt x="2869" y="32"/>
                  <a:pt x="2875" y="40"/>
                  <a:pt x="2879" y="50"/>
                </a:cubicBezTo>
                <a:cubicBezTo>
                  <a:pt x="2883" y="60"/>
                  <a:pt x="2885" y="70"/>
                  <a:pt x="2885" y="80"/>
                </a:cubicBezTo>
                <a:lnTo>
                  <a:pt x="2885" y="530"/>
                </a:lnTo>
                <a:cubicBezTo>
                  <a:pt x="2885" y="541"/>
                  <a:pt x="2883" y="551"/>
                  <a:pt x="2879" y="561"/>
                </a:cubicBezTo>
                <a:cubicBezTo>
                  <a:pt x="2875" y="570"/>
                  <a:pt x="2869" y="579"/>
                  <a:pt x="2862" y="586"/>
                </a:cubicBezTo>
                <a:cubicBezTo>
                  <a:pt x="2854" y="594"/>
                  <a:pt x="2846" y="600"/>
                  <a:pt x="2836" y="604"/>
                </a:cubicBezTo>
                <a:cubicBezTo>
                  <a:pt x="2826" y="608"/>
                  <a:pt x="2816" y="610"/>
                  <a:pt x="280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60400" y="2745000"/>
            <a:ext cx="168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Tener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603160" y="274752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CP2-midas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3581640" y="2745000"/>
            <a:ext cx="6707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(está en el mismo repositorio que CP1: descárguela igual que en CP1, con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301760" y="271188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0501560" y="2745000"/>
            <a:ext cx="892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Download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72440" y="3040200"/>
            <a:ext cx="1731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ZIP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si no la tiene ya).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60760" y="3383280"/>
            <a:ext cx="5694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Tener descargadas las imágenes de CP1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(este caso las reutiliza).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60760" y="3716640"/>
            <a:ext cx="5899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Crear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entorno virtual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 de CP2 e instalar sus dependencias.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60760" y="4059720"/>
            <a:ext cx="4265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Descargar unas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imágenes "difíciles"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adicionales.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85440" y="1990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990720" y="4640400"/>
            <a:ext cx="7466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repositorio es el mismo de CP1: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https://github.com/codx-digital/master-ia-practicas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7181640" y="1962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85800" y="1622880"/>
            <a:ext cx="3093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Lo que hace falta antes de empezar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690480" y="2728800"/>
            <a:ext cx="10811160" cy="819360"/>
          </a:xfrm>
          <a:custGeom>
            <a:avLst/>
            <a:gdLst/>
            <a:ahLst/>
            <a:rect l="0" t="0" r="r" b="b"/>
            <a:pathLst>
              <a:path w="30031" h="2276">
                <a:moveTo>
                  <a:pt x="0" y="218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2184"/>
                </a:lnTo>
                <a:cubicBezTo>
                  <a:pt x="30031" y="2196"/>
                  <a:pt x="30029" y="2208"/>
                  <a:pt x="30024" y="2219"/>
                </a:cubicBezTo>
                <a:cubicBezTo>
                  <a:pt x="30019" y="2230"/>
                  <a:pt x="30012" y="2240"/>
                  <a:pt x="30004" y="2249"/>
                </a:cubicBezTo>
                <a:cubicBezTo>
                  <a:pt x="29995" y="2258"/>
                  <a:pt x="29985" y="2264"/>
                  <a:pt x="29974" y="2269"/>
                </a:cubicBezTo>
                <a:cubicBezTo>
                  <a:pt x="29962" y="2274"/>
                  <a:pt x="29951" y="2276"/>
                  <a:pt x="29938" y="2276"/>
                </a:cubicBezTo>
                <a:lnTo>
                  <a:pt x="92" y="2276"/>
                </a:lnTo>
                <a:cubicBezTo>
                  <a:pt x="80" y="2276"/>
                  <a:pt x="68" y="2274"/>
                  <a:pt x="57" y="2269"/>
                </a:cubicBezTo>
                <a:cubicBezTo>
                  <a:pt x="46" y="2264"/>
                  <a:pt x="36" y="2258"/>
                  <a:pt x="27" y="2249"/>
                </a:cubicBezTo>
                <a:cubicBezTo>
                  <a:pt x="18" y="2240"/>
                  <a:pt x="11" y="2230"/>
                  <a:pt x="7" y="2219"/>
                </a:cubicBezTo>
                <a:cubicBezTo>
                  <a:pt x="2" y="2208"/>
                  <a:pt x="0" y="2196"/>
                  <a:pt x="0" y="2184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90480" y="2728800"/>
            <a:ext cx="10811160" cy="819360"/>
          </a:xfrm>
          <a:custGeom>
            <a:avLst/>
            <a:gdLst/>
            <a:ahLst/>
            <a:rect l="0" t="0" r="r" b="b"/>
            <a:pathLst>
              <a:path w="30031" h="2276">
                <a:moveTo>
                  <a:pt x="0" y="218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2184"/>
                </a:lnTo>
                <a:cubicBezTo>
                  <a:pt x="30031" y="2196"/>
                  <a:pt x="30029" y="2208"/>
                  <a:pt x="30024" y="2219"/>
                </a:cubicBezTo>
                <a:cubicBezTo>
                  <a:pt x="30019" y="2230"/>
                  <a:pt x="30012" y="2240"/>
                  <a:pt x="30004" y="2249"/>
                </a:cubicBezTo>
                <a:cubicBezTo>
                  <a:pt x="29995" y="2258"/>
                  <a:pt x="29985" y="2264"/>
                  <a:pt x="29974" y="2269"/>
                </a:cubicBezTo>
                <a:cubicBezTo>
                  <a:pt x="29962" y="2274"/>
                  <a:pt x="29951" y="2276"/>
                  <a:pt x="29938" y="2276"/>
                </a:cubicBezTo>
                <a:lnTo>
                  <a:pt x="92" y="2276"/>
                </a:lnTo>
                <a:cubicBezTo>
                  <a:pt x="80" y="2276"/>
                  <a:pt x="68" y="2274"/>
                  <a:pt x="57" y="2269"/>
                </a:cubicBezTo>
                <a:cubicBezTo>
                  <a:pt x="46" y="2264"/>
                  <a:pt x="36" y="2258"/>
                  <a:pt x="27" y="2249"/>
                </a:cubicBezTo>
                <a:cubicBezTo>
                  <a:pt x="18" y="2240"/>
                  <a:pt x="11" y="2230"/>
                  <a:pt x="7" y="2219"/>
                </a:cubicBezTo>
                <a:cubicBezTo>
                  <a:pt x="2" y="2208"/>
                  <a:pt x="0" y="2196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85440" y="42195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85440" y="42195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85800" y="2325960"/>
            <a:ext cx="9941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Este caso reutiliza las 14 imágenes de carretera de CP1. Si ya hizo CP1, las tiene. Para asegurarse, desde una terminal: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866880" y="2881080"/>
            <a:ext cx="40561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cd  (arrastre aquí la carpeta CP1-carriles)  → Intro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66880" y="306216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66880" y="3242880"/>
            <a:ext cx="374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scripts/download_assets.py --dataset-only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48320" y="430596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8"/>
                </a:moveTo>
                <a:cubicBezTo>
                  <a:pt x="341" y="269"/>
                  <a:pt x="262" y="284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4"/>
                  <a:pt x="0" y="269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086480" y="448272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8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8"/>
                </a:cubicBezTo>
                <a:cubicBezTo>
                  <a:pt x="0" y="-5"/>
                  <a:pt x="34" y="1"/>
                  <a:pt x="64" y="1"/>
                </a:cubicBezTo>
                <a:cubicBezTo>
                  <a:pt x="94" y="1"/>
                  <a:pt x="129" y="-5"/>
                  <a:pt x="129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081800" y="4360680"/>
            <a:ext cx="56160" cy="94680"/>
          </a:xfrm>
          <a:custGeom>
            <a:avLst/>
            <a:gdLst/>
            <a:ahLst/>
            <a:rect l="0" t="0" r="r" b="b"/>
            <a:pathLst>
              <a:path w="156" h="263">
                <a:moveTo>
                  <a:pt x="151" y="5"/>
                </a:moveTo>
                <a:cubicBezTo>
                  <a:pt x="145" y="-2"/>
                  <a:pt x="135" y="-2"/>
                  <a:pt x="129" y="5"/>
                </a:cubicBezTo>
                <a:lnTo>
                  <a:pt x="78" y="55"/>
                </a:lnTo>
                <a:lnTo>
                  <a:pt x="27" y="5"/>
                </a:lnTo>
                <a:cubicBezTo>
                  <a:pt x="21" y="-2"/>
                  <a:pt x="11" y="-2"/>
                  <a:pt x="5" y="5"/>
                </a:cubicBezTo>
                <a:cubicBezTo>
                  <a:pt x="-1" y="11"/>
                  <a:pt x="-1" y="20"/>
                  <a:pt x="5" y="26"/>
                </a:cubicBezTo>
                <a:lnTo>
                  <a:pt x="62" y="85"/>
                </a:lnTo>
                <a:lnTo>
                  <a:pt x="62" y="248"/>
                </a:lnTo>
                <a:cubicBezTo>
                  <a:pt x="62" y="256"/>
                  <a:pt x="69" y="263"/>
                  <a:pt x="78" y="263"/>
                </a:cubicBezTo>
                <a:cubicBezTo>
                  <a:pt x="86" y="263"/>
                  <a:pt x="93" y="256"/>
                  <a:pt x="93" y="248"/>
                </a:cubicBezTo>
                <a:lnTo>
                  <a:pt x="93" y="85"/>
                </a:lnTo>
                <a:lnTo>
                  <a:pt x="151" y="26"/>
                </a:lnTo>
                <a:cubicBezTo>
                  <a:pt x="158" y="20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76040" y="444420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70640" y="4438440"/>
            <a:ext cx="78120" cy="45000"/>
          </a:xfrm>
          <a:custGeom>
            <a:avLst/>
            <a:gdLst/>
            <a:ahLst/>
            <a:rect l="0" t="0" r="r" b="b"/>
            <a:pathLst>
              <a:path w="217" h="125">
                <a:moveTo>
                  <a:pt x="0" y="112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2"/>
                  <a:pt x="215" y="67"/>
                  <a:pt x="217" y="76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5"/>
                  <a:pt x="15" y="125"/>
                </a:cubicBezTo>
                <a:cubicBezTo>
                  <a:pt x="8" y="125"/>
                  <a:pt x="1" y="119"/>
                  <a:pt x="0" y="112"/>
                </a:cubicBezTo>
                <a:moveTo>
                  <a:pt x="0" y="50"/>
                </a:moveTo>
                <a:cubicBezTo>
                  <a:pt x="-1" y="42"/>
                  <a:pt x="4" y="34"/>
                  <a:pt x="13" y="31"/>
                </a:cubicBezTo>
                <a:lnTo>
                  <a:pt x="199" y="0"/>
                </a:lnTo>
                <a:cubicBezTo>
                  <a:pt x="207" y="-1"/>
                  <a:pt x="215" y="5"/>
                  <a:pt x="217" y="13"/>
                </a:cubicBezTo>
                <a:cubicBezTo>
                  <a:pt x="218" y="21"/>
                  <a:pt x="212" y="29"/>
                  <a:pt x="204" y="31"/>
                </a:cubicBezTo>
                <a:lnTo>
                  <a:pt x="18" y="63"/>
                </a:lnTo>
                <a:cubicBezTo>
                  <a:pt x="17" y="63"/>
                  <a:pt x="16" y="63"/>
                  <a:pt x="15" y="63"/>
                </a:cubicBezTo>
                <a:cubicBezTo>
                  <a:pt x="8" y="63"/>
                  <a:pt x="1" y="57"/>
                  <a:pt x="0" y="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85800" y="3745080"/>
            <a:ext cx="6406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Esto descarga las imágenes de CP1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solo si faltan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(si ya están, no hace nada).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524200" y="431460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4" y="0"/>
                </a:lnTo>
                <a:cubicBezTo>
                  <a:pt x="805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600"/>
                  <a:pt x="825" y="604"/>
                </a:cubicBezTo>
                <a:cubicBezTo>
                  <a:pt x="816" y="608"/>
                  <a:pt x="805" y="610"/>
                  <a:pt x="79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220400" y="4326120"/>
            <a:ext cx="4294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Recuerde: para "entrar" en una carpeta se escribe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580000" y="432864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842080" y="4326120"/>
            <a:ext cx="5115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un espacio, y 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arrastra la carpeta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desde el explorador a la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85440" y="200952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990720" y="4621680"/>
            <a:ext cx="72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terminal.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85800" y="164196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355040" y="16484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7181640" y="1981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413000" y="1641960"/>
            <a:ext cx="2928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Comprobar las imágenes de CP1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90480" y="22240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3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3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90480" y="22240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3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3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90480" y="28429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4"/>
                </a:lnTo>
                <a:cubicBezTo>
                  <a:pt x="0" y="82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2"/>
                  <a:pt x="30031" y="94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90480" y="28429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4"/>
                </a:lnTo>
                <a:cubicBezTo>
                  <a:pt x="0" y="82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2"/>
                  <a:pt x="30031" y="94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85440" y="370512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685440" y="370512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690480" y="4805280"/>
            <a:ext cx="10811160" cy="638280"/>
          </a:xfrm>
          <a:custGeom>
            <a:avLst/>
            <a:gdLst/>
            <a:ahLst/>
            <a:rect l="0" t="0" r="r" b="b"/>
            <a:pathLst>
              <a:path w="30031" h="1773">
                <a:moveTo>
                  <a:pt x="0" y="168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680"/>
                </a:lnTo>
                <a:cubicBezTo>
                  <a:pt x="30031" y="1692"/>
                  <a:pt x="30029" y="1704"/>
                  <a:pt x="30024" y="1716"/>
                </a:cubicBezTo>
                <a:cubicBezTo>
                  <a:pt x="30019" y="1728"/>
                  <a:pt x="30012" y="1738"/>
                  <a:pt x="30004" y="1746"/>
                </a:cubicBezTo>
                <a:cubicBezTo>
                  <a:pt x="29995" y="1755"/>
                  <a:pt x="29985" y="1762"/>
                  <a:pt x="29974" y="1766"/>
                </a:cubicBezTo>
                <a:cubicBezTo>
                  <a:pt x="29962" y="1771"/>
                  <a:pt x="29951" y="1773"/>
                  <a:pt x="29938" y="1773"/>
                </a:cubicBezTo>
                <a:lnTo>
                  <a:pt x="92" y="1773"/>
                </a:lnTo>
                <a:cubicBezTo>
                  <a:pt x="80" y="1773"/>
                  <a:pt x="68" y="1771"/>
                  <a:pt x="57" y="1766"/>
                </a:cubicBezTo>
                <a:cubicBezTo>
                  <a:pt x="46" y="1762"/>
                  <a:pt x="36" y="1755"/>
                  <a:pt x="27" y="1746"/>
                </a:cubicBezTo>
                <a:cubicBezTo>
                  <a:pt x="18" y="1738"/>
                  <a:pt x="11" y="1728"/>
                  <a:pt x="7" y="1716"/>
                </a:cubicBezTo>
                <a:cubicBezTo>
                  <a:pt x="2" y="1704"/>
                  <a:pt x="0" y="1692"/>
                  <a:pt x="0" y="16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690480" y="4805280"/>
            <a:ext cx="10811160" cy="638280"/>
          </a:xfrm>
          <a:custGeom>
            <a:avLst/>
            <a:gdLst/>
            <a:ahLst/>
            <a:rect l="0" t="0" r="r" b="b"/>
            <a:pathLst>
              <a:path w="30031" h="1773">
                <a:moveTo>
                  <a:pt x="0" y="168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680"/>
                </a:lnTo>
                <a:cubicBezTo>
                  <a:pt x="30031" y="1692"/>
                  <a:pt x="30029" y="1704"/>
                  <a:pt x="30024" y="1716"/>
                </a:cubicBezTo>
                <a:cubicBezTo>
                  <a:pt x="30019" y="1728"/>
                  <a:pt x="30012" y="1738"/>
                  <a:pt x="30004" y="1746"/>
                </a:cubicBezTo>
                <a:cubicBezTo>
                  <a:pt x="29995" y="1755"/>
                  <a:pt x="29985" y="1762"/>
                  <a:pt x="29974" y="1766"/>
                </a:cubicBezTo>
                <a:cubicBezTo>
                  <a:pt x="29962" y="1771"/>
                  <a:pt x="29951" y="1773"/>
                  <a:pt x="29938" y="1773"/>
                </a:cubicBezTo>
                <a:lnTo>
                  <a:pt x="92" y="1773"/>
                </a:lnTo>
                <a:cubicBezTo>
                  <a:pt x="80" y="1773"/>
                  <a:pt x="68" y="1771"/>
                  <a:pt x="57" y="1766"/>
                </a:cubicBezTo>
                <a:cubicBezTo>
                  <a:pt x="46" y="1762"/>
                  <a:pt x="36" y="1755"/>
                  <a:pt x="27" y="1746"/>
                </a:cubicBezTo>
                <a:cubicBezTo>
                  <a:pt x="18" y="1738"/>
                  <a:pt x="11" y="1728"/>
                  <a:pt x="7" y="1716"/>
                </a:cubicBezTo>
                <a:cubicBezTo>
                  <a:pt x="2" y="1704"/>
                  <a:pt x="0" y="1692"/>
                  <a:pt x="0" y="168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9696240" y="1809720"/>
            <a:ext cx="1038600" cy="219240"/>
          </a:xfrm>
          <a:custGeom>
            <a:avLst/>
            <a:gdLst/>
            <a:ahLst/>
            <a:rect l="0" t="0" r="r" b="b"/>
            <a:pathLst>
              <a:path w="2885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806" y="0"/>
                </a:lnTo>
                <a:cubicBezTo>
                  <a:pt x="2816" y="0"/>
                  <a:pt x="2826" y="2"/>
                  <a:pt x="2836" y="6"/>
                </a:cubicBezTo>
                <a:cubicBezTo>
                  <a:pt x="2846" y="10"/>
                  <a:pt x="2854" y="15"/>
                  <a:pt x="2862" y="23"/>
                </a:cubicBezTo>
                <a:cubicBezTo>
                  <a:pt x="2869" y="30"/>
                  <a:pt x="2875" y="39"/>
                  <a:pt x="2879" y="49"/>
                </a:cubicBezTo>
                <a:cubicBezTo>
                  <a:pt x="2883" y="58"/>
                  <a:pt x="2885" y="68"/>
                  <a:pt x="2885" y="79"/>
                </a:cubicBezTo>
                <a:lnTo>
                  <a:pt x="2885" y="530"/>
                </a:lnTo>
                <a:cubicBezTo>
                  <a:pt x="2885" y="540"/>
                  <a:pt x="2883" y="550"/>
                  <a:pt x="2879" y="560"/>
                </a:cubicBezTo>
                <a:cubicBezTo>
                  <a:pt x="2875" y="570"/>
                  <a:pt x="2869" y="578"/>
                  <a:pt x="2862" y="586"/>
                </a:cubicBezTo>
                <a:cubicBezTo>
                  <a:pt x="2854" y="593"/>
                  <a:pt x="2846" y="599"/>
                  <a:pt x="2836" y="603"/>
                </a:cubicBezTo>
                <a:cubicBezTo>
                  <a:pt x="2826" y="607"/>
                  <a:pt x="2816" y="609"/>
                  <a:pt x="2806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85800" y="1821240"/>
            <a:ext cx="899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CP2 usa librerías nuevas (los modelos de HuggingFace), así que crea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 propio entorno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Entre en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9755280" y="182340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CP2-midas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0733760" y="18212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66880" y="2376360"/>
            <a:ext cx="156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66880" y="2995200"/>
            <a:ext cx="2886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.venv\Scripts\activate      ← Windows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009440" y="380016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041120" y="3833280"/>
            <a:ext cx="137520" cy="135000"/>
          </a:xfrm>
          <a:custGeom>
            <a:avLst/>
            <a:gdLst/>
            <a:ahLst/>
            <a:rect l="0" t="0" r="r" b="b"/>
            <a:pathLst>
              <a:path w="382" h="375">
                <a:moveTo>
                  <a:pt x="365" y="6"/>
                </a:moveTo>
                <a:cubicBezTo>
                  <a:pt x="346" y="-6"/>
                  <a:pt x="322" y="-1"/>
                  <a:pt x="311" y="18"/>
                </a:cubicBezTo>
                <a:lnTo>
                  <a:pt x="143" y="277"/>
                </a:lnTo>
                <a:lnTo>
                  <a:pt x="65" y="205"/>
                </a:lnTo>
                <a:cubicBezTo>
                  <a:pt x="49" y="191"/>
                  <a:pt x="25" y="192"/>
                  <a:pt x="10" y="207"/>
                </a:cubicBezTo>
                <a:cubicBezTo>
                  <a:pt x="-4" y="223"/>
                  <a:pt x="-3" y="247"/>
                  <a:pt x="13" y="262"/>
                </a:cubicBezTo>
                <a:lnTo>
                  <a:pt x="124" y="365"/>
                </a:lnTo>
                <a:cubicBezTo>
                  <a:pt x="131" y="372"/>
                  <a:pt x="141" y="375"/>
                  <a:pt x="150" y="375"/>
                </a:cubicBezTo>
                <a:cubicBezTo>
                  <a:pt x="160" y="375"/>
                  <a:pt x="174" y="371"/>
                  <a:pt x="182" y="357"/>
                </a:cubicBezTo>
                <a:cubicBezTo>
                  <a:pt x="188" y="350"/>
                  <a:pt x="376" y="60"/>
                  <a:pt x="376" y="60"/>
                </a:cubicBezTo>
                <a:cubicBezTo>
                  <a:pt x="388" y="42"/>
                  <a:pt x="383" y="18"/>
                  <a:pt x="365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866880" y="317628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   ← Mac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571480" y="3809880"/>
            <a:ext cx="829080" cy="219240"/>
          </a:xfrm>
          <a:custGeom>
            <a:avLst/>
            <a:gdLst/>
            <a:ahLst/>
            <a:rect l="0" t="0" r="r" b="b"/>
            <a:pathLst>
              <a:path w="2303" h="609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224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4" y="10"/>
                  <a:pt x="2272" y="16"/>
                  <a:pt x="2280" y="23"/>
                </a:cubicBezTo>
                <a:cubicBezTo>
                  <a:pt x="2287" y="31"/>
                  <a:pt x="2293" y="39"/>
                  <a:pt x="2297" y="49"/>
                </a:cubicBezTo>
                <a:cubicBezTo>
                  <a:pt x="2301" y="60"/>
                  <a:pt x="2303" y="70"/>
                  <a:pt x="2303" y="80"/>
                </a:cubicBezTo>
                <a:lnTo>
                  <a:pt x="2303" y="530"/>
                </a:lnTo>
                <a:cubicBezTo>
                  <a:pt x="2303" y="541"/>
                  <a:pt x="2301" y="551"/>
                  <a:pt x="2297" y="560"/>
                </a:cubicBezTo>
                <a:cubicBezTo>
                  <a:pt x="2293" y="570"/>
                  <a:pt x="2287" y="579"/>
                  <a:pt x="2280" y="586"/>
                </a:cubicBezTo>
                <a:cubicBezTo>
                  <a:pt x="2272" y="594"/>
                  <a:pt x="2264" y="599"/>
                  <a:pt x="2254" y="603"/>
                </a:cubicBezTo>
                <a:cubicBezTo>
                  <a:pt x="2244" y="607"/>
                  <a:pt x="2234" y="609"/>
                  <a:pt x="2224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220400" y="3821400"/>
            <a:ext cx="134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Debe aparecer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625120" y="382356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398760" y="3821400"/>
            <a:ext cx="1847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al principio de la línea.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85800" y="4393080"/>
            <a:ext cx="7260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Después instale las dependencias (tarda unos minutos; descarga varios cientos de MB):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866880" y="495756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--upgrade pip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85440" y="15048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866880" y="5138640"/>
            <a:ext cx="241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-r requirements.txt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85800" y="11278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354680" y="113400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7181640" y="1476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413000" y="1127880"/>
            <a:ext cx="2004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Entorno virtual de CP2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90480" y="32810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90480" y="32810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85440" y="396216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85440" y="396216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685800" y="2583000"/>
            <a:ext cx="10294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comando descarga ~7 imágenes públicas (de Wikimedia) pensadas para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estresar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los modelos de profundidad: reflejos,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685800" y="2868840"/>
            <a:ext cx="3276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túneles, cielo plano, escenas nocturnas.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048320" y="404856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70"/>
                </a:moveTo>
                <a:cubicBezTo>
                  <a:pt x="341" y="269"/>
                  <a:pt x="262" y="285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5"/>
                  <a:pt x="0" y="269"/>
                  <a:pt x="0" y="170"/>
                </a:cubicBezTo>
                <a:cubicBezTo>
                  <a:pt x="0" y="77"/>
                  <a:pt x="82" y="0"/>
                  <a:pt x="171" y="0"/>
                </a:cubicBezTo>
                <a:cubicBezTo>
                  <a:pt x="261" y="0"/>
                  <a:pt x="341" y="77"/>
                  <a:pt x="341" y="170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086480" y="422532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9"/>
                </a:moveTo>
                <a:cubicBezTo>
                  <a:pt x="129" y="22"/>
                  <a:pt x="94" y="48"/>
                  <a:pt x="64" y="48"/>
                </a:cubicBezTo>
                <a:cubicBezTo>
                  <a:pt x="34" y="48"/>
                  <a:pt x="0" y="22"/>
                  <a:pt x="0" y="9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81800" y="410364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8"/>
                </a:lnTo>
                <a:cubicBezTo>
                  <a:pt x="62" y="256"/>
                  <a:pt x="69" y="264"/>
                  <a:pt x="78" y="264"/>
                </a:cubicBezTo>
                <a:cubicBezTo>
                  <a:pt x="86" y="264"/>
                  <a:pt x="93" y="256"/>
                  <a:pt x="93" y="248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76040" y="4186800"/>
            <a:ext cx="66960" cy="45000"/>
          </a:xfrm>
          <a:custGeom>
            <a:avLst/>
            <a:gdLst/>
            <a:ahLst/>
            <a:rect l="0" t="0" r="r" b="b"/>
            <a:pathLst>
              <a:path w="186" h="125">
                <a:moveTo>
                  <a:pt x="186" y="93"/>
                </a:moveTo>
                <a:cubicBezTo>
                  <a:pt x="186" y="110"/>
                  <a:pt x="173" y="125"/>
                  <a:pt x="156" y="125"/>
                </a:cubicBezTo>
                <a:lnTo>
                  <a:pt x="31" y="125"/>
                </a:lnTo>
                <a:cubicBezTo>
                  <a:pt x="14" y="125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070640" y="418140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1"/>
                  <a:pt x="215" y="67"/>
                  <a:pt x="217" y="75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9"/>
                  <a:pt x="0" y="111"/>
                </a:cubicBezTo>
                <a:moveTo>
                  <a:pt x="0" y="50"/>
                </a:moveTo>
                <a:cubicBezTo>
                  <a:pt x="-1" y="41"/>
                  <a:pt x="4" y="33"/>
                  <a:pt x="13" y="32"/>
                </a:cubicBezTo>
                <a:lnTo>
                  <a:pt x="199" y="0"/>
                </a:lnTo>
                <a:cubicBezTo>
                  <a:pt x="207" y="-2"/>
                  <a:pt x="215" y="4"/>
                  <a:pt x="217" y="14"/>
                </a:cubicBezTo>
                <a:cubicBezTo>
                  <a:pt x="218" y="22"/>
                  <a:pt x="212" y="30"/>
                  <a:pt x="204" y="31"/>
                </a:cubicBezTo>
                <a:lnTo>
                  <a:pt x="18" y="62"/>
                </a:lnTo>
                <a:cubicBezTo>
                  <a:pt x="17" y="62"/>
                  <a:pt x="16" y="62"/>
                  <a:pt x="15" y="62"/>
                </a:cubicBezTo>
                <a:cubicBezTo>
                  <a:pt x="8" y="62"/>
                  <a:pt x="1" y="57"/>
                  <a:pt x="0" y="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866880" y="343332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scripts/download_assets.py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220400" y="4069080"/>
            <a:ext cx="959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Estas imágenes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necesitan GitHub ni permisos: se bajan de una web pública. Si alguna falla, no pasa nada, el caso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85440" y="2266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90720" y="4364280"/>
            <a:ext cx="198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funciona con las demás.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685800" y="189936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3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354680" y="19054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7181640" y="2238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413000" y="1899360"/>
            <a:ext cx="2976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Descargar las imágenes "difíciles"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90480" y="31194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690480" y="31194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90480" y="41763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90480" y="41763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85440" y="48574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85440" y="48574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638840" y="1962000"/>
            <a:ext cx="933840" cy="219240"/>
          </a:xfrm>
          <a:custGeom>
            <a:avLst/>
            <a:gdLst/>
            <a:ahLst/>
            <a:rect l="0" t="0" r="r" b="b"/>
            <a:pathLst>
              <a:path w="259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515" y="0"/>
                </a:lnTo>
                <a:cubicBezTo>
                  <a:pt x="2525" y="0"/>
                  <a:pt x="2535" y="2"/>
                  <a:pt x="2545" y="6"/>
                </a:cubicBezTo>
                <a:cubicBezTo>
                  <a:pt x="2555" y="10"/>
                  <a:pt x="2563" y="16"/>
                  <a:pt x="2571" y="23"/>
                </a:cubicBezTo>
                <a:cubicBezTo>
                  <a:pt x="2578" y="31"/>
                  <a:pt x="2584" y="39"/>
                  <a:pt x="2588" y="49"/>
                </a:cubicBezTo>
                <a:cubicBezTo>
                  <a:pt x="2592" y="59"/>
                  <a:pt x="2594" y="69"/>
                  <a:pt x="2594" y="79"/>
                </a:cubicBezTo>
                <a:lnTo>
                  <a:pt x="2594" y="530"/>
                </a:lnTo>
                <a:cubicBezTo>
                  <a:pt x="2594" y="541"/>
                  <a:pt x="2592" y="551"/>
                  <a:pt x="2588" y="560"/>
                </a:cubicBezTo>
                <a:cubicBezTo>
                  <a:pt x="2584" y="570"/>
                  <a:pt x="2578" y="579"/>
                  <a:pt x="2571" y="586"/>
                </a:cubicBezTo>
                <a:cubicBezTo>
                  <a:pt x="2563" y="594"/>
                  <a:pt x="2555" y="599"/>
                  <a:pt x="2545" y="603"/>
                </a:cubicBezTo>
                <a:cubicBezTo>
                  <a:pt x="2535" y="607"/>
                  <a:pt x="2525" y="609"/>
                  <a:pt x="251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85800" y="1973520"/>
            <a:ext cx="6939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hay que descargar los modelos a mano.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primera vez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ejecute el notebook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695360" y="1975680"/>
            <a:ext cx="8229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8571600" y="1973520"/>
            <a:ext cx="2736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se descargan automáticamente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685800" y="2268720"/>
            <a:ext cx="9146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desde HuggingFace (~50 MB) y quedan guardados en su ordenador. Las siguientes veces ya no tocan internet.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600280" y="2695320"/>
            <a:ext cx="1543320" cy="219600"/>
          </a:xfrm>
          <a:custGeom>
            <a:avLst/>
            <a:gdLst/>
            <a:ahLst/>
            <a:rect l="0" t="0" r="r" b="b"/>
            <a:pathLst>
              <a:path w="4287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4207" y="0"/>
                </a:lnTo>
                <a:cubicBezTo>
                  <a:pt x="4218" y="0"/>
                  <a:pt x="4228" y="2"/>
                  <a:pt x="4238" y="6"/>
                </a:cubicBezTo>
                <a:cubicBezTo>
                  <a:pt x="4248" y="10"/>
                  <a:pt x="4256" y="16"/>
                  <a:pt x="4264" y="23"/>
                </a:cubicBezTo>
                <a:cubicBezTo>
                  <a:pt x="4271" y="31"/>
                  <a:pt x="4277" y="39"/>
                  <a:pt x="4281" y="49"/>
                </a:cubicBezTo>
                <a:cubicBezTo>
                  <a:pt x="4285" y="59"/>
                  <a:pt x="4287" y="69"/>
                  <a:pt x="4287" y="80"/>
                </a:cubicBezTo>
                <a:lnTo>
                  <a:pt x="4287" y="530"/>
                </a:lnTo>
                <a:cubicBezTo>
                  <a:pt x="4287" y="541"/>
                  <a:pt x="4285" y="551"/>
                  <a:pt x="4281" y="561"/>
                </a:cubicBezTo>
                <a:cubicBezTo>
                  <a:pt x="4277" y="570"/>
                  <a:pt x="4271" y="579"/>
                  <a:pt x="4264" y="587"/>
                </a:cubicBezTo>
                <a:cubicBezTo>
                  <a:pt x="4256" y="594"/>
                  <a:pt x="4248" y="600"/>
                  <a:pt x="4238" y="604"/>
                </a:cubicBezTo>
                <a:cubicBezTo>
                  <a:pt x="4228" y="608"/>
                  <a:pt x="4218" y="610"/>
                  <a:pt x="4207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85800" y="2706840"/>
            <a:ext cx="190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Abra Jupyter y ejecute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655720" y="270936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4145760" y="2706840"/>
            <a:ext cx="638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entero: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866880" y="327168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jupyter notebook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876240" y="4333680"/>
            <a:ext cx="133560" cy="124200"/>
          </a:xfrm>
          <a:custGeom>
            <a:avLst/>
            <a:gdLst/>
            <a:ahLst/>
            <a:rect l="0" t="0" r="r" b="b"/>
            <a:pathLst>
              <a:path w="371" h="345">
                <a:moveTo>
                  <a:pt x="329" y="0"/>
                </a:moveTo>
                <a:cubicBezTo>
                  <a:pt x="353" y="0"/>
                  <a:pt x="371" y="17"/>
                  <a:pt x="371" y="38"/>
                </a:cubicBezTo>
                <a:lnTo>
                  <a:pt x="371" y="307"/>
                </a:lnTo>
                <a:cubicBezTo>
                  <a:pt x="371" y="328"/>
                  <a:pt x="353" y="345"/>
                  <a:pt x="329" y="345"/>
                </a:cubicBezTo>
                <a:lnTo>
                  <a:pt x="41" y="345"/>
                </a:lnTo>
                <a:cubicBezTo>
                  <a:pt x="18" y="345"/>
                  <a:pt x="0" y="328"/>
                  <a:pt x="0" y="307"/>
                </a:cubicBezTo>
                <a:lnTo>
                  <a:pt x="0" y="38"/>
                </a:lnTo>
                <a:cubicBezTo>
                  <a:pt x="0" y="17"/>
                  <a:pt x="18" y="0"/>
                  <a:pt x="41" y="0"/>
                </a:cubicBezTo>
                <a:lnTo>
                  <a:pt x="329" y="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897120" y="4354200"/>
            <a:ext cx="91800" cy="83880"/>
          </a:xfrm>
          <a:custGeom>
            <a:avLst/>
            <a:gdLst/>
            <a:ahLst/>
            <a:rect l="0" t="0" r="r" b="b"/>
            <a:pathLst>
              <a:path w="255" h="233">
                <a:moveTo>
                  <a:pt x="244" y="4"/>
                </a:moveTo>
                <a:cubicBezTo>
                  <a:pt x="256" y="11"/>
                  <a:pt x="259" y="26"/>
                  <a:pt x="252" y="38"/>
                </a:cubicBezTo>
                <a:cubicBezTo>
                  <a:pt x="252" y="38"/>
                  <a:pt x="125" y="217"/>
                  <a:pt x="122" y="222"/>
                </a:cubicBezTo>
                <a:cubicBezTo>
                  <a:pt x="116" y="230"/>
                  <a:pt x="107" y="233"/>
                  <a:pt x="100" y="233"/>
                </a:cubicBezTo>
                <a:cubicBezTo>
                  <a:pt x="94" y="233"/>
                  <a:pt x="88" y="231"/>
                  <a:pt x="83" y="227"/>
                </a:cubicBezTo>
                <a:lnTo>
                  <a:pt x="9" y="163"/>
                </a:lnTo>
                <a:cubicBezTo>
                  <a:pt x="-2" y="154"/>
                  <a:pt x="-2" y="139"/>
                  <a:pt x="7" y="129"/>
                </a:cubicBezTo>
                <a:cubicBezTo>
                  <a:pt x="17" y="119"/>
                  <a:pt x="33" y="119"/>
                  <a:pt x="44" y="128"/>
                </a:cubicBezTo>
                <a:lnTo>
                  <a:pt x="95" y="172"/>
                </a:lnTo>
                <a:lnTo>
                  <a:pt x="208" y="11"/>
                </a:lnTo>
                <a:cubicBezTo>
                  <a:pt x="216" y="0"/>
                  <a:pt x="232" y="-3"/>
                  <a:pt x="244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85800" y="3773880"/>
            <a:ext cx="1604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terminar con: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014480" y="43290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 Setup OK — listo para 03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391000" y="496224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222" y="0"/>
                </a:lnTo>
                <a:cubicBezTo>
                  <a:pt x="2233" y="0"/>
                  <a:pt x="2243" y="2"/>
                  <a:pt x="2253" y="6"/>
                </a:cubicBezTo>
                <a:cubicBezTo>
                  <a:pt x="2263" y="10"/>
                  <a:pt x="2271" y="16"/>
                  <a:pt x="2279" y="24"/>
                </a:cubicBezTo>
                <a:cubicBezTo>
                  <a:pt x="2287" y="31"/>
                  <a:pt x="2293" y="40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0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1"/>
                  <a:pt x="2287" y="579"/>
                  <a:pt x="2279" y="587"/>
                </a:cubicBezTo>
                <a:cubicBezTo>
                  <a:pt x="2271" y="594"/>
                  <a:pt x="2263" y="600"/>
                  <a:pt x="2253" y="604"/>
                </a:cubicBezTo>
                <a:cubicBezTo>
                  <a:pt x="2243" y="608"/>
                  <a:pt x="2233" y="610"/>
                  <a:pt x="2222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90720" y="4974120"/>
            <a:ext cx="4394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algo falla aquí, revise que el entorno está activado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450400" y="497628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685440" y="165708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224040" y="4974120"/>
            <a:ext cx="2660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 y que tiene conexión a internet.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85800" y="128952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4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354680" y="129600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7181640" y="1628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413000" y="1289520"/>
            <a:ext cx="2874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Los modelos se descargan solos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1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01536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3162600" y="2823120"/>
            <a:ext cx="16333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MIDAS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962000" y="3562200"/>
            <a:ext cx="2333880" cy="286200"/>
          </a:xfrm>
          <a:custGeom>
            <a:avLst/>
            <a:gdLst/>
            <a:ahLst/>
            <a:rect l="0" t="0" r="r" b="b"/>
            <a:pathLst>
              <a:path w="6483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404" y="0"/>
                </a:lnTo>
                <a:cubicBezTo>
                  <a:pt x="6414" y="0"/>
                  <a:pt x="6424" y="2"/>
                  <a:pt x="6434" y="6"/>
                </a:cubicBezTo>
                <a:cubicBezTo>
                  <a:pt x="6444" y="10"/>
                  <a:pt x="6453" y="16"/>
                  <a:pt x="6460" y="24"/>
                </a:cubicBezTo>
                <a:cubicBezTo>
                  <a:pt x="6467" y="32"/>
                  <a:pt x="6473" y="40"/>
                  <a:pt x="6477" y="50"/>
                </a:cubicBezTo>
                <a:cubicBezTo>
                  <a:pt x="6481" y="60"/>
                  <a:pt x="6483" y="70"/>
                  <a:pt x="6483" y="80"/>
                </a:cubicBezTo>
                <a:lnTo>
                  <a:pt x="6483" y="715"/>
                </a:lnTo>
                <a:cubicBezTo>
                  <a:pt x="6483" y="726"/>
                  <a:pt x="6481" y="736"/>
                  <a:pt x="6477" y="746"/>
                </a:cubicBezTo>
                <a:cubicBezTo>
                  <a:pt x="6473" y="755"/>
                  <a:pt x="6467" y="764"/>
                  <a:pt x="6460" y="771"/>
                </a:cubicBezTo>
                <a:cubicBezTo>
                  <a:pt x="6453" y="779"/>
                  <a:pt x="6444" y="785"/>
                  <a:pt x="6434" y="789"/>
                </a:cubicBezTo>
                <a:cubicBezTo>
                  <a:pt x="6424" y="793"/>
                  <a:pt x="6414" y="795"/>
                  <a:pt x="640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012400" y="3561120"/>
            <a:ext cx="22442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03_midas_basico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29840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436032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4429080" y="359280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85440" y="441000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85440" y="441000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85800" y="2421360"/>
            <a:ext cx="10398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Aplica el modelo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todas las imágenes y genera, por cada una,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mapa de profundidad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una imagen en color donde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685800" y="2716560"/>
            <a:ext cx="4273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color indica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cómo de cerca o lejos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está cada punto.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904680" y="3686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685800" y="3154680"/>
            <a:ext cx="5688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alumno ejecuta las celdas en orden y observa los mapas. Fíjese en: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904680" y="4019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072440" y="3602520"/>
            <a:ext cx="719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degradado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lo cercano (el capó, la carretera próxima) frente a lo lejano (el horizonte).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72440" y="3935880"/>
            <a:ext cx="510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tiempo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cálculo por imagen en su CPU (aparece medido).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85440" y="2104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990720" y="4516920"/>
            <a:ext cx="6531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"cargar y usar": el modelo ya viene entrenado. Usted solo lo aplica y observa.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7181640" y="20761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85800" y="173736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85440" y="39430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685440" y="39430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5400360" y="2885760"/>
            <a:ext cx="734040" cy="219600"/>
          </a:xfrm>
          <a:custGeom>
            <a:avLst/>
            <a:gdLst/>
            <a:ahLst/>
            <a:rect l="0" t="0" r="r" b="b"/>
            <a:pathLst>
              <a:path w="2039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959" y="0"/>
                </a:lnTo>
                <a:cubicBezTo>
                  <a:pt x="1970" y="0"/>
                  <a:pt x="1980" y="2"/>
                  <a:pt x="1990" y="6"/>
                </a:cubicBezTo>
                <a:cubicBezTo>
                  <a:pt x="1999" y="10"/>
                  <a:pt x="2008" y="16"/>
                  <a:pt x="2015" y="24"/>
                </a:cubicBezTo>
                <a:cubicBezTo>
                  <a:pt x="2023" y="31"/>
                  <a:pt x="2029" y="40"/>
                  <a:pt x="2033" y="49"/>
                </a:cubicBezTo>
                <a:cubicBezTo>
                  <a:pt x="2037" y="59"/>
                  <a:pt x="2039" y="69"/>
                  <a:pt x="2039" y="80"/>
                </a:cubicBezTo>
                <a:lnTo>
                  <a:pt x="2039" y="531"/>
                </a:lnTo>
                <a:cubicBezTo>
                  <a:pt x="2039" y="541"/>
                  <a:pt x="2037" y="551"/>
                  <a:pt x="2033" y="561"/>
                </a:cubicBezTo>
                <a:cubicBezTo>
                  <a:pt x="2029" y="571"/>
                  <a:pt x="2023" y="579"/>
                  <a:pt x="2015" y="587"/>
                </a:cubicBezTo>
                <a:cubicBezTo>
                  <a:pt x="2008" y="594"/>
                  <a:pt x="1999" y="600"/>
                  <a:pt x="1990" y="604"/>
                </a:cubicBezTo>
                <a:cubicBezTo>
                  <a:pt x="1980" y="608"/>
                  <a:pt x="1970" y="610"/>
                  <a:pt x="1959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85800" y="2897640"/>
            <a:ext cx="4708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Los mapas de profundidad se muestran con paletas tipo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5459040" y="289980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plasma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6333840" y="288576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224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4" y="10"/>
                  <a:pt x="2272" y="16"/>
                  <a:pt x="2280" y="24"/>
                </a:cubicBezTo>
                <a:cubicBezTo>
                  <a:pt x="2287" y="31"/>
                  <a:pt x="2293" y="40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1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1"/>
                  <a:pt x="2287" y="579"/>
                  <a:pt x="2280" y="587"/>
                </a:cubicBezTo>
                <a:cubicBezTo>
                  <a:pt x="2272" y="594"/>
                  <a:pt x="2264" y="600"/>
                  <a:pt x="2254" y="604"/>
                </a:cubicBezTo>
                <a:cubicBezTo>
                  <a:pt x="2244" y="608"/>
                  <a:pt x="2234" y="610"/>
                  <a:pt x="222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130440" y="2897640"/>
            <a:ext cx="201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388920" y="289980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viridis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8781840" y="2885760"/>
            <a:ext cx="419400" cy="219600"/>
          </a:xfrm>
          <a:custGeom>
            <a:avLst/>
            <a:gdLst/>
            <a:ahLst/>
            <a:rect l="0" t="0" r="r" b="b"/>
            <a:pathLst>
              <a:path w="1165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86" y="0"/>
                </a:lnTo>
                <a:cubicBezTo>
                  <a:pt x="1096" y="0"/>
                  <a:pt x="1107" y="2"/>
                  <a:pt x="1116" y="6"/>
                </a:cubicBezTo>
                <a:cubicBezTo>
                  <a:pt x="1126" y="10"/>
                  <a:pt x="1135" y="16"/>
                  <a:pt x="1142" y="24"/>
                </a:cubicBezTo>
                <a:cubicBezTo>
                  <a:pt x="1149" y="31"/>
                  <a:pt x="1155" y="40"/>
                  <a:pt x="1159" y="49"/>
                </a:cubicBezTo>
                <a:cubicBezTo>
                  <a:pt x="1163" y="59"/>
                  <a:pt x="1165" y="69"/>
                  <a:pt x="1165" y="80"/>
                </a:cubicBezTo>
                <a:lnTo>
                  <a:pt x="1165" y="531"/>
                </a:lnTo>
                <a:cubicBezTo>
                  <a:pt x="1165" y="541"/>
                  <a:pt x="1163" y="551"/>
                  <a:pt x="1159" y="561"/>
                </a:cubicBezTo>
                <a:cubicBezTo>
                  <a:pt x="1155" y="571"/>
                  <a:pt x="1149" y="579"/>
                  <a:pt x="1142" y="587"/>
                </a:cubicBezTo>
                <a:cubicBezTo>
                  <a:pt x="1135" y="594"/>
                  <a:pt x="1126" y="600"/>
                  <a:pt x="1116" y="604"/>
                </a:cubicBezTo>
                <a:cubicBezTo>
                  <a:pt x="1107" y="608"/>
                  <a:pt x="1096" y="610"/>
                  <a:pt x="1086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162560" y="2897640"/>
            <a:ext cx="1616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con el arcoíris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8838360" y="2899800"/>
            <a:ext cx="308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jet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202680" y="2897640"/>
            <a:ext cx="1651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 No es un capricho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685800" y="3183120"/>
            <a:ext cx="10439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estético: el arcoíris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engaña al ojo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creando falsos bordes donde no los hay. Usar buenas paletas es parte de comunicar bien un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85800" y="3468960"/>
            <a:ext cx="3426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resultado técnico (y puntúa en la rúbrica).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990720" y="401004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85440" y="25812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745560" y="218196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6"/>
                </a:moveTo>
                <a:cubicBezTo>
                  <a:pt x="356" y="280"/>
                  <a:pt x="275" y="297"/>
                  <a:pt x="275" y="394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6"/>
                  <a:pt x="79" y="394"/>
                </a:cubicBezTo>
                <a:cubicBezTo>
                  <a:pt x="79" y="297"/>
                  <a:pt x="0" y="280"/>
                  <a:pt x="0" y="176"/>
                </a:cubicBezTo>
                <a:cubicBezTo>
                  <a:pt x="0" y="79"/>
                  <a:pt x="85" y="0"/>
                  <a:pt x="179" y="0"/>
                </a:cubicBezTo>
                <a:cubicBezTo>
                  <a:pt x="274" y="0"/>
                  <a:pt x="356" y="79"/>
                  <a:pt x="356" y="176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785160" y="2367000"/>
            <a:ext cx="48960" cy="18000"/>
          </a:xfrm>
          <a:custGeom>
            <a:avLst/>
            <a:gdLst/>
            <a:ahLst/>
            <a:rect l="0" t="0" r="r" b="b"/>
            <a:pathLst>
              <a:path w="136" h="50">
                <a:moveTo>
                  <a:pt x="136" y="9"/>
                </a:moveTo>
                <a:cubicBezTo>
                  <a:pt x="136" y="23"/>
                  <a:pt x="100" y="50"/>
                  <a:pt x="68" y="50"/>
                </a:cubicBezTo>
                <a:cubicBezTo>
                  <a:pt x="37" y="50"/>
                  <a:pt x="0" y="23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80480" y="223920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8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1"/>
                  <a:pt x="-1" y="21"/>
                  <a:pt x="5" y="28"/>
                </a:cubicBezTo>
                <a:lnTo>
                  <a:pt x="66" y="88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8"/>
                </a:lnTo>
                <a:lnTo>
                  <a:pt x="159" y="28"/>
                </a:lnTo>
                <a:cubicBezTo>
                  <a:pt x="165" y="21"/>
                  <a:pt x="165" y="11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774360" y="232668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8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8"/>
                </a:cubicBezTo>
                <a:lnTo>
                  <a:pt x="0" y="0"/>
                </a:lnTo>
                <a:lnTo>
                  <a:pt x="195" y="0"/>
                </a:lnTo>
                <a:lnTo>
                  <a:pt x="195" y="9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68600" y="232056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6"/>
                </a:moveTo>
                <a:cubicBezTo>
                  <a:pt x="-2" y="108"/>
                  <a:pt x="4" y="99"/>
                  <a:pt x="14" y="98"/>
                </a:cubicBezTo>
                <a:lnTo>
                  <a:pt x="208" y="64"/>
                </a:lnTo>
                <a:cubicBezTo>
                  <a:pt x="217" y="63"/>
                  <a:pt x="225" y="70"/>
                  <a:pt x="226" y="79"/>
                </a:cubicBezTo>
                <a:cubicBezTo>
                  <a:pt x="228" y="88"/>
                  <a:pt x="222" y="96"/>
                  <a:pt x="213" y="97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4"/>
                  <a:pt x="0" y="116"/>
                </a:cubicBezTo>
                <a:moveTo>
                  <a:pt x="0" y="51"/>
                </a:moveTo>
                <a:cubicBezTo>
                  <a:pt x="-2" y="42"/>
                  <a:pt x="4" y="34"/>
                  <a:pt x="14" y="32"/>
                </a:cubicBezTo>
                <a:lnTo>
                  <a:pt x="208" y="0"/>
                </a:lnTo>
                <a:cubicBezTo>
                  <a:pt x="217" y="-2"/>
                  <a:pt x="225" y="4"/>
                  <a:pt x="226" y="13"/>
                </a:cubicBezTo>
                <a:cubicBezTo>
                  <a:pt x="228" y="22"/>
                  <a:pt x="222" y="30"/>
                  <a:pt x="213" y="32"/>
                </a:cubicBezTo>
                <a:lnTo>
                  <a:pt x="19" y="64"/>
                </a:lnTo>
                <a:cubicBezTo>
                  <a:pt x="18" y="64"/>
                  <a:pt x="17" y="64"/>
                  <a:pt x="16" y="64"/>
                </a:cubicBezTo>
                <a:cubicBezTo>
                  <a:pt x="8" y="64"/>
                  <a:pt x="1" y="59"/>
                  <a:pt x="0" y="5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209600" y="4050000"/>
            <a:ext cx="698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tiempo medio por imagen. Lo comparará con el otro modelo más adelante.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7181640" y="2552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926640" y="2203920"/>
            <a:ext cx="2018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Un aviso sobre el color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2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3162240" y="2823120"/>
            <a:ext cx="51742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RELATIVO VS MÉTRICO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962000" y="3562200"/>
            <a:ext cx="3381840" cy="286200"/>
          </a:xfrm>
          <a:custGeom>
            <a:avLst/>
            <a:gdLst/>
            <a:ahLst/>
            <a:rect l="0" t="0" r="r" b="b"/>
            <a:pathLst>
              <a:path w="9394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314" y="0"/>
                </a:lnTo>
                <a:cubicBezTo>
                  <a:pt x="9325" y="0"/>
                  <a:pt x="9335" y="2"/>
                  <a:pt x="9345" y="6"/>
                </a:cubicBezTo>
                <a:cubicBezTo>
                  <a:pt x="9354" y="10"/>
                  <a:pt x="9363" y="16"/>
                  <a:pt x="9370" y="24"/>
                </a:cubicBezTo>
                <a:cubicBezTo>
                  <a:pt x="9378" y="32"/>
                  <a:pt x="9384" y="40"/>
                  <a:pt x="9388" y="50"/>
                </a:cubicBezTo>
                <a:cubicBezTo>
                  <a:pt x="9392" y="60"/>
                  <a:pt x="9394" y="70"/>
                  <a:pt x="9394" y="80"/>
                </a:cubicBezTo>
                <a:lnTo>
                  <a:pt x="9394" y="715"/>
                </a:lnTo>
                <a:cubicBezTo>
                  <a:pt x="9394" y="726"/>
                  <a:pt x="9392" y="736"/>
                  <a:pt x="9388" y="746"/>
                </a:cubicBezTo>
                <a:cubicBezTo>
                  <a:pt x="9384" y="755"/>
                  <a:pt x="9378" y="764"/>
                  <a:pt x="9370" y="771"/>
                </a:cubicBezTo>
                <a:cubicBezTo>
                  <a:pt x="9363" y="779"/>
                  <a:pt x="9354" y="785"/>
                  <a:pt x="9345" y="789"/>
                </a:cubicBezTo>
                <a:cubicBezTo>
                  <a:pt x="9335" y="793"/>
                  <a:pt x="9325" y="795"/>
                  <a:pt x="931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2012400" y="3561120"/>
            <a:ext cx="32911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04_relativa_vs_metrica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34204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540396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5472720" y="3592800"/>
            <a:ext cx="8388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630792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6377040" y="3592800"/>
            <a:ext cx="14371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parte clave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85440" y="325728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85440" y="325728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85800" y="2497320"/>
            <a:ext cx="10659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mapa de MiDaS dice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qué está más cerca que qué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(profundidad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relativa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pero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dice cuántos metros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(profundidad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métrica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14840" y="3344040"/>
            <a:ext cx="194040" cy="198720"/>
          </a:xfrm>
          <a:custGeom>
            <a:avLst/>
            <a:gdLst/>
            <a:ahLst/>
            <a:rect l="0" t="0" r="r" b="b"/>
            <a:pathLst>
              <a:path w="539" h="552">
                <a:moveTo>
                  <a:pt x="489" y="50"/>
                </a:moveTo>
                <a:cubicBezTo>
                  <a:pt x="423" y="-16"/>
                  <a:pt x="315" y="-16"/>
                  <a:pt x="249" y="50"/>
                </a:cubicBezTo>
                <a:cubicBezTo>
                  <a:pt x="197" y="102"/>
                  <a:pt x="186" y="180"/>
                  <a:pt x="216" y="244"/>
                </a:cubicBezTo>
                <a:lnTo>
                  <a:pt x="155" y="304"/>
                </a:lnTo>
                <a:cubicBezTo>
                  <a:pt x="145" y="314"/>
                  <a:pt x="142" y="328"/>
                  <a:pt x="146" y="340"/>
                </a:cubicBezTo>
                <a:lnTo>
                  <a:pt x="114" y="372"/>
                </a:lnTo>
                <a:cubicBezTo>
                  <a:pt x="107" y="364"/>
                  <a:pt x="95" y="364"/>
                  <a:pt x="88" y="372"/>
                </a:cubicBezTo>
                <a:lnTo>
                  <a:pt x="61" y="399"/>
                </a:lnTo>
                <a:cubicBezTo>
                  <a:pt x="53" y="406"/>
                  <a:pt x="53" y="418"/>
                  <a:pt x="61" y="425"/>
                </a:cubicBezTo>
                <a:lnTo>
                  <a:pt x="47" y="439"/>
                </a:lnTo>
                <a:cubicBezTo>
                  <a:pt x="40" y="431"/>
                  <a:pt x="28" y="431"/>
                  <a:pt x="21" y="439"/>
                </a:cubicBezTo>
                <a:lnTo>
                  <a:pt x="7" y="452"/>
                </a:lnTo>
                <a:cubicBezTo>
                  <a:pt x="0" y="459"/>
                  <a:pt x="0" y="471"/>
                  <a:pt x="7" y="479"/>
                </a:cubicBezTo>
                <a:cubicBezTo>
                  <a:pt x="8" y="479"/>
                  <a:pt x="8" y="479"/>
                  <a:pt x="8" y="479"/>
                </a:cubicBezTo>
                <a:cubicBezTo>
                  <a:pt x="-4" y="498"/>
                  <a:pt x="-2" y="523"/>
                  <a:pt x="14" y="539"/>
                </a:cubicBezTo>
                <a:cubicBezTo>
                  <a:pt x="32" y="557"/>
                  <a:pt x="62" y="557"/>
                  <a:pt x="81" y="539"/>
                </a:cubicBezTo>
                <a:lnTo>
                  <a:pt x="296" y="324"/>
                </a:lnTo>
                <a:cubicBezTo>
                  <a:pt x="359" y="355"/>
                  <a:pt x="437" y="343"/>
                  <a:pt x="489" y="291"/>
                </a:cubicBezTo>
                <a:cubicBezTo>
                  <a:pt x="556" y="224"/>
                  <a:pt x="556" y="116"/>
                  <a:pt x="489" y="50"/>
                </a:cubicBezTo>
                <a:moveTo>
                  <a:pt x="463" y="130"/>
                </a:moveTo>
                <a:cubicBezTo>
                  <a:pt x="448" y="145"/>
                  <a:pt x="424" y="145"/>
                  <a:pt x="409" y="130"/>
                </a:cubicBezTo>
                <a:cubicBezTo>
                  <a:pt x="395" y="115"/>
                  <a:pt x="395" y="92"/>
                  <a:pt x="409" y="77"/>
                </a:cubicBezTo>
                <a:cubicBezTo>
                  <a:pt x="424" y="62"/>
                  <a:pt x="448" y="62"/>
                  <a:pt x="463" y="77"/>
                </a:cubicBezTo>
                <a:cubicBezTo>
                  <a:pt x="477" y="92"/>
                  <a:pt x="477" y="115"/>
                  <a:pt x="463" y="13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85800" y="2783160"/>
            <a:ext cx="414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esto no es un defecto del modelo: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geometría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220400" y="3364200"/>
            <a:ext cx="9594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idea a interiorizar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en una foto, un coche de juguete cerca y un coche real lejos pueden ocupar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exactamente los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990720" y="3650040"/>
            <a:ext cx="863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mismos píxeles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Con una sola cámara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imposible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distinguir tamaño de distancia sin información extra.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685800" y="4231080"/>
            <a:ext cx="10478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notebook lo hace tangible: intenta convertir el resultado a "metros" con una calibración sencilla de 2 puntos… y le enseña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685440" y="218088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685800" y="4526280"/>
            <a:ext cx="4814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qué esa calibración no se sostiene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cambiar de imagen.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7181640" y="2152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685800" y="1803960"/>
            <a:ext cx="3324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La distinción más importante del tema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860400" y="2392560"/>
            <a:ext cx="10060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El notebook toma el resultado de MiDaS y aplica una fórmula para pasarlo a "metros" usando dos puntos de referencia.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860760" y="2725920"/>
            <a:ext cx="8854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Luego aplica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esa misma fórmula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otra imagen distinta. Observe si los "metros" siguen teniendo sentido.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860760" y="3069000"/>
            <a:ext cx="629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Verá una tabla con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variación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del rango de profundidad entre imágenes.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904680" y="4038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85800" y="3507120"/>
            <a:ext cx="3920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Preguntas para su cabeza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(irán en la entrega):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904680" y="4371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072440" y="3954600"/>
            <a:ext cx="4993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¿Por qué una sola cámara no puede dar metros por sí sola?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072440" y="4288320"/>
            <a:ext cx="10334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¿Qué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información adicional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haría falta para conseguir metros fiables? (piense en: dos cámaras, un LiDAR aunque sea pobre,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685440" y="207612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072440" y="4583520"/>
            <a:ext cx="3807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saber el tamaño real de una señal, un mapa…)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7181640" y="2047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685800" y="1699200"/>
            <a:ext cx="2248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Lo que tiene que observar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3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3162240" y="2823120"/>
            <a:ext cx="48769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DEPTH ANYTHING V2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962000" y="3562200"/>
            <a:ext cx="3086280" cy="286200"/>
          </a:xfrm>
          <a:custGeom>
            <a:avLst/>
            <a:gdLst/>
            <a:ahLst/>
            <a:rect l="0" t="0" r="r" b="b"/>
            <a:pathLst>
              <a:path w="8573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494" y="0"/>
                </a:lnTo>
                <a:cubicBezTo>
                  <a:pt x="8505" y="0"/>
                  <a:pt x="8515" y="2"/>
                  <a:pt x="8524" y="6"/>
                </a:cubicBezTo>
                <a:cubicBezTo>
                  <a:pt x="8534" y="10"/>
                  <a:pt x="8543" y="16"/>
                  <a:pt x="8550" y="24"/>
                </a:cubicBezTo>
                <a:cubicBezTo>
                  <a:pt x="8558" y="32"/>
                  <a:pt x="8563" y="40"/>
                  <a:pt x="8567" y="50"/>
                </a:cubicBezTo>
                <a:cubicBezTo>
                  <a:pt x="8571" y="60"/>
                  <a:pt x="8573" y="70"/>
                  <a:pt x="8573" y="80"/>
                </a:cubicBezTo>
                <a:lnTo>
                  <a:pt x="8573" y="715"/>
                </a:lnTo>
                <a:cubicBezTo>
                  <a:pt x="8573" y="726"/>
                  <a:pt x="8571" y="736"/>
                  <a:pt x="8567" y="746"/>
                </a:cubicBezTo>
                <a:cubicBezTo>
                  <a:pt x="8563" y="755"/>
                  <a:pt x="8558" y="764"/>
                  <a:pt x="8550" y="771"/>
                </a:cubicBezTo>
                <a:cubicBezTo>
                  <a:pt x="8543" y="779"/>
                  <a:pt x="8534" y="785"/>
                  <a:pt x="8524" y="789"/>
                </a:cubicBezTo>
                <a:cubicBezTo>
                  <a:pt x="8515" y="793"/>
                  <a:pt x="8505" y="795"/>
                  <a:pt x="849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2012400" y="3561120"/>
            <a:ext cx="29919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05_depth_anything_v2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504396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10552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5174640" y="359280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685440" y="472428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685440" y="472428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85800" y="2107080"/>
            <a:ext cx="10503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Repite el mismo proceso con el modelo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Depth Anything v2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(el de referencia actual) y 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MiDaS sobre las mismas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904680" y="2923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685800" y="2402280"/>
            <a:ext cx="1541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imágenes. Genera: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072440" y="2840400"/>
            <a:ext cx="3184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comparativa lado a lado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(original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262400" y="28465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318200" y="2840400"/>
            <a:ext cx="65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MiDaS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971960" y="28465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904680" y="3267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5027400" y="2840400"/>
            <a:ext cx="1659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Depth Anything v2).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904680" y="3609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072440" y="3183120"/>
            <a:ext cx="315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mapa 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diferencias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 ambos.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72440" y="3526200"/>
            <a:ext cx="3557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gráfico de tiempos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los dos modelos.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685800" y="3964320"/>
            <a:ext cx="10748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imagen donde discrepen claramente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¿cuál parece acertar más? ¿O son dos interpretaciones igual de plausibles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685800" y="4259520"/>
            <a:ext cx="181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escena ambigua?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990720" y="479124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85440" y="17906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209600" y="4831200"/>
            <a:ext cx="7238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Esa imagen de discrepancia, con su interpretación, es material directo para la entrega.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7181640" y="1761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685800" y="142308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1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4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3162240" y="2823120"/>
            <a:ext cx="730404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DÓNDE MIENTEN LOS MODELOS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962000" y="3562200"/>
            <a:ext cx="2486520" cy="286200"/>
          </a:xfrm>
          <a:custGeom>
            <a:avLst/>
            <a:gdLst/>
            <a:ahLst/>
            <a:rect l="0" t="0" r="r" b="b"/>
            <a:pathLst>
              <a:path w="6907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827" y="0"/>
                </a:lnTo>
                <a:cubicBezTo>
                  <a:pt x="6838" y="0"/>
                  <a:pt x="6848" y="2"/>
                  <a:pt x="6858" y="6"/>
                </a:cubicBezTo>
                <a:cubicBezTo>
                  <a:pt x="6867" y="10"/>
                  <a:pt x="6876" y="16"/>
                  <a:pt x="6883" y="24"/>
                </a:cubicBezTo>
                <a:cubicBezTo>
                  <a:pt x="6891" y="32"/>
                  <a:pt x="6896" y="40"/>
                  <a:pt x="6900" y="50"/>
                </a:cubicBezTo>
                <a:cubicBezTo>
                  <a:pt x="6905" y="60"/>
                  <a:pt x="6907" y="70"/>
                  <a:pt x="6907" y="80"/>
                </a:cubicBezTo>
                <a:lnTo>
                  <a:pt x="6907" y="715"/>
                </a:lnTo>
                <a:cubicBezTo>
                  <a:pt x="6907" y="726"/>
                  <a:pt x="6905" y="736"/>
                  <a:pt x="6900" y="746"/>
                </a:cubicBezTo>
                <a:cubicBezTo>
                  <a:pt x="6896" y="755"/>
                  <a:pt x="6891" y="764"/>
                  <a:pt x="6883" y="771"/>
                </a:cubicBezTo>
                <a:cubicBezTo>
                  <a:pt x="6876" y="779"/>
                  <a:pt x="6867" y="785"/>
                  <a:pt x="6858" y="789"/>
                </a:cubicBezTo>
                <a:cubicBezTo>
                  <a:pt x="6848" y="793"/>
                  <a:pt x="6838" y="795"/>
                  <a:pt x="6827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2012400" y="3561120"/>
            <a:ext cx="2393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06_failure_modes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44744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450936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578120" y="359280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85440" y="342864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85440" y="342864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685800" y="2221200"/>
            <a:ext cx="10716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Pasa por los modelos las imágenes "difíciles" y le muestra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dónde fallan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reflejos en cristales, superficies sin textura (cielo, paredes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85800" y="2516400"/>
            <a:ext cx="3488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lisas), escenas nocturnas, transparencias.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85800" y="2954520"/>
            <a:ext cx="6180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 trabajo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razonar la causa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solo constatar el fallo. Pista conceptual: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990720" y="3535560"/>
            <a:ext cx="1030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Estos modelos asumen que las superficies son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opacas y mates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(reflejan la luz de forma uniforme). Cuando esa suposición 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904680" y="4485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990720" y="3831120"/>
            <a:ext cx="8775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rompe —un cristal, agua, un reflejo, una pared sin textura— el modelo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inventa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profundidad donde no la hay.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904680" y="4829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072440" y="4402440"/>
            <a:ext cx="545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Identifique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menos 3 situaciones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fallo y qué tienen en común.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85440" y="190476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072440" y="4745520"/>
            <a:ext cx="1032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nota alta: proponga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mitigación concreta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(no "más datos"), p. ej. combinar con otro sensor donde el modelo alucina.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7181640" y="1876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685800" y="153720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5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3162240" y="2823120"/>
            <a:ext cx="2927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ENTREGA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14400" y="3583440"/>
            <a:ext cx="29804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Documento a subir a Moodle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685440" y="480024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685440" y="480024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590560" y="1733400"/>
            <a:ext cx="2877120" cy="219240"/>
          </a:xfrm>
          <a:custGeom>
            <a:avLst/>
            <a:gdLst/>
            <a:ahLst/>
            <a:rect l="0" t="0" r="r" b="b"/>
            <a:pathLst>
              <a:path w="7992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12" y="0"/>
                </a:lnTo>
                <a:cubicBezTo>
                  <a:pt x="7923" y="0"/>
                  <a:pt x="7933" y="2"/>
                  <a:pt x="7943" y="6"/>
                </a:cubicBezTo>
                <a:cubicBezTo>
                  <a:pt x="7952" y="10"/>
                  <a:pt x="7961" y="16"/>
                  <a:pt x="7968" y="23"/>
                </a:cubicBezTo>
                <a:cubicBezTo>
                  <a:pt x="7976" y="31"/>
                  <a:pt x="7982" y="39"/>
                  <a:pt x="7986" y="49"/>
                </a:cubicBezTo>
                <a:cubicBezTo>
                  <a:pt x="7990" y="59"/>
                  <a:pt x="7992" y="69"/>
                  <a:pt x="7992" y="79"/>
                </a:cubicBezTo>
                <a:lnTo>
                  <a:pt x="7992" y="530"/>
                </a:lnTo>
                <a:cubicBezTo>
                  <a:pt x="7992" y="541"/>
                  <a:pt x="7990" y="551"/>
                  <a:pt x="7986" y="560"/>
                </a:cubicBezTo>
                <a:cubicBezTo>
                  <a:pt x="7982" y="570"/>
                  <a:pt x="7976" y="579"/>
                  <a:pt x="7968" y="586"/>
                </a:cubicBezTo>
                <a:cubicBezTo>
                  <a:pt x="7961" y="594"/>
                  <a:pt x="7952" y="599"/>
                  <a:pt x="7943" y="603"/>
                </a:cubicBezTo>
                <a:cubicBezTo>
                  <a:pt x="7933" y="607"/>
                  <a:pt x="7923" y="609"/>
                  <a:pt x="7912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685800" y="1744920"/>
            <a:ext cx="1896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único 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llamado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2643120" y="174708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cp2_&lt;apellido&gt;_&lt;nombre&gt;.pdf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464080" y="1744920"/>
            <a:ext cx="5780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Moodle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(sección "CP2 — Profundidad"),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48 horas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tras la sesión.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685800" y="2192760"/>
            <a:ext cx="127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contener: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860400" y="2630880"/>
            <a:ext cx="5221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Equipo empleado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1 frase: qué ordenador y cuánto tiempo.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860760" y="2973600"/>
            <a:ext cx="5805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5 imágenes representativas con su mapa de profundidad.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860760" y="3306960"/>
            <a:ext cx="4051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Depth Anything v2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las mismas 5 imágenes.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860760" y="3650040"/>
            <a:ext cx="5696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Comparativa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+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 imagen donde discrepen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con su interpretación.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860760" y="3992760"/>
            <a:ext cx="4303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Failure modes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mínimo 3, con su razonamiento.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3904920" y="4314600"/>
            <a:ext cx="1648440" cy="219600"/>
          </a:xfrm>
          <a:custGeom>
            <a:avLst/>
            <a:gdLst/>
            <a:ahLst/>
            <a:rect l="0" t="0" r="r" b="b"/>
            <a:pathLst>
              <a:path w="4579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499" y="0"/>
                </a:lnTo>
                <a:cubicBezTo>
                  <a:pt x="4510" y="0"/>
                  <a:pt x="4520" y="2"/>
                  <a:pt x="4530" y="6"/>
                </a:cubicBezTo>
                <a:cubicBezTo>
                  <a:pt x="4539" y="10"/>
                  <a:pt x="4548" y="16"/>
                  <a:pt x="4555" y="23"/>
                </a:cubicBezTo>
                <a:cubicBezTo>
                  <a:pt x="4563" y="31"/>
                  <a:pt x="4569" y="39"/>
                  <a:pt x="4573" y="49"/>
                </a:cubicBezTo>
                <a:cubicBezTo>
                  <a:pt x="4577" y="59"/>
                  <a:pt x="4579" y="69"/>
                  <a:pt x="4579" y="79"/>
                </a:cubicBezTo>
                <a:lnTo>
                  <a:pt x="4579" y="530"/>
                </a:lnTo>
                <a:cubicBezTo>
                  <a:pt x="4579" y="541"/>
                  <a:pt x="4577" y="551"/>
                  <a:pt x="4573" y="561"/>
                </a:cubicBezTo>
                <a:cubicBezTo>
                  <a:pt x="4569" y="570"/>
                  <a:pt x="4563" y="579"/>
                  <a:pt x="4555" y="586"/>
                </a:cubicBezTo>
                <a:cubicBezTo>
                  <a:pt x="4548" y="594"/>
                  <a:pt x="4539" y="600"/>
                  <a:pt x="4530" y="604"/>
                </a:cubicBezTo>
                <a:cubicBezTo>
                  <a:pt x="4520" y="608"/>
                  <a:pt x="4510" y="610"/>
                  <a:pt x="4499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860760" y="4326120"/>
            <a:ext cx="3040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6.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Respuestas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las 5 preguntas 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3963960" y="432864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07_preguntas.md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1048320" y="488700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8"/>
                </a:moveTo>
                <a:cubicBezTo>
                  <a:pt x="341" y="268"/>
                  <a:pt x="262" y="283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3"/>
                  <a:pt x="0" y="268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086480" y="506376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8"/>
                </a:moveTo>
                <a:cubicBezTo>
                  <a:pt x="129" y="22"/>
                  <a:pt x="94" y="48"/>
                  <a:pt x="64" y="48"/>
                </a:cubicBezTo>
                <a:cubicBezTo>
                  <a:pt x="34" y="48"/>
                  <a:pt x="0" y="22"/>
                  <a:pt x="0" y="8"/>
                </a:cubicBezTo>
                <a:cubicBezTo>
                  <a:pt x="0" y="-5"/>
                  <a:pt x="34" y="1"/>
                  <a:pt x="64" y="1"/>
                </a:cubicBezTo>
                <a:cubicBezTo>
                  <a:pt x="94" y="1"/>
                  <a:pt x="129" y="-5"/>
                  <a:pt x="129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1081800" y="494172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7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2"/>
                  <a:pt x="-1" y="21"/>
                  <a:pt x="5" y="27"/>
                </a:cubicBezTo>
                <a:lnTo>
                  <a:pt x="62" y="86"/>
                </a:lnTo>
                <a:lnTo>
                  <a:pt x="62" y="249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9"/>
                </a:cubicBezTo>
                <a:lnTo>
                  <a:pt x="93" y="86"/>
                </a:lnTo>
                <a:lnTo>
                  <a:pt x="151" y="27"/>
                </a:lnTo>
                <a:cubicBezTo>
                  <a:pt x="158" y="21"/>
                  <a:pt x="158" y="12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076040" y="5024880"/>
            <a:ext cx="66960" cy="45000"/>
          </a:xfrm>
          <a:custGeom>
            <a:avLst/>
            <a:gdLst/>
            <a:ahLst/>
            <a:rect l="0" t="0" r="r" b="b"/>
            <a:pathLst>
              <a:path w="186" h="125">
                <a:moveTo>
                  <a:pt x="186" y="94"/>
                </a:moveTo>
                <a:cubicBezTo>
                  <a:pt x="186" y="111"/>
                  <a:pt x="173" y="125"/>
                  <a:pt x="156" y="125"/>
                </a:cubicBezTo>
                <a:lnTo>
                  <a:pt x="31" y="125"/>
                </a:lnTo>
                <a:cubicBezTo>
                  <a:pt x="14" y="125"/>
                  <a:pt x="0" y="111"/>
                  <a:pt x="0" y="94"/>
                </a:cubicBezTo>
                <a:lnTo>
                  <a:pt x="0" y="0"/>
                </a:lnTo>
                <a:lnTo>
                  <a:pt x="186" y="0"/>
                </a:lnTo>
                <a:lnTo>
                  <a:pt x="186" y="94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070640" y="5019480"/>
            <a:ext cx="78120" cy="45000"/>
          </a:xfrm>
          <a:custGeom>
            <a:avLst/>
            <a:gdLst/>
            <a:ahLst/>
            <a:rect l="0" t="0" r="r" b="b"/>
            <a:pathLst>
              <a:path w="217" h="125">
                <a:moveTo>
                  <a:pt x="0" y="112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1"/>
                  <a:pt x="215" y="67"/>
                  <a:pt x="217" y="76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5"/>
                  <a:pt x="15" y="125"/>
                </a:cubicBezTo>
                <a:cubicBezTo>
                  <a:pt x="8" y="125"/>
                  <a:pt x="1" y="119"/>
                  <a:pt x="0" y="112"/>
                </a:cubicBezTo>
                <a:moveTo>
                  <a:pt x="0" y="50"/>
                </a:moveTo>
                <a:cubicBezTo>
                  <a:pt x="-1" y="41"/>
                  <a:pt x="4" y="34"/>
                  <a:pt x="13" y="32"/>
                </a:cubicBezTo>
                <a:lnTo>
                  <a:pt x="199" y="0"/>
                </a:lnTo>
                <a:cubicBezTo>
                  <a:pt x="207" y="-1"/>
                  <a:pt x="215" y="5"/>
                  <a:pt x="217" y="13"/>
                </a:cubicBezTo>
                <a:cubicBezTo>
                  <a:pt x="218" y="22"/>
                  <a:pt x="212" y="30"/>
                  <a:pt x="204" y="32"/>
                </a:cubicBezTo>
                <a:lnTo>
                  <a:pt x="18" y="63"/>
                </a:lnTo>
                <a:cubicBezTo>
                  <a:pt x="17" y="63"/>
                  <a:pt x="16" y="63"/>
                  <a:pt x="15" y="63"/>
                </a:cubicBezTo>
                <a:cubicBezTo>
                  <a:pt x="8" y="63"/>
                  <a:pt x="1" y="57"/>
                  <a:pt x="0" y="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5556600" y="43261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562120" y="4895640"/>
            <a:ext cx="3086280" cy="219600"/>
          </a:xfrm>
          <a:custGeom>
            <a:avLst/>
            <a:gdLst/>
            <a:ahLst/>
            <a:rect l="0" t="0" r="r" b="b"/>
            <a:pathLst>
              <a:path w="857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494" y="0"/>
                </a:lnTo>
                <a:cubicBezTo>
                  <a:pt x="8504" y="0"/>
                  <a:pt x="8515" y="2"/>
                  <a:pt x="8524" y="6"/>
                </a:cubicBezTo>
                <a:cubicBezTo>
                  <a:pt x="8534" y="10"/>
                  <a:pt x="8543" y="16"/>
                  <a:pt x="8550" y="23"/>
                </a:cubicBezTo>
                <a:cubicBezTo>
                  <a:pt x="8557" y="31"/>
                  <a:pt x="8563" y="39"/>
                  <a:pt x="8567" y="49"/>
                </a:cubicBezTo>
                <a:cubicBezTo>
                  <a:pt x="8571" y="59"/>
                  <a:pt x="8573" y="69"/>
                  <a:pt x="8573" y="79"/>
                </a:cubicBezTo>
                <a:lnTo>
                  <a:pt x="8573" y="530"/>
                </a:lnTo>
                <a:cubicBezTo>
                  <a:pt x="8573" y="541"/>
                  <a:pt x="8571" y="551"/>
                  <a:pt x="8567" y="561"/>
                </a:cubicBezTo>
                <a:cubicBezTo>
                  <a:pt x="8563" y="570"/>
                  <a:pt x="8557" y="579"/>
                  <a:pt x="8550" y="586"/>
                </a:cubicBezTo>
                <a:cubicBezTo>
                  <a:pt x="8543" y="594"/>
                  <a:pt x="8534" y="600"/>
                  <a:pt x="8524" y="604"/>
                </a:cubicBezTo>
                <a:cubicBezTo>
                  <a:pt x="8515" y="608"/>
                  <a:pt x="8504" y="610"/>
                  <a:pt x="8494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220400" y="4907160"/>
            <a:ext cx="1339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Use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plantilla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619360" y="4909680"/>
            <a:ext cx="2980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plantilla-respuestas-cp2.docx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448320" y="489564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361" y="0"/>
                </a:lnTo>
                <a:cubicBezTo>
                  <a:pt x="3372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5" y="31"/>
                  <a:pt x="3430" y="39"/>
                  <a:pt x="3434" y="49"/>
                </a:cubicBezTo>
                <a:cubicBezTo>
                  <a:pt x="3438" y="59"/>
                  <a:pt x="3440" y="69"/>
                  <a:pt x="3440" y="79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5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2" y="610"/>
                  <a:pt x="336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5645160" y="4907160"/>
            <a:ext cx="80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505920" y="490968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entregable/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7689240" y="4907160"/>
            <a:ext cx="3189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 trae las secciones y las preguntas ya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990720" y="5202720"/>
            <a:ext cx="7005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montadas. Solo tiene que rellenarla, pegar las imágenes y exportarla a PDF (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Archivo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8008200" y="5169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8208360" y="5202720"/>
            <a:ext cx="856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Exportar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9065880" y="5169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85440" y="142848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9266040" y="5202720"/>
            <a:ext cx="50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PDF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7181640" y="1400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85800" y="1060920"/>
            <a:ext cx="2066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Contenido de la entrega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85440" y="447660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85440" y="447660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860400" y="2354400"/>
            <a:ext cx="607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Discrepancia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una imagen donde los dos modelos difieran; ¿por qué?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860760" y="2697480"/>
            <a:ext cx="10619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Relativo vs métrico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problema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geométrico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impide obtener metros con una cámara? Dé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 fuentes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información que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1072440" y="2992680"/>
            <a:ext cx="845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ayudarían.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860760" y="3326040"/>
            <a:ext cx="5831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Failure modes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2 situaciones donde fallan; ¿qué tienen en común?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860760" y="3669120"/>
            <a:ext cx="9647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Tiempos y producción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¿cuál es más rápido/preciso?; ¿cuál desplegaría en un sistema de bajo coste y por qué?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860760" y="4011840"/>
            <a:ext cx="8175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Encaje en el sistema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módulo del stack de conducción usaría este mapa de profundidad?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85440" y="20383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990720" y="4583520"/>
            <a:ext cx="7484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 busca una respuesta única, sino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razonamiento fundamentado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lo que ha visto.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7181640" y="2009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85800" y="1670760"/>
            <a:ext cx="2441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Las 5 preguntas, en síntesis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695160" y="222876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971360" y="2228760"/>
            <a:ext cx="3924720" cy="362160"/>
          </a:xfrm>
          <a:custGeom>
            <a:avLst/>
            <a:gdLst/>
            <a:ahLst/>
            <a:rect l="0" t="0" r="r" b="b"/>
            <a:pathLst>
              <a:path w="10902" h="1006">
                <a:moveTo>
                  <a:pt x="0" y="0"/>
                </a:moveTo>
                <a:lnTo>
                  <a:pt x="10902" y="0"/>
                </a:lnTo>
                <a:lnTo>
                  <a:pt x="1090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95160" y="222876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1971360" y="2228760"/>
            <a:ext cx="3924720" cy="362160"/>
          </a:xfrm>
          <a:custGeom>
            <a:avLst/>
            <a:gdLst/>
            <a:ahLst/>
            <a:rect l="0" t="0" r="r" b="b"/>
            <a:pathLst>
              <a:path w="10902" h="1006">
                <a:moveTo>
                  <a:pt x="0" y="0"/>
                </a:moveTo>
                <a:lnTo>
                  <a:pt x="10902" y="0"/>
                </a:lnTo>
                <a:lnTo>
                  <a:pt x="1090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95160" y="259056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971360" y="2590560"/>
            <a:ext cx="3924720" cy="371880"/>
          </a:xfrm>
          <a:custGeom>
            <a:avLst/>
            <a:gdLst/>
            <a:ahLst/>
            <a:rect l="0" t="0" r="r" b="b"/>
            <a:pathLst>
              <a:path w="10902" h="1033">
                <a:moveTo>
                  <a:pt x="0" y="0"/>
                </a:moveTo>
                <a:lnTo>
                  <a:pt x="10902" y="0"/>
                </a:lnTo>
                <a:lnTo>
                  <a:pt x="1090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695160" y="296208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971360" y="2962080"/>
            <a:ext cx="3924720" cy="362160"/>
          </a:xfrm>
          <a:custGeom>
            <a:avLst/>
            <a:gdLst/>
            <a:ahLst/>
            <a:rect l="0" t="0" r="r" b="b"/>
            <a:pathLst>
              <a:path w="10902" h="1006">
                <a:moveTo>
                  <a:pt x="0" y="0"/>
                </a:moveTo>
                <a:lnTo>
                  <a:pt x="10902" y="0"/>
                </a:lnTo>
                <a:lnTo>
                  <a:pt x="1090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95160" y="332388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971360" y="3323880"/>
            <a:ext cx="3924720" cy="371880"/>
          </a:xfrm>
          <a:custGeom>
            <a:avLst/>
            <a:gdLst/>
            <a:ahLst/>
            <a:rect l="0" t="0" r="r" b="b"/>
            <a:pathLst>
              <a:path w="10902" h="1033">
                <a:moveTo>
                  <a:pt x="0" y="0"/>
                </a:moveTo>
                <a:lnTo>
                  <a:pt x="10902" y="0"/>
                </a:lnTo>
                <a:lnTo>
                  <a:pt x="1090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695160" y="369540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971360" y="3695400"/>
            <a:ext cx="3924720" cy="362520"/>
          </a:xfrm>
          <a:custGeom>
            <a:avLst/>
            <a:gdLst/>
            <a:ahLst/>
            <a:rect l="0" t="0" r="r" b="b"/>
            <a:pathLst>
              <a:path w="10902" h="1007">
                <a:moveTo>
                  <a:pt x="0" y="0"/>
                </a:moveTo>
                <a:lnTo>
                  <a:pt x="10902" y="0"/>
                </a:lnTo>
                <a:lnTo>
                  <a:pt x="1090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68544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685440" y="22190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197136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981080" y="221904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5886360" y="2219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85440" y="259056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1981080" y="259056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68544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197136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5886360" y="26002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68544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685440" y="295272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97136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1981080" y="295272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5886360" y="2962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8544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685440" y="332388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197136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1981080" y="332388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5886360" y="33336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8544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85440" y="368604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197136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1981080" y="368604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5886360" y="36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85440" y="405756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1981080" y="405756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685440" y="42861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685440" y="42861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819000" y="2327760"/>
            <a:ext cx="646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Se valora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2102760" y="2327760"/>
            <a:ext cx="1094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En qué consiste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819000" y="2699280"/>
            <a:ext cx="654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2102760" y="2699280"/>
            <a:ext cx="3488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Los 5 notebooks corren + prueba imágenes propias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819000" y="3061440"/>
            <a:ext cx="92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Comprensión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2102760" y="3061440"/>
            <a:ext cx="2998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Distingue relativo de métrico </a:t>
            </a:r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lo argumenta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819000" y="3432960"/>
            <a:ext cx="102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Análisis crítico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2102760" y="3432960"/>
            <a:ext cx="3651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Identifica failure modes + propone mitigación concreta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819000" y="3794760"/>
            <a:ext cx="97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Comunicación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102760" y="3794760"/>
            <a:ext cx="309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PDF ordenado, mapas con buen color y escala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990720" y="4393080"/>
            <a:ext cx="10009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sube la nota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llegar a que lo de "relativo vs métrico"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geometría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falta de datos; failure modes con causa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85440" y="1942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990720" y="4688280"/>
            <a:ext cx="4154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estructural; y honestidad sobre lo que no funcionó.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7181640" y="19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685800" y="1575360"/>
            <a:ext cx="2658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Cómo se te evalúa (16 puntos)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904680" y="3085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1072440" y="3002400"/>
            <a:ext cx="10018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permite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uso de herramientas de inteligencia artificial como apoyo, pero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conclusiones deben ser propias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Copiar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04680" y="3714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1072440" y="3287880"/>
            <a:ext cx="2391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respuestas literales penaliza.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904680" y="4057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072440" y="3630960"/>
            <a:ext cx="7679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usó una de estas herramientas,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decláralo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una línea al final. No baja la nota; ocultarlo, sí.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2019240" y="396216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80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072440" y="3973680"/>
            <a:ext cx="94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2076840" y="397620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soluciones/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685440" y="268596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3260160" y="3973680"/>
            <a:ext cx="7232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debe consultarse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haber intentado el caso: la rúbrica premia el razonamiento.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7181640" y="2657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685800" y="2308680"/>
            <a:ext cx="198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Normas de la actividad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914040" y="3828960"/>
            <a:ext cx="10363680" cy="714600"/>
          </a:xfrm>
          <a:custGeom>
            <a:avLst/>
            <a:gdLst/>
            <a:ahLst/>
            <a:rect l="0" t="0" r="r" b="b"/>
            <a:pathLst>
              <a:path w="28788" h="1985">
                <a:moveTo>
                  <a:pt x="0" y="0"/>
                </a:moveTo>
                <a:lnTo>
                  <a:pt x="28788" y="0"/>
                </a:lnTo>
                <a:lnTo>
                  <a:pt x="2878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914040" y="38289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533240" y="290484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4"/>
                </a:cubicBezTo>
                <a:cubicBezTo>
                  <a:pt x="859" y="31"/>
                  <a:pt x="864" y="40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1"/>
                  <a:pt x="859" y="579"/>
                  <a:pt x="851" y="587"/>
                </a:cubicBezTo>
                <a:cubicBezTo>
                  <a:pt x="844" y="594"/>
                  <a:pt x="835" y="600"/>
                  <a:pt x="825" y="604"/>
                </a:cubicBezTo>
                <a:cubicBezTo>
                  <a:pt x="816" y="608"/>
                  <a:pt x="806" y="610"/>
                  <a:pt x="79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914400" y="2916720"/>
            <a:ext cx="618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Orden: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15904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8522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190224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2152440" y="290484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4" y="16"/>
                  <a:pt x="851" y="24"/>
                </a:cubicBezTo>
                <a:cubicBezTo>
                  <a:pt x="858" y="31"/>
                  <a:pt x="864" y="40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1"/>
                  <a:pt x="858" y="579"/>
                  <a:pt x="851" y="587"/>
                </a:cubicBezTo>
                <a:cubicBezTo>
                  <a:pt x="844" y="594"/>
                  <a:pt x="835" y="600"/>
                  <a:pt x="825" y="604"/>
                </a:cubicBezTo>
                <a:cubicBezTo>
                  <a:pt x="815" y="608"/>
                  <a:pt x="805" y="610"/>
                  <a:pt x="79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21024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22096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24714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252144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2771640" y="290484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4"/>
                </a:cubicBezTo>
                <a:cubicBezTo>
                  <a:pt x="858" y="31"/>
                  <a:pt x="864" y="40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1"/>
                  <a:pt x="858" y="579"/>
                  <a:pt x="851" y="587"/>
                </a:cubicBezTo>
                <a:cubicBezTo>
                  <a:pt x="843" y="594"/>
                  <a:pt x="835" y="600"/>
                  <a:pt x="825" y="604"/>
                </a:cubicBezTo>
                <a:cubicBezTo>
                  <a:pt x="815" y="608"/>
                  <a:pt x="805" y="610"/>
                  <a:pt x="79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27216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82852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30906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314064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3390840" y="290484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4"/>
                </a:cubicBezTo>
                <a:cubicBezTo>
                  <a:pt x="858" y="31"/>
                  <a:pt x="864" y="40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1"/>
                  <a:pt x="858" y="579"/>
                  <a:pt x="851" y="587"/>
                </a:cubicBezTo>
                <a:cubicBezTo>
                  <a:pt x="843" y="594"/>
                  <a:pt x="835" y="600"/>
                  <a:pt x="825" y="604"/>
                </a:cubicBezTo>
                <a:cubicBezTo>
                  <a:pt x="815" y="608"/>
                  <a:pt x="805" y="610"/>
                  <a:pt x="79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334044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344772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37098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375984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4009680" y="2904840"/>
            <a:ext cx="315000" cy="219600"/>
          </a:xfrm>
          <a:custGeom>
            <a:avLst/>
            <a:gdLst/>
            <a:ahLst/>
            <a:rect l="0" t="0" r="r" b="b"/>
            <a:pathLst>
              <a:path w="875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6" y="6"/>
                </a:cubicBezTo>
                <a:cubicBezTo>
                  <a:pt x="835" y="10"/>
                  <a:pt x="844" y="16"/>
                  <a:pt x="851" y="24"/>
                </a:cubicBezTo>
                <a:cubicBezTo>
                  <a:pt x="859" y="31"/>
                  <a:pt x="865" y="40"/>
                  <a:pt x="869" y="49"/>
                </a:cubicBezTo>
                <a:cubicBezTo>
                  <a:pt x="873" y="59"/>
                  <a:pt x="875" y="69"/>
                  <a:pt x="875" y="80"/>
                </a:cubicBezTo>
                <a:lnTo>
                  <a:pt x="875" y="530"/>
                </a:lnTo>
                <a:cubicBezTo>
                  <a:pt x="875" y="541"/>
                  <a:pt x="873" y="551"/>
                  <a:pt x="869" y="561"/>
                </a:cubicBezTo>
                <a:cubicBezTo>
                  <a:pt x="865" y="571"/>
                  <a:pt x="859" y="579"/>
                  <a:pt x="851" y="587"/>
                </a:cubicBezTo>
                <a:cubicBezTo>
                  <a:pt x="844" y="594"/>
                  <a:pt x="835" y="600"/>
                  <a:pt x="826" y="604"/>
                </a:cubicBezTo>
                <a:cubicBezTo>
                  <a:pt x="816" y="608"/>
                  <a:pt x="806" y="610"/>
                  <a:pt x="79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395964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406692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432864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437868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5543280" y="290484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4"/>
                </a:cubicBezTo>
                <a:cubicBezTo>
                  <a:pt x="859" y="31"/>
                  <a:pt x="864" y="40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1"/>
                  <a:pt x="859" y="579"/>
                  <a:pt x="851" y="587"/>
                </a:cubicBezTo>
                <a:cubicBezTo>
                  <a:pt x="844" y="594"/>
                  <a:pt x="835" y="600"/>
                  <a:pt x="825" y="604"/>
                </a:cubicBezTo>
                <a:cubicBezTo>
                  <a:pt x="816" y="608"/>
                  <a:pt x="806" y="610"/>
                  <a:pt x="79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4578840" y="2916720"/>
            <a:ext cx="96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responder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559980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586152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914400" y="3354840"/>
            <a:ext cx="765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Ante cualquier dificultad, revise el apartado de preparación y pregunte en el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foro del máster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219320" y="3935880"/>
            <a:ext cx="4701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"Con una sola cámara sabes qué está más cerca. Saber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5969160" y="3935880"/>
            <a:ext cx="13593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cuántos metros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250400" y="3935880"/>
            <a:ext cx="374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es otro problema — y es de geometría, no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1219320" y="4231080"/>
            <a:ext cx="1993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tener un modelo mejor."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914400" y="2147040"/>
            <a:ext cx="399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PARA COMENZAR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CP2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1040400" y="6517080"/>
            <a:ext cx="1560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Profundidad Monocular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2600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2642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35416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3583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